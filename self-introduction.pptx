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65" r:id="rId2"/>
    <p:sldId id="300" r:id="rId3"/>
    <p:sldId id="316" r:id="rId4"/>
    <p:sldId id="319" r:id="rId5"/>
    <p:sldId id="317" r:id="rId6"/>
    <p:sldId id="322" r:id="rId7"/>
    <p:sldId id="324" r:id="rId8"/>
    <p:sldId id="321" r:id="rId9"/>
    <p:sldId id="323" r:id="rId10"/>
    <p:sldId id="320" r:id="rId11"/>
    <p:sldId id="314" r:id="rId12"/>
    <p:sldId id="302" r:id="rId13"/>
    <p:sldId id="291" r:id="rId14"/>
    <p:sldId id="278" r:id="rId15"/>
    <p:sldId id="310" r:id="rId16"/>
    <p:sldId id="313" r:id="rId17"/>
    <p:sldId id="315" r:id="rId18"/>
    <p:sldId id="285" r:id="rId19"/>
  </p:sldIdLst>
  <p:sldSz cx="12192000" cy="6858000"/>
  <p:notesSz cx="6858000" cy="9144000"/>
  <p:embeddedFontLst>
    <p:embeddedFont>
      <p:font typeface="Nirmala UI" panose="020B0502040204020203" pitchFamily="34" charset="0"/>
      <p:regular r:id="rId21"/>
      <p:bold r:id="rId22"/>
    </p:embeddedFont>
    <p:embeddedFont>
      <p:font typeface="等线" panose="02010600030101010101" pitchFamily="2" charset="-122"/>
      <p:regular r:id="rId23"/>
      <p:bold r:id="rId24"/>
    </p:embeddedFont>
    <p:embeddedFont>
      <p:font typeface="Segoe UI Historic" panose="020B0502040204020203" pitchFamily="34" charset="0"/>
      <p:regular r:id="rId25"/>
    </p:embeddedFont>
    <p:embeddedFont>
      <p:font typeface="等线 Light" panose="02010600030101010101" pitchFamily="2" charset="-122"/>
      <p:regular r:id="rId26"/>
    </p:embeddedFont>
    <p:embeddedFont>
      <p:font typeface="Verdana" panose="020B0604030504040204" pitchFamily="34" charset="0"/>
      <p:regular r:id="rId27"/>
      <p:bold r:id="rId28"/>
      <p:italic r:id="rId29"/>
      <p:boldItalic r:id="rId30"/>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ke" initials="l" lastIdx="1" clrIdx="0">
    <p:extLst>
      <p:ext uri="{19B8F6BF-5375-455C-9EA6-DF929625EA0E}">
        <p15:presenceInfo xmlns:p15="http://schemas.microsoft.com/office/powerpoint/2012/main" userId="ded191b1853f586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A90B07"/>
    <a:srgbClr val="A51A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45" autoAdjust="0"/>
    <p:restoredTop sz="87342" autoAdjust="0"/>
  </p:normalViewPr>
  <p:slideViewPr>
    <p:cSldViewPr snapToGrid="0">
      <p:cViewPr varScale="1">
        <p:scale>
          <a:sx n="76" d="100"/>
          <a:sy n="76" d="100"/>
        </p:scale>
        <p:origin x="108"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48F77-FEAE-4282-A285-279375661706}" type="datetimeFigureOut">
              <a:rPr lang="zh-CN" altLang="en-US" smtClean="0"/>
              <a:t>2021/8/22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3FA922-7152-4116-8B91-582AC3B594D0}" type="slidenum">
              <a:rPr lang="zh-CN" altLang="en-US" smtClean="0"/>
              <a:t>‹#›</a:t>
            </a:fld>
            <a:endParaRPr lang="zh-CN" altLang="en-US"/>
          </a:p>
        </p:txBody>
      </p:sp>
    </p:spTree>
    <p:extLst>
      <p:ext uri="{BB962C8B-B14F-4D97-AF65-F5344CB8AC3E}">
        <p14:creationId xmlns:p14="http://schemas.microsoft.com/office/powerpoint/2010/main" val="764683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Good</a:t>
            </a:r>
            <a:r>
              <a:rPr lang="en-US" altLang="zh-CN" baseline="0" dirty="0" smtClean="0"/>
              <a:t> , professor! This is Lin Juyi.  I am a junior student from Zhejiang University. </a:t>
            </a:r>
            <a:r>
              <a:rPr lang="en-US" altLang="zh-CN" sz="1200" kern="1200" dirty="0" smtClean="0">
                <a:solidFill>
                  <a:schemeClr val="tx1"/>
                </a:solidFill>
                <a:effectLst/>
                <a:latin typeface="+mn-lt"/>
                <a:ea typeface="+mn-ea"/>
                <a:cs typeface="+mn-cs"/>
              </a:rPr>
              <a:t>My ranking in my department is about top 10%. I have achieved A grades in  Linear Algebra, Data communication</a:t>
            </a:r>
            <a:r>
              <a:rPr lang="en-US" altLang="zh-CN" sz="1200" kern="1200" baseline="0" dirty="0" smtClean="0">
                <a:solidFill>
                  <a:schemeClr val="tx1"/>
                </a:solidFill>
                <a:effectLst/>
                <a:latin typeface="+mn-lt"/>
                <a:ea typeface="+mn-ea"/>
                <a:cs typeface="+mn-cs"/>
              </a:rPr>
              <a:t> and computer network</a:t>
            </a:r>
            <a:r>
              <a:rPr lang="en-US" altLang="zh-CN" sz="1200" kern="1200" dirty="0" smtClean="0">
                <a:solidFill>
                  <a:schemeClr val="tx1"/>
                </a:solidFill>
                <a:effectLst/>
                <a:latin typeface="+mn-lt"/>
                <a:ea typeface="+mn-ea"/>
                <a:cs typeface="+mn-cs"/>
              </a:rPr>
              <a:t> and so on. Furthermore, I have obtained a Second-Class Scholarship, no more than 8% of students awarded it. Now I’d like to tell some of my experience.</a:t>
            </a:r>
            <a:endParaRPr lang="zh-CN" altLang="en-US" dirty="0"/>
          </a:p>
        </p:txBody>
      </p:sp>
      <p:sp>
        <p:nvSpPr>
          <p:cNvPr id="4" name="灯片编号占位符 3"/>
          <p:cNvSpPr>
            <a:spLocks noGrp="1"/>
          </p:cNvSpPr>
          <p:nvPr>
            <p:ph type="sldNum" sz="quarter" idx="5"/>
          </p:nvPr>
        </p:nvSpPr>
        <p:spPr/>
        <p:txBody>
          <a:bodyPr/>
          <a:lstStyle/>
          <a:p>
            <a:fld id="{313FA922-7152-4116-8B91-582AC3B594D0}" type="slidenum">
              <a:rPr lang="zh-CN" altLang="en-US" smtClean="0"/>
              <a:t>1</a:t>
            </a:fld>
            <a:endParaRPr lang="zh-CN" altLang="en-US"/>
          </a:p>
        </p:txBody>
      </p:sp>
    </p:spTree>
    <p:extLst>
      <p:ext uri="{BB962C8B-B14F-4D97-AF65-F5344CB8AC3E}">
        <p14:creationId xmlns:p14="http://schemas.microsoft.com/office/powerpoint/2010/main" val="12758880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tx1"/>
                </a:solidFill>
                <a:effectLst/>
                <a:latin typeface="+mn-lt"/>
                <a:ea typeface="+mn-ea"/>
                <a:cs typeface="+mn-cs"/>
              </a:rPr>
              <a:t>Previously, I have</a:t>
            </a:r>
            <a:r>
              <a:rPr lang="en-US" altLang="zh-CN" sz="1200" kern="1200" baseline="0" dirty="0" smtClean="0">
                <a:solidFill>
                  <a:schemeClr val="tx1"/>
                </a:solidFill>
                <a:effectLst/>
                <a:latin typeface="+mn-lt"/>
                <a:ea typeface="+mn-ea"/>
                <a:cs typeface="+mn-cs"/>
              </a:rPr>
              <a:t> worked</a:t>
            </a:r>
            <a:r>
              <a:rPr lang="en-US" altLang="zh-CN" sz="1200" kern="1200" dirty="0" smtClean="0">
                <a:solidFill>
                  <a:schemeClr val="tx1"/>
                </a:solidFill>
                <a:effectLst/>
                <a:latin typeface="+mn-lt"/>
                <a:ea typeface="+mn-ea"/>
                <a:cs typeface="+mn-cs"/>
              </a:rPr>
              <a:t> </a:t>
            </a:r>
            <a:r>
              <a:rPr lang="en-US" altLang="zh-CN" sz="1200" kern="1200" baseline="0" dirty="0" smtClean="0">
                <a:solidFill>
                  <a:schemeClr val="tx1"/>
                </a:solidFill>
                <a:effectLst/>
                <a:latin typeface="+mn-lt"/>
                <a:ea typeface="+mn-ea"/>
                <a:cs typeface="+mn-cs"/>
              </a:rPr>
              <a:t>the summer research in Prof. </a:t>
            </a:r>
            <a:r>
              <a:rPr lang="en-US" altLang="zh-CN" sz="1200" kern="1200" baseline="0" dirty="0" err="1" smtClean="0">
                <a:solidFill>
                  <a:schemeClr val="tx1"/>
                </a:solidFill>
                <a:effectLst/>
                <a:latin typeface="+mn-lt"/>
                <a:ea typeface="+mn-ea"/>
                <a:cs typeface="+mn-cs"/>
              </a:rPr>
              <a:t>C.Wu</a:t>
            </a:r>
            <a:r>
              <a:rPr lang="en-US" altLang="zh-CN" sz="1200" kern="1200" baseline="0" dirty="0" smtClean="0">
                <a:solidFill>
                  <a:schemeClr val="tx1"/>
                </a:solidFill>
                <a:effectLst/>
                <a:latin typeface="+mn-lt"/>
                <a:ea typeface="+mn-ea"/>
                <a:cs typeface="+mn-cs"/>
              </a:rPr>
              <a:t> in HKU. My project is </a:t>
            </a:r>
            <a:r>
              <a:rPr lang="en-US" altLang="zh-CN" sz="1200" b="0" i="0" kern="1200" dirty="0" smtClean="0">
                <a:solidFill>
                  <a:schemeClr val="tx1"/>
                </a:solidFill>
                <a:effectLst/>
                <a:latin typeface="+mn-lt"/>
                <a:ea typeface="+mn-ea"/>
                <a:cs typeface="+mn-cs"/>
              </a:rPr>
              <a:t>hierarchical reinforcement learning to jointly allocate GPU resources and place jobs on devices. What’s more, </a:t>
            </a:r>
            <a:r>
              <a:rPr lang="en-US" altLang="zh-CN" sz="1200" kern="1200" dirty="0" smtClean="0">
                <a:solidFill>
                  <a:schemeClr val="tx1"/>
                </a:solidFill>
                <a:effectLst/>
                <a:latin typeface="+mn-lt"/>
                <a:ea typeface="+mn-ea"/>
                <a:cs typeface="+mn-cs"/>
              </a:rPr>
              <a:t>I have researched at the</a:t>
            </a:r>
            <a:r>
              <a:rPr lang="en-US" altLang="zh-CN" sz="1200" kern="1200" baseline="0" dirty="0" smtClean="0">
                <a:solidFill>
                  <a:schemeClr val="tx1"/>
                </a:solidFill>
                <a:effectLst/>
                <a:latin typeface="+mn-lt"/>
                <a:ea typeface="+mn-ea"/>
                <a:cs typeface="+mn-cs"/>
              </a:rPr>
              <a:t> </a:t>
            </a:r>
            <a:r>
              <a:rPr lang="en-US" altLang="zh-CN" sz="1200" kern="1200" dirty="0" smtClean="0">
                <a:solidFill>
                  <a:schemeClr val="tx1"/>
                </a:solidFill>
                <a:effectLst/>
                <a:latin typeface="+mn-lt"/>
                <a:ea typeface="+mn-ea"/>
                <a:cs typeface="+mn-cs"/>
              </a:rPr>
              <a:t>Lab for Computer Architecture under the guidance of Prof. Bu Kai since my sophomore year. My</a:t>
            </a:r>
            <a:r>
              <a:rPr lang="en-US" altLang="zh-CN" sz="1200" kern="1200" baseline="0" dirty="0" smtClean="0">
                <a:solidFill>
                  <a:schemeClr val="tx1"/>
                </a:solidFill>
                <a:effectLst/>
                <a:latin typeface="+mn-lt"/>
                <a:ea typeface="+mn-ea"/>
                <a:cs typeface="+mn-cs"/>
              </a:rPr>
              <a:t> major project is memory acceleration.</a:t>
            </a:r>
            <a:endParaRPr lang="zh-CN" altLang="en-US" dirty="0"/>
          </a:p>
        </p:txBody>
      </p:sp>
      <p:sp>
        <p:nvSpPr>
          <p:cNvPr id="4" name="灯片编号占位符 3"/>
          <p:cNvSpPr>
            <a:spLocks noGrp="1"/>
          </p:cNvSpPr>
          <p:nvPr>
            <p:ph type="sldNum" sz="quarter" idx="5"/>
          </p:nvPr>
        </p:nvSpPr>
        <p:spPr/>
        <p:txBody>
          <a:bodyPr/>
          <a:lstStyle/>
          <a:p>
            <a:fld id="{313FA922-7152-4116-8B91-582AC3B594D0}" type="slidenum">
              <a:rPr lang="zh-CN" altLang="en-US" smtClean="0"/>
              <a:t>2</a:t>
            </a:fld>
            <a:endParaRPr lang="zh-CN" altLang="en-US"/>
          </a:p>
        </p:txBody>
      </p:sp>
    </p:spTree>
    <p:extLst>
      <p:ext uri="{BB962C8B-B14F-4D97-AF65-F5344CB8AC3E}">
        <p14:creationId xmlns:p14="http://schemas.microsoft.com/office/powerpoint/2010/main" val="3143856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latin typeface="+mn-ea"/>
                <a:cs typeface="Times New Roman" panose="02020603050405020304" pitchFamily="18" charset="0"/>
              </a:rPr>
              <a:t>Nowadays, leading IT companies operate ML clusters, where deep learning (DL) models are trained for providing various AI-driven services. Efficient resource scheduling is essential for maximal utilization of expensive DL clusters.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313FA922-7152-4116-8B91-582AC3B594D0}" type="slidenum">
              <a:rPr lang="zh-CN" altLang="en-US" smtClean="0"/>
              <a:t>3</a:t>
            </a:fld>
            <a:endParaRPr lang="zh-CN" altLang="en-US"/>
          </a:p>
        </p:txBody>
      </p:sp>
    </p:spTree>
    <p:extLst>
      <p:ext uri="{BB962C8B-B14F-4D97-AF65-F5344CB8AC3E}">
        <p14:creationId xmlns:p14="http://schemas.microsoft.com/office/powerpoint/2010/main" val="3845834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313FA922-7152-4116-8B91-582AC3B594D0}" type="slidenum">
              <a:rPr lang="zh-CN" altLang="en-US" smtClean="0"/>
              <a:t>4</a:t>
            </a:fld>
            <a:endParaRPr lang="zh-CN" altLang="en-US"/>
          </a:p>
        </p:txBody>
      </p:sp>
    </p:spTree>
    <p:extLst>
      <p:ext uri="{BB962C8B-B14F-4D97-AF65-F5344CB8AC3E}">
        <p14:creationId xmlns:p14="http://schemas.microsoft.com/office/powerpoint/2010/main" val="2562251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effectLst/>
                <a:latin typeface="+mn-lt"/>
                <a:ea typeface="+mn-ea"/>
                <a:cs typeface="+mn-cs"/>
              </a:rPr>
              <a:t>Even though recent elastic schedulers can automatically select an appropriate amount of resources for each job, the problem is that the workers and PSs may well be distributed onto different physical servers, when they cannot be completely hosted on one server, or to maximize resource utilization on servers. However, even without over-subscription of resources, co-located ML jobs on the same server may interfere with each other negatively.</a:t>
            </a:r>
            <a:endParaRPr lang="zh-CN" altLang="en-US" dirty="0"/>
          </a:p>
        </p:txBody>
      </p:sp>
      <p:sp>
        <p:nvSpPr>
          <p:cNvPr id="4" name="灯片编号占位符 3"/>
          <p:cNvSpPr>
            <a:spLocks noGrp="1"/>
          </p:cNvSpPr>
          <p:nvPr>
            <p:ph type="sldNum" sz="quarter" idx="5"/>
          </p:nvPr>
        </p:nvSpPr>
        <p:spPr/>
        <p:txBody>
          <a:bodyPr/>
          <a:lstStyle/>
          <a:p>
            <a:fld id="{313FA922-7152-4116-8B91-582AC3B594D0}" type="slidenum">
              <a:rPr lang="zh-CN" altLang="en-US" smtClean="0"/>
              <a:t>5</a:t>
            </a:fld>
            <a:endParaRPr lang="zh-CN" altLang="en-US"/>
          </a:p>
        </p:txBody>
      </p:sp>
    </p:spTree>
    <p:extLst>
      <p:ext uri="{BB962C8B-B14F-4D97-AF65-F5344CB8AC3E}">
        <p14:creationId xmlns:p14="http://schemas.microsoft.com/office/powerpoint/2010/main" val="1425144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313FA922-7152-4116-8B91-582AC3B594D0}" type="slidenum">
              <a:rPr lang="zh-CN" altLang="en-US" smtClean="0"/>
              <a:t>6</a:t>
            </a:fld>
            <a:endParaRPr lang="zh-CN" altLang="en-US"/>
          </a:p>
        </p:txBody>
      </p:sp>
    </p:spTree>
    <p:extLst>
      <p:ext uri="{BB962C8B-B14F-4D97-AF65-F5344CB8AC3E}">
        <p14:creationId xmlns:p14="http://schemas.microsoft.com/office/powerpoint/2010/main" val="10600894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CF06ACB-586E-4135-A9BA-C2B440FB252A}" type="slidenum">
              <a:rPr lang="zh-CN" altLang="en-US" smtClean="0"/>
              <a:t>7</a:t>
            </a:fld>
            <a:endParaRPr lang="zh-CN" altLang="en-US"/>
          </a:p>
        </p:txBody>
      </p:sp>
    </p:spTree>
    <p:extLst>
      <p:ext uri="{BB962C8B-B14F-4D97-AF65-F5344CB8AC3E}">
        <p14:creationId xmlns:p14="http://schemas.microsoft.com/office/powerpoint/2010/main" val="22729111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13FA922-7152-4116-8B91-582AC3B594D0}" type="slidenum">
              <a:rPr lang="zh-CN" altLang="en-US" smtClean="0"/>
              <a:t>8</a:t>
            </a:fld>
            <a:endParaRPr lang="zh-CN" altLang="en-US"/>
          </a:p>
        </p:txBody>
      </p:sp>
    </p:spTree>
    <p:extLst>
      <p:ext uri="{BB962C8B-B14F-4D97-AF65-F5344CB8AC3E}">
        <p14:creationId xmlns:p14="http://schemas.microsoft.com/office/powerpoint/2010/main" val="25363423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 </a:t>
            </a:r>
            <a:endParaRPr lang="zh-CN" altLang="en-US" dirty="0"/>
          </a:p>
        </p:txBody>
      </p:sp>
      <p:sp>
        <p:nvSpPr>
          <p:cNvPr id="4" name="灯片编号占位符 3"/>
          <p:cNvSpPr>
            <a:spLocks noGrp="1"/>
          </p:cNvSpPr>
          <p:nvPr>
            <p:ph type="sldNum" sz="quarter" idx="10"/>
          </p:nvPr>
        </p:nvSpPr>
        <p:spPr/>
        <p:txBody>
          <a:bodyPr/>
          <a:lstStyle/>
          <a:p>
            <a:fld id="{5CF06ACB-586E-4135-A9BA-C2B440FB252A}" type="slidenum">
              <a:rPr lang="zh-CN" altLang="en-US" smtClean="0"/>
              <a:t>9</a:t>
            </a:fld>
            <a:endParaRPr lang="zh-CN" altLang="en-US"/>
          </a:p>
        </p:txBody>
      </p:sp>
    </p:spTree>
    <p:extLst>
      <p:ext uri="{BB962C8B-B14F-4D97-AF65-F5344CB8AC3E}">
        <p14:creationId xmlns:p14="http://schemas.microsoft.com/office/powerpoint/2010/main" val="3717479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effectLst/>
                <a:latin typeface="+mn-lt"/>
                <a:ea typeface="+mn-ea"/>
                <a:cs typeface="+mn-cs"/>
              </a:rPr>
              <a:t>What’s more, </a:t>
            </a:r>
            <a:r>
              <a:rPr lang="en-US" altLang="zh-CN" sz="1200" kern="1200" dirty="0" smtClean="0">
                <a:solidFill>
                  <a:schemeClr val="tx1"/>
                </a:solidFill>
                <a:effectLst/>
                <a:latin typeface="+mn-lt"/>
                <a:ea typeface="+mn-ea"/>
                <a:cs typeface="+mn-cs"/>
              </a:rPr>
              <a:t>I have researched at the</a:t>
            </a:r>
            <a:r>
              <a:rPr lang="en-US" altLang="zh-CN" sz="1200" kern="1200" baseline="0" dirty="0" smtClean="0">
                <a:solidFill>
                  <a:schemeClr val="tx1"/>
                </a:solidFill>
                <a:effectLst/>
                <a:latin typeface="+mn-lt"/>
                <a:ea typeface="+mn-ea"/>
                <a:cs typeface="+mn-cs"/>
              </a:rPr>
              <a:t> </a:t>
            </a:r>
            <a:r>
              <a:rPr lang="en-US" altLang="zh-CN" sz="1200" kern="1200" dirty="0" smtClean="0">
                <a:solidFill>
                  <a:schemeClr val="tx1"/>
                </a:solidFill>
                <a:effectLst/>
                <a:latin typeface="+mn-lt"/>
                <a:ea typeface="+mn-ea"/>
                <a:cs typeface="+mn-cs"/>
              </a:rPr>
              <a:t>Lab for Computer Architecture under the guidance of Prof. Bu Kai since my sophomore year. My</a:t>
            </a:r>
            <a:r>
              <a:rPr lang="en-US" altLang="zh-CN" sz="1200" kern="1200" baseline="0" dirty="0" smtClean="0">
                <a:solidFill>
                  <a:schemeClr val="tx1"/>
                </a:solidFill>
                <a:effectLst/>
                <a:latin typeface="+mn-lt"/>
                <a:ea typeface="+mn-ea"/>
                <a:cs typeface="+mn-cs"/>
              </a:rPr>
              <a:t> major project is memory acceleration.</a:t>
            </a:r>
            <a:endParaRPr lang="zh-CN" altLang="en-US" dirty="0"/>
          </a:p>
        </p:txBody>
      </p:sp>
      <p:sp>
        <p:nvSpPr>
          <p:cNvPr id="4" name="灯片编号占位符 3"/>
          <p:cNvSpPr>
            <a:spLocks noGrp="1"/>
          </p:cNvSpPr>
          <p:nvPr>
            <p:ph type="sldNum" sz="quarter" idx="5"/>
          </p:nvPr>
        </p:nvSpPr>
        <p:spPr/>
        <p:txBody>
          <a:bodyPr/>
          <a:lstStyle/>
          <a:p>
            <a:fld id="{313FA922-7152-4116-8B91-582AC3B594D0}" type="slidenum">
              <a:rPr lang="zh-CN" altLang="en-US" smtClean="0"/>
              <a:t>10</a:t>
            </a:fld>
            <a:endParaRPr lang="zh-CN" altLang="en-US"/>
          </a:p>
        </p:txBody>
      </p:sp>
    </p:spTree>
    <p:extLst>
      <p:ext uri="{BB962C8B-B14F-4D97-AF65-F5344CB8AC3E}">
        <p14:creationId xmlns:p14="http://schemas.microsoft.com/office/powerpoint/2010/main" val="885028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tx1"/>
                </a:solidFill>
                <a:effectLst/>
                <a:latin typeface="+mn-lt"/>
                <a:ea typeface="+mn-ea"/>
                <a:cs typeface="+mn-cs"/>
              </a:rPr>
              <a:t>In this work, we develop a novel logging mechanism. </a:t>
            </a:r>
            <a:r>
              <a:rPr lang="en-US" altLang="zh-CN" sz="1200" dirty="0" smtClean="0"/>
              <a:t>We use transaction memory to improve the performance of parallel programs, and ensure the efficiency of programming.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313FA922-7152-4116-8B91-582AC3B594D0}" type="slidenum">
              <a:rPr lang="zh-CN" altLang="en-US" smtClean="0"/>
              <a:t>11</a:t>
            </a:fld>
            <a:endParaRPr lang="zh-CN" altLang="en-US"/>
          </a:p>
        </p:txBody>
      </p:sp>
    </p:spTree>
    <p:extLst>
      <p:ext uri="{BB962C8B-B14F-4D97-AF65-F5344CB8AC3E}">
        <p14:creationId xmlns:p14="http://schemas.microsoft.com/office/powerpoint/2010/main" val="12469009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aseline="0" dirty="0" smtClean="0"/>
              <a:t>Transactional memory could recover from errors, rollback   , implement synchronization among tasks.</a:t>
            </a:r>
            <a:endParaRPr lang="zh-CN" altLang="en-US" dirty="0"/>
          </a:p>
        </p:txBody>
      </p:sp>
      <p:sp>
        <p:nvSpPr>
          <p:cNvPr id="4" name="灯片编号占位符 3"/>
          <p:cNvSpPr>
            <a:spLocks noGrp="1"/>
          </p:cNvSpPr>
          <p:nvPr>
            <p:ph type="sldNum" sz="quarter" idx="5"/>
          </p:nvPr>
        </p:nvSpPr>
        <p:spPr/>
        <p:txBody>
          <a:bodyPr/>
          <a:lstStyle/>
          <a:p>
            <a:fld id="{313FA922-7152-4116-8B91-582AC3B594D0}" type="slidenum">
              <a:rPr lang="zh-CN" altLang="en-US" smtClean="0"/>
              <a:t>12</a:t>
            </a:fld>
            <a:endParaRPr lang="zh-CN" altLang="en-US"/>
          </a:p>
        </p:txBody>
      </p:sp>
    </p:spTree>
    <p:extLst>
      <p:ext uri="{BB962C8B-B14F-4D97-AF65-F5344CB8AC3E}">
        <p14:creationId xmlns:p14="http://schemas.microsoft.com/office/powerpoint/2010/main" val="29540006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The previous methods write log into memory controller before writing data into cache, the core collects meta-log</a:t>
            </a:r>
            <a:r>
              <a:rPr lang="zh-CN" altLang="en-US" dirty="0" smtClean="0"/>
              <a:t>，</a:t>
            </a:r>
            <a:r>
              <a:rPr lang="en-US" altLang="zh-CN" dirty="0" smtClean="0"/>
              <a:t>get</a:t>
            </a:r>
            <a:r>
              <a:rPr lang="en-US" altLang="zh-CN" baseline="0" dirty="0" smtClean="0"/>
              <a:t> old</a:t>
            </a:r>
            <a:r>
              <a:rPr lang="en-US" altLang="zh-CN" dirty="0" smtClean="0"/>
              <a:t> value</a:t>
            </a:r>
            <a:r>
              <a:rPr lang="zh-CN" altLang="en-US" dirty="0" smtClean="0"/>
              <a:t>，</a:t>
            </a:r>
            <a:r>
              <a:rPr lang="en-US" altLang="zh-CN" dirty="0" smtClean="0"/>
              <a:t>write old value into memory controller, then write new</a:t>
            </a:r>
            <a:r>
              <a:rPr lang="en-US" altLang="zh-CN" baseline="0" dirty="0" smtClean="0"/>
              <a:t> value</a:t>
            </a:r>
            <a:r>
              <a:rPr lang="en-US" altLang="zh-CN" dirty="0" smtClean="0"/>
              <a:t> into the cache. Writing through old</a:t>
            </a:r>
            <a:r>
              <a:rPr lang="en-US" altLang="zh-CN" baseline="0" dirty="0" smtClean="0"/>
              <a:t> value</a:t>
            </a:r>
            <a:r>
              <a:rPr lang="en-US" altLang="zh-CN" dirty="0" smtClean="0"/>
              <a:t> wastes time and spatial locality. </a:t>
            </a:r>
            <a:endParaRPr lang="zh-CN" altLang="en-US" dirty="0"/>
          </a:p>
        </p:txBody>
      </p:sp>
      <p:sp>
        <p:nvSpPr>
          <p:cNvPr id="4" name="灯片编号占位符 3"/>
          <p:cNvSpPr>
            <a:spLocks noGrp="1"/>
          </p:cNvSpPr>
          <p:nvPr>
            <p:ph type="sldNum" sz="quarter" idx="5"/>
          </p:nvPr>
        </p:nvSpPr>
        <p:spPr/>
        <p:txBody>
          <a:bodyPr/>
          <a:lstStyle/>
          <a:p>
            <a:fld id="{313FA922-7152-4116-8B91-582AC3B594D0}" type="slidenum">
              <a:rPr lang="zh-CN" altLang="en-US" smtClean="0"/>
              <a:t>13</a:t>
            </a:fld>
            <a:endParaRPr lang="zh-CN" altLang="en-US"/>
          </a:p>
        </p:txBody>
      </p:sp>
    </p:spTree>
    <p:extLst>
      <p:ext uri="{BB962C8B-B14F-4D97-AF65-F5344CB8AC3E}">
        <p14:creationId xmlns:p14="http://schemas.microsoft.com/office/powerpoint/2010/main" val="36466063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Our</a:t>
            </a:r>
            <a:r>
              <a:rPr lang="en-US" altLang="zh-CN" baseline="0" dirty="0" smtClean="0"/>
              <a:t> method is g</a:t>
            </a:r>
            <a:r>
              <a:rPr lang="en-US" altLang="zh-CN" dirty="0" smtClean="0"/>
              <a:t>enerating log before eviction. Update cache immediately when store. Generating</a:t>
            </a:r>
            <a:r>
              <a:rPr lang="en-US" altLang="zh-CN" baseline="0" dirty="0" smtClean="0"/>
              <a:t> log when </a:t>
            </a:r>
            <a:r>
              <a:rPr lang="en-US" altLang="zh-CN" baseline="0" dirty="0" err="1" smtClean="0"/>
              <a:t>commiting</a:t>
            </a:r>
            <a:r>
              <a:rPr lang="en-US" altLang="zh-CN" baseline="0" dirty="0" smtClean="0"/>
              <a:t>, we use flush to evict cache line.</a:t>
            </a:r>
            <a:endParaRPr lang="zh-CN" altLang="en-US" dirty="0"/>
          </a:p>
        </p:txBody>
      </p:sp>
      <p:sp>
        <p:nvSpPr>
          <p:cNvPr id="4" name="灯片编号占位符 3"/>
          <p:cNvSpPr>
            <a:spLocks noGrp="1"/>
          </p:cNvSpPr>
          <p:nvPr>
            <p:ph type="sldNum" sz="quarter" idx="5"/>
          </p:nvPr>
        </p:nvSpPr>
        <p:spPr/>
        <p:txBody>
          <a:bodyPr/>
          <a:lstStyle/>
          <a:p>
            <a:fld id="{313FA922-7152-4116-8B91-582AC3B594D0}" type="slidenum">
              <a:rPr lang="zh-CN" altLang="en-US" smtClean="0"/>
              <a:t>14</a:t>
            </a:fld>
            <a:endParaRPr lang="zh-CN" altLang="en-US"/>
          </a:p>
        </p:txBody>
      </p:sp>
    </p:spTree>
    <p:extLst>
      <p:ext uri="{BB962C8B-B14F-4D97-AF65-F5344CB8AC3E}">
        <p14:creationId xmlns:p14="http://schemas.microsoft.com/office/powerpoint/2010/main" val="41167840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13FA922-7152-4116-8B91-582AC3B594D0}" type="slidenum">
              <a:rPr lang="zh-CN" altLang="en-US" smtClean="0"/>
              <a:t>15</a:t>
            </a:fld>
            <a:endParaRPr lang="zh-CN" altLang="en-US"/>
          </a:p>
        </p:txBody>
      </p:sp>
    </p:spTree>
    <p:extLst>
      <p:ext uri="{BB962C8B-B14F-4D97-AF65-F5344CB8AC3E}">
        <p14:creationId xmlns:p14="http://schemas.microsoft.com/office/powerpoint/2010/main" val="28556405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I finished</a:t>
            </a:r>
            <a:r>
              <a:rPr lang="en-US" altLang="zh-CN" baseline="0" dirty="0" smtClean="0"/>
              <a:t> the experiment with gem5 framework</a:t>
            </a:r>
            <a:r>
              <a:rPr lang="zh-CN" altLang="en-US" dirty="0" smtClean="0"/>
              <a:t>， </a:t>
            </a:r>
            <a:r>
              <a:rPr lang="en-US" altLang="zh-CN" dirty="0" smtClean="0"/>
              <a:t>mainly</a:t>
            </a:r>
            <a:r>
              <a:rPr lang="en-US" altLang="zh-CN" baseline="0" dirty="0" smtClean="0"/>
              <a:t> c++. This is my learning notion and a piece of gem5. </a:t>
            </a:r>
            <a:endParaRPr lang="zh-CN" altLang="en-US" dirty="0" smtClean="0"/>
          </a:p>
          <a:p>
            <a:endParaRPr lang="zh-CN" altLang="en-US" dirty="0"/>
          </a:p>
        </p:txBody>
      </p:sp>
      <p:sp>
        <p:nvSpPr>
          <p:cNvPr id="4" name="灯片编号占位符 3"/>
          <p:cNvSpPr>
            <a:spLocks noGrp="1"/>
          </p:cNvSpPr>
          <p:nvPr>
            <p:ph type="sldNum" sz="quarter" idx="5"/>
          </p:nvPr>
        </p:nvSpPr>
        <p:spPr/>
        <p:txBody>
          <a:bodyPr/>
          <a:lstStyle/>
          <a:p>
            <a:fld id="{313FA922-7152-4116-8B91-582AC3B594D0}" type="slidenum">
              <a:rPr lang="zh-CN" altLang="en-US" smtClean="0"/>
              <a:t>16</a:t>
            </a:fld>
            <a:endParaRPr lang="zh-CN" altLang="en-US"/>
          </a:p>
        </p:txBody>
      </p:sp>
    </p:spTree>
    <p:extLst>
      <p:ext uri="{BB962C8B-B14F-4D97-AF65-F5344CB8AC3E}">
        <p14:creationId xmlns:p14="http://schemas.microsoft.com/office/powerpoint/2010/main" val="2095183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13FA922-7152-4116-8B91-582AC3B594D0}" type="slidenum">
              <a:rPr lang="zh-CN" altLang="en-US" smtClean="0"/>
              <a:t>17</a:t>
            </a:fld>
            <a:endParaRPr lang="zh-CN" altLang="en-US"/>
          </a:p>
        </p:txBody>
      </p:sp>
    </p:spTree>
    <p:extLst>
      <p:ext uri="{BB962C8B-B14F-4D97-AF65-F5344CB8AC3E}">
        <p14:creationId xmlns:p14="http://schemas.microsoft.com/office/powerpoint/2010/main" val="34242421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13FA922-7152-4116-8B91-582AC3B594D0}" type="slidenum">
              <a:rPr lang="zh-CN" altLang="en-US" smtClean="0"/>
              <a:t>18</a:t>
            </a:fld>
            <a:endParaRPr lang="zh-CN" altLang="en-US"/>
          </a:p>
        </p:txBody>
      </p:sp>
    </p:spTree>
    <p:extLst>
      <p:ext uri="{BB962C8B-B14F-4D97-AF65-F5344CB8AC3E}">
        <p14:creationId xmlns:p14="http://schemas.microsoft.com/office/powerpoint/2010/main" val="5395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95DD6E-3A78-44BC-96DF-2C9B6F418AC4}"/>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4EF148C-B5D2-4D29-B591-978D182823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20A5E18-97F4-4A7F-8619-08A6A8D3BD93}"/>
              </a:ext>
            </a:extLst>
          </p:cNvPr>
          <p:cNvSpPr>
            <a:spLocks noGrp="1"/>
          </p:cNvSpPr>
          <p:nvPr>
            <p:ph type="dt" sz="half" idx="10"/>
          </p:nvPr>
        </p:nvSpPr>
        <p:spPr/>
        <p:txBody>
          <a:bodyPr/>
          <a:lstStyle/>
          <a:p>
            <a:fld id="{1E78F56F-22A7-4975-B400-8E63B73AF6B5}" type="datetimeFigureOut">
              <a:rPr lang="zh-CN" altLang="en-US" smtClean="0"/>
              <a:t>2021/8/22</a:t>
            </a:fld>
            <a:endParaRPr lang="zh-CN" altLang="en-US"/>
          </a:p>
        </p:txBody>
      </p:sp>
      <p:sp>
        <p:nvSpPr>
          <p:cNvPr id="5" name="页脚占位符 4">
            <a:extLst>
              <a:ext uri="{FF2B5EF4-FFF2-40B4-BE49-F238E27FC236}">
                <a16:creationId xmlns:a16="http://schemas.microsoft.com/office/drawing/2014/main" id="{F5178D58-E6DA-4AE5-8EF4-CB4A26C2CE0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3A1F9C6-4519-46E6-AE1F-CF1D341A8B5D}"/>
              </a:ext>
            </a:extLst>
          </p:cNvPr>
          <p:cNvSpPr>
            <a:spLocks noGrp="1"/>
          </p:cNvSpPr>
          <p:nvPr>
            <p:ph type="sldNum" sz="quarter" idx="12"/>
          </p:nvPr>
        </p:nvSpPr>
        <p:spPr/>
        <p:txBody>
          <a:bodyPr/>
          <a:lstStyle/>
          <a:p>
            <a:fld id="{EB4E3EAA-5119-446E-8909-EF1AF40FB779}" type="slidenum">
              <a:rPr lang="zh-CN" altLang="en-US" smtClean="0"/>
              <a:t>‹#›</a:t>
            </a:fld>
            <a:endParaRPr lang="zh-CN" altLang="en-US"/>
          </a:p>
        </p:txBody>
      </p:sp>
    </p:spTree>
    <p:extLst>
      <p:ext uri="{BB962C8B-B14F-4D97-AF65-F5344CB8AC3E}">
        <p14:creationId xmlns:p14="http://schemas.microsoft.com/office/powerpoint/2010/main" val="29803897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BE47F7-A7D3-4A52-95FC-AE0A8C58DB2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B277812-284B-4ADC-9C97-2F0E8EE9445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9EC5BDB-AD7C-4B7D-AB73-70E35DD06638}"/>
              </a:ext>
            </a:extLst>
          </p:cNvPr>
          <p:cNvSpPr>
            <a:spLocks noGrp="1"/>
          </p:cNvSpPr>
          <p:nvPr>
            <p:ph type="dt" sz="half" idx="10"/>
          </p:nvPr>
        </p:nvSpPr>
        <p:spPr/>
        <p:txBody>
          <a:bodyPr/>
          <a:lstStyle/>
          <a:p>
            <a:fld id="{1E78F56F-22A7-4975-B400-8E63B73AF6B5}" type="datetimeFigureOut">
              <a:rPr lang="zh-CN" altLang="en-US" smtClean="0"/>
              <a:t>2021/8/22</a:t>
            </a:fld>
            <a:endParaRPr lang="zh-CN" altLang="en-US"/>
          </a:p>
        </p:txBody>
      </p:sp>
      <p:sp>
        <p:nvSpPr>
          <p:cNvPr id="5" name="页脚占位符 4">
            <a:extLst>
              <a:ext uri="{FF2B5EF4-FFF2-40B4-BE49-F238E27FC236}">
                <a16:creationId xmlns:a16="http://schemas.microsoft.com/office/drawing/2014/main" id="{965B09E0-878E-4ECF-B80A-A1D9A9E8EDE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2EFF445-A565-4676-A4AD-69BB70EF7F7D}"/>
              </a:ext>
            </a:extLst>
          </p:cNvPr>
          <p:cNvSpPr>
            <a:spLocks noGrp="1"/>
          </p:cNvSpPr>
          <p:nvPr>
            <p:ph type="sldNum" sz="quarter" idx="12"/>
          </p:nvPr>
        </p:nvSpPr>
        <p:spPr/>
        <p:txBody>
          <a:bodyPr/>
          <a:lstStyle/>
          <a:p>
            <a:fld id="{EB4E3EAA-5119-446E-8909-EF1AF40FB779}" type="slidenum">
              <a:rPr lang="zh-CN" altLang="en-US" smtClean="0"/>
              <a:t>‹#›</a:t>
            </a:fld>
            <a:endParaRPr lang="zh-CN" altLang="en-US"/>
          </a:p>
        </p:txBody>
      </p:sp>
    </p:spTree>
    <p:extLst>
      <p:ext uri="{BB962C8B-B14F-4D97-AF65-F5344CB8AC3E}">
        <p14:creationId xmlns:p14="http://schemas.microsoft.com/office/powerpoint/2010/main" val="2118096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C54622-E3FA-4075-B1D9-EAEDCD14FC3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E7EA876-CABC-4664-9842-5DD99087C5F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9CBEC6F-36ED-452D-AB8E-47823A54A33D}"/>
              </a:ext>
            </a:extLst>
          </p:cNvPr>
          <p:cNvSpPr>
            <a:spLocks noGrp="1"/>
          </p:cNvSpPr>
          <p:nvPr>
            <p:ph type="dt" sz="half" idx="10"/>
          </p:nvPr>
        </p:nvSpPr>
        <p:spPr/>
        <p:txBody>
          <a:bodyPr/>
          <a:lstStyle/>
          <a:p>
            <a:fld id="{1E78F56F-22A7-4975-B400-8E63B73AF6B5}" type="datetimeFigureOut">
              <a:rPr lang="zh-CN" altLang="en-US" smtClean="0"/>
              <a:t>2021/8/22</a:t>
            </a:fld>
            <a:endParaRPr lang="zh-CN" altLang="en-US"/>
          </a:p>
        </p:txBody>
      </p:sp>
      <p:sp>
        <p:nvSpPr>
          <p:cNvPr id="5" name="页脚占位符 4">
            <a:extLst>
              <a:ext uri="{FF2B5EF4-FFF2-40B4-BE49-F238E27FC236}">
                <a16:creationId xmlns:a16="http://schemas.microsoft.com/office/drawing/2014/main" id="{1E9E0115-B22C-4531-B943-93CF91767C9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BB82DDA-2C26-497B-958C-FD63890B3B20}"/>
              </a:ext>
            </a:extLst>
          </p:cNvPr>
          <p:cNvSpPr>
            <a:spLocks noGrp="1"/>
          </p:cNvSpPr>
          <p:nvPr>
            <p:ph type="sldNum" sz="quarter" idx="12"/>
          </p:nvPr>
        </p:nvSpPr>
        <p:spPr/>
        <p:txBody>
          <a:bodyPr/>
          <a:lstStyle/>
          <a:p>
            <a:fld id="{EB4E3EAA-5119-446E-8909-EF1AF40FB779}" type="slidenum">
              <a:rPr lang="zh-CN" altLang="en-US" smtClean="0"/>
              <a:t>‹#›</a:t>
            </a:fld>
            <a:endParaRPr lang="zh-CN" altLang="en-US"/>
          </a:p>
        </p:txBody>
      </p:sp>
    </p:spTree>
    <p:extLst>
      <p:ext uri="{BB962C8B-B14F-4D97-AF65-F5344CB8AC3E}">
        <p14:creationId xmlns:p14="http://schemas.microsoft.com/office/powerpoint/2010/main" val="3366243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A30E52-136E-4074-9B81-FB10F71076C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072DA6F-1D30-478C-A28D-DDCCBF6D127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7D07F55-6107-4809-9FFA-96B8E96B646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4BDBEC4-53C3-436D-883F-98DF19834BAC}"/>
              </a:ext>
            </a:extLst>
          </p:cNvPr>
          <p:cNvSpPr>
            <a:spLocks noGrp="1"/>
          </p:cNvSpPr>
          <p:nvPr>
            <p:ph type="dt" sz="half" idx="10"/>
          </p:nvPr>
        </p:nvSpPr>
        <p:spPr/>
        <p:txBody>
          <a:bodyPr/>
          <a:lstStyle/>
          <a:p>
            <a:fld id="{1E78F56F-22A7-4975-B400-8E63B73AF6B5}" type="datetimeFigureOut">
              <a:rPr lang="zh-CN" altLang="en-US" smtClean="0"/>
              <a:t>2021/8/22</a:t>
            </a:fld>
            <a:endParaRPr lang="zh-CN" altLang="en-US"/>
          </a:p>
        </p:txBody>
      </p:sp>
      <p:sp>
        <p:nvSpPr>
          <p:cNvPr id="6" name="页脚占位符 5">
            <a:extLst>
              <a:ext uri="{FF2B5EF4-FFF2-40B4-BE49-F238E27FC236}">
                <a16:creationId xmlns:a16="http://schemas.microsoft.com/office/drawing/2014/main" id="{654DF4B9-F7CB-402D-86D0-E2175D3986D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F2113B6-B4F8-44A8-8524-73CED99BC65E}"/>
              </a:ext>
            </a:extLst>
          </p:cNvPr>
          <p:cNvSpPr>
            <a:spLocks noGrp="1"/>
          </p:cNvSpPr>
          <p:nvPr>
            <p:ph type="sldNum" sz="quarter" idx="12"/>
          </p:nvPr>
        </p:nvSpPr>
        <p:spPr/>
        <p:txBody>
          <a:bodyPr/>
          <a:lstStyle/>
          <a:p>
            <a:fld id="{EB4E3EAA-5119-446E-8909-EF1AF40FB779}" type="slidenum">
              <a:rPr lang="zh-CN" altLang="en-US" smtClean="0"/>
              <a:t>‹#›</a:t>
            </a:fld>
            <a:endParaRPr lang="zh-CN" altLang="en-US"/>
          </a:p>
        </p:txBody>
      </p:sp>
    </p:spTree>
    <p:extLst>
      <p:ext uri="{BB962C8B-B14F-4D97-AF65-F5344CB8AC3E}">
        <p14:creationId xmlns:p14="http://schemas.microsoft.com/office/powerpoint/2010/main" val="44143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78ED98-E75B-4CFC-AFD0-D6A2BCAC097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1212645-B4B4-4F77-8BA2-AD2F874C72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C369539-0CA0-48AD-9FAD-AC7884E3679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1D63B44-2672-4E78-BAD3-59DA40D93F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E871DF4-0DEC-4889-BC25-994626070DF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01594D4-3B0E-4237-BC31-A94E2419E795}"/>
              </a:ext>
            </a:extLst>
          </p:cNvPr>
          <p:cNvSpPr>
            <a:spLocks noGrp="1"/>
          </p:cNvSpPr>
          <p:nvPr>
            <p:ph type="dt" sz="half" idx="10"/>
          </p:nvPr>
        </p:nvSpPr>
        <p:spPr/>
        <p:txBody>
          <a:bodyPr/>
          <a:lstStyle/>
          <a:p>
            <a:fld id="{1E78F56F-22A7-4975-B400-8E63B73AF6B5}" type="datetimeFigureOut">
              <a:rPr lang="zh-CN" altLang="en-US" smtClean="0"/>
              <a:t>2021/8/22</a:t>
            </a:fld>
            <a:endParaRPr lang="zh-CN" altLang="en-US"/>
          </a:p>
        </p:txBody>
      </p:sp>
      <p:sp>
        <p:nvSpPr>
          <p:cNvPr id="8" name="页脚占位符 7">
            <a:extLst>
              <a:ext uri="{FF2B5EF4-FFF2-40B4-BE49-F238E27FC236}">
                <a16:creationId xmlns:a16="http://schemas.microsoft.com/office/drawing/2014/main" id="{D33767C3-F050-40F4-9683-AF963A7F051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D4061D7-DE68-411C-A936-FE98C8CD816A}"/>
              </a:ext>
            </a:extLst>
          </p:cNvPr>
          <p:cNvSpPr>
            <a:spLocks noGrp="1"/>
          </p:cNvSpPr>
          <p:nvPr>
            <p:ph type="sldNum" sz="quarter" idx="12"/>
          </p:nvPr>
        </p:nvSpPr>
        <p:spPr/>
        <p:txBody>
          <a:bodyPr/>
          <a:lstStyle/>
          <a:p>
            <a:fld id="{EB4E3EAA-5119-446E-8909-EF1AF40FB779}" type="slidenum">
              <a:rPr lang="zh-CN" altLang="en-US" smtClean="0"/>
              <a:t>‹#›</a:t>
            </a:fld>
            <a:endParaRPr lang="zh-CN" altLang="en-US"/>
          </a:p>
        </p:txBody>
      </p:sp>
    </p:spTree>
    <p:extLst>
      <p:ext uri="{BB962C8B-B14F-4D97-AF65-F5344CB8AC3E}">
        <p14:creationId xmlns:p14="http://schemas.microsoft.com/office/powerpoint/2010/main" val="1577828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234BA1-5195-4444-BBAF-693B2F270F1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51BE3C6-C658-4CC1-8B61-BA59DDE9BA1D}"/>
              </a:ext>
            </a:extLst>
          </p:cNvPr>
          <p:cNvSpPr>
            <a:spLocks noGrp="1"/>
          </p:cNvSpPr>
          <p:nvPr>
            <p:ph type="dt" sz="half" idx="10"/>
          </p:nvPr>
        </p:nvSpPr>
        <p:spPr/>
        <p:txBody>
          <a:bodyPr/>
          <a:lstStyle/>
          <a:p>
            <a:fld id="{1E78F56F-22A7-4975-B400-8E63B73AF6B5}" type="datetimeFigureOut">
              <a:rPr lang="zh-CN" altLang="en-US" smtClean="0"/>
              <a:t>2021/8/22</a:t>
            </a:fld>
            <a:endParaRPr lang="zh-CN" altLang="en-US"/>
          </a:p>
        </p:txBody>
      </p:sp>
      <p:sp>
        <p:nvSpPr>
          <p:cNvPr id="4" name="页脚占位符 3">
            <a:extLst>
              <a:ext uri="{FF2B5EF4-FFF2-40B4-BE49-F238E27FC236}">
                <a16:creationId xmlns:a16="http://schemas.microsoft.com/office/drawing/2014/main" id="{37E929F1-D548-4ED0-A4A8-A2FC869CA69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AEB9685-3E28-47F6-AA67-EE734EF1339A}"/>
              </a:ext>
            </a:extLst>
          </p:cNvPr>
          <p:cNvSpPr>
            <a:spLocks noGrp="1"/>
          </p:cNvSpPr>
          <p:nvPr>
            <p:ph type="sldNum" sz="quarter" idx="12"/>
          </p:nvPr>
        </p:nvSpPr>
        <p:spPr/>
        <p:txBody>
          <a:bodyPr/>
          <a:lstStyle/>
          <a:p>
            <a:fld id="{EB4E3EAA-5119-446E-8909-EF1AF40FB779}" type="slidenum">
              <a:rPr lang="zh-CN" altLang="en-US" smtClean="0"/>
              <a:t>‹#›</a:t>
            </a:fld>
            <a:endParaRPr lang="zh-CN" altLang="en-US"/>
          </a:p>
        </p:txBody>
      </p:sp>
    </p:spTree>
    <p:extLst>
      <p:ext uri="{BB962C8B-B14F-4D97-AF65-F5344CB8AC3E}">
        <p14:creationId xmlns:p14="http://schemas.microsoft.com/office/powerpoint/2010/main" val="4265067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6430065-14C9-40E4-B318-2390C562D58B}"/>
              </a:ext>
            </a:extLst>
          </p:cNvPr>
          <p:cNvSpPr>
            <a:spLocks noGrp="1"/>
          </p:cNvSpPr>
          <p:nvPr>
            <p:ph type="dt" sz="half" idx="10"/>
          </p:nvPr>
        </p:nvSpPr>
        <p:spPr/>
        <p:txBody>
          <a:bodyPr/>
          <a:lstStyle/>
          <a:p>
            <a:fld id="{1E78F56F-22A7-4975-B400-8E63B73AF6B5}" type="datetimeFigureOut">
              <a:rPr lang="zh-CN" altLang="en-US" smtClean="0"/>
              <a:t>2021/8/22</a:t>
            </a:fld>
            <a:endParaRPr lang="zh-CN" altLang="en-US"/>
          </a:p>
        </p:txBody>
      </p:sp>
      <p:sp>
        <p:nvSpPr>
          <p:cNvPr id="3" name="页脚占位符 2">
            <a:extLst>
              <a:ext uri="{FF2B5EF4-FFF2-40B4-BE49-F238E27FC236}">
                <a16:creationId xmlns:a16="http://schemas.microsoft.com/office/drawing/2014/main" id="{04729125-C71F-4C68-988E-7FB43DD290C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3AAB65C-E388-4C2F-A6FF-B6DA8DA20040}"/>
              </a:ext>
            </a:extLst>
          </p:cNvPr>
          <p:cNvSpPr>
            <a:spLocks noGrp="1"/>
          </p:cNvSpPr>
          <p:nvPr>
            <p:ph type="sldNum" sz="quarter" idx="12"/>
          </p:nvPr>
        </p:nvSpPr>
        <p:spPr/>
        <p:txBody>
          <a:bodyPr/>
          <a:lstStyle/>
          <a:p>
            <a:fld id="{EB4E3EAA-5119-446E-8909-EF1AF40FB779}" type="slidenum">
              <a:rPr lang="zh-CN" altLang="en-US" smtClean="0"/>
              <a:t>‹#›</a:t>
            </a:fld>
            <a:endParaRPr lang="zh-CN" altLang="en-US"/>
          </a:p>
        </p:txBody>
      </p:sp>
    </p:spTree>
    <p:extLst>
      <p:ext uri="{BB962C8B-B14F-4D97-AF65-F5344CB8AC3E}">
        <p14:creationId xmlns:p14="http://schemas.microsoft.com/office/powerpoint/2010/main" val="3825110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E5A7C7-A41E-4034-BEC9-88744573CF4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139C9A12-D9B2-47B1-8C1B-5932FCF40B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FD87728-3C4E-4DDC-ACD8-8D0E0FE528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BAB63EF-DFA4-4269-B670-5B61315EB2FE}"/>
              </a:ext>
            </a:extLst>
          </p:cNvPr>
          <p:cNvSpPr>
            <a:spLocks noGrp="1"/>
          </p:cNvSpPr>
          <p:nvPr>
            <p:ph type="dt" sz="half" idx="10"/>
          </p:nvPr>
        </p:nvSpPr>
        <p:spPr/>
        <p:txBody>
          <a:bodyPr/>
          <a:lstStyle/>
          <a:p>
            <a:fld id="{1E78F56F-22A7-4975-B400-8E63B73AF6B5}" type="datetimeFigureOut">
              <a:rPr lang="zh-CN" altLang="en-US" smtClean="0"/>
              <a:t>2021/8/22</a:t>
            </a:fld>
            <a:endParaRPr lang="zh-CN" altLang="en-US"/>
          </a:p>
        </p:txBody>
      </p:sp>
      <p:sp>
        <p:nvSpPr>
          <p:cNvPr id="6" name="页脚占位符 5">
            <a:extLst>
              <a:ext uri="{FF2B5EF4-FFF2-40B4-BE49-F238E27FC236}">
                <a16:creationId xmlns:a16="http://schemas.microsoft.com/office/drawing/2014/main" id="{CA9DA0B2-D195-492A-B629-FC7408CFD43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AE6217F-142E-41B3-A30D-0F4D44AC1E82}"/>
              </a:ext>
            </a:extLst>
          </p:cNvPr>
          <p:cNvSpPr>
            <a:spLocks noGrp="1"/>
          </p:cNvSpPr>
          <p:nvPr>
            <p:ph type="sldNum" sz="quarter" idx="12"/>
          </p:nvPr>
        </p:nvSpPr>
        <p:spPr/>
        <p:txBody>
          <a:bodyPr/>
          <a:lstStyle/>
          <a:p>
            <a:fld id="{EB4E3EAA-5119-446E-8909-EF1AF40FB779}" type="slidenum">
              <a:rPr lang="zh-CN" altLang="en-US" smtClean="0"/>
              <a:t>‹#›</a:t>
            </a:fld>
            <a:endParaRPr lang="zh-CN" altLang="en-US"/>
          </a:p>
        </p:txBody>
      </p:sp>
    </p:spTree>
    <p:extLst>
      <p:ext uri="{BB962C8B-B14F-4D97-AF65-F5344CB8AC3E}">
        <p14:creationId xmlns:p14="http://schemas.microsoft.com/office/powerpoint/2010/main" val="1682596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0800B6-80FE-4C00-A03F-72EC0AB70BC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53E24C4E-3D15-4641-B454-45902DA097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6F862D78-E8D9-4FF5-86EF-DEE607E210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A503D0F-17F2-4CF3-8238-0C2A77DE104E}"/>
              </a:ext>
            </a:extLst>
          </p:cNvPr>
          <p:cNvSpPr>
            <a:spLocks noGrp="1"/>
          </p:cNvSpPr>
          <p:nvPr>
            <p:ph type="dt" sz="half" idx="10"/>
          </p:nvPr>
        </p:nvSpPr>
        <p:spPr/>
        <p:txBody>
          <a:bodyPr/>
          <a:lstStyle/>
          <a:p>
            <a:fld id="{1E78F56F-22A7-4975-B400-8E63B73AF6B5}" type="datetimeFigureOut">
              <a:rPr lang="zh-CN" altLang="en-US" smtClean="0"/>
              <a:t>2021/8/22</a:t>
            </a:fld>
            <a:endParaRPr lang="zh-CN" altLang="en-US"/>
          </a:p>
        </p:txBody>
      </p:sp>
      <p:sp>
        <p:nvSpPr>
          <p:cNvPr id="6" name="页脚占位符 5">
            <a:extLst>
              <a:ext uri="{FF2B5EF4-FFF2-40B4-BE49-F238E27FC236}">
                <a16:creationId xmlns:a16="http://schemas.microsoft.com/office/drawing/2014/main" id="{78D1AA34-DC5F-446B-B93A-5176844F365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C8DCB97-7BF8-42A0-AF64-D3B1CCBC63A5}"/>
              </a:ext>
            </a:extLst>
          </p:cNvPr>
          <p:cNvSpPr>
            <a:spLocks noGrp="1"/>
          </p:cNvSpPr>
          <p:nvPr>
            <p:ph type="sldNum" sz="quarter" idx="12"/>
          </p:nvPr>
        </p:nvSpPr>
        <p:spPr/>
        <p:txBody>
          <a:bodyPr/>
          <a:lstStyle/>
          <a:p>
            <a:fld id="{EB4E3EAA-5119-446E-8909-EF1AF40FB779}" type="slidenum">
              <a:rPr lang="zh-CN" altLang="en-US" smtClean="0"/>
              <a:t>‹#›</a:t>
            </a:fld>
            <a:endParaRPr lang="zh-CN" altLang="en-US"/>
          </a:p>
        </p:txBody>
      </p:sp>
    </p:spTree>
    <p:extLst>
      <p:ext uri="{BB962C8B-B14F-4D97-AF65-F5344CB8AC3E}">
        <p14:creationId xmlns:p14="http://schemas.microsoft.com/office/powerpoint/2010/main" val="2324165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DBBBEA-014F-4CE9-966B-0B39BA0BA85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B56C06B-64B0-4367-8F60-D81760763DA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530C73F-6F9A-4439-BAF9-AD3E090C1772}"/>
              </a:ext>
            </a:extLst>
          </p:cNvPr>
          <p:cNvSpPr>
            <a:spLocks noGrp="1"/>
          </p:cNvSpPr>
          <p:nvPr>
            <p:ph type="dt" sz="half" idx="10"/>
          </p:nvPr>
        </p:nvSpPr>
        <p:spPr/>
        <p:txBody>
          <a:bodyPr/>
          <a:lstStyle/>
          <a:p>
            <a:fld id="{1E78F56F-22A7-4975-B400-8E63B73AF6B5}" type="datetimeFigureOut">
              <a:rPr lang="zh-CN" altLang="en-US" smtClean="0"/>
              <a:t>2021/8/22</a:t>
            </a:fld>
            <a:endParaRPr lang="zh-CN" altLang="en-US"/>
          </a:p>
        </p:txBody>
      </p:sp>
      <p:sp>
        <p:nvSpPr>
          <p:cNvPr id="5" name="页脚占位符 4">
            <a:extLst>
              <a:ext uri="{FF2B5EF4-FFF2-40B4-BE49-F238E27FC236}">
                <a16:creationId xmlns:a16="http://schemas.microsoft.com/office/drawing/2014/main" id="{436826B7-5B2D-42BA-B5DE-E3F1E2248F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708BA0D-410D-401B-8384-4969340D90F8}"/>
              </a:ext>
            </a:extLst>
          </p:cNvPr>
          <p:cNvSpPr>
            <a:spLocks noGrp="1"/>
          </p:cNvSpPr>
          <p:nvPr>
            <p:ph type="sldNum" sz="quarter" idx="12"/>
          </p:nvPr>
        </p:nvSpPr>
        <p:spPr/>
        <p:txBody>
          <a:bodyPr/>
          <a:lstStyle/>
          <a:p>
            <a:fld id="{EB4E3EAA-5119-446E-8909-EF1AF40FB779}" type="slidenum">
              <a:rPr lang="zh-CN" altLang="en-US" smtClean="0"/>
              <a:t>‹#›</a:t>
            </a:fld>
            <a:endParaRPr lang="zh-CN" altLang="en-US"/>
          </a:p>
        </p:txBody>
      </p:sp>
    </p:spTree>
    <p:extLst>
      <p:ext uri="{BB962C8B-B14F-4D97-AF65-F5344CB8AC3E}">
        <p14:creationId xmlns:p14="http://schemas.microsoft.com/office/powerpoint/2010/main" val="2598622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7239111-F452-4962-8660-8A513F07F793}"/>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6DE43F7-CCEC-48A1-BC6D-4A6BA14CFD6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8BE3202-8C8E-45D6-B1E1-5276EBF41E5B}"/>
              </a:ext>
            </a:extLst>
          </p:cNvPr>
          <p:cNvSpPr>
            <a:spLocks noGrp="1"/>
          </p:cNvSpPr>
          <p:nvPr>
            <p:ph type="dt" sz="half" idx="10"/>
          </p:nvPr>
        </p:nvSpPr>
        <p:spPr/>
        <p:txBody>
          <a:bodyPr/>
          <a:lstStyle/>
          <a:p>
            <a:fld id="{1E78F56F-22A7-4975-B400-8E63B73AF6B5}" type="datetimeFigureOut">
              <a:rPr lang="zh-CN" altLang="en-US" smtClean="0"/>
              <a:t>2021/8/22</a:t>
            </a:fld>
            <a:endParaRPr lang="zh-CN" altLang="en-US"/>
          </a:p>
        </p:txBody>
      </p:sp>
      <p:sp>
        <p:nvSpPr>
          <p:cNvPr id="5" name="页脚占位符 4">
            <a:extLst>
              <a:ext uri="{FF2B5EF4-FFF2-40B4-BE49-F238E27FC236}">
                <a16:creationId xmlns:a16="http://schemas.microsoft.com/office/drawing/2014/main" id="{99517580-EC3B-4C08-8F47-375177624B7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E2E838C-165B-4BD6-B3C2-EDF4092564EE}"/>
              </a:ext>
            </a:extLst>
          </p:cNvPr>
          <p:cNvSpPr>
            <a:spLocks noGrp="1"/>
          </p:cNvSpPr>
          <p:nvPr>
            <p:ph type="sldNum" sz="quarter" idx="12"/>
          </p:nvPr>
        </p:nvSpPr>
        <p:spPr/>
        <p:txBody>
          <a:bodyPr/>
          <a:lstStyle/>
          <a:p>
            <a:fld id="{EB4E3EAA-5119-446E-8909-EF1AF40FB779}" type="slidenum">
              <a:rPr lang="zh-CN" altLang="en-US" smtClean="0"/>
              <a:t>‹#›</a:t>
            </a:fld>
            <a:endParaRPr lang="zh-CN" altLang="en-US"/>
          </a:p>
        </p:txBody>
      </p:sp>
    </p:spTree>
    <p:extLst>
      <p:ext uri="{BB962C8B-B14F-4D97-AF65-F5344CB8AC3E}">
        <p14:creationId xmlns:p14="http://schemas.microsoft.com/office/powerpoint/2010/main" val="2500550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9C8F9EC-EF06-4296-B5CF-D8F80DA550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0ED7456-5EE5-4A8D-8511-6D883BC4ED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B116DC7-2945-4BD4-8175-346D26C906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78F56F-22A7-4975-B400-8E63B73AF6B5}" type="datetimeFigureOut">
              <a:rPr lang="zh-CN" altLang="en-US" smtClean="0"/>
              <a:t>2021/8/22</a:t>
            </a:fld>
            <a:endParaRPr lang="zh-CN" altLang="en-US"/>
          </a:p>
        </p:txBody>
      </p:sp>
      <p:sp>
        <p:nvSpPr>
          <p:cNvPr id="5" name="页脚占位符 4">
            <a:extLst>
              <a:ext uri="{FF2B5EF4-FFF2-40B4-BE49-F238E27FC236}">
                <a16:creationId xmlns:a16="http://schemas.microsoft.com/office/drawing/2014/main" id="{BFE0284B-CCE2-43FC-8206-3767C80EA0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6830731C-3700-470D-9476-E3CEAA8B07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4E3EAA-5119-446E-8909-EF1AF40FB779}" type="slidenum">
              <a:rPr lang="zh-CN" altLang="en-US" smtClean="0"/>
              <a:t>‹#›</a:t>
            </a:fld>
            <a:endParaRPr lang="zh-CN" altLang="en-US"/>
          </a:p>
        </p:txBody>
      </p:sp>
    </p:spTree>
    <p:extLst>
      <p:ext uri="{BB962C8B-B14F-4D97-AF65-F5344CB8AC3E}">
        <p14:creationId xmlns:p14="http://schemas.microsoft.com/office/powerpoint/2010/main" val="14504124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F9056B4-9143-4C87-8DC8-28E8796CF80C}"/>
              </a:ext>
            </a:extLst>
          </p:cNvPr>
          <p:cNvSpPr txBox="1"/>
          <p:nvPr/>
        </p:nvSpPr>
        <p:spPr>
          <a:xfrm>
            <a:off x="2628072" y="1979533"/>
            <a:ext cx="6305252" cy="3170099"/>
          </a:xfrm>
          <a:prstGeom prst="rect">
            <a:avLst/>
          </a:prstGeom>
          <a:noFill/>
        </p:spPr>
        <p:txBody>
          <a:bodyPr wrap="none" rtlCol="0">
            <a:spAutoFit/>
          </a:bodyPr>
          <a:lstStyle/>
          <a:p>
            <a:pPr algn="dist"/>
            <a:r>
              <a:rPr lang="en-US" altLang="zh-CN" sz="4000" spc="20" dirty="0" smtClean="0">
                <a:latin typeface="Nirmala UI" panose="020B0502040204020203" pitchFamily="34" charset="0"/>
              </a:rPr>
              <a:t>About me:</a:t>
            </a:r>
          </a:p>
          <a:p>
            <a:pPr algn="dist"/>
            <a:r>
              <a:rPr lang="en-US" altLang="zh-CN" sz="4000" spc="20" dirty="0" smtClean="0">
                <a:latin typeface="Nirmala UI" panose="020B0502040204020203" pitchFamily="34" charset="0"/>
              </a:rPr>
              <a:t>Lin Juyi</a:t>
            </a:r>
          </a:p>
          <a:p>
            <a:pPr algn="dist"/>
            <a:r>
              <a:rPr lang="en-US" altLang="zh-CN" sz="4000" spc="20" dirty="0" smtClean="0">
                <a:latin typeface="Nirmala UI" panose="020B0502040204020203" pitchFamily="34" charset="0"/>
              </a:rPr>
              <a:t>Zhejiang University</a:t>
            </a:r>
          </a:p>
          <a:p>
            <a:pPr algn="dist"/>
            <a:r>
              <a:rPr lang="en-US" altLang="zh-CN" sz="4000" spc="20" dirty="0" smtClean="0">
                <a:latin typeface="Nirmala UI" panose="020B0502040204020203" pitchFamily="34" charset="0"/>
              </a:rPr>
              <a:t>ISEE</a:t>
            </a:r>
            <a:endParaRPr lang="en-US" altLang="zh-CN" sz="4000" spc="20" dirty="0">
              <a:latin typeface="Nirmala UI" panose="020B0502040204020203" pitchFamily="34" charset="0"/>
            </a:endParaRPr>
          </a:p>
          <a:p>
            <a:pPr algn="dist"/>
            <a:r>
              <a:rPr lang="en-US" altLang="zh-CN" sz="4000" spc="20" dirty="0" smtClean="0">
                <a:latin typeface="Nirmala UI" panose="020B0502040204020203" pitchFamily="34" charset="0"/>
              </a:rPr>
              <a:t>Junior student(third grade)</a:t>
            </a:r>
          </a:p>
        </p:txBody>
      </p:sp>
    </p:spTree>
    <p:extLst>
      <p:ext uri="{BB962C8B-B14F-4D97-AF65-F5344CB8AC3E}">
        <p14:creationId xmlns:p14="http://schemas.microsoft.com/office/powerpoint/2010/main" val="235177109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87F7609B-44D8-4A6F-85A8-FC5A2D0C942D}"/>
              </a:ext>
            </a:extLst>
          </p:cNvPr>
          <p:cNvSpPr/>
          <p:nvPr/>
        </p:nvSpPr>
        <p:spPr>
          <a:xfrm>
            <a:off x="-83801" y="668559"/>
            <a:ext cx="2807855" cy="45719"/>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Rectangle 2">
            <a:extLst>
              <a:ext uri="{FF2B5EF4-FFF2-40B4-BE49-F238E27FC236}">
                <a16:creationId xmlns:a16="http://schemas.microsoft.com/office/drawing/2014/main" id="{620F5066-ECE0-4D9D-AE2D-91CCA77E27B5}"/>
              </a:ext>
            </a:extLst>
          </p:cNvPr>
          <p:cNvSpPr>
            <a:spLocks noChangeArrowheads="1"/>
          </p:cNvSpPr>
          <p:nvPr/>
        </p:nvSpPr>
        <p:spPr bwMode="auto">
          <a:xfrm>
            <a:off x="2594743" y="3017267"/>
            <a:ext cx="37391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SzPct val="100000"/>
            </a:pPr>
            <a:r>
              <a:rPr lang="en-US" altLang="zh-CN" sz="2400" b="1" dirty="0">
                <a:solidFill>
                  <a:schemeClr val="tx1">
                    <a:lumMod val="75000"/>
                    <a:lumOff val="25000"/>
                  </a:schemeClr>
                </a:solidFill>
                <a:latin typeface="+mn-ea"/>
                <a:cs typeface="Times New Roman" panose="02020603050405020304" pitchFamily="18" charset="0"/>
              </a:rPr>
              <a:t>Transactional </a:t>
            </a:r>
            <a:r>
              <a:rPr lang="en-US" altLang="zh-CN" sz="2400" b="1" dirty="0" smtClean="0">
                <a:solidFill>
                  <a:schemeClr val="tx1">
                    <a:lumMod val="75000"/>
                    <a:lumOff val="25000"/>
                  </a:schemeClr>
                </a:solidFill>
                <a:latin typeface="+mn-ea"/>
                <a:cs typeface="Times New Roman" panose="02020603050405020304" pitchFamily="18" charset="0"/>
              </a:rPr>
              <a:t>Memory</a:t>
            </a:r>
            <a:endParaRPr lang="en-US" altLang="zh-CN" sz="2400" b="1" dirty="0">
              <a:solidFill>
                <a:schemeClr val="tx1">
                  <a:lumMod val="75000"/>
                  <a:lumOff val="25000"/>
                </a:schemeClr>
              </a:solidFill>
              <a:latin typeface="+mn-ea"/>
              <a:cs typeface="Times New Roman" panose="02020603050405020304" pitchFamily="18" charset="0"/>
            </a:endParaRPr>
          </a:p>
        </p:txBody>
      </p:sp>
      <p:sp>
        <p:nvSpPr>
          <p:cNvPr id="16" name="箭头: V 形 15">
            <a:extLst>
              <a:ext uri="{FF2B5EF4-FFF2-40B4-BE49-F238E27FC236}">
                <a16:creationId xmlns:a16="http://schemas.microsoft.com/office/drawing/2014/main" id="{AAA1CBB0-A8F6-45F1-BB63-88399FDD68DD}"/>
              </a:ext>
            </a:extLst>
          </p:cNvPr>
          <p:cNvSpPr/>
          <p:nvPr/>
        </p:nvSpPr>
        <p:spPr>
          <a:xfrm rot="5400000">
            <a:off x="1718765" y="3095039"/>
            <a:ext cx="710902" cy="302613"/>
          </a:xfrm>
          <a:prstGeom prst="chevr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85000"/>
                </a:schemeClr>
              </a:solidFill>
            </a:endParaRPr>
          </a:p>
        </p:txBody>
      </p:sp>
      <p:sp>
        <p:nvSpPr>
          <p:cNvPr id="17" name="箭头: V 形 16">
            <a:extLst>
              <a:ext uri="{FF2B5EF4-FFF2-40B4-BE49-F238E27FC236}">
                <a16:creationId xmlns:a16="http://schemas.microsoft.com/office/drawing/2014/main" id="{335C05C4-3643-4444-9C43-5CB6C4CC75FE}"/>
              </a:ext>
            </a:extLst>
          </p:cNvPr>
          <p:cNvSpPr/>
          <p:nvPr/>
        </p:nvSpPr>
        <p:spPr>
          <a:xfrm rot="5400000">
            <a:off x="1718765" y="4124004"/>
            <a:ext cx="710902" cy="302613"/>
          </a:xfrm>
          <a:prstGeom prst="chevron">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85000"/>
                </a:schemeClr>
              </a:solidFill>
            </a:endParaRPr>
          </a:p>
        </p:txBody>
      </p:sp>
      <p:sp>
        <p:nvSpPr>
          <p:cNvPr id="21" name="Rectangle 2">
            <a:extLst>
              <a:ext uri="{FF2B5EF4-FFF2-40B4-BE49-F238E27FC236}">
                <a16:creationId xmlns:a16="http://schemas.microsoft.com/office/drawing/2014/main" id="{7AA38F08-F58F-4917-AF22-25E544208D86}"/>
              </a:ext>
            </a:extLst>
          </p:cNvPr>
          <p:cNvSpPr>
            <a:spLocks noChangeArrowheads="1"/>
          </p:cNvSpPr>
          <p:nvPr/>
        </p:nvSpPr>
        <p:spPr bwMode="auto">
          <a:xfrm>
            <a:off x="2594744" y="4025713"/>
            <a:ext cx="2377488" cy="502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ts val="3217"/>
              </a:lnSpc>
              <a:spcAft>
                <a:spcPts val="600"/>
              </a:spcAft>
            </a:pPr>
            <a:r>
              <a:rPr lang="en-US" altLang="zh-CN" sz="2400" b="1" dirty="0" smtClean="0">
                <a:solidFill>
                  <a:schemeClr val="tx1">
                    <a:lumMod val="75000"/>
                    <a:lumOff val="25000"/>
                  </a:schemeClr>
                </a:solidFill>
                <a:latin typeface="+mn-ea"/>
                <a:cs typeface="Times New Roman" panose="02020603050405020304" pitchFamily="18" charset="0"/>
              </a:rPr>
              <a:t>Class Project</a:t>
            </a:r>
            <a:endParaRPr lang="en-US" altLang="zh-CN" sz="2400" b="1" dirty="0">
              <a:solidFill>
                <a:schemeClr val="tx1">
                  <a:lumMod val="75000"/>
                  <a:lumOff val="25000"/>
                </a:schemeClr>
              </a:solidFill>
              <a:latin typeface="+mn-ea"/>
              <a:cs typeface="Times New Roman" panose="02020603050405020304" pitchFamily="18" charset="0"/>
            </a:endParaRPr>
          </a:p>
        </p:txBody>
      </p:sp>
      <p:sp>
        <p:nvSpPr>
          <p:cNvPr id="8" name="箭头: V 形 16">
            <a:extLst>
              <a:ext uri="{FF2B5EF4-FFF2-40B4-BE49-F238E27FC236}">
                <a16:creationId xmlns:a16="http://schemas.microsoft.com/office/drawing/2014/main" id="{335C05C4-3643-4444-9C43-5CB6C4CC75FE}"/>
              </a:ext>
            </a:extLst>
          </p:cNvPr>
          <p:cNvSpPr/>
          <p:nvPr/>
        </p:nvSpPr>
        <p:spPr>
          <a:xfrm rot="5400000">
            <a:off x="1718765" y="2168421"/>
            <a:ext cx="710902" cy="302613"/>
          </a:xfrm>
          <a:prstGeom prst="chevron">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85000"/>
                </a:schemeClr>
              </a:solidFill>
            </a:endParaRPr>
          </a:p>
        </p:txBody>
      </p:sp>
      <p:sp>
        <p:nvSpPr>
          <p:cNvPr id="9" name="Rectangle 2">
            <a:extLst>
              <a:ext uri="{FF2B5EF4-FFF2-40B4-BE49-F238E27FC236}">
                <a16:creationId xmlns:a16="http://schemas.microsoft.com/office/drawing/2014/main" id="{7AA38F08-F58F-4917-AF22-25E544208D86}"/>
              </a:ext>
            </a:extLst>
          </p:cNvPr>
          <p:cNvSpPr>
            <a:spLocks noChangeArrowheads="1"/>
          </p:cNvSpPr>
          <p:nvPr/>
        </p:nvSpPr>
        <p:spPr bwMode="auto">
          <a:xfrm>
            <a:off x="2594744" y="2080325"/>
            <a:ext cx="5680576" cy="482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ts val="3217"/>
              </a:lnSpc>
              <a:spcAft>
                <a:spcPts val="600"/>
              </a:spcAft>
            </a:pPr>
            <a:r>
              <a:rPr lang="en-US" altLang="zh-CN" sz="2400" b="1" dirty="0" smtClean="0">
                <a:solidFill>
                  <a:schemeClr val="tx1">
                    <a:lumMod val="75000"/>
                    <a:lumOff val="25000"/>
                  </a:schemeClr>
                </a:solidFill>
                <a:latin typeface="+mn-ea"/>
                <a:cs typeface="Times New Roman" panose="02020603050405020304" pitchFamily="18" charset="0"/>
              </a:rPr>
              <a:t>DL Clusters Scheduler</a:t>
            </a:r>
            <a:endParaRPr lang="en-US" altLang="zh-CN" sz="2400" b="1" dirty="0">
              <a:solidFill>
                <a:schemeClr val="tx1">
                  <a:lumMod val="75000"/>
                  <a:lumOff val="25000"/>
                </a:schemeClr>
              </a:solidFill>
              <a:latin typeface="+mn-ea"/>
              <a:cs typeface="Times New Roman" panose="02020603050405020304" pitchFamily="18" charset="0"/>
            </a:endParaRPr>
          </a:p>
        </p:txBody>
      </p:sp>
    </p:spTree>
    <p:extLst>
      <p:ext uri="{BB962C8B-B14F-4D97-AF65-F5344CB8AC3E}">
        <p14:creationId xmlns:p14="http://schemas.microsoft.com/office/powerpoint/2010/main" val="138007055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7035800" y="2095500"/>
            <a:ext cx="4330700" cy="43815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dirty="0"/>
          </a:p>
        </p:txBody>
      </p:sp>
      <p:sp>
        <p:nvSpPr>
          <p:cNvPr id="18" name="矩形 17">
            <a:extLst>
              <a:ext uri="{FF2B5EF4-FFF2-40B4-BE49-F238E27FC236}">
                <a16:creationId xmlns:a16="http://schemas.microsoft.com/office/drawing/2014/main" id="{87F7609B-44D8-4A6F-85A8-FC5A2D0C942D}"/>
              </a:ext>
            </a:extLst>
          </p:cNvPr>
          <p:cNvSpPr/>
          <p:nvPr/>
        </p:nvSpPr>
        <p:spPr>
          <a:xfrm>
            <a:off x="-83801" y="668559"/>
            <a:ext cx="4078285" cy="45719"/>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E4B5C20D-4A12-483C-8756-87F0BD864146}"/>
              </a:ext>
            </a:extLst>
          </p:cNvPr>
          <p:cNvSpPr txBox="1"/>
          <p:nvPr/>
        </p:nvSpPr>
        <p:spPr>
          <a:xfrm>
            <a:off x="756035" y="249977"/>
            <a:ext cx="3142197" cy="800219"/>
          </a:xfrm>
          <a:prstGeom prst="rect">
            <a:avLst/>
          </a:prstGeom>
          <a:noFill/>
        </p:spPr>
        <p:txBody>
          <a:bodyPr vert="horz" wrap="square" rtlCol="0">
            <a:spAutoFit/>
          </a:bodyPr>
          <a:lstStyle>
            <a:defPPr>
              <a:defRPr lang="zh-CN"/>
            </a:defPPr>
            <a:lvl1pPr>
              <a:defRPr sz="2000">
                <a:solidFill>
                  <a:schemeClr val="bg1"/>
                </a:solidFill>
                <a:latin typeface="Verdana" panose="020B0604030504040204" pitchFamily="34" charset="0"/>
                <a:ea typeface="Verdana" panose="020B0604030504040204" pitchFamily="34" charset="0"/>
              </a:defRPr>
            </a:lvl1pPr>
          </a:lstStyle>
          <a:p>
            <a:pPr algn="r"/>
            <a:r>
              <a:rPr lang="en-US" altLang="zh-CN" sz="2300" b="1" dirty="0" smtClean="0">
                <a:solidFill>
                  <a:schemeClr val="tx1">
                    <a:lumMod val="75000"/>
                    <a:lumOff val="25000"/>
                  </a:schemeClr>
                </a:solidFill>
                <a:latin typeface="+mn-ea"/>
                <a:ea typeface="+mn-ea"/>
              </a:rPr>
              <a:t>DL Clusters </a:t>
            </a:r>
            <a:r>
              <a:rPr lang="en-US" altLang="zh-CN" sz="2300" b="1" dirty="0">
                <a:solidFill>
                  <a:schemeClr val="tx1">
                    <a:lumMod val="75000"/>
                    <a:lumOff val="25000"/>
                  </a:schemeClr>
                </a:solidFill>
                <a:latin typeface="+mn-ea"/>
                <a:ea typeface="+mn-ea"/>
              </a:rPr>
              <a:t>Scheduler</a:t>
            </a:r>
          </a:p>
          <a:p>
            <a:pPr algn="r"/>
            <a:endParaRPr lang="en-US" altLang="zh-CN" sz="2300" b="1" dirty="0">
              <a:solidFill>
                <a:schemeClr val="tx1">
                  <a:lumMod val="75000"/>
                  <a:lumOff val="25000"/>
                </a:schemeClr>
              </a:solidFill>
              <a:latin typeface="+mn-ea"/>
              <a:ea typeface="+mn-ea"/>
            </a:endParaRP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10500" y="3364626"/>
            <a:ext cx="1155700" cy="1155700"/>
          </a:xfrm>
          <a:prstGeom prst="rect">
            <a:avLst/>
          </a:prstGeom>
        </p:spPr>
      </p:pic>
      <p:pic>
        <p:nvPicPr>
          <p:cNvPr id="2" name="图片 1"/>
          <p:cNvPicPr>
            <a:picLocks noChangeAspect="1"/>
          </p:cNvPicPr>
          <p:nvPr/>
        </p:nvPicPr>
        <p:blipFill>
          <a:blip r:embed="rId4"/>
          <a:stretch>
            <a:fillRect/>
          </a:stretch>
        </p:blipFill>
        <p:spPr>
          <a:xfrm>
            <a:off x="1432599" y="3639423"/>
            <a:ext cx="1082001" cy="976153"/>
          </a:xfrm>
          <a:prstGeom prst="rect">
            <a:avLst/>
          </a:prstGeom>
        </p:spPr>
      </p:pic>
      <p:sp>
        <p:nvSpPr>
          <p:cNvPr id="3" name="右箭头 2"/>
          <p:cNvSpPr/>
          <p:nvPr/>
        </p:nvSpPr>
        <p:spPr>
          <a:xfrm>
            <a:off x="3179544" y="3448050"/>
            <a:ext cx="3556000" cy="13589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文本框 3"/>
          <p:cNvSpPr txBox="1"/>
          <p:nvPr/>
        </p:nvSpPr>
        <p:spPr>
          <a:xfrm>
            <a:off x="3480650" y="3917950"/>
            <a:ext cx="2864887" cy="369332"/>
          </a:xfrm>
          <a:prstGeom prst="rect">
            <a:avLst/>
          </a:prstGeom>
          <a:noFill/>
        </p:spPr>
        <p:txBody>
          <a:bodyPr wrap="none" rtlCol="0">
            <a:spAutoFit/>
          </a:bodyPr>
          <a:lstStyle/>
          <a:p>
            <a:r>
              <a:rPr lang="en-US" altLang="zh-CN" dirty="0" smtClean="0">
                <a:solidFill>
                  <a:schemeClr val="bg1"/>
                </a:solidFill>
              </a:rPr>
              <a:t>Submit # GPU to scheduler</a:t>
            </a:r>
            <a:endParaRPr lang="zh-CN" altLang="en-US" dirty="0">
              <a:solidFill>
                <a:schemeClr val="bg1"/>
              </a:solidFill>
            </a:endParaRPr>
          </a:p>
        </p:txBody>
      </p:sp>
      <p:pic>
        <p:nvPicPr>
          <p:cNvPr id="14" name="图片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10500" y="4738131"/>
            <a:ext cx="1155700" cy="1155700"/>
          </a:xfrm>
          <a:prstGeom prst="rect">
            <a:avLst/>
          </a:prstGeom>
        </p:spPr>
      </p:pic>
      <p:pic>
        <p:nvPicPr>
          <p:cNvPr id="17" name="图片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36100" y="4738131"/>
            <a:ext cx="1155700" cy="1155700"/>
          </a:xfrm>
          <a:prstGeom prst="rect">
            <a:avLst/>
          </a:prstGeom>
        </p:spPr>
      </p:pic>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36100" y="3364626"/>
            <a:ext cx="1155700" cy="1155700"/>
          </a:xfrm>
          <a:prstGeom prst="rect">
            <a:avLst/>
          </a:prstGeom>
        </p:spPr>
      </p:pic>
      <p:sp>
        <p:nvSpPr>
          <p:cNvPr id="6" name="文本框 5"/>
          <p:cNvSpPr txBox="1"/>
          <p:nvPr/>
        </p:nvSpPr>
        <p:spPr>
          <a:xfrm>
            <a:off x="7230052" y="2183344"/>
            <a:ext cx="2489784" cy="461665"/>
          </a:xfrm>
          <a:prstGeom prst="rect">
            <a:avLst/>
          </a:prstGeom>
          <a:noFill/>
        </p:spPr>
        <p:txBody>
          <a:bodyPr wrap="none" rtlCol="0">
            <a:spAutoFit/>
          </a:bodyPr>
          <a:lstStyle/>
          <a:p>
            <a:r>
              <a:rPr lang="en-US" altLang="zh-CN" sz="2400" dirty="0" smtClean="0"/>
              <a:t>Cluster Scheduler</a:t>
            </a:r>
            <a:endParaRPr lang="zh-CN" altLang="en-US" sz="2400" dirty="0"/>
          </a:p>
        </p:txBody>
      </p:sp>
      <p:sp>
        <p:nvSpPr>
          <p:cNvPr id="8" name="椭圆形标注 7"/>
          <p:cNvSpPr/>
          <p:nvPr/>
        </p:nvSpPr>
        <p:spPr>
          <a:xfrm>
            <a:off x="2374900" y="1612900"/>
            <a:ext cx="2850816" cy="1097492"/>
          </a:xfrm>
          <a:prstGeom prst="wedgeEllipseCallout">
            <a:avLst>
              <a:gd name="adj1" fmla="val -52121"/>
              <a:gd name="adj2" fmla="val 129875"/>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3" name="文本框 12"/>
          <p:cNvSpPr txBox="1"/>
          <p:nvPr/>
        </p:nvSpPr>
        <p:spPr>
          <a:xfrm>
            <a:off x="2653340" y="1930813"/>
            <a:ext cx="2489784" cy="461665"/>
          </a:xfrm>
          <a:prstGeom prst="rect">
            <a:avLst/>
          </a:prstGeom>
          <a:noFill/>
        </p:spPr>
        <p:txBody>
          <a:bodyPr wrap="none" rtlCol="0">
            <a:spAutoFit/>
          </a:bodyPr>
          <a:lstStyle/>
          <a:p>
            <a:r>
              <a:rPr lang="en-US" altLang="zh-CN" sz="2400" dirty="0" smtClean="0"/>
              <a:t>How many GPU</a:t>
            </a:r>
            <a:r>
              <a:rPr lang="en-US" altLang="zh-CN" sz="2400" dirty="0" smtClean="0"/>
              <a:t>?</a:t>
            </a:r>
            <a:endParaRPr lang="zh-CN" altLang="en-US" sz="2400" dirty="0"/>
          </a:p>
        </p:txBody>
      </p:sp>
    </p:spTree>
    <p:extLst>
      <p:ext uri="{BB962C8B-B14F-4D97-AF65-F5344CB8AC3E}">
        <p14:creationId xmlns:p14="http://schemas.microsoft.com/office/powerpoint/2010/main" val="71665692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87F7609B-44D8-4A6F-85A8-FC5A2D0C942D}"/>
              </a:ext>
            </a:extLst>
          </p:cNvPr>
          <p:cNvSpPr/>
          <p:nvPr/>
        </p:nvSpPr>
        <p:spPr>
          <a:xfrm>
            <a:off x="-83801" y="668559"/>
            <a:ext cx="4078285" cy="45719"/>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E4B5C20D-4A12-483C-8756-87F0BD864146}"/>
              </a:ext>
            </a:extLst>
          </p:cNvPr>
          <p:cNvSpPr txBox="1"/>
          <p:nvPr/>
        </p:nvSpPr>
        <p:spPr>
          <a:xfrm>
            <a:off x="756035" y="249977"/>
            <a:ext cx="3142197" cy="800219"/>
          </a:xfrm>
          <a:prstGeom prst="rect">
            <a:avLst/>
          </a:prstGeom>
          <a:noFill/>
        </p:spPr>
        <p:txBody>
          <a:bodyPr vert="horz" wrap="square" rtlCol="0">
            <a:spAutoFit/>
          </a:bodyPr>
          <a:lstStyle>
            <a:defPPr>
              <a:defRPr lang="zh-CN"/>
            </a:defPPr>
            <a:lvl1pPr>
              <a:defRPr sz="2000">
                <a:solidFill>
                  <a:schemeClr val="bg1"/>
                </a:solidFill>
                <a:latin typeface="Verdana" panose="020B0604030504040204" pitchFamily="34" charset="0"/>
                <a:ea typeface="Verdana" panose="020B0604030504040204" pitchFamily="34" charset="0"/>
              </a:defRPr>
            </a:lvl1pPr>
          </a:lstStyle>
          <a:p>
            <a:pPr algn="r"/>
            <a:r>
              <a:rPr lang="en-US" altLang="zh-CN" sz="2300" b="1" dirty="0" smtClean="0">
                <a:solidFill>
                  <a:schemeClr val="tx1">
                    <a:lumMod val="75000"/>
                    <a:lumOff val="25000"/>
                  </a:schemeClr>
                </a:solidFill>
                <a:latin typeface="+mn-ea"/>
                <a:ea typeface="+mn-ea"/>
              </a:rPr>
              <a:t>DL Clusters </a:t>
            </a:r>
            <a:r>
              <a:rPr lang="en-US" altLang="zh-CN" sz="2300" b="1" dirty="0">
                <a:solidFill>
                  <a:schemeClr val="tx1">
                    <a:lumMod val="75000"/>
                    <a:lumOff val="25000"/>
                  </a:schemeClr>
                </a:solidFill>
                <a:latin typeface="+mn-ea"/>
                <a:ea typeface="+mn-ea"/>
              </a:rPr>
              <a:t>Scheduler</a:t>
            </a:r>
          </a:p>
          <a:p>
            <a:pPr algn="r"/>
            <a:endParaRPr lang="en-US" altLang="zh-CN" sz="2300" b="1" dirty="0">
              <a:solidFill>
                <a:schemeClr val="tx1">
                  <a:lumMod val="75000"/>
                  <a:lumOff val="25000"/>
                </a:schemeClr>
              </a:solidFill>
              <a:latin typeface="+mn-ea"/>
              <a:ea typeface="+mn-ea"/>
            </a:endParaRPr>
          </a:p>
        </p:txBody>
      </p:sp>
      <p:sp>
        <p:nvSpPr>
          <p:cNvPr id="37" name="文本框 36">
            <a:extLst>
              <a:ext uri="{FF2B5EF4-FFF2-40B4-BE49-F238E27FC236}">
                <a16:creationId xmlns:a16="http://schemas.microsoft.com/office/drawing/2014/main" id="{F2780D51-B0AF-4922-85EE-8A372E9AC621}"/>
              </a:ext>
            </a:extLst>
          </p:cNvPr>
          <p:cNvSpPr txBox="1"/>
          <p:nvPr/>
        </p:nvSpPr>
        <p:spPr>
          <a:xfrm>
            <a:off x="190550" y="993643"/>
            <a:ext cx="4273165" cy="861774"/>
          </a:xfrm>
          <a:prstGeom prst="rect">
            <a:avLst/>
          </a:prstGeom>
          <a:noFill/>
        </p:spPr>
        <p:txBody>
          <a:bodyPr wrap="square" rtlCol="0">
            <a:spAutoFit/>
          </a:bodyPr>
          <a:lstStyle/>
          <a:p>
            <a:pPr algn="ctr"/>
            <a:r>
              <a:rPr lang="en-US" altLang="zh-CN" sz="2500" b="1" dirty="0" smtClean="0">
                <a:solidFill>
                  <a:srgbClr val="C00000"/>
                </a:solidFill>
                <a:effectLst>
                  <a:outerShdw blurRad="38100" dist="38100" dir="2700000" algn="tl">
                    <a:srgbClr val="000000">
                      <a:alpha val="43137"/>
                    </a:srgbClr>
                  </a:outerShdw>
                </a:effectLst>
                <a:latin typeface="+mn-ea"/>
                <a:cs typeface="Times New Roman" panose="02020603050405020304" pitchFamily="18" charset="0"/>
              </a:rPr>
              <a:t>Parameters Server </a:t>
            </a:r>
            <a:r>
              <a:rPr lang="en-US" altLang="zh-CN" sz="2500" b="1" dirty="0" smtClean="0">
                <a:solidFill>
                  <a:srgbClr val="C00000"/>
                </a:solidFill>
                <a:effectLst>
                  <a:outerShdw blurRad="38100" dist="38100" dir="2700000" algn="tl">
                    <a:srgbClr val="000000">
                      <a:alpha val="43137"/>
                    </a:srgbClr>
                  </a:outerShdw>
                </a:effectLst>
                <a:latin typeface="+mn-ea"/>
                <a:cs typeface="Times New Roman" panose="02020603050405020304" pitchFamily="18" charset="0"/>
              </a:rPr>
              <a:t>Architecture</a:t>
            </a:r>
            <a:endParaRPr kumimoji="1" lang="zh-CN" altLang="en-US" sz="2500" b="1" dirty="0">
              <a:solidFill>
                <a:srgbClr val="C00000"/>
              </a:solidFill>
              <a:effectLst>
                <a:outerShdw blurRad="38100" dist="38100" dir="2700000" algn="tl">
                  <a:srgbClr val="000000">
                    <a:alpha val="43137"/>
                  </a:srgbClr>
                </a:outerShdw>
              </a:effectLst>
              <a:latin typeface="+mn-ea"/>
            </a:endParaRP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2" y="1801470"/>
            <a:ext cx="1155700" cy="1155700"/>
          </a:xfrm>
          <a:prstGeom prst="rect">
            <a:avLst/>
          </a:prstGeom>
        </p:spPr>
      </p:pic>
      <p:sp>
        <p:nvSpPr>
          <p:cNvPr id="4" name="文本框 3"/>
          <p:cNvSpPr txBox="1"/>
          <p:nvPr/>
        </p:nvSpPr>
        <p:spPr>
          <a:xfrm>
            <a:off x="3480650" y="3917950"/>
            <a:ext cx="2864887" cy="369332"/>
          </a:xfrm>
          <a:prstGeom prst="rect">
            <a:avLst/>
          </a:prstGeom>
          <a:noFill/>
        </p:spPr>
        <p:txBody>
          <a:bodyPr wrap="none" rtlCol="0">
            <a:spAutoFit/>
          </a:bodyPr>
          <a:lstStyle/>
          <a:p>
            <a:r>
              <a:rPr lang="en-US" altLang="zh-CN" dirty="0" smtClean="0">
                <a:solidFill>
                  <a:schemeClr val="bg1"/>
                </a:solidFill>
              </a:rPr>
              <a:t>Submit # GPU to scheduler</a:t>
            </a:r>
            <a:endParaRPr lang="zh-CN" altLang="en-US" dirty="0">
              <a:solidFill>
                <a:schemeClr val="bg1"/>
              </a:solidFill>
            </a:endParaRPr>
          </a:p>
        </p:txBody>
      </p:sp>
      <p:pic>
        <p:nvPicPr>
          <p:cNvPr id="14" name="图片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7200" y="4532758"/>
            <a:ext cx="1155700" cy="1155700"/>
          </a:xfrm>
          <a:prstGeom prst="rect">
            <a:avLst/>
          </a:prstGeom>
        </p:spPr>
      </p:pic>
      <p:pic>
        <p:nvPicPr>
          <p:cNvPr id="17" name="图片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39370" y="4532758"/>
            <a:ext cx="1155700" cy="1155700"/>
          </a:xfrm>
          <a:prstGeom prst="rect">
            <a:avLst/>
          </a:prstGeom>
        </p:spPr>
      </p:pic>
      <p:pic>
        <p:nvPicPr>
          <p:cNvPr id="19" name="图片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85100" y="1855417"/>
            <a:ext cx="1155700" cy="1155700"/>
          </a:xfrm>
          <a:prstGeom prst="rect">
            <a:avLst/>
          </a:prstGeom>
        </p:spPr>
      </p:pic>
      <p:cxnSp>
        <p:nvCxnSpPr>
          <p:cNvPr id="3" name="直接箭头连接符 2"/>
          <p:cNvCxnSpPr/>
          <p:nvPr/>
        </p:nvCxnSpPr>
        <p:spPr>
          <a:xfrm flipV="1">
            <a:off x="3393605" y="3011118"/>
            <a:ext cx="30367" cy="14676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flipH="1" flipV="1">
            <a:off x="4152900" y="2765340"/>
            <a:ext cx="3753035" cy="1713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H="1" flipV="1">
            <a:off x="4308308" y="2235959"/>
            <a:ext cx="3527594" cy="220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5486890" y="1939155"/>
            <a:ext cx="1015021" cy="369332"/>
          </a:xfrm>
          <a:prstGeom prst="rect">
            <a:avLst/>
          </a:prstGeom>
          <a:noFill/>
        </p:spPr>
        <p:txBody>
          <a:bodyPr wrap="none" rtlCol="0">
            <a:spAutoFit/>
          </a:bodyPr>
          <a:lstStyle/>
          <a:p>
            <a:r>
              <a:rPr lang="en-US" altLang="zh-CN" dirty="0" smtClean="0"/>
              <a:t>gradient</a:t>
            </a:r>
            <a:endParaRPr lang="zh-CN" altLang="en-US" dirty="0"/>
          </a:p>
        </p:txBody>
      </p:sp>
      <p:sp>
        <p:nvSpPr>
          <p:cNvPr id="20" name="文本框 19"/>
          <p:cNvSpPr txBox="1"/>
          <p:nvPr/>
        </p:nvSpPr>
        <p:spPr>
          <a:xfrm>
            <a:off x="2176704" y="3911546"/>
            <a:ext cx="1015021" cy="369332"/>
          </a:xfrm>
          <a:prstGeom prst="rect">
            <a:avLst/>
          </a:prstGeom>
          <a:noFill/>
        </p:spPr>
        <p:txBody>
          <a:bodyPr wrap="none" rtlCol="0">
            <a:spAutoFit/>
          </a:bodyPr>
          <a:lstStyle/>
          <a:p>
            <a:r>
              <a:rPr lang="en-US" altLang="zh-CN" dirty="0" smtClean="0"/>
              <a:t>gradient</a:t>
            </a:r>
            <a:endParaRPr lang="zh-CN" altLang="en-US" dirty="0"/>
          </a:p>
        </p:txBody>
      </p:sp>
      <p:sp>
        <p:nvSpPr>
          <p:cNvPr id="21" name="文本框 20"/>
          <p:cNvSpPr txBox="1"/>
          <p:nvPr/>
        </p:nvSpPr>
        <p:spPr>
          <a:xfrm>
            <a:off x="6882156" y="3646452"/>
            <a:ext cx="1015021" cy="369332"/>
          </a:xfrm>
          <a:prstGeom prst="rect">
            <a:avLst/>
          </a:prstGeom>
          <a:noFill/>
        </p:spPr>
        <p:txBody>
          <a:bodyPr wrap="none" rtlCol="0">
            <a:spAutoFit/>
          </a:bodyPr>
          <a:lstStyle/>
          <a:p>
            <a:r>
              <a:rPr lang="en-US" altLang="zh-CN" dirty="0" smtClean="0"/>
              <a:t>gradient</a:t>
            </a:r>
            <a:endParaRPr lang="zh-CN" altLang="en-US" dirty="0"/>
          </a:p>
        </p:txBody>
      </p:sp>
      <p:cxnSp>
        <p:nvCxnSpPr>
          <p:cNvPr id="16" name="直接箭头连接符 15"/>
          <p:cNvCxnSpPr/>
          <p:nvPr/>
        </p:nvCxnSpPr>
        <p:spPr>
          <a:xfrm>
            <a:off x="3727596" y="3011117"/>
            <a:ext cx="13143" cy="14676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4032065" y="2888152"/>
            <a:ext cx="3753035" cy="1747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5047954" y="3676402"/>
            <a:ext cx="1305165" cy="369332"/>
          </a:xfrm>
          <a:prstGeom prst="rect">
            <a:avLst/>
          </a:prstGeom>
          <a:noFill/>
        </p:spPr>
        <p:txBody>
          <a:bodyPr wrap="none" rtlCol="0">
            <a:spAutoFit/>
          </a:bodyPr>
          <a:lstStyle/>
          <a:p>
            <a:r>
              <a:rPr lang="en-US" altLang="zh-CN" dirty="0" smtClean="0"/>
              <a:t>parameters</a:t>
            </a:r>
            <a:endParaRPr lang="zh-CN" altLang="en-US" dirty="0"/>
          </a:p>
        </p:txBody>
      </p:sp>
      <p:cxnSp>
        <p:nvCxnSpPr>
          <p:cNvPr id="39" name="直接箭头连接符 38"/>
          <p:cNvCxnSpPr/>
          <p:nvPr/>
        </p:nvCxnSpPr>
        <p:spPr>
          <a:xfrm>
            <a:off x="4260380" y="2578782"/>
            <a:ext cx="3443241" cy="265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5047954" y="2584903"/>
            <a:ext cx="1305165" cy="369332"/>
          </a:xfrm>
          <a:prstGeom prst="rect">
            <a:avLst/>
          </a:prstGeom>
          <a:noFill/>
        </p:spPr>
        <p:txBody>
          <a:bodyPr wrap="none" rtlCol="0">
            <a:spAutoFit/>
          </a:bodyPr>
          <a:lstStyle/>
          <a:p>
            <a:r>
              <a:rPr lang="en-US" altLang="zh-CN" dirty="0" smtClean="0"/>
              <a:t>parameters</a:t>
            </a:r>
            <a:endParaRPr lang="zh-CN" altLang="en-US" dirty="0"/>
          </a:p>
        </p:txBody>
      </p:sp>
    </p:spTree>
    <p:extLst>
      <p:ext uri="{BB962C8B-B14F-4D97-AF65-F5344CB8AC3E}">
        <p14:creationId xmlns:p14="http://schemas.microsoft.com/office/powerpoint/2010/main" val="311859099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87F7609B-44D8-4A6F-85A8-FC5A2D0C942D}"/>
              </a:ext>
            </a:extLst>
          </p:cNvPr>
          <p:cNvSpPr/>
          <p:nvPr/>
        </p:nvSpPr>
        <p:spPr>
          <a:xfrm>
            <a:off x="-83801" y="668559"/>
            <a:ext cx="4078285" cy="45719"/>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E4B5C20D-4A12-483C-8756-87F0BD864146}"/>
              </a:ext>
            </a:extLst>
          </p:cNvPr>
          <p:cNvSpPr txBox="1"/>
          <p:nvPr/>
        </p:nvSpPr>
        <p:spPr>
          <a:xfrm>
            <a:off x="756035" y="249977"/>
            <a:ext cx="3142197" cy="800219"/>
          </a:xfrm>
          <a:prstGeom prst="rect">
            <a:avLst/>
          </a:prstGeom>
          <a:noFill/>
        </p:spPr>
        <p:txBody>
          <a:bodyPr vert="horz" wrap="square" rtlCol="0">
            <a:spAutoFit/>
          </a:bodyPr>
          <a:lstStyle>
            <a:defPPr>
              <a:defRPr lang="zh-CN"/>
            </a:defPPr>
            <a:lvl1pPr>
              <a:defRPr sz="2000">
                <a:solidFill>
                  <a:schemeClr val="bg1"/>
                </a:solidFill>
                <a:latin typeface="Verdana" panose="020B0604030504040204" pitchFamily="34" charset="0"/>
                <a:ea typeface="Verdana" panose="020B0604030504040204" pitchFamily="34" charset="0"/>
              </a:defRPr>
            </a:lvl1pPr>
          </a:lstStyle>
          <a:p>
            <a:pPr algn="r"/>
            <a:r>
              <a:rPr lang="en-US" altLang="zh-CN" sz="2300" b="1" dirty="0" smtClean="0">
                <a:solidFill>
                  <a:schemeClr val="tx1">
                    <a:lumMod val="75000"/>
                    <a:lumOff val="25000"/>
                  </a:schemeClr>
                </a:solidFill>
                <a:latin typeface="+mn-ea"/>
                <a:ea typeface="+mn-ea"/>
              </a:rPr>
              <a:t>DL Clusters </a:t>
            </a:r>
            <a:r>
              <a:rPr lang="en-US" altLang="zh-CN" sz="2300" b="1" dirty="0">
                <a:solidFill>
                  <a:schemeClr val="tx1">
                    <a:lumMod val="75000"/>
                    <a:lumOff val="25000"/>
                  </a:schemeClr>
                </a:solidFill>
                <a:latin typeface="+mn-ea"/>
                <a:ea typeface="+mn-ea"/>
              </a:rPr>
              <a:t>Scheduler</a:t>
            </a:r>
          </a:p>
          <a:p>
            <a:pPr algn="r"/>
            <a:endParaRPr lang="en-US" altLang="zh-CN" sz="2300" b="1" dirty="0">
              <a:solidFill>
                <a:schemeClr val="tx1">
                  <a:lumMod val="75000"/>
                  <a:lumOff val="25000"/>
                </a:schemeClr>
              </a:solidFill>
              <a:latin typeface="+mn-ea"/>
              <a:ea typeface="+mn-ea"/>
            </a:endParaRPr>
          </a:p>
        </p:txBody>
      </p:sp>
      <p:sp>
        <p:nvSpPr>
          <p:cNvPr id="37" name="文本框 36">
            <a:extLst>
              <a:ext uri="{FF2B5EF4-FFF2-40B4-BE49-F238E27FC236}">
                <a16:creationId xmlns:a16="http://schemas.microsoft.com/office/drawing/2014/main" id="{F2780D51-B0AF-4922-85EE-8A372E9AC621}"/>
              </a:ext>
            </a:extLst>
          </p:cNvPr>
          <p:cNvSpPr txBox="1"/>
          <p:nvPr/>
        </p:nvSpPr>
        <p:spPr>
          <a:xfrm>
            <a:off x="904637" y="1506236"/>
            <a:ext cx="2274907" cy="861774"/>
          </a:xfrm>
          <a:prstGeom prst="rect">
            <a:avLst/>
          </a:prstGeom>
          <a:noFill/>
        </p:spPr>
        <p:txBody>
          <a:bodyPr wrap="square" rtlCol="0">
            <a:spAutoFit/>
          </a:bodyPr>
          <a:lstStyle/>
          <a:p>
            <a:pPr algn="ctr"/>
            <a:r>
              <a:rPr lang="en-US" altLang="zh-CN" sz="2500" b="1" dirty="0" smtClean="0">
                <a:solidFill>
                  <a:srgbClr val="C00000"/>
                </a:solidFill>
                <a:effectLst>
                  <a:outerShdw blurRad="38100" dist="38100" dir="2700000" algn="tl">
                    <a:srgbClr val="000000">
                      <a:alpha val="43137"/>
                    </a:srgbClr>
                  </a:outerShdw>
                </a:effectLst>
                <a:latin typeface="+mn-ea"/>
                <a:cs typeface="Times New Roman" panose="02020603050405020304" pitchFamily="18" charset="0"/>
              </a:rPr>
              <a:t>Colocated jobs</a:t>
            </a:r>
            <a:endParaRPr kumimoji="1" lang="zh-CN" altLang="en-US" sz="2500" b="1" dirty="0">
              <a:solidFill>
                <a:srgbClr val="C00000"/>
              </a:solidFill>
              <a:effectLst>
                <a:outerShdw blurRad="38100" dist="38100" dir="2700000" algn="tl">
                  <a:srgbClr val="000000">
                    <a:alpha val="43137"/>
                  </a:srgbClr>
                </a:outerShdw>
              </a:effectLst>
              <a:latin typeface="+mn-ea"/>
            </a:endParaRPr>
          </a:p>
        </p:txBody>
      </p:sp>
      <p:sp>
        <p:nvSpPr>
          <p:cNvPr id="15" name="文本框 14"/>
          <p:cNvSpPr txBox="1"/>
          <p:nvPr/>
        </p:nvSpPr>
        <p:spPr>
          <a:xfrm>
            <a:off x="895479" y="2874291"/>
            <a:ext cx="2650084" cy="461665"/>
          </a:xfrm>
          <a:prstGeom prst="rect">
            <a:avLst/>
          </a:prstGeom>
          <a:noFill/>
        </p:spPr>
        <p:txBody>
          <a:bodyPr wrap="none" rtlCol="0">
            <a:spAutoFit/>
          </a:bodyPr>
          <a:lstStyle/>
          <a:p>
            <a:r>
              <a:rPr lang="en-US" altLang="zh-CN" sz="2400" dirty="0" smtClean="0"/>
              <a:t>CPU cache sharing</a:t>
            </a:r>
            <a:endParaRPr lang="zh-CN" altLang="en-US" sz="2400" dirty="0"/>
          </a:p>
        </p:txBody>
      </p:sp>
      <p:sp>
        <p:nvSpPr>
          <p:cNvPr id="26" name="矩形 25"/>
          <p:cNvSpPr/>
          <p:nvPr/>
        </p:nvSpPr>
        <p:spPr>
          <a:xfrm>
            <a:off x="4975262" y="3791366"/>
            <a:ext cx="803563" cy="3707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文本框 22"/>
          <p:cNvSpPr txBox="1"/>
          <p:nvPr/>
        </p:nvSpPr>
        <p:spPr>
          <a:xfrm>
            <a:off x="4975263" y="2663241"/>
            <a:ext cx="865673" cy="369332"/>
          </a:xfrm>
          <a:prstGeom prst="rect">
            <a:avLst/>
          </a:prstGeom>
          <a:noFill/>
        </p:spPr>
        <p:txBody>
          <a:bodyPr wrap="square" rtlCol="0">
            <a:spAutoFit/>
          </a:bodyPr>
          <a:lstStyle/>
          <a:p>
            <a:r>
              <a:rPr lang="en-US" altLang="zh-CN" dirty="0" smtClean="0"/>
              <a:t>Job1</a:t>
            </a:r>
            <a:endParaRPr lang="zh-CN" altLang="en-US" dirty="0"/>
          </a:p>
        </p:txBody>
      </p:sp>
      <p:sp>
        <p:nvSpPr>
          <p:cNvPr id="24" name="文本框 23"/>
          <p:cNvSpPr txBox="1"/>
          <p:nvPr/>
        </p:nvSpPr>
        <p:spPr>
          <a:xfrm>
            <a:off x="5994386" y="2663241"/>
            <a:ext cx="865673" cy="369332"/>
          </a:xfrm>
          <a:prstGeom prst="rect">
            <a:avLst/>
          </a:prstGeom>
          <a:noFill/>
        </p:spPr>
        <p:txBody>
          <a:bodyPr wrap="square" rtlCol="0">
            <a:spAutoFit/>
          </a:bodyPr>
          <a:lstStyle/>
          <a:p>
            <a:r>
              <a:rPr lang="en-US" altLang="zh-CN" dirty="0"/>
              <a:t>J</a:t>
            </a:r>
            <a:r>
              <a:rPr lang="en-US" altLang="zh-CN" dirty="0" smtClean="0"/>
              <a:t>ob2</a:t>
            </a:r>
            <a:endParaRPr lang="zh-CN" altLang="en-US" dirty="0"/>
          </a:p>
        </p:txBody>
      </p:sp>
      <p:sp>
        <p:nvSpPr>
          <p:cNvPr id="30" name="矩形 29"/>
          <p:cNvSpPr/>
          <p:nvPr/>
        </p:nvSpPr>
        <p:spPr>
          <a:xfrm>
            <a:off x="4975263" y="3075642"/>
            <a:ext cx="803563" cy="6091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文本框 30"/>
          <p:cNvSpPr txBox="1"/>
          <p:nvPr/>
        </p:nvSpPr>
        <p:spPr>
          <a:xfrm>
            <a:off x="4975263" y="3152491"/>
            <a:ext cx="865673" cy="369332"/>
          </a:xfrm>
          <a:prstGeom prst="rect">
            <a:avLst/>
          </a:prstGeom>
          <a:noFill/>
        </p:spPr>
        <p:txBody>
          <a:bodyPr wrap="square" rtlCol="0">
            <a:spAutoFit/>
          </a:bodyPr>
          <a:lstStyle/>
          <a:p>
            <a:r>
              <a:rPr lang="en-US" altLang="zh-CN" dirty="0" smtClean="0">
                <a:solidFill>
                  <a:schemeClr val="bg1"/>
                </a:solidFill>
              </a:rPr>
              <a:t>core1</a:t>
            </a:r>
            <a:endParaRPr lang="zh-CN" altLang="en-US" dirty="0">
              <a:solidFill>
                <a:schemeClr val="bg1"/>
              </a:solidFill>
            </a:endParaRPr>
          </a:p>
        </p:txBody>
      </p:sp>
      <p:sp>
        <p:nvSpPr>
          <p:cNvPr id="32" name="矩形 31"/>
          <p:cNvSpPr/>
          <p:nvPr/>
        </p:nvSpPr>
        <p:spPr>
          <a:xfrm>
            <a:off x="5994386" y="3074441"/>
            <a:ext cx="803563" cy="6091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文本框 32"/>
          <p:cNvSpPr txBox="1"/>
          <p:nvPr/>
        </p:nvSpPr>
        <p:spPr>
          <a:xfrm>
            <a:off x="5994386" y="3151290"/>
            <a:ext cx="865673" cy="369332"/>
          </a:xfrm>
          <a:prstGeom prst="rect">
            <a:avLst/>
          </a:prstGeom>
          <a:noFill/>
        </p:spPr>
        <p:txBody>
          <a:bodyPr wrap="square" rtlCol="0">
            <a:spAutoFit/>
          </a:bodyPr>
          <a:lstStyle/>
          <a:p>
            <a:r>
              <a:rPr lang="en-US" altLang="zh-CN" dirty="0" smtClean="0">
                <a:solidFill>
                  <a:schemeClr val="bg1"/>
                </a:solidFill>
              </a:rPr>
              <a:t>core2</a:t>
            </a:r>
            <a:endParaRPr lang="zh-CN" altLang="en-US" dirty="0">
              <a:solidFill>
                <a:schemeClr val="bg1"/>
              </a:solidFill>
            </a:endParaRPr>
          </a:p>
        </p:txBody>
      </p:sp>
      <p:sp>
        <p:nvSpPr>
          <p:cNvPr id="35" name="文本框 34"/>
          <p:cNvSpPr txBox="1"/>
          <p:nvPr/>
        </p:nvSpPr>
        <p:spPr>
          <a:xfrm>
            <a:off x="4886535" y="3769953"/>
            <a:ext cx="1118414" cy="369332"/>
          </a:xfrm>
          <a:prstGeom prst="rect">
            <a:avLst/>
          </a:prstGeom>
          <a:noFill/>
        </p:spPr>
        <p:txBody>
          <a:bodyPr wrap="square" rtlCol="0">
            <a:spAutoFit/>
          </a:bodyPr>
          <a:lstStyle/>
          <a:p>
            <a:r>
              <a:rPr lang="en-US" altLang="zh-CN" dirty="0" smtClean="0">
                <a:solidFill>
                  <a:schemeClr val="bg1"/>
                </a:solidFill>
              </a:rPr>
              <a:t>L1cache</a:t>
            </a:r>
          </a:p>
        </p:txBody>
      </p:sp>
      <p:sp>
        <p:nvSpPr>
          <p:cNvPr id="49" name="矩形 48"/>
          <p:cNvSpPr/>
          <p:nvPr/>
        </p:nvSpPr>
        <p:spPr>
          <a:xfrm>
            <a:off x="4975262" y="4876666"/>
            <a:ext cx="1818746" cy="5470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2" name="矩形 41"/>
          <p:cNvSpPr/>
          <p:nvPr/>
        </p:nvSpPr>
        <p:spPr>
          <a:xfrm>
            <a:off x="5990444" y="3816139"/>
            <a:ext cx="803563" cy="3367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文本框 42"/>
          <p:cNvSpPr txBox="1"/>
          <p:nvPr/>
        </p:nvSpPr>
        <p:spPr>
          <a:xfrm>
            <a:off x="5901717" y="3794726"/>
            <a:ext cx="1118414" cy="369332"/>
          </a:xfrm>
          <a:prstGeom prst="rect">
            <a:avLst/>
          </a:prstGeom>
          <a:noFill/>
        </p:spPr>
        <p:txBody>
          <a:bodyPr wrap="square" rtlCol="0">
            <a:spAutoFit/>
          </a:bodyPr>
          <a:lstStyle/>
          <a:p>
            <a:r>
              <a:rPr lang="en-US" altLang="zh-CN" dirty="0" smtClean="0">
                <a:solidFill>
                  <a:schemeClr val="bg1"/>
                </a:solidFill>
              </a:rPr>
              <a:t>L1cache</a:t>
            </a:r>
          </a:p>
        </p:txBody>
      </p:sp>
      <p:sp>
        <p:nvSpPr>
          <p:cNvPr id="44" name="矩形 43"/>
          <p:cNvSpPr/>
          <p:nvPr/>
        </p:nvSpPr>
        <p:spPr>
          <a:xfrm>
            <a:off x="4975670" y="4303297"/>
            <a:ext cx="803563" cy="3707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文本框 44"/>
          <p:cNvSpPr txBox="1"/>
          <p:nvPr/>
        </p:nvSpPr>
        <p:spPr>
          <a:xfrm>
            <a:off x="4901901" y="4280439"/>
            <a:ext cx="1118414" cy="369332"/>
          </a:xfrm>
          <a:prstGeom prst="rect">
            <a:avLst/>
          </a:prstGeom>
          <a:noFill/>
        </p:spPr>
        <p:txBody>
          <a:bodyPr wrap="square" rtlCol="0">
            <a:spAutoFit/>
          </a:bodyPr>
          <a:lstStyle/>
          <a:p>
            <a:r>
              <a:rPr lang="en-US" altLang="zh-CN" dirty="0" smtClean="0">
                <a:solidFill>
                  <a:schemeClr val="bg1"/>
                </a:solidFill>
              </a:rPr>
              <a:t>L2cache</a:t>
            </a:r>
          </a:p>
        </p:txBody>
      </p:sp>
      <p:sp>
        <p:nvSpPr>
          <p:cNvPr id="46" name="矩形 45"/>
          <p:cNvSpPr/>
          <p:nvPr/>
        </p:nvSpPr>
        <p:spPr>
          <a:xfrm>
            <a:off x="5990444" y="4339909"/>
            <a:ext cx="803563" cy="3367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文本框 46"/>
          <p:cNvSpPr txBox="1"/>
          <p:nvPr/>
        </p:nvSpPr>
        <p:spPr>
          <a:xfrm>
            <a:off x="5901717" y="4304742"/>
            <a:ext cx="1118414" cy="369332"/>
          </a:xfrm>
          <a:prstGeom prst="rect">
            <a:avLst/>
          </a:prstGeom>
          <a:noFill/>
        </p:spPr>
        <p:txBody>
          <a:bodyPr wrap="square" rtlCol="0">
            <a:spAutoFit/>
          </a:bodyPr>
          <a:lstStyle/>
          <a:p>
            <a:r>
              <a:rPr lang="en-US" altLang="zh-CN" dirty="0" smtClean="0">
                <a:solidFill>
                  <a:schemeClr val="bg1"/>
                </a:solidFill>
              </a:rPr>
              <a:t>L2cache</a:t>
            </a:r>
          </a:p>
        </p:txBody>
      </p:sp>
      <p:sp>
        <p:nvSpPr>
          <p:cNvPr id="48" name="文本框 47"/>
          <p:cNvSpPr txBox="1"/>
          <p:nvPr/>
        </p:nvSpPr>
        <p:spPr>
          <a:xfrm>
            <a:off x="5343566" y="4964214"/>
            <a:ext cx="994739" cy="369332"/>
          </a:xfrm>
          <a:prstGeom prst="rect">
            <a:avLst/>
          </a:prstGeom>
          <a:noFill/>
        </p:spPr>
        <p:txBody>
          <a:bodyPr wrap="square" rtlCol="0">
            <a:spAutoFit/>
          </a:bodyPr>
          <a:lstStyle/>
          <a:p>
            <a:r>
              <a:rPr lang="en-US" altLang="zh-CN" dirty="0" smtClean="0">
                <a:solidFill>
                  <a:schemeClr val="bg1"/>
                </a:solidFill>
              </a:rPr>
              <a:t>L3cache</a:t>
            </a:r>
          </a:p>
        </p:txBody>
      </p:sp>
    </p:spTree>
    <p:extLst>
      <p:ext uri="{BB962C8B-B14F-4D97-AF65-F5344CB8AC3E}">
        <p14:creationId xmlns:p14="http://schemas.microsoft.com/office/powerpoint/2010/main" val="197958348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87F7609B-44D8-4A6F-85A8-FC5A2D0C942D}"/>
              </a:ext>
            </a:extLst>
          </p:cNvPr>
          <p:cNvSpPr/>
          <p:nvPr/>
        </p:nvSpPr>
        <p:spPr>
          <a:xfrm>
            <a:off x="-83801" y="668559"/>
            <a:ext cx="4078285" cy="45719"/>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E4B5C20D-4A12-483C-8756-87F0BD864146}"/>
              </a:ext>
            </a:extLst>
          </p:cNvPr>
          <p:cNvSpPr txBox="1"/>
          <p:nvPr/>
        </p:nvSpPr>
        <p:spPr>
          <a:xfrm>
            <a:off x="756035" y="249977"/>
            <a:ext cx="3142197" cy="800219"/>
          </a:xfrm>
          <a:prstGeom prst="rect">
            <a:avLst/>
          </a:prstGeom>
          <a:noFill/>
        </p:spPr>
        <p:txBody>
          <a:bodyPr vert="horz" wrap="square" rtlCol="0">
            <a:spAutoFit/>
          </a:bodyPr>
          <a:lstStyle>
            <a:defPPr>
              <a:defRPr lang="zh-CN"/>
            </a:defPPr>
            <a:lvl1pPr>
              <a:defRPr sz="2000">
                <a:solidFill>
                  <a:schemeClr val="bg1"/>
                </a:solidFill>
                <a:latin typeface="Verdana" panose="020B0604030504040204" pitchFamily="34" charset="0"/>
                <a:ea typeface="Verdana" panose="020B0604030504040204" pitchFamily="34" charset="0"/>
              </a:defRPr>
            </a:lvl1pPr>
          </a:lstStyle>
          <a:p>
            <a:pPr algn="r"/>
            <a:r>
              <a:rPr lang="en-US" altLang="zh-CN" sz="2300" b="1" dirty="0" smtClean="0">
                <a:solidFill>
                  <a:schemeClr val="tx1">
                    <a:lumMod val="75000"/>
                    <a:lumOff val="25000"/>
                  </a:schemeClr>
                </a:solidFill>
                <a:latin typeface="+mn-ea"/>
                <a:ea typeface="+mn-ea"/>
              </a:rPr>
              <a:t>DL Clusters </a:t>
            </a:r>
            <a:r>
              <a:rPr lang="en-US" altLang="zh-CN" sz="2300" b="1" dirty="0">
                <a:solidFill>
                  <a:schemeClr val="tx1">
                    <a:lumMod val="75000"/>
                    <a:lumOff val="25000"/>
                  </a:schemeClr>
                </a:solidFill>
                <a:latin typeface="+mn-ea"/>
                <a:ea typeface="+mn-ea"/>
              </a:rPr>
              <a:t>Scheduler</a:t>
            </a:r>
          </a:p>
          <a:p>
            <a:pPr algn="r"/>
            <a:endParaRPr lang="en-US" altLang="zh-CN" sz="2300" b="1" dirty="0">
              <a:solidFill>
                <a:schemeClr val="tx1">
                  <a:lumMod val="75000"/>
                  <a:lumOff val="25000"/>
                </a:schemeClr>
              </a:solidFill>
              <a:latin typeface="+mn-ea"/>
              <a:ea typeface="+mn-ea"/>
            </a:endParaRPr>
          </a:p>
        </p:txBody>
      </p:sp>
      <p:sp>
        <p:nvSpPr>
          <p:cNvPr id="37" name="文本框 36">
            <a:extLst>
              <a:ext uri="{FF2B5EF4-FFF2-40B4-BE49-F238E27FC236}">
                <a16:creationId xmlns:a16="http://schemas.microsoft.com/office/drawing/2014/main" id="{F2780D51-B0AF-4922-85EE-8A372E9AC621}"/>
              </a:ext>
            </a:extLst>
          </p:cNvPr>
          <p:cNvSpPr txBox="1"/>
          <p:nvPr/>
        </p:nvSpPr>
        <p:spPr>
          <a:xfrm>
            <a:off x="904637" y="1506236"/>
            <a:ext cx="2274907" cy="861774"/>
          </a:xfrm>
          <a:prstGeom prst="rect">
            <a:avLst/>
          </a:prstGeom>
          <a:noFill/>
        </p:spPr>
        <p:txBody>
          <a:bodyPr wrap="square" rtlCol="0">
            <a:spAutoFit/>
          </a:bodyPr>
          <a:lstStyle/>
          <a:p>
            <a:pPr algn="ctr"/>
            <a:r>
              <a:rPr lang="en-US" altLang="zh-CN" sz="2500" b="1" dirty="0" smtClean="0">
                <a:solidFill>
                  <a:srgbClr val="C00000"/>
                </a:solidFill>
                <a:effectLst>
                  <a:outerShdw blurRad="38100" dist="38100" dir="2700000" algn="tl">
                    <a:srgbClr val="000000">
                      <a:alpha val="43137"/>
                    </a:srgbClr>
                  </a:outerShdw>
                </a:effectLst>
                <a:latin typeface="+mn-ea"/>
                <a:cs typeface="Times New Roman" panose="02020603050405020304" pitchFamily="18" charset="0"/>
              </a:rPr>
              <a:t>Colocated jobs</a:t>
            </a:r>
            <a:endParaRPr kumimoji="1" lang="zh-CN" altLang="en-US" sz="2500" b="1" dirty="0">
              <a:solidFill>
                <a:srgbClr val="C00000"/>
              </a:solidFill>
              <a:effectLst>
                <a:outerShdw blurRad="38100" dist="38100" dir="2700000" algn="tl">
                  <a:srgbClr val="000000">
                    <a:alpha val="43137"/>
                  </a:srgbClr>
                </a:outerShdw>
              </a:effectLst>
              <a:latin typeface="+mn-ea"/>
            </a:endParaRPr>
          </a:p>
        </p:txBody>
      </p:sp>
      <p:sp>
        <p:nvSpPr>
          <p:cNvPr id="15" name="文本框 14"/>
          <p:cNvSpPr txBox="1"/>
          <p:nvPr/>
        </p:nvSpPr>
        <p:spPr>
          <a:xfrm>
            <a:off x="1188795" y="2752115"/>
            <a:ext cx="1787669" cy="461665"/>
          </a:xfrm>
          <a:prstGeom prst="rect">
            <a:avLst/>
          </a:prstGeom>
          <a:noFill/>
        </p:spPr>
        <p:txBody>
          <a:bodyPr wrap="none" rtlCol="0">
            <a:spAutoFit/>
          </a:bodyPr>
          <a:lstStyle/>
          <a:p>
            <a:r>
              <a:rPr lang="en-US" altLang="zh-CN" sz="2400" dirty="0" smtClean="0"/>
              <a:t>Disk </a:t>
            </a:r>
            <a:r>
              <a:rPr lang="en-US" altLang="zh-CN" sz="2400" dirty="0" smtClean="0"/>
              <a:t>sharing</a:t>
            </a:r>
            <a:endParaRPr lang="zh-CN" altLang="en-US" sz="2400" dirty="0"/>
          </a:p>
        </p:txBody>
      </p:sp>
      <p:sp>
        <p:nvSpPr>
          <p:cNvPr id="43" name="文本框 42"/>
          <p:cNvSpPr txBox="1"/>
          <p:nvPr/>
        </p:nvSpPr>
        <p:spPr>
          <a:xfrm>
            <a:off x="1398254" y="4355592"/>
            <a:ext cx="1118414" cy="369332"/>
          </a:xfrm>
          <a:prstGeom prst="rect">
            <a:avLst/>
          </a:prstGeom>
          <a:noFill/>
        </p:spPr>
        <p:txBody>
          <a:bodyPr wrap="square" rtlCol="0">
            <a:spAutoFit/>
          </a:bodyPr>
          <a:lstStyle/>
          <a:p>
            <a:r>
              <a:rPr lang="en-US" altLang="zh-CN" dirty="0" smtClean="0">
                <a:solidFill>
                  <a:schemeClr val="bg1"/>
                </a:solidFill>
              </a:rPr>
              <a:t>L1cache</a:t>
            </a:r>
          </a:p>
        </p:txBody>
      </p:sp>
      <p:sp>
        <p:nvSpPr>
          <p:cNvPr id="47" name="文本框 46"/>
          <p:cNvSpPr txBox="1"/>
          <p:nvPr/>
        </p:nvSpPr>
        <p:spPr>
          <a:xfrm>
            <a:off x="1398254" y="4865608"/>
            <a:ext cx="1118414" cy="369332"/>
          </a:xfrm>
          <a:prstGeom prst="rect">
            <a:avLst/>
          </a:prstGeom>
          <a:noFill/>
        </p:spPr>
        <p:txBody>
          <a:bodyPr wrap="square" rtlCol="0">
            <a:spAutoFit/>
          </a:bodyPr>
          <a:lstStyle/>
          <a:p>
            <a:r>
              <a:rPr lang="en-US" altLang="zh-CN" dirty="0" smtClean="0">
                <a:solidFill>
                  <a:schemeClr val="bg1"/>
                </a:solidFill>
              </a:rPr>
              <a:t>L2cache</a:t>
            </a:r>
          </a:p>
        </p:txBody>
      </p:sp>
      <p:sp>
        <p:nvSpPr>
          <p:cNvPr id="50" name="矩形 49"/>
          <p:cNvSpPr/>
          <p:nvPr/>
        </p:nvSpPr>
        <p:spPr>
          <a:xfrm>
            <a:off x="4417924" y="3834433"/>
            <a:ext cx="803563" cy="3707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 name="文本框 50"/>
          <p:cNvSpPr txBox="1"/>
          <p:nvPr/>
        </p:nvSpPr>
        <p:spPr>
          <a:xfrm>
            <a:off x="4417925" y="2706308"/>
            <a:ext cx="865673" cy="369332"/>
          </a:xfrm>
          <a:prstGeom prst="rect">
            <a:avLst/>
          </a:prstGeom>
          <a:noFill/>
        </p:spPr>
        <p:txBody>
          <a:bodyPr wrap="square" rtlCol="0">
            <a:spAutoFit/>
          </a:bodyPr>
          <a:lstStyle/>
          <a:p>
            <a:r>
              <a:rPr lang="en-US" altLang="zh-CN" dirty="0" smtClean="0"/>
              <a:t>Job3</a:t>
            </a:r>
            <a:endParaRPr lang="zh-CN" altLang="en-US" dirty="0"/>
          </a:p>
        </p:txBody>
      </p:sp>
      <p:sp>
        <p:nvSpPr>
          <p:cNvPr id="52" name="文本框 51"/>
          <p:cNvSpPr txBox="1"/>
          <p:nvPr/>
        </p:nvSpPr>
        <p:spPr>
          <a:xfrm>
            <a:off x="5437048" y="2706308"/>
            <a:ext cx="865673" cy="369332"/>
          </a:xfrm>
          <a:prstGeom prst="rect">
            <a:avLst/>
          </a:prstGeom>
          <a:noFill/>
        </p:spPr>
        <p:txBody>
          <a:bodyPr wrap="square" rtlCol="0">
            <a:spAutoFit/>
          </a:bodyPr>
          <a:lstStyle/>
          <a:p>
            <a:r>
              <a:rPr lang="en-US" altLang="zh-CN" dirty="0" smtClean="0"/>
              <a:t>Job3</a:t>
            </a:r>
            <a:endParaRPr lang="zh-CN" altLang="en-US" dirty="0"/>
          </a:p>
        </p:txBody>
      </p:sp>
      <p:sp>
        <p:nvSpPr>
          <p:cNvPr id="53" name="矩形 52"/>
          <p:cNvSpPr/>
          <p:nvPr/>
        </p:nvSpPr>
        <p:spPr>
          <a:xfrm>
            <a:off x="4417925" y="3118709"/>
            <a:ext cx="803563" cy="6091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p:cNvSpPr txBox="1"/>
          <p:nvPr/>
        </p:nvSpPr>
        <p:spPr>
          <a:xfrm>
            <a:off x="4417925" y="3195558"/>
            <a:ext cx="865673" cy="369332"/>
          </a:xfrm>
          <a:prstGeom prst="rect">
            <a:avLst/>
          </a:prstGeom>
          <a:noFill/>
        </p:spPr>
        <p:txBody>
          <a:bodyPr wrap="square" rtlCol="0">
            <a:spAutoFit/>
          </a:bodyPr>
          <a:lstStyle/>
          <a:p>
            <a:r>
              <a:rPr lang="en-US" altLang="zh-CN" dirty="0" smtClean="0">
                <a:solidFill>
                  <a:schemeClr val="bg1"/>
                </a:solidFill>
              </a:rPr>
              <a:t>core1</a:t>
            </a:r>
            <a:endParaRPr lang="zh-CN" altLang="en-US" dirty="0">
              <a:solidFill>
                <a:schemeClr val="bg1"/>
              </a:solidFill>
            </a:endParaRPr>
          </a:p>
        </p:txBody>
      </p:sp>
      <p:sp>
        <p:nvSpPr>
          <p:cNvPr id="55" name="矩形 54"/>
          <p:cNvSpPr/>
          <p:nvPr/>
        </p:nvSpPr>
        <p:spPr>
          <a:xfrm>
            <a:off x="5437048" y="3117508"/>
            <a:ext cx="803563" cy="6091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 name="文本框 55"/>
          <p:cNvSpPr txBox="1"/>
          <p:nvPr/>
        </p:nvSpPr>
        <p:spPr>
          <a:xfrm>
            <a:off x="5437048" y="3194357"/>
            <a:ext cx="865673" cy="369332"/>
          </a:xfrm>
          <a:prstGeom prst="rect">
            <a:avLst/>
          </a:prstGeom>
          <a:noFill/>
        </p:spPr>
        <p:txBody>
          <a:bodyPr wrap="square" rtlCol="0">
            <a:spAutoFit/>
          </a:bodyPr>
          <a:lstStyle/>
          <a:p>
            <a:r>
              <a:rPr lang="en-US" altLang="zh-CN" dirty="0" smtClean="0">
                <a:solidFill>
                  <a:schemeClr val="bg1"/>
                </a:solidFill>
              </a:rPr>
              <a:t>core2</a:t>
            </a:r>
            <a:endParaRPr lang="zh-CN" altLang="en-US" dirty="0">
              <a:solidFill>
                <a:schemeClr val="bg1"/>
              </a:solidFill>
            </a:endParaRPr>
          </a:p>
        </p:txBody>
      </p:sp>
      <p:sp>
        <p:nvSpPr>
          <p:cNvPr id="57" name="文本框 56"/>
          <p:cNvSpPr txBox="1"/>
          <p:nvPr/>
        </p:nvSpPr>
        <p:spPr>
          <a:xfrm>
            <a:off x="4329197" y="3813020"/>
            <a:ext cx="1118414" cy="369332"/>
          </a:xfrm>
          <a:prstGeom prst="rect">
            <a:avLst/>
          </a:prstGeom>
          <a:noFill/>
        </p:spPr>
        <p:txBody>
          <a:bodyPr wrap="square" rtlCol="0">
            <a:spAutoFit/>
          </a:bodyPr>
          <a:lstStyle/>
          <a:p>
            <a:r>
              <a:rPr lang="en-US" altLang="zh-CN" dirty="0" smtClean="0">
                <a:solidFill>
                  <a:schemeClr val="bg1"/>
                </a:solidFill>
              </a:rPr>
              <a:t>L1cache</a:t>
            </a:r>
          </a:p>
        </p:txBody>
      </p:sp>
      <p:sp>
        <p:nvSpPr>
          <p:cNvPr id="58" name="矩形 57"/>
          <p:cNvSpPr/>
          <p:nvPr/>
        </p:nvSpPr>
        <p:spPr>
          <a:xfrm>
            <a:off x="4417924" y="4919733"/>
            <a:ext cx="1818746" cy="5470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 name="矩形 58"/>
          <p:cNvSpPr/>
          <p:nvPr/>
        </p:nvSpPr>
        <p:spPr>
          <a:xfrm>
            <a:off x="5433106" y="3859206"/>
            <a:ext cx="803563" cy="3367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0" name="文本框 59"/>
          <p:cNvSpPr txBox="1"/>
          <p:nvPr/>
        </p:nvSpPr>
        <p:spPr>
          <a:xfrm>
            <a:off x="5344379" y="3837793"/>
            <a:ext cx="1118414" cy="369332"/>
          </a:xfrm>
          <a:prstGeom prst="rect">
            <a:avLst/>
          </a:prstGeom>
          <a:noFill/>
        </p:spPr>
        <p:txBody>
          <a:bodyPr wrap="square" rtlCol="0">
            <a:spAutoFit/>
          </a:bodyPr>
          <a:lstStyle/>
          <a:p>
            <a:r>
              <a:rPr lang="en-US" altLang="zh-CN" dirty="0" smtClean="0">
                <a:solidFill>
                  <a:schemeClr val="bg1"/>
                </a:solidFill>
              </a:rPr>
              <a:t>L1cache</a:t>
            </a:r>
          </a:p>
        </p:txBody>
      </p:sp>
      <p:sp>
        <p:nvSpPr>
          <p:cNvPr id="61" name="矩形 60"/>
          <p:cNvSpPr/>
          <p:nvPr/>
        </p:nvSpPr>
        <p:spPr>
          <a:xfrm>
            <a:off x="4418332" y="4346364"/>
            <a:ext cx="803563" cy="3707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文本框 61"/>
          <p:cNvSpPr txBox="1"/>
          <p:nvPr/>
        </p:nvSpPr>
        <p:spPr>
          <a:xfrm>
            <a:off x="4344563" y="4323506"/>
            <a:ext cx="1118414" cy="369332"/>
          </a:xfrm>
          <a:prstGeom prst="rect">
            <a:avLst/>
          </a:prstGeom>
          <a:noFill/>
        </p:spPr>
        <p:txBody>
          <a:bodyPr wrap="square" rtlCol="0">
            <a:spAutoFit/>
          </a:bodyPr>
          <a:lstStyle/>
          <a:p>
            <a:r>
              <a:rPr lang="en-US" altLang="zh-CN" dirty="0" smtClean="0">
                <a:solidFill>
                  <a:schemeClr val="bg1"/>
                </a:solidFill>
              </a:rPr>
              <a:t>L2cache</a:t>
            </a:r>
          </a:p>
        </p:txBody>
      </p:sp>
      <p:sp>
        <p:nvSpPr>
          <p:cNvPr id="63" name="矩形 62"/>
          <p:cNvSpPr/>
          <p:nvPr/>
        </p:nvSpPr>
        <p:spPr>
          <a:xfrm>
            <a:off x="5433106" y="4382976"/>
            <a:ext cx="803563" cy="3367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4" name="文本框 63"/>
          <p:cNvSpPr txBox="1"/>
          <p:nvPr/>
        </p:nvSpPr>
        <p:spPr>
          <a:xfrm>
            <a:off x="5344379" y="4347809"/>
            <a:ext cx="1118414" cy="369332"/>
          </a:xfrm>
          <a:prstGeom prst="rect">
            <a:avLst/>
          </a:prstGeom>
          <a:noFill/>
        </p:spPr>
        <p:txBody>
          <a:bodyPr wrap="square" rtlCol="0">
            <a:spAutoFit/>
          </a:bodyPr>
          <a:lstStyle/>
          <a:p>
            <a:r>
              <a:rPr lang="en-US" altLang="zh-CN" dirty="0" smtClean="0">
                <a:solidFill>
                  <a:schemeClr val="bg1"/>
                </a:solidFill>
              </a:rPr>
              <a:t>L2cache</a:t>
            </a:r>
          </a:p>
        </p:txBody>
      </p:sp>
      <p:sp>
        <p:nvSpPr>
          <p:cNvPr id="65" name="文本框 64"/>
          <p:cNvSpPr txBox="1"/>
          <p:nvPr/>
        </p:nvSpPr>
        <p:spPr>
          <a:xfrm>
            <a:off x="4786228" y="5007281"/>
            <a:ext cx="994739" cy="369332"/>
          </a:xfrm>
          <a:prstGeom prst="rect">
            <a:avLst/>
          </a:prstGeom>
          <a:noFill/>
        </p:spPr>
        <p:txBody>
          <a:bodyPr wrap="square" rtlCol="0">
            <a:spAutoFit/>
          </a:bodyPr>
          <a:lstStyle/>
          <a:p>
            <a:r>
              <a:rPr lang="en-US" altLang="zh-CN" dirty="0" smtClean="0">
                <a:solidFill>
                  <a:schemeClr val="bg1"/>
                </a:solidFill>
              </a:rPr>
              <a:t>L3cache</a:t>
            </a:r>
          </a:p>
        </p:txBody>
      </p:sp>
      <p:sp>
        <p:nvSpPr>
          <p:cNvPr id="66" name="矩形 65"/>
          <p:cNvSpPr/>
          <p:nvPr/>
        </p:nvSpPr>
        <p:spPr>
          <a:xfrm>
            <a:off x="4435005" y="5666805"/>
            <a:ext cx="4061265" cy="5470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7" name="文本框 66"/>
          <p:cNvSpPr txBox="1"/>
          <p:nvPr/>
        </p:nvSpPr>
        <p:spPr>
          <a:xfrm>
            <a:off x="6099093" y="5732627"/>
            <a:ext cx="1010141" cy="369332"/>
          </a:xfrm>
          <a:prstGeom prst="rect">
            <a:avLst/>
          </a:prstGeom>
          <a:noFill/>
        </p:spPr>
        <p:txBody>
          <a:bodyPr wrap="square" rtlCol="0">
            <a:spAutoFit/>
          </a:bodyPr>
          <a:lstStyle/>
          <a:p>
            <a:r>
              <a:rPr lang="en-US" altLang="zh-CN" dirty="0" smtClean="0">
                <a:solidFill>
                  <a:schemeClr val="bg1"/>
                </a:solidFill>
              </a:rPr>
              <a:t>Disk </a:t>
            </a:r>
          </a:p>
        </p:txBody>
      </p:sp>
      <p:sp>
        <p:nvSpPr>
          <p:cNvPr id="68" name="矩形 67"/>
          <p:cNvSpPr/>
          <p:nvPr/>
        </p:nvSpPr>
        <p:spPr>
          <a:xfrm>
            <a:off x="6677525" y="3799640"/>
            <a:ext cx="803563" cy="3707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9" name="矩形 68"/>
          <p:cNvSpPr/>
          <p:nvPr/>
        </p:nvSpPr>
        <p:spPr>
          <a:xfrm>
            <a:off x="6677526" y="3083916"/>
            <a:ext cx="803563" cy="6091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0" name="文本框 69"/>
          <p:cNvSpPr txBox="1"/>
          <p:nvPr/>
        </p:nvSpPr>
        <p:spPr>
          <a:xfrm>
            <a:off x="6677526" y="3160765"/>
            <a:ext cx="865673" cy="369332"/>
          </a:xfrm>
          <a:prstGeom prst="rect">
            <a:avLst/>
          </a:prstGeom>
          <a:noFill/>
        </p:spPr>
        <p:txBody>
          <a:bodyPr wrap="square" rtlCol="0">
            <a:spAutoFit/>
          </a:bodyPr>
          <a:lstStyle/>
          <a:p>
            <a:r>
              <a:rPr lang="en-US" altLang="zh-CN" dirty="0" smtClean="0">
                <a:solidFill>
                  <a:schemeClr val="bg1"/>
                </a:solidFill>
              </a:rPr>
              <a:t>core3</a:t>
            </a:r>
            <a:endParaRPr lang="zh-CN" altLang="en-US" dirty="0">
              <a:solidFill>
                <a:schemeClr val="bg1"/>
              </a:solidFill>
            </a:endParaRPr>
          </a:p>
        </p:txBody>
      </p:sp>
      <p:sp>
        <p:nvSpPr>
          <p:cNvPr id="71" name="矩形 70"/>
          <p:cNvSpPr/>
          <p:nvPr/>
        </p:nvSpPr>
        <p:spPr>
          <a:xfrm>
            <a:off x="7696649" y="3082715"/>
            <a:ext cx="803563" cy="6091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2" name="文本框 71"/>
          <p:cNvSpPr txBox="1"/>
          <p:nvPr/>
        </p:nvSpPr>
        <p:spPr>
          <a:xfrm>
            <a:off x="7696649" y="3159564"/>
            <a:ext cx="865673" cy="369332"/>
          </a:xfrm>
          <a:prstGeom prst="rect">
            <a:avLst/>
          </a:prstGeom>
          <a:noFill/>
        </p:spPr>
        <p:txBody>
          <a:bodyPr wrap="square" rtlCol="0">
            <a:spAutoFit/>
          </a:bodyPr>
          <a:lstStyle/>
          <a:p>
            <a:r>
              <a:rPr lang="en-US" altLang="zh-CN" dirty="0" smtClean="0">
                <a:solidFill>
                  <a:schemeClr val="bg1"/>
                </a:solidFill>
              </a:rPr>
              <a:t>core4</a:t>
            </a:r>
            <a:endParaRPr lang="zh-CN" altLang="en-US" dirty="0">
              <a:solidFill>
                <a:schemeClr val="bg1"/>
              </a:solidFill>
            </a:endParaRPr>
          </a:p>
        </p:txBody>
      </p:sp>
      <p:sp>
        <p:nvSpPr>
          <p:cNvPr id="73" name="文本框 72"/>
          <p:cNvSpPr txBox="1"/>
          <p:nvPr/>
        </p:nvSpPr>
        <p:spPr>
          <a:xfrm>
            <a:off x="6588798" y="3778227"/>
            <a:ext cx="1118414" cy="369332"/>
          </a:xfrm>
          <a:prstGeom prst="rect">
            <a:avLst/>
          </a:prstGeom>
          <a:noFill/>
        </p:spPr>
        <p:txBody>
          <a:bodyPr wrap="square" rtlCol="0">
            <a:spAutoFit/>
          </a:bodyPr>
          <a:lstStyle/>
          <a:p>
            <a:r>
              <a:rPr lang="en-US" altLang="zh-CN" dirty="0" smtClean="0">
                <a:solidFill>
                  <a:schemeClr val="bg1"/>
                </a:solidFill>
              </a:rPr>
              <a:t>L1cache</a:t>
            </a:r>
          </a:p>
        </p:txBody>
      </p:sp>
      <p:sp>
        <p:nvSpPr>
          <p:cNvPr id="74" name="矩形 73"/>
          <p:cNvSpPr/>
          <p:nvPr/>
        </p:nvSpPr>
        <p:spPr>
          <a:xfrm>
            <a:off x="6677525" y="4884940"/>
            <a:ext cx="1818746" cy="5470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5" name="矩形 74"/>
          <p:cNvSpPr/>
          <p:nvPr/>
        </p:nvSpPr>
        <p:spPr>
          <a:xfrm>
            <a:off x="7692707" y="3824413"/>
            <a:ext cx="803563" cy="3367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6" name="文本框 75"/>
          <p:cNvSpPr txBox="1"/>
          <p:nvPr/>
        </p:nvSpPr>
        <p:spPr>
          <a:xfrm>
            <a:off x="7603980" y="3803000"/>
            <a:ext cx="1118414" cy="369332"/>
          </a:xfrm>
          <a:prstGeom prst="rect">
            <a:avLst/>
          </a:prstGeom>
          <a:noFill/>
        </p:spPr>
        <p:txBody>
          <a:bodyPr wrap="square" rtlCol="0">
            <a:spAutoFit/>
          </a:bodyPr>
          <a:lstStyle/>
          <a:p>
            <a:r>
              <a:rPr lang="en-US" altLang="zh-CN" dirty="0" smtClean="0">
                <a:solidFill>
                  <a:schemeClr val="bg1"/>
                </a:solidFill>
              </a:rPr>
              <a:t>L1cache</a:t>
            </a:r>
          </a:p>
        </p:txBody>
      </p:sp>
      <p:sp>
        <p:nvSpPr>
          <p:cNvPr id="77" name="矩形 76"/>
          <p:cNvSpPr/>
          <p:nvPr/>
        </p:nvSpPr>
        <p:spPr>
          <a:xfrm>
            <a:off x="6677933" y="4311571"/>
            <a:ext cx="803563" cy="3707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8" name="文本框 77"/>
          <p:cNvSpPr txBox="1"/>
          <p:nvPr/>
        </p:nvSpPr>
        <p:spPr>
          <a:xfrm>
            <a:off x="6604164" y="4288713"/>
            <a:ext cx="1118414" cy="369332"/>
          </a:xfrm>
          <a:prstGeom prst="rect">
            <a:avLst/>
          </a:prstGeom>
          <a:noFill/>
        </p:spPr>
        <p:txBody>
          <a:bodyPr wrap="square" rtlCol="0">
            <a:spAutoFit/>
          </a:bodyPr>
          <a:lstStyle/>
          <a:p>
            <a:r>
              <a:rPr lang="en-US" altLang="zh-CN" dirty="0" smtClean="0">
                <a:solidFill>
                  <a:schemeClr val="bg1"/>
                </a:solidFill>
              </a:rPr>
              <a:t>L2cache</a:t>
            </a:r>
          </a:p>
        </p:txBody>
      </p:sp>
      <p:sp>
        <p:nvSpPr>
          <p:cNvPr id="79" name="矩形 78"/>
          <p:cNvSpPr/>
          <p:nvPr/>
        </p:nvSpPr>
        <p:spPr>
          <a:xfrm>
            <a:off x="7692707" y="4348183"/>
            <a:ext cx="803563" cy="3367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0" name="文本框 79"/>
          <p:cNvSpPr txBox="1"/>
          <p:nvPr/>
        </p:nvSpPr>
        <p:spPr>
          <a:xfrm>
            <a:off x="7603980" y="4313016"/>
            <a:ext cx="1118414" cy="369332"/>
          </a:xfrm>
          <a:prstGeom prst="rect">
            <a:avLst/>
          </a:prstGeom>
          <a:noFill/>
        </p:spPr>
        <p:txBody>
          <a:bodyPr wrap="square" rtlCol="0">
            <a:spAutoFit/>
          </a:bodyPr>
          <a:lstStyle/>
          <a:p>
            <a:r>
              <a:rPr lang="en-US" altLang="zh-CN" dirty="0" smtClean="0">
                <a:solidFill>
                  <a:schemeClr val="bg1"/>
                </a:solidFill>
              </a:rPr>
              <a:t>L2cache</a:t>
            </a:r>
          </a:p>
        </p:txBody>
      </p:sp>
      <p:sp>
        <p:nvSpPr>
          <p:cNvPr id="81" name="文本框 80"/>
          <p:cNvSpPr txBox="1"/>
          <p:nvPr/>
        </p:nvSpPr>
        <p:spPr>
          <a:xfrm>
            <a:off x="7045829" y="4972488"/>
            <a:ext cx="994739" cy="369332"/>
          </a:xfrm>
          <a:prstGeom prst="rect">
            <a:avLst/>
          </a:prstGeom>
          <a:noFill/>
        </p:spPr>
        <p:txBody>
          <a:bodyPr wrap="square" rtlCol="0">
            <a:spAutoFit/>
          </a:bodyPr>
          <a:lstStyle/>
          <a:p>
            <a:r>
              <a:rPr lang="en-US" altLang="zh-CN" dirty="0" smtClean="0">
                <a:solidFill>
                  <a:schemeClr val="bg1"/>
                </a:solidFill>
              </a:rPr>
              <a:t>L3cache</a:t>
            </a:r>
          </a:p>
        </p:txBody>
      </p:sp>
      <p:sp>
        <p:nvSpPr>
          <p:cNvPr id="82" name="文本框 81"/>
          <p:cNvSpPr txBox="1"/>
          <p:nvPr/>
        </p:nvSpPr>
        <p:spPr>
          <a:xfrm>
            <a:off x="6730534" y="2683072"/>
            <a:ext cx="865673" cy="369332"/>
          </a:xfrm>
          <a:prstGeom prst="rect">
            <a:avLst/>
          </a:prstGeom>
          <a:noFill/>
        </p:spPr>
        <p:txBody>
          <a:bodyPr wrap="square" rtlCol="0">
            <a:spAutoFit/>
          </a:bodyPr>
          <a:lstStyle/>
          <a:p>
            <a:r>
              <a:rPr lang="en-US" altLang="zh-CN" dirty="0" smtClean="0"/>
              <a:t>Job4</a:t>
            </a:r>
            <a:endParaRPr lang="zh-CN" altLang="en-US" dirty="0"/>
          </a:p>
        </p:txBody>
      </p:sp>
      <p:sp>
        <p:nvSpPr>
          <p:cNvPr id="83" name="文本框 82"/>
          <p:cNvSpPr txBox="1"/>
          <p:nvPr/>
        </p:nvSpPr>
        <p:spPr>
          <a:xfrm>
            <a:off x="7730350" y="2668931"/>
            <a:ext cx="865673" cy="369332"/>
          </a:xfrm>
          <a:prstGeom prst="rect">
            <a:avLst/>
          </a:prstGeom>
          <a:noFill/>
        </p:spPr>
        <p:txBody>
          <a:bodyPr wrap="square" rtlCol="0">
            <a:spAutoFit/>
          </a:bodyPr>
          <a:lstStyle/>
          <a:p>
            <a:r>
              <a:rPr lang="en-US" altLang="zh-CN" dirty="0" smtClean="0"/>
              <a:t>Job4</a:t>
            </a:r>
            <a:endParaRPr lang="zh-CN" altLang="en-US" dirty="0"/>
          </a:p>
        </p:txBody>
      </p:sp>
    </p:spTree>
    <p:extLst>
      <p:ext uri="{BB962C8B-B14F-4D97-AF65-F5344CB8AC3E}">
        <p14:creationId xmlns:p14="http://schemas.microsoft.com/office/powerpoint/2010/main" val="411406536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Device placement</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2125892085"/>
              </p:ext>
            </p:extLst>
          </p:nvPr>
        </p:nvGraphicFramePr>
        <p:xfrm>
          <a:off x="114299" y="1473199"/>
          <a:ext cx="11925300" cy="4933073"/>
        </p:xfrm>
        <a:graphic>
          <a:graphicData uri="http://schemas.openxmlformats.org/drawingml/2006/table">
            <a:tbl>
              <a:tblPr firstRow="1" bandRow="1">
                <a:tableStyleId>{5C22544A-7EE6-4342-B048-85BDC9FD1C3A}</a:tableStyleId>
              </a:tblPr>
              <a:tblGrid>
                <a:gridCol w="3975100">
                  <a:extLst>
                    <a:ext uri="{9D8B030D-6E8A-4147-A177-3AD203B41FA5}">
                      <a16:colId xmlns:a16="http://schemas.microsoft.com/office/drawing/2014/main" val="2104862403"/>
                    </a:ext>
                  </a:extLst>
                </a:gridCol>
                <a:gridCol w="3975100">
                  <a:extLst>
                    <a:ext uri="{9D8B030D-6E8A-4147-A177-3AD203B41FA5}">
                      <a16:colId xmlns:a16="http://schemas.microsoft.com/office/drawing/2014/main" val="3631488225"/>
                    </a:ext>
                  </a:extLst>
                </a:gridCol>
                <a:gridCol w="3975100">
                  <a:extLst>
                    <a:ext uri="{9D8B030D-6E8A-4147-A177-3AD203B41FA5}">
                      <a16:colId xmlns:a16="http://schemas.microsoft.com/office/drawing/2014/main" val="1593399558"/>
                    </a:ext>
                  </a:extLst>
                </a:gridCol>
              </a:tblGrid>
              <a:tr h="543953">
                <a:tc>
                  <a:txBody>
                    <a:bodyPr/>
                    <a:lstStyle/>
                    <a:p>
                      <a:endParaRPr lang="zh-CN" altLang="en-US" dirty="0"/>
                    </a:p>
                  </a:txBody>
                  <a:tcPr/>
                </a:tc>
                <a:tc>
                  <a:txBody>
                    <a:bodyPr/>
                    <a:lstStyle/>
                    <a:p>
                      <a:r>
                        <a:rPr lang="en-US" altLang="zh-CN" dirty="0" smtClean="0"/>
                        <a:t>Key idea</a:t>
                      </a:r>
                      <a:endParaRPr lang="zh-CN" altLang="en-US" dirty="0"/>
                    </a:p>
                  </a:txBody>
                  <a:tcPr/>
                </a:tc>
                <a:tc>
                  <a:txBody>
                    <a:bodyPr/>
                    <a:lstStyle/>
                    <a:p>
                      <a:r>
                        <a:rPr lang="en-US" altLang="zh-CN" dirty="0" smtClean="0"/>
                        <a:t>weakness</a:t>
                      </a:r>
                      <a:endParaRPr lang="zh-CN" altLang="en-US" dirty="0"/>
                    </a:p>
                  </a:txBody>
                  <a:tcPr/>
                </a:tc>
                <a:extLst>
                  <a:ext uri="{0D108BD9-81ED-4DB2-BD59-A6C34878D82A}">
                    <a16:rowId xmlns:a16="http://schemas.microsoft.com/office/drawing/2014/main" val="3322635084"/>
                  </a:ext>
                </a:extLst>
              </a:tr>
              <a:tr h="810393">
                <a:tc>
                  <a:txBody>
                    <a:bodyPr/>
                    <a:lstStyle/>
                    <a:p>
                      <a:r>
                        <a:rPr lang="en-US" altLang="zh-CN" sz="1800" b="1" i="0" kern="1200" dirty="0" smtClean="0">
                          <a:solidFill>
                            <a:schemeClr val="dk1"/>
                          </a:solidFill>
                          <a:effectLst/>
                          <a:latin typeface="+mn-lt"/>
                          <a:ea typeface="+mn-ea"/>
                          <a:cs typeface="+mn-cs"/>
                        </a:rPr>
                        <a:t>Spotlight: Optimizing Device Placement for Training Deep Neural Networks 2018</a:t>
                      </a:r>
                      <a:endParaRPr lang="en-US" altLang="zh-CN" sz="1800" b="1" i="0" kern="1200" dirty="0">
                        <a:solidFill>
                          <a:schemeClr val="dk1"/>
                        </a:solidFill>
                        <a:effectLst/>
                        <a:latin typeface="+mn-lt"/>
                        <a:ea typeface="+mn-ea"/>
                        <a:cs typeface="+mn-cs"/>
                      </a:endParaRPr>
                    </a:p>
                  </a:txBody>
                  <a:tcPr/>
                </a:tc>
                <a:tc>
                  <a:txBody>
                    <a:bodyPr/>
                    <a:lstStyle/>
                    <a:p>
                      <a:r>
                        <a:rPr lang="en-US" altLang="zh-CN" sz="1800" b="0" i="0" kern="1200" dirty="0" smtClean="0">
                          <a:solidFill>
                            <a:schemeClr val="dk1"/>
                          </a:solidFill>
                          <a:effectLst/>
                          <a:latin typeface="+mn-lt"/>
                          <a:ea typeface="+mn-ea"/>
                          <a:cs typeface="+mn-cs"/>
                        </a:rPr>
                        <a:t>Base on PPO RL</a:t>
                      </a:r>
                      <a:endParaRPr lang="zh-CN" altLang="en-US" dirty="0"/>
                    </a:p>
                  </a:txBody>
                  <a:tcPr/>
                </a:tc>
                <a:tc>
                  <a:txBody>
                    <a:bodyPr/>
                    <a:lstStyle/>
                    <a:p>
                      <a:r>
                        <a:rPr lang="en-US" altLang="zh-CN" sz="1800" b="0" i="0" kern="1200" dirty="0" smtClean="0">
                          <a:solidFill>
                            <a:schemeClr val="dk1"/>
                          </a:solidFill>
                          <a:effectLst/>
                          <a:latin typeface="+mn-lt"/>
                          <a:ea typeface="+mn-ea"/>
                          <a:cs typeface="+mn-cs"/>
                        </a:rPr>
                        <a:t>Don’t take </a:t>
                      </a:r>
                      <a:r>
                        <a:rPr lang="en-US" altLang="zh-CN" sz="1800" b="0" i="0" kern="1200" dirty="0" err="1" smtClean="0">
                          <a:solidFill>
                            <a:schemeClr val="dk1"/>
                          </a:solidFill>
                          <a:effectLst/>
                          <a:latin typeface="+mn-lt"/>
                          <a:ea typeface="+mn-ea"/>
                          <a:cs typeface="+mn-cs"/>
                        </a:rPr>
                        <a:t>colocated</a:t>
                      </a:r>
                      <a:r>
                        <a:rPr lang="en-US" altLang="zh-CN" sz="1800" b="0" i="0" kern="1200" dirty="0" smtClean="0">
                          <a:solidFill>
                            <a:schemeClr val="dk1"/>
                          </a:solidFill>
                          <a:effectLst/>
                          <a:latin typeface="+mn-lt"/>
                          <a:ea typeface="+mn-ea"/>
                          <a:cs typeface="+mn-cs"/>
                        </a:rPr>
                        <a:t> multiple</a:t>
                      </a:r>
                      <a:r>
                        <a:rPr lang="en-US" altLang="zh-CN" sz="1800" b="0" i="0" kern="1200" baseline="0" dirty="0" smtClean="0">
                          <a:solidFill>
                            <a:schemeClr val="dk1"/>
                          </a:solidFill>
                          <a:effectLst/>
                          <a:latin typeface="+mn-lt"/>
                          <a:ea typeface="+mn-ea"/>
                          <a:cs typeface="+mn-cs"/>
                        </a:rPr>
                        <a:t> </a:t>
                      </a:r>
                      <a:r>
                        <a:rPr lang="en-US" altLang="zh-CN" sz="1800" b="0" i="0" kern="1200" dirty="0" smtClean="0">
                          <a:solidFill>
                            <a:schemeClr val="dk1"/>
                          </a:solidFill>
                          <a:effectLst/>
                          <a:latin typeface="+mn-lt"/>
                          <a:ea typeface="+mn-ea"/>
                          <a:cs typeface="+mn-cs"/>
                        </a:rPr>
                        <a:t>jobs into account.</a:t>
                      </a:r>
                      <a:endParaRPr lang="zh-CN" altLang="en-US" dirty="0"/>
                    </a:p>
                  </a:txBody>
                  <a:tcPr/>
                </a:tc>
                <a:extLst>
                  <a:ext uri="{0D108BD9-81ED-4DB2-BD59-A6C34878D82A}">
                    <a16:rowId xmlns:a16="http://schemas.microsoft.com/office/drawing/2014/main" val="4110064030"/>
                  </a:ext>
                </a:extLst>
              </a:tr>
              <a:tr h="129662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1" i="0" kern="1200" dirty="0" smtClean="0">
                          <a:solidFill>
                            <a:schemeClr val="dk1"/>
                          </a:solidFill>
                          <a:effectLst/>
                          <a:latin typeface="+mn-lt"/>
                          <a:ea typeface="+mn-ea"/>
                          <a:cs typeface="+mn-cs"/>
                        </a:rPr>
                        <a:t>Tiresias: A GPU Cluster Manager for Distributed Deep Learning </a:t>
                      </a:r>
                      <a:r>
                        <a:rPr lang="en-US" altLang="zh-CN" sz="1800" b="1" i="0" kern="1200" dirty="0" err="1" smtClean="0">
                          <a:solidFill>
                            <a:schemeClr val="dk1"/>
                          </a:solidFill>
                          <a:effectLst/>
                          <a:latin typeface="+mn-lt"/>
                          <a:ea typeface="+mn-ea"/>
                          <a:cs typeface="+mn-cs"/>
                        </a:rPr>
                        <a:t>nsdi</a:t>
                      </a:r>
                      <a:r>
                        <a:rPr lang="en-US" altLang="zh-CN" sz="1800" b="1" i="0" kern="1200" dirty="0" smtClean="0">
                          <a:solidFill>
                            <a:schemeClr val="dk1"/>
                          </a:solidFill>
                          <a:effectLst/>
                          <a:latin typeface="+mn-lt"/>
                          <a:ea typeface="+mn-ea"/>
                          <a:cs typeface="+mn-cs"/>
                        </a:rPr>
                        <a:t> 2019</a:t>
                      </a:r>
                    </a:p>
                  </a:txBody>
                  <a:tcPr/>
                </a:tc>
                <a:tc>
                  <a:txBody>
                    <a:bodyPr/>
                    <a:lstStyle/>
                    <a:p>
                      <a:r>
                        <a:rPr lang="en-US" altLang="zh-CN" dirty="0" smtClean="0"/>
                        <a:t>Improves</a:t>
                      </a:r>
                      <a:r>
                        <a:rPr lang="en-US" altLang="zh-CN" baseline="0" dirty="0" smtClean="0"/>
                        <a:t> “</a:t>
                      </a:r>
                      <a:r>
                        <a:rPr lang="en-US" altLang="zh-CN" dirty="0" err="1" smtClean="0"/>
                        <a:t>optimus</a:t>
                      </a:r>
                      <a:r>
                        <a:rPr lang="en-US" altLang="zh-CN" dirty="0" smtClean="0"/>
                        <a:t>”, Proposed the method of GPU resource configuration and placement</a:t>
                      </a:r>
                      <a:endParaRPr lang="zh-CN" altLang="en-US" dirty="0"/>
                    </a:p>
                  </a:txBody>
                  <a:tcPr/>
                </a:tc>
                <a:tc>
                  <a:txBody>
                    <a:bodyPr/>
                    <a:lstStyle/>
                    <a:p>
                      <a:r>
                        <a:rPr lang="zh-CN" altLang="en-US" dirty="0" smtClean="0"/>
                        <a:t> </a:t>
                      </a:r>
                      <a:r>
                        <a:rPr lang="en-US" altLang="zh-CN" dirty="0" smtClean="0"/>
                        <a:t>1.The scheduling mechanism and target policy are strongly coupled</a:t>
                      </a:r>
                      <a:r>
                        <a:rPr lang="en-US" altLang="zh-CN" baseline="0" dirty="0" smtClean="0"/>
                        <a:t> so that </a:t>
                      </a:r>
                      <a:r>
                        <a:rPr lang="en-US" altLang="zh-CN" dirty="0" smtClean="0"/>
                        <a:t>it is difficult to support other more complex strategies. </a:t>
                      </a:r>
                    </a:p>
                    <a:p>
                      <a:r>
                        <a:rPr lang="en-US" altLang="zh-CN" sz="1800" b="0" i="0" kern="1200" dirty="0" smtClean="0">
                          <a:solidFill>
                            <a:schemeClr val="dk1"/>
                          </a:solidFill>
                          <a:effectLst/>
                          <a:latin typeface="+mn-lt"/>
                          <a:ea typeface="+mn-ea"/>
                          <a:cs typeface="+mn-cs"/>
                        </a:rPr>
                        <a:t>2.users are required to submit the number of GPUs, which belongs to non-scale-adaptive scheduling.</a:t>
                      </a:r>
                    </a:p>
                    <a:p>
                      <a:r>
                        <a:rPr lang="en-US" altLang="zh-CN" sz="1800" b="0" i="0" kern="1200" dirty="0" smtClean="0">
                          <a:solidFill>
                            <a:schemeClr val="dk1"/>
                          </a:solidFill>
                          <a:effectLst/>
                          <a:latin typeface="+mn-lt"/>
                          <a:ea typeface="+mn-ea"/>
                          <a:cs typeface="+mn-cs"/>
                        </a:rPr>
                        <a:t> </a:t>
                      </a:r>
                      <a:endParaRPr lang="zh-CN" altLang="en-US" dirty="0"/>
                    </a:p>
                  </a:txBody>
                  <a:tcPr/>
                </a:tc>
                <a:extLst>
                  <a:ext uri="{0D108BD9-81ED-4DB2-BD59-A6C34878D82A}">
                    <a16:rowId xmlns:a16="http://schemas.microsoft.com/office/drawing/2014/main" val="76742609"/>
                  </a:ext>
                </a:extLst>
              </a:tr>
              <a:tr h="114691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1" i="0" kern="1200" dirty="0" smtClean="0">
                          <a:solidFill>
                            <a:schemeClr val="dk1"/>
                          </a:solidFill>
                          <a:effectLst/>
                          <a:latin typeface="+mn-lt"/>
                          <a:ea typeface="+mn-ea"/>
                          <a:cs typeface="+mn-cs"/>
                        </a:rPr>
                        <a:t>A HIERARCHICAL MODEL FOR DEVICE PLACEMENT 2018</a:t>
                      </a:r>
                      <a:endParaRPr lang="en-US" altLang="zh-CN" sz="1800" b="1" i="0" kern="1200" dirty="0" smtClean="0">
                        <a:solidFill>
                          <a:schemeClr val="dk1"/>
                        </a:solidFill>
                        <a:effectLst/>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smtClean="0">
                          <a:solidFill>
                            <a:srgbClr val="333333"/>
                          </a:solidFill>
                          <a:latin typeface="+mn-ea"/>
                          <a:cs typeface="Times New Roman" panose="02020603050405020304" pitchFamily="18" charset="0"/>
                        </a:rPr>
                        <a:t>Hierarchical</a:t>
                      </a:r>
                      <a:r>
                        <a:rPr lang="en-US" altLang="zh-CN" sz="1800" baseline="0" dirty="0" smtClean="0">
                          <a:solidFill>
                            <a:srgbClr val="333333"/>
                          </a:solidFill>
                          <a:latin typeface="+mn-ea"/>
                          <a:cs typeface="Times New Roman" panose="02020603050405020304" pitchFamily="18" charset="0"/>
                        </a:rPr>
                        <a:t> model, using FNN and </a:t>
                      </a:r>
                      <a:r>
                        <a:rPr lang="en-US" altLang="zh-CN" sz="1800" dirty="0" smtClean="0">
                          <a:solidFill>
                            <a:srgbClr val="333333"/>
                          </a:solidFill>
                          <a:latin typeface="+mn-ea"/>
                          <a:cs typeface="Times New Roman" panose="02020603050405020304" pitchFamily="18" charset="0"/>
                        </a:rPr>
                        <a:t>RNN, based on data flow</a:t>
                      </a:r>
                      <a:endParaRPr lang="en-US" altLang="zh-CN" dirty="0" smtClean="0">
                        <a:latin typeface="+mn-ea"/>
                        <a:cs typeface="Times New Roman" panose="02020603050405020304" pitchFamily="18" charset="0"/>
                      </a:endParaRPr>
                    </a:p>
                    <a:p>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smtClean="0">
                          <a:solidFill>
                            <a:srgbClr val="333333"/>
                          </a:solidFill>
                          <a:latin typeface="+mn-ea"/>
                          <a:cs typeface="Times New Roman" panose="02020603050405020304" pitchFamily="18" charset="0"/>
                        </a:rPr>
                        <a:t>not consider interference in a multiple-type job cluster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latin typeface="+mn-ea"/>
                        <a:cs typeface="Times New Roman" panose="02020603050405020304" pitchFamily="18" charset="0"/>
                      </a:endParaRPr>
                    </a:p>
                    <a:p>
                      <a:endParaRPr lang="zh-CN" altLang="en-US" dirty="0"/>
                    </a:p>
                  </a:txBody>
                  <a:tcPr/>
                </a:tc>
                <a:extLst>
                  <a:ext uri="{0D108BD9-81ED-4DB2-BD59-A6C34878D82A}">
                    <a16:rowId xmlns:a16="http://schemas.microsoft.com/office/drawing/2014/main" val="548818224"/>
                  </a:ext>
                </a:extLst>
              </a:tr>
            </a:tbl>
          </a:graphicData>
        </a:graphic>
      </p:graphicFrame>
    </p:spTree>
    <p:extLst>
      <p:ext uri="{BB962C8B-B14F-4D97-AF65-F5344CB8AC3E}">
        <p14:creationId xmlns:p14="http://schemas.microsoft.com/office/powerpoint/2010/main" val="3450648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87F7609B-44D8-4A6F-85A8-FC5A2D0C942D}"/>
              </a:ext>
            </a:extLst>
          </p:cNvPr>
          <p:cNvSpPr/>
          <p:nvPr/>
        </p:nvSpPr>
        <p:spPr>
          <a:xfrm>
            <a:off x="-83801" y="668559"/>
            <a:ext cx="4078285" cy="45719"/>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Object 7">
            <a:extLst>
              <a:ext uri="{FF2B5EF4-FFF2-40B4-BE49-F238E27FC236}">
                <a16:creationId xmlns:a16="http://schemas.microsoft.com/office/drawing/2014/main" id="{3B16B0E6-3436-4602-A78D-E714A9E644D9}"/>
              </a:ext>
            </a:extLst>
          </p:cNvPr>
          <p:cNvSpPr/>
          <p:nvPr/>
        </p:nvSpPr>
        <p:spPr>
          <a:xfrm>
            <a:off x="3201639" y="1580983"/>
            <a:ext cx="95988" cy="95988"/>
          </a:xfrm>
          <a:prstGeom prst="ellipse">
            <a:avLst/>
          </a:prstGeom>
          <a:solidFill>
            <a:schemeClr val="bg2">
              <a:lumMod val="25000"/>
            </a:schemeClr>
          </a:solidFill>
        </p:spPr>
      </p:sp>
      <p:sp>
        <p:nvSpPr>
          <p:cNvPr id="25" name="Object 8">
            <a:extLst>
              <a:ext uri="{FF2B5EF4-FFF2-40B4-BE49-F238E27FC236}">
                <a16:creationId xmlns:a16="http://schemas.microsoft.com/office/drawing/2014/main" id="{1C0A5B1B-A260-4A08-A540-67642623775F}"/>
              </a:ext>
            </a:extLst>
          </p:cNvPr>
          <p:cNvSpPr/>
          <p:nvPr/>
        </p:nvSpPr>
        <p:spPr>
          <a:xfrm>
            <a:off x="3508149" y="1468778"/>
            <a:ext cx="7883967" cy="263205"/>
          </a:xfrm>
          <a:prstGeom prst="rect">
            <a:avLst/>
          </a:prstGeom>
          <a:noFill/>
        </p:spPr>
        <p:txBody>
          <a:bodyPr wrap="square" lIns="0" tIns="0" rIns="0" bIns="0" rtlCol="0" anchor="t"/>
          <a:lstStyle/>
          <a:p>
            <a:pPr>
              <a:lnSpc>
                <a:spcPts val="2574"/>
              </a:lnSpc>
              <a:spcAft>
                <a:spcPts val="600"/>
              </a:spcAft>
            </a:pPr>
            <a:r>
              <a:rPr lang="en-US" sz="2100" dirty="0" smtClean="0">
                <a:solidFill>
                  <a:srgbClr val="333333"/>
                </a:solidFill>
                <a:latin typeface="+mn-ea"/>
                <a:cs typeface="Times New Roman" panose="02020603050405020304" pitchFamily="18" charset="0"/>
              </a:rPr>
              <a:t>not </a:t>
            </a:r>
            <a:r>
              <a:rPr lang="en-US" sz="2100" dirty="0">
                <a:solidFill>
                  <a:srgbClr val="333333"/>
                </a:solidFill>
                <a:latin typeface="+mn-ea"/>
                <a:cs typeface="Times New Roman" panose="02020603050405020304" pitchFamily="18" charset="0"/>
              </a:rPr>
              <a:t>consider interference in a multiple-type job cluster </a:t>
            </a:r>
            <a:endParaRPr lang="en-US" dirty="0">
              <a:latin typeface="+mn-ea"/>
              <a:cs typeface="Times New Roman" panose="02020603050405020304" pitchFamily="18" charset="0"/>
            </a:endParaRPr>
          </a:p>
        </p:txBody>
      </p:sp>
      <p:sp>
        <p:nvSpPr>
          <p:cNvPr id="26" name="Object 9">
            <a:extLst>
              <a:ext uri="{FF2B5EF4-FFF2-40B4-BE49-F238E27FC236}">
                <a16:creationId xmlns:a16="http://schemas.microsoft.com/office/drawing/2014/main" id="{C4AF654A-17E0-448B-8F76-51F4680DCE5E}"/>
              </a:ext>
            </a:extLst>
          </p:cNvPr>
          <p:cNvSpPr/>
          <p:nvPr/>
        </p:nvSpPr>
        <p:spPr>
          <a:xfrm>
            <a:off x="3508149" y="1868176"/>
            <a:ext cx="7883967" cy="187786"/>
          </a:xfrm>
          <a:prstGeom prst="rect">
            <a:avLst/>
          </a:prstGeom>
          <a:noFill/>
        </p:spPr>
        <p:txBody>
          <a:bodyPr wrap="square" lIns="0" tIns="0" rIns="0" bIns="0" rtlCol="0" anchor="t"/>
          <a:lstStyle/>
          <a:p>
            <a:pPr algn="l">
              <a:lnSpc>
                <a:spcPts val="1683"/>
              </a:lnSpc>
              <a:spcAft>
                <a:spcPts val="600"/>
              </a:spcAft>
              <a:buNone/>
            </a:pPr>
            <a:endParaRPr lang="en-US" sz="2000" dirty="0">
              <a:latin typeface="+mn-ea"/>
              <a:cs typeface="Times New Roman" panose="02020603050405020304" pitchFamily="18" charset="0"/>
            </a:endParaRPr>
          </a:p>
        </p:txBody>
      </p:sp>
      <p:sp>
        <p:nvSpPr>
          <p:cNvPr id="27" name="Object 10">
            <a:extLst>
              <a:ext uri="{FF2B5EF4-FFF2-40B4-BE49-F238E27FC236}">
                <a16:creationId xmlns:a16="http://schemas.microsoft.com/office/drawing/2014/main" id="{167ACD06-A667-4E80-A432-E97B1A40DFE0}"/>
              </a:ext>
            </a:extLst>
          </p:cNvPr>
          <p:cNvSpPr/>
          <p:nvPr/>
        </p:nvSpPr>
        <p:spPr>
          <a:xfrm>
            <a:off x="3220062" y="2163607"/>
            <a:ext cx="95988" cy="95988"/>
          </a:xfrm>
          <a:prstGeom prst="ellipse">
            <a:avLst/>
          </a:prstGeom>
          <a:solidFill>
            <a:schemeClr val="bg2">
              <a:lumMod val="25000"/>
            </a:schemeClr>
          </a:solidFill>
        </p:spPr>
      </p:sp>
      <p:sp>
        <p:nvSpPr>
          <p:cNvPr id="28" name="Object 11">
            <a:extLst>
              <a:ext uri="{FF2B5EF4-FFF2-40B4-BE49-F238E27FC236}">
                <a16:creationId xmlns:a16="http://schemas.microsoft.com/office/drawing/2014/main" id="{C23DC419-D5CF-4DF9-A720-D03979C3F313}"/>
              </a:ext>
            </a:extLst>
          </p:cNvPr>
          <p:cNvSpPr/>
          <p:nvPr/>
        </p:nvSpPr>
        <p:spPr>
          <a:xfrm>
            <a:off x="3508148" y="2037616"/>
            <a:ext cx="7883967" cy="263205"/>
          </a:xfrm>
          <a:prstGeom prst="rect">
            <a:avLst/>
          </a:prstGeom>
          <a:noFill/>
        </p:spPr>
        <p:txBody>
          <a:bodyPr wrap="square" lIns="0" tIns="0" rIns="0" bIns="0" rtlCol="0" anchor="t"/>
          <a:lstStyle/>
          <a:p>
            <a:pPr>
              <a:lnSpc>
                <a:spcPts val="2574"/>
              </a:lnSpc>
              <a:spcAft>
                <a:spcPts val="600"/>
              </a:spcAft>
            </a:pPr>
            <a:r>
              <a:rPr lang="en-US" sz="2100" dirty="0" smtClean="0">
                <a:solidFill>
                  <a:srgbClr val="333333"/>
                </a:solidFill>
                <a:latin typeface="+mn-ea"/>
                <a:cs typeface="Times New Roman" panose="02020603050405020304" pitchFamily="18" charset="0"/>
              </a:rPr>
              <a:t>only </a:t>
            </a:r>
            <a:r>
              <a:rPr lang="en-US" sz="2100" dirty="0">
                <a:solidFill>
                  <a:srgbClr val="333333"/>
                </a:solidFill>
                <a:latin typeface="+mn-ea"/>
                <a:cs typeface="Times New Roman" panose="02020603050405020304" pitchFamily="18" charset="0"/>
              </a:rPr>
              <a:t>optimize the training time for a target model (e.g., a TensorFlow graph</a:t>
            </a:r>
            <a:r>
              <a:rPr lang="en-US" sz="2100" dirty="0" smtClean="0">
                <a:solidFill>
                  <a:srgbClr val="333333"/>
                </a:solidFill>
                <a:latin typeface="+mn-ea"/>
                <a:cs typeface="Times New Roman" panose="02020603050405020304" pitchFamily="18" charset="0"/>
              </a:rPr>
              <a:t>)</a:t>
            </a:r>
            <a:endParaRPr lang="en-US" dirty="0">
              <a:latin typeface="+mn-ea"/>
              <a:cs typeface="Times New Roman" panose="02020603050405020304" pitchFamily="18" charset="0"/>
            </a:endParaRPr>
          </a:p>
        </p:txBody>
      </p:sp>
      <p:sp>
        <p:nvSpPr>
          <p:cNvPr id="29" name="Object 12">
            <a:extLst>
              <a:ext uri="{FF2B5EF4-FFF2-40B4-BE49-F238E27FC236}">
                <a16:creationId xmlns:a16="http://schemas.microsoft.com/office/drawing/2014/main" id="{E772384E-FC6D-448F-AA50-C28A32B601F8}"/>
              </a:ext>
            </a:extLst>
          </p:cNvPr>
          <p:cNvSpPr/>
          <p:nvPr/>
        </p:nvSpPr>
        <p:spPr>
          <a:xfrm>
            <a:off x="3201638" y="3119492"/>
            <a:ext cx="95988" cy="95988"/>
          </a:xfrm>
          <a:prstGeom prst="ellipse">
            <a:avLst/>
          </a:prstGeom>
          <a:solidFill>
            <a:schemeClr val="bg2">
              <a:lumMod val="25000"/>
            </a:schemeClr>
          </a:solidFill>
        </p:spPr>
      </p:sp>
      <p:sp>
        <p:nvSpPr>
          <p:cNvPr id="30" name="Object 13">
            <a:extLst>
              <a:ext uri="{FF2B5EF4-FFF2-40B4-BE49-F238E27FC236}">
                <a16:creationId xmlns:a16="http://schemas.microsoft.com/office/drawing/2014/main" id="{028C41EE-76C2-48CD-8AC3-7AD40013A8D2}"/>
              </a:ext>
            </a:extLst>
          </p:cNvPr>
          <p:cNvSpPr/>
          <p:nvPr/>
        </p:nvSpPr>
        <p:spPr>
          <a:xfrm>
            <a:off x="3508149" y="2963048"/>
            <a:ext cx="7883967" cy="263205"/>
          </a:xfrm>
          <a:prstGeom prst="rect">
            <a:avLst/>
          </a:prstGeom>
          <a:noFill/>
        </p:spPr>
        <p:txBody>
          <a:bodyPr wrap="square" lIns="0" tIns="0" rIns="0" bIns="0" rtlCol="0" anchor="t"/>
          <a:lstStyle/>
          <a:p>
            <a:pPr>
              <a:lnSpc>
                <a:spcPts val="2574"/>
              </a:lnSpc>
              <a:spcAft>
                <a:spcPts val="600"/>
              </a:spcAft>
            </a:pPr>
            <a:r>
              <a:rPr lang="en-US" sz="2000" dirty="0" smtClean="0">
                <a:latin typeface="+mn-ea"/>
                <a:cs typeface="Times New Roman" panose="02020603050405020304" pitchFamily="18" charset="0"/>
              </a:rPr>
              <a:t>If </a:t>
            </a:r>
            <a:r>
              <a:rPr lang="en-US" sz="2000" dirty="0">
                <a:latin typeface="+mn-ea"/>
                <a:cs typeface="Times New Roman" panose="02020603050405020304" pitchFamily="18" charset="0"/>
              </a:rPr>
              <a:t>we meet another model, we need to retrain this planner</a:t>
            </a:r>
          </a:p>
          <a:p>
            <a:pPr algn="l">
              <a:lnSpc>
                <a:spcPts val="2574"/>
              </a:lnSpc>
              <a:spcAft>
                <a:spcPts val="600"/>
              </a:spcAft>
              <a:buNone/>
            </a:pPr>
            <a:endParaRPr lang="en-US" sz="2000" dirty="0">
              <a:latin typeface="+mn-ea"/>
              <a:cs typeface="Times New Roman" panose="02020603050405020304" pitchFamily="18" charset="0"/>
            </a:endParaRPr>
          </a:p>
        </p:txBody>
      </p:sp>
      <p:sp>
        <p:nvSpPr>
          <p:cNvPr id="39" name="文本框 38">
            <a:extLst>
              <a:ext uri="{FF2B5EF4-FFF2-40B4-BE49-F238E27FC236}">
                <a16:creationId xmlns:a16="http://schemas.microsoft.com/office/drawing/2014/main" id="{F37F96A1-296E-49AE-A3E0-ED67D2B5358A}"/>
              </a:ext>
            </a:extLst>
          </p:cNvPr>
          <p:cNvSpPr txBox="1"/>
          <p:nvPr/>
        </p:nvSpPr>
        <p:spPr>
          <a:xfrm>
            <a:off x="1364605" y="963251"/>
            <a:ext cx="3142197" cy="446276"/>
          </a:xfrm>
          <a:prstGeom prst="rect">
            <a:avLst/>
          </a:prstGeom>
          <a:noFill/>
        </p:spPr>
        <p:txBody>
          <a:bodyPr vert="horz" wrap="square" rtlCol="0">
            <a:spAutoFit/>
          </a:bodyPr>
          <a:lstStyle>
            <a:defPPr>
              <a:defRPr lang="zh-CN"/>
            </a:defPPr>
            <a:lvl1pPr>
              <a:defRPr sz="2000">
                <a:solidFill>
                  <a:schemeClr val="bg1"/>
                </a:solidFill>
                <a:latin typeface="Verdana" panose="020B0604030504040204" pitchFamily="34" charset="0"/>
                <a:ea typeface="Verdana" panose="020B0604030504040204" pitchFamily="34" charset="0"/>
              </a:defRPr>
            </a:lvl1pPr>
          </a:lstStyle>
          <a:p>
            <a:pPr algn="r"/>
            <a:r>
              <a:rPr lang="en-US" altLang="zh-CN" sz="2300" b="1" dirty="0" smtClean="0">
                <a:solidFill>
                  <a:schemeClr val="tx1">
                    <a:lumMod val="75000"/>
                    <a:lumOff val="25000"/>
                  </a:schemeClr>
                </a:solidFill>
                <a:effectLst>
                  <a:outerShdw blurRad="38100" dist="38100" dir="2700000" algn="tl">
                    <a:srgbClr val="000000">
                      <a:alpha val="43137"/>
                    </a:srgbClr>
                  </a:outerShdw>
                </a:effectLst>
                <a:latin typeface="+mn-ea"/>
                <a:ea typeface="+mn-ea"/>
              </a:rPr>
              <a:t>Limitation</a:t>
            </a:r>
            <a:endParaRPr lang="en-US" altLang="zh-CN" sz="2300" b="1" dirty="0">
              <a:solidFill>
                <a:schemeClr val="tx1">
                  <a:lumMod val="75000"/>
                  <a:lumOff val="25000"/>
                </a:schemeClr>
              </a:solidFill>
              <a:effectLst>
                <a:outerShdw blurRad="38100" dist="38100" dir="2700000" algn="tl">
                  <a:srgbClr val="000000">
                    <a:alpha val="43137"/>
                  </a:srgbClr>
                </a:outerShdw>
              </a:effectLst>
              <a:latin typeface="+mn-ea"/>
              <a:ea typeface="+mn-ea"/>
            </a:endParaRPr>
          </a:p>
        </p:txBody>
      </p:sp>
      <p:sp>
        <p:nvSpPr>
          <p:cNvPr id="40" name="文本框 39">
            <a:extLst>
              <a:ext uri="{FF2B5EF4-FFF2-40B4-BE49-F238E27FC236}">
                <a16:creationId xmlns:a16="http://schemas.microsoft.com/office/drawing/2014/main" id="{E4B5C20D-4A12-483C-8756-87F0BD864146}"/>
              </a:ext>
            </a:extLst>
          </p:cNvPr>
          <p:cNvSpPr txBox="1"/>
          <p:nvPr/>
        </p:nvSpPr>
        <p:spPr>
          <a:xfrm>
            <a:off x="756035" y="249977"/>
            <a:ext cx="3142197" cy="800219"/>
          </a:xfrm>
          <a:prstGeom prst="rect">
            <a:avLst/>
          </a:prstGeom>
          <a:noFill/>
        </p:spPr>
        <p:txBody>
          <a:bodyPr vert="horz" wrap="square" rtlCol="0">
            <a:spAutoFit/>
          </a:bodyPr>
          <a:lstStyle>
            <a:defPPr>
              <a:defRPr lang="zh-CN"/>
            </a:defPPr>
            <a:lvl1pPr>
              <a:defRPr sz="2000">
                <a:solidFill>
                  <a:schemeClr val="bg1"/>
                </a:solidFill>
                <a:latin typeface="Verdana" panose="020B0604030504040204" pitchFamily="34" charset="0"/>
                <a:ea typeface="Verdana" panose="020B0604030504040204" pitchFamily="34" charset="0"/>
              </a:defRPr>
            </a:lvl1pPr>
          </a:lstStyle>
          <a:p>
            <a:pPr algn="r"/>
            <a:r>
              <a:rPr lang="en-US" altLang="zh-CN" sz="2300" b="1" dirty="0" smtClean="0">
                <a:solidFill>
                  <a:schemeClr val="tx1">
                    <a:lumMod val="75000"/>
                    <a:lumOff val="25000"/>
                  </a:schemeClr>
                </a:solidFill>
                <a:latin typeface="+mn-ea"/>
                <a:ea typeface="+mn-ea"/>
              </a:rPr>
              <a:t>DL Clusters </a:t>
            </a:r>
            <a:r>
              <a:rPr lang="en-US" altLang="zh-CN" sz="2300" b="1" dirty="0">
                <a:solidFill>
                  <a:schemeClr val="tx1">
                    <a:lumMod val="75000"/>
                    <a:lumOff val="25000"/>
                  </a:schemeClr>
                </a:solidFill>
                <a:latin typeface="+mn-ea"/>
                <a:ea typeface="+mn-ea"/>
              </a:rPr>
              <a:t>Scheduler</a:t>
            </a:r>
          </a:p>
          <a:p>
            <a:pPr algn="r"/>
            <a:endParaRPr lang="en-US" altLang="zh-CN" sz="2300" b="1" dirty="0">
              <a:solidFill>
                <a:schemeClr val="tx1">
                  <a:lumMod val="75000"/>
                  <a:lumOff val="25000"/>
                </a:schemeClr>
              </a:solidFill>
              <a:latin typeface="+mn-ea"/>
              <a:ea typeface="+mn-ea"/>
            </a:endParaRPr>
          </a:p>
        </p:txBody>
      </p:sp>
      <p:sp>
        <p:nvSpPr>
          <p:cNvPr id="7" name="下箭头 6"/>
          <p:cNvSpPr/>
          <p:nvPr/>
        </p:nvSpPr>
        <p:spPr>
          <a:xfrm>
            <a:off x="6489700" y="3543300"/>
            <a:ext cx="960433" cy="1371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Object 7">
            <a:extLst>
              <a:ext uri="{FF2B5EF4-FFF2-40B4-BE49-F238E27FC236}">
                <a16:creationId xmlns:a16="http://schemas.microsoft.com/office/drawing/2014/main" id="{3B16B0E6-3436-4602-A78D-E714A9E644D9}"/>
              </a:ext>
            </a:extLst>
          </p:cNvPr>
          <p:cNvSpPr/>
          <p:nvPr/>
        </p:nvSpPr>
        <p:spPr>
          <a:xfrm>
            <a:off x="3220063" y="4895502"/>
            <a:ext cx="95988" cy="95988"/>
          </a:xfrm>
          <a:prstGeom prst="ellipse">
            <a:avLst/>
          </a:prstGeom>
          <a:solidFill>
            <a:schemeClr val="bg2">
              <a:lumMod val="25000"/>
            </a:schemeClr>
          </a:solidFill>
        </p:spPr>
      </p:sp>
      <p:sp>
        <p:nvSpPr>
          <p:cNvPr id="42" name="Object 8">
            <a:extLst>
              <a:ext uri="{FF2B5EF4-FFF2-40B4-BE49-F238E27FC236}">
                <a16:creationId xmlns:a16="http://schemas.microsoft.com/office/drawing/2014/main" id="{1C0A5B1B-A260-4A08-A540-67642623775F}"/>
              </a:ext>
            </a:extLst>
          </p:cNvPr>
          <p:cNvSpPr/>
          <p:nvPr/>
        </p:nvSpPr>
        <p:spPr>
          <a:xfrm>
            <a:off x="3526573" y="4783297"/>
            <a:ext cx="7883967" cy="263205"/>
          </a:xfrm>
          <a:prstGeom prst="rect">
            <a:avLst/>
          </a:prstGeom>
          <a:noFill/>
        </p:spPr>
        <p:txBody>
          <a:bodyPr wrap="square" lIns="0" tIns="0" rIns="0" bIns="0" rtlCol="0" anchor="t"/>
          <a:lstStyle/>
          <a:p>
            <a:pPr>
              <a:lnSpc>
                <a:spcPts val="2574"/>
              </a:lnSpc>
              <a:spcAft>
                <a:spcPts val="600"/>
              </a:spcAft>
            </a:pPr>
            <a:r>
              <a:rPr lang="en-US" sz="2100" dirty="0" smtClean="0">
                <a:solidFill>
                  <a:srgbClr val="333333"/>
                </a:solidFill>
                <a:latin typeface="+mn-ea"/>
                <a:cs typeface="Times New Roman" panose="02020603050405020304" pitchFamily="18" charset="0"/>
              </a:rPr>
              <a:t>We use PS architecture </a:t>
            </a:r>
            <a:endParaRPr lang="en-US" dirty="0">
              <a:latin typeface="+mn-ea"/>
              <a:cs typeface="Times New Roman" panose="02020603050405020304" pitchFamily="18" charset="0"/>
            </a:endParaRPr>
          </a:p>
        </p:txBody>
      </p:sp>
      <p:sp>
        <p:nvSpPr>
          <p:cNvPr id="43" name="Object 9">
            <a:extLst>
              <a:ext uri="{FF2B5EF4-FFF2-40B4-BE49-F238E27FC236}">
                <a16:creationId xmlns:a16="http://schemas.microsoft.com/office/drawing/2014/main" id="{C4AF654A-17E0-448B-8F76-51F4680DCE5E}"/>
              </a:ext>
            </a:extLst>
          </p:cNvPr>
          <p:cNvSpPr/>
          <p:nvPr/>
        </p:nvSpPr>
        <p:spPr>
          <a:xfrm>
            <a:off x="3526573" y="5182695"/>
            <a:ext cx="7883967" cy="187786"/>
          </a:xfrm>
          <a:prstGeom prst="rect">
            <a:avLst/>
          </a:prstGeom>
          <a:noFill/>
        </p:spPr>
        <p:txBody>
          <a:bodyPr wrap="square" lIns="0" tIns="0" rIns="0" bIns="0" rtlCol="0" anchor="t"/>
          <a:lstStyle/>
          <a:p>
            <a:pPr algn="l">
              <a:lnSpc>
                <a:spcPts val="1683"/>
              </a:lnSpc>
              <a:spcAft>
                <a:spcPts val="600"/>
              </a:spcAft>
              <a:buNone/>
            </a:pPr>
            <a:endParaRPr lang="en-US" sz="2000" dirty="0">
              <a:latin typeface="+mn-ea"/>
              <a:cs typeface="Times New Roman" panose="02020603050405020304" pitchFamily="18" charset="0"/>
            </a:endParaRPr>
          </a:p>
        </p:txBody>
      </p:sp>
      <p:sp>
        <p:nvSpPr>
          <p:cNvPr id="44" name="Object 10">
            <a:extLst>
              <a:ext uri="{FF2B5EF4-FFF2-40B4-BE49-F238E27FC236}">
                <a16:creationId xmlns:a16="http://schemas.microsoft.com/office/drawing/2014/main" id="{167ACD06-A667-4E80-A432-E97B1A40DFE0}"/>
              </a:ext>
            </a:extLst>
          </p:cNvPr>
          <p:cNvSpPr/>
          <p:nvPr/>
        </p:nvSpPr>
        <p:spPr>
          <a:xfrm>
            <a:off x="3238486" y="5478126"/>
            <a:ext cx="95988" cy="95988"/>
          </a:xfrm>
          <a:prstGeom prst="ellipse">
            <a:avLst/>
          </a:prstGeom>
          <a:solidFill>
            <a:schemeClr val="bg2">
              <a:lumMod val="25000"/>
            </a:schemeClr>
          </a:solidFill>
        </p:spPr>
      </p:sp>
      <p:sp>
        <p:nvSpPr>
          <p:cNvPr id="45" name="Object 11">
            <a:extLst>
              <a:ext uri="{FF2B5EF4-FFF2-40B4-BE49-F238E27FC236}">
                <a16:creationId xmlns:a16="http://schemas.microsoft.com/office/drawing/2014/main" id="{C23DC419-D5CF-4DF9-A720-D03979C3F313}"/>
              </a:ext>
            </a:extLst>
          </p:cNvPr>
          <p:cNvSpPr/>
          <p:nvPr/>
        </p:nvSpPr>
        <p:spPr>
          <a:xfrm>
            <a:off x="3526572" y="5352135"/>
            <a:ext cx="8665428" cy="221979"/>
          </a:xfrm>
          <a:prstGeom prst="rect">
            <a:avLst/>
          </a:prstGeom>
          <a:noFill/>
        </p:spPr>
        <p:txBody>
          <a:bodyPr wrap="square" lIns="0" tIns="0" rIns="0" bIns="0" rtlCol="0" anchor="t"/>
          <a:lstStyle/>
          <a:p>
            <a:pPr>
              <a:lnSpc>
                <a:spcPts val="2574"/>
              </a:lnSpc>
              <a:spcAft>
                <a:spcPts val="600"/>
              </a:spcAft>
            </a:pPr>
            <a:r>
              <a:rPr lang="en-US" sz="2100" dirty="0" smtClean="0">
                <a:solidFill>
                  <a:srgbClr val="333333"/>
                </a:solidFill>
                <a:latin typeface="+mn-ea"/>
                <a:cs typeface="Times New Roman" panose="02020603050405020304" pitchFamily="18" charset="0"/>
              </a:rPr>
              <a:t>Using </a:t>
            </a:r>
            <a:r>
              <a:rPr lang="en-US" sz="2100" dirty="0">
                <a:solidFill>
                  <a:srgbClr val="333333"/>
                </a:solidFill>
                <a:latin typeface="+mn-ea"/>
                <a:cs typeface="Times New Roman" panose="02020603050405020304" pitchFamily="18" charset="0"/>
              </a:rPr>
              <a:t>one NN to produce both resource allocation and placement decisions is challenging, mainly because of the significantly larger action space. That is why we want to use hierarchical RL to schedule.</a:t>
            </a:r>
            <a:endParaRPr lang="en-US" dirty="0">
              <a:latin typeface="+mn-ea"/>
              <a:cs typeface="Times New Roman" panose="02020603050405020304" pitchFamily="18" charset="0"/>
            </a:endParaRPr>
          </a:p>
        </p:txBody>
      </p:sp>
    </p:spTree>
    <p:extLst>
      <p:ext uri="{BB962C8B-B14F-4D97-AF65-F5344CB8AC3E}">
        <p14:creationId xmlns:p14="http://schemas.microsoft.com/office/powerpoint/2010/main" val="113236382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圆角矩形 68"/>
          <p:cNvSpPr/>
          <p:nvPr/>
        </p:nvSpPr>
        <p:spPr>
          <a:xfrm>
            <a:off x="638931" y="1439333"/>
            <a:ext cx="4754537" cy="3468838"/>
          </a:xfrm>
          <a:prstGeom prst="roundRect">
            <a:avLst/>
          </a:prstGeom>
          <a:solidFill>
            <a:schemeClr val="bg1"/>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3298048" y="2640434"/>
            <a:ext cx="1280667" cy="74928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p:cNvSpPr txBox="1"/>
          <p:nvPr/>
        </p:nvSpPr>
        <p:spPr>
          <a:xfrm>
            <a:off x="705651" y="1644285"/>
            <a:ext cx="1219487" cy="369332"/>
          </a:xfrm>
          <a:prstGeom prst="rect">
            <a:avLst/>
          </a:prstGeom>
          <a:noFill/>
        </p:spPr>
        <p:txBody>
          <a:bodyPr wrap="square" rtlCol="0">
            <a:spAutoFit/>
          </a:bodyPr>
          <a:lstStyle/>
          <a:p>
            <a:r>
              <a:rPr lang="en-US" altLang="zh-CN" dirty="0" smtClean="0"/>
              <a:t>Job type</a:t>
            </a:r>
            <a:endParaRPr lang="zh-CN" altLang="en-US" dirty="0"/>
          </a:p>
        </p:txBody>
      </p:sp>
      <p:sp>
        <p:nvSpPr>
          <p:cNvPr id="7" name="文本框 6"/>
          <p:cNvSpPr txBox="1"/>
          <p:nvPr/>
        </p:nvSpPr>
        <p:spPr>
          <a:xfrm>
            <a:off x="638931" y="2967857"/>
            <a:ext cx="1773621" cy="369332"/>
          </a:xfrm>
          <a:prstGeom prst="rect">
            <a:avLst/>
          </a:prstGeom>
          <a:noFill/>
        </p:spPr>
        <p:txBody>
          <a:bodyPr wrap="square" rtlCol="0">
            <a:spAutoFit/>
          </a:bodyPr>
          <a:lstStyle/>
          <a:p>
            <a:r>
              <a:rPr lang="en-US" altLang="zh-CN" dirty="0" err="1" smtClean="0"/>
              <a:t>Remaing</a:t>
            </a:r>
            <a:r>
              <a:rPr lang="en-US" altLang="zh-CN" dirty="0" smtClean="0"/>
              <a:t> epoch</a:t>
            </a:r>
            <a:endParaRPr lang="zh-CN" altLang="en-US" dirty="0"/>
          </a:p>
        </p:txBody>
      </p:sp>
      <p:sp>
        <p:nvSpPr>
          <p:cNvPr id="13" name="文本框 12"/>
          <p:cNvSpPr txBox="1"/>
          <p:nvPr/>
        </p:nvSpPr>
        <p:spPr>
          <a:xfrm>
            <a:off x="705651" y="2279530"/>
            <a:ext cx="1219487" cy="369332"/>
          </a:xfrm>
          <a:prstGeom prst="rect">
            <a:avLst/>
          </a:prstGeom>
          <a:noFill/>
        </p:spPr>
        <p:txBody>
          <a:bodyPr wrap="square" rtlCol="0">
            <a:spAutoFit/>
          </a:bodyPr>
          <a:lstStyle/>
          <a:p>
            <a:r>
              <a:rPr lang="en-US" altLang="zh-CN" dirty="0" smtClean="0"/>
              <a:t>Run time</a:t>
            </a:r>
            <a:endParaRPr lang="zh-CN" altLang="en-US" dirty="0"/>
          </a:p>
        </p:txBody>
      </p:sp>
      <p:sp>
        <p:nvSpPr>
          <p:cNvPr id="14" name="文本框 13"/>
          <p:cNvSpPr txBox="1"/>
          <p:nvPr/>
        </p:nvSpPr>
        <p:spPr>
          <a:xfrm>
            <a:off x="572215" y="3560695"/>
            <a:ext cx="1907055" cy="369332"/>
          </a:xfrm>
          <a:prstGeom prst="rect">
            <a:avLst/>
          </a:prstGeom>
          <a:noFill/>
        </p:spPr>
        <p:txBody>
          <a:bodyPr wrap="square" rtlCol="0">
            <a:spAutoFit/>
          </a:bodyPr>
          <a:lstStyle/>
          <a:p>
            <a:r>
              <a:rPr lang="en-US" altLang="zh-CN" dirty="0" smtClean="0"/>
              <a:t>Domain resource</a:t>
            </a:r>
            <a:endParaRPr lang="zh-CN" altLang="en-US" dirty="0"/>
          </a:p>
        </p:txBody>
      </p:sp>
      <p:sp>
        <p:nvSpPr>
          <p:cNvPr id="15" name="文本框 14"/>
          <p:cNvSpPr txBox="1"/>
          <p:nvPr/>
        </p:nvSpPr>
        <p:spPr>
          <a:xfrm>
            <a:off x="705650" y="4147430"/>
            <a:ext cx="1773621" cy="369332"/>
          </a:xfrm>
          <a:prstGeom prst="rect">
            <a:avLst/>
          </a:prstGeom>
          <a:noFill/>
        </p:spPr>
        <p:txBody>
          <a:bodyPr wrap="square" rtlCol="0">
            <a:spAutoFit/>
          </a:bodyPr>
          <a:lstStyle/>
          <a:p>
            <a:r>
              <a:rPr lang="en-US" altLang="zh-CN" dirty="0" smtClean="0"/>
              <a:t>Job’s worker/PS</a:t>
            </a:r>
            <a:endParaRPr lang="zh-CN" altLang="en-US" dirty="0"/>
          </a:p>
        </p:txBody>
      </p:sp>
      <p:cxnSp>
        <p:nvCxnSpPr>
          <p:cNvPr id="18" name="直接箭头连接符 17"/>
          <p:cNvCxnSpPr>
            <a:stCxn id="6" idx="3"/>
            <a:endCxn id="28" idx="1"/>
          </p:cNvCxnSpPr>
          <p:nvPr/>
        </p:nvCxnSpPr>
        <p:spPr>
          <a:xfrm>
            <a:off x="1925138" y="1828951"/>
            <a:ext cx="1372910" cy="11861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13" idx="3"/>
            <a:endCxn id="28" idx="1"/>
          </p:cNvCxnSpPr>
          <p:nvPr/>
        </p:nvCxnSpPr>
        <p:spPr>
          <a:xfrm>
            <a:off x="1925138" y="2464196"/>
            <a:ext cx="1372910" cy="5508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7" idx="3"/>
            <a:endCxn id="28" idx="1"/>
          </p:cNvCxnSpPr>
          <p:nvPr/>
        </p:nvCxnSpPr>
        <p:spPr>
          <a:xfrm flipV="1">
            <a:off x="2412552" y="3015077"/>
            <a:ext cx="885496" cy="137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14" idx="3"/>
            <a:endCxn id="28" idx="1"/>
          </p:cNvCxnSpPr>
          <p:nvPr/>
        </p:nvCxnSpPr>
        <p:spPr>
          <a:xfrm flipV="1">
            <a:off x="2479270" y="3015077"/>
            <a:ext cx="818778" cy="7302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15" idx="3"/>
            <a:endCxn id="28" idx="1"/>
          </p:cNvCxnSpPr>
          <p:nvPr/>
        </p:nvCxnSpPr>
        <p:spPr>
          <a:xfrm flipV="1">
            <a:off x="2479271" y="3015077"/>
            <a:ext cx="818777" cy="13170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3421026" y="2808230"/>
            <a:ext cx="1157689" cy="369332"/>
          </a:xfrm>
          <a:prstGeom prst="rect">
            <a:avLst/>
          </a:prstGeom>
          <a:noFill/>
        </p:spPr>
        <p:txBody>
          <a:bodyPr wrap="none" rtlCol="0">
            <a:spAutoFit/>
          </a:bodyPr>
          <a:lstStyle/>
          <a:p>
            <a:r>
              <a:rPr lang="en-US" altLang="zh-CN" dirty="0" smtClean="0"/>
              <a:t>Policy NN</a:t>
            </a:r>
            <a:endParaRPr lang="zh-CN" altLang="en-US" dirty="0"/>
          </a:p>
        </p:txBody>
      </p:sp>
      <p:sp>
        <p:nvSpPr>
          <p:cNvPr id="70" name="圆角矩形 69"/>
          <p:cNvSpPr/>
          <p:nvPr/>
        </p:nvSpPr>
        <p:spPr>
          <a:xfrm>
            <a:off x="6034494" y="1384889"/>
            <a:ext cx="5537671" cy="3511296"/>
          </a:xfrm>
          <a:prstGeom prst="roundRect">
            <a:avLst/>
          </a:prstGeom>
          <a:solidFill>
            <a:schemeClr val="bg1"/>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箭头连接符 29"/>
          <p:cNvCxnSpPr>
            <a:stCxn id="28" idx="3"/>
            <a:endCxn id="73" idx="1"/>
          </p:cNvCxnSpPr>
          <p:nvPr/>
        </p:nvCxnSpPr>
        <p:spPr>
          <a:xfrm>
            <a:off x="4578715" y="3015077"/>
            <a:ext cx="14502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stCxn id="6" idx="3"/>
            <a:endCxn id="72" idx="1"/>
          </p:cNvCxnSpPr>
          <p:nvPr/>
        </p:nvCxnSpPr>
        <p:spPr>
          <a:xfrm>
            <a:off x="1925138" y="1828951"/>
            <a:ext cx="42188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4754108" y="2234764"/>
            <a:ext cx="1236694" cy="646331"/>
          </a:xfrm>
          <a:prstGeom prst="rect">
            <a:avLst/>
          </a:prstGeom>
          <a:noFill/>
        </p:spPr>
        <p:txBody>
          <a:bodyPr wrap="square" rtlCol="0">
            <a:spAutoFit/>
          </a:bodyPr>
          <a:lstStyle/>
          <a:p>
            <a:r>
              <a:rPr lang="en-US" altLang="zh-CN" dirty="0" smtClean="0"/>
              <a:t>Allocate worker/PS</a:t>
            </a:r>
            <a:endParaRPr lang="zh-CN" altLang="en-US" dirty="0"/>
          </a:p>
        </p:txBody>
      </p:sp>
      <p:sp>
        <p:nvSpPr>
          <p:cNvPr id="71" name="矩形 70"/>
          <p:cNvSpPr/>
          <p:nvPr/>
        </p:nvSpPr>
        <p:spPr>
          <a:xfrm>
            <a:off x="8070948" y="2559370"/>
            <a:ext cx="1416991" cy="74928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2" name="文本框 71"/>
          <p:cNvSpPr txBox="1"/>
          <p:nvPr/>
        </p:nvSpPr>
        <p:spPr>
          <a:xfrm>
            <a:off x="6143983" y="1644285"/>
            <a:ext cx="1071383" cy="369332"/>
          </a:xfrm>
          <a:prstGeom prst="rect">
            <a:avLst/>
          </a:prstGeom>
          <a:noFill/>
        </p:spPr>
        <p:txBody>
          <a:bodyPr wrap="square" rtlCol="0">
            <a:spAutoFit/>
          </a:bodyPr>
          <a:lstStyle/>
          <a:p>
            <a:r>
              <a:rPr lang="en-US" altLang="zh-CN" dirty="0" smtClean="0"/>
              <a:t>Job type</a:t>
            </a:r>
            <a:endParaRPr lang="zh-CN" altLang="en-US" dirty="0"/>
          </a:p>
        </p:txBody>
      </p:sp>
      <p:sp>
        <p:nvSpPr>
          <p:cNvPr id="73" name="文本框 72"/>
          <p:cNvSpPr txBox="1"/>
          <p:nvPr/>
        </p:nvSpPr>
        <p:spPr>
          <a:xfrm>
            <a:off x="6028953" y="2830411"/>
            <a:ext cx="1286207" cy="369332"/>
          </a:xfrm>
          <a:prstGeom prst="rect">
            <a:avLst/>
          </a:prstGeom>
          <a:noFill/>
        </p:spPr>
        <p:txBody>
          <a:bodyPr wrap="square" rtlCol="0">
            <a:spAutoFit/>
          </a:bodyPr>
          <a:lstStyle/>
          <a:p>
            <a:r>
              <a:rPr lang="en-US" altLang="zh-CN" dirty="0" smtClean="0"/>
              <a:t>Worker/PS</a:t>
            </a:r>
            <a:endParaRPr lang="zh-CN" altLang="en-US" dirty="0"/>
          </a:p>
        </p:txBody>
      </p:sp>
      <p:sp>
        <p:nvSpPr>
          <p:cNvPr id="74" name="文本框 73"/>
          <p:cNvSpPr txBox="1"/>
          <p:nvPr/>
        </p:nvSpPr>
        <p:spPr>
          <a:xfrm>
            <a:off x="6095673" y="2142084"/>
            <a:ext cx="1219487" cy="646331"/>
          </a:xfrm>
          <a:prstGeom prst="rect">
            <a:avLst/>
          </a:prstGeom>
          <a:noFill/>
        </p:spPr>
        <p:txBody>
          <a:bodyPr wrap="square" rtlCol="0">
            <a:spAutoFit/>
          </a:bodyPr>
          <a:lstStyle/>
          <a:p>
            <a:r>
              <a:rPr lang="en-US" altLang="zh-CN" dirty="0" smtClean="0"/>
              <a:t>Resource demand</a:t>
            </a:r>
            <a:endParaRPr lang="zh-CN" altLang="en-US" dirty="0"/>
          </a:p>
        </p:txBody>
      </p:sp>
      <p:sp>
        <p:nvSpPr>
          <p:cNvPr id="75" name="文本框 74"/>
          <p:cNvSpPr txBox="1"/>
          <p:nvPr/>
        </p:nvSpPr>
        <p:spPr>
          <a:xfrm>
            <a:off x="6129347" y="3308655"/>
            <a:ext cx="1185813" cy="646331"/>
          </a:xfrm>
          <a:prstGeom prst="rect">
            <a:avLst/>
          </a:prstGeom>
          <a:noFill/>
        </p:spPr>
        <p:txBody>
          <a:bodyPr wrap="square" rtlCol="0">
            <a:spAutoFit/>
          </a:bodyPr>
          <a:lstStyle/>
          <a:p>
            <a:r>
              <a:rPr lang="en-US" altLang="zh-CN" dirty="0" smtClean="0"/>
              <a:t>available resource</a:t>
            </a:r>
            <a:endParaRPr lang="zh-CN" altLang="en-US" dirty="0"/>
          </a:p>
        </p:txBody>
      </p:sp>
      <p:sp>
        <p:nvSpPr>
          <p:cNvPr id="76" name="文本框 75"/>
          <p:cNvSpPr txBox="1"/>
          <p:nvPr/>
        </p:nvSpPr>
        <p:spPr>
          <a:xfrm>
            <a:off x="6095673" y="4009984"/>
            <a:ext cx="1219488" cy="646331"/>
          </a:xfrm>
          <a:prstGeom prst="rect">
            <a:avLst/>
          </a:prstGeom>
          <a:noFill/>
        </p:spPr>
        <p:txBody>
          <a:bodyPr wrap="square" rtlCol="0">
            <a:spAutoFit/>
          </a:bodyPr>
          <a:lstStyle/>
          <a:p>
            <a:r>
              <a:rPr lang="en-US" altLang="zh-CN" dirty="0" smtClean="0"/>
              <a:t>Current placement</a:t>
            </a:r>
            <a:endParaRPr lang="zh-CN" altLang="en-US" dirty="0"/>
          </a:p>
        </p:txBody>
      </p:sp>
      <p:cxnSp>
        <p:nvCxnSpPr>
          <p:cNvPr id="77" name="直接箭头连接符 76"/>
          <p:cNvCxnSpPr>
            <a:stCxn id="72" idx="3"/>
            <a:endCxn id="71" idx="1"/>
          </p:cNvCxnSpPr>
          <p:nvPr/>
        </p:nvCxnSpPr>
        <p:spPr>
          <a:xfrm>
            <a:off x="7215366" y="1828951"/>
            <a:ext cx="855582" cy="1105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a:stCxn id="74" idx="3"/>
            <a:endCxn id="71" idx="1"/>
          </p:cNvCxnSpPr>
          <p:nvPr/>
        </p:nvCxnSpPr>
        <p:spPr>
          <a:xfrm>
            <a:off x="7315160" y="2465250"/>
            <a:ext cx="755788" cy="4687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直接箭头连接符 78"/>
          <p:cNvCxnSpPr>
            <a:stCxn id="73" idx="3"/>
            <a:endCxn id="71" idx="1"/>
          </p:cNvCxnSpPr>
          <p:nvPr/>
        </p:nvCxnSpPr>
        <p:spPr>
          <a:xfrm flipV="1">
            <a:off x="7315160" y="2934013"/>
            <a:ext cx="755788" cy="810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p:cNvCxnSpPr>
            <a:stCxn id="75" idx="3"/>
            <a:endCxn id="71" idx="1"/>
          </p:cNvCxnSpPr>
          <p:nvPr/>
        </p:nvCxnSpPr>
        <p:spPr>
          <a:xfrm flipV="1">
            <a:off x="7315160" y="2934013"/>
            <a:ext cx="755788" cy="6978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a:stCxn id="76" idx="3"/>
            <a:endCxn id="71" idx="1"/>
          </p:cNvCxnSpPr>
          <p:nvPr/>
        </p:nvCxnSpPr>
        <p:spPr>
          <a:xfrm flipV="1">
            <a:off x="7315161" y="2934013"/>
            <a:ext cx="755787" cy="13991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文本框 81"/>
          <p:cNvSpPr txBox="1"/>
          <p:nvPr/>
        </p:nvSpPr>
        <p:spPr>
          <a:xfrm>
            <a:off x="8200599" y="2749346"/>
            <a:ext cx="1157689" cy="369332"/>
          </a:xfrm>
          <a:prstGeom prst="rect">
            <a:avLst/>
          </a:prstGeom>
          <a:noFill/>
        </p:spPr>
        <p:txBody>
          <a:bodyPr wrap="none" rtlCol="0">
            <a:spAutoFit/>
          </a:bodyPr>
          <a:lstStyle/>
          <a:p>
            <a:r>
              <a:rPr lang="en-US" altLang="zh-CN" dirty="0" smtClean="0"/>
              <a:t>Policy NN</a:t>
            </a:r>
            <a:endParaRPr lang="zh-CN" altLang="en-US" dirty="0"/>
          </a:p>
        </p:txBody>
      </p:sp>
      <p:cxnSp>
        <p:nvCxnSpPr>
          <p:cNvPr id="83" name="直接箭头连接符 82"/>
          <p:cNvCxnSpPr>
            <a:stCxn id="71" idx="3"/>
          </p:cNvCxnSpPr>
          <p:nvPr/>
        </p:nvCxnSpPr>
        <p:spPr>
          <a:xfrm flipV="1">
            <a:off x="9487939" y="2922795"/>
            <a:ext cx="814987" cy="11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5" name="文本框 84"/>
          <p:cNvSpPr txBox="1"/>
          <p:nvPr/>
        </p:nvSpPr>
        <p:spPr>
          <a:xfrm>
            <a:off x="9518862" y="2548153"/>
            <a:ext cx="1220206" cy="369332"/>
          </a:xfrm>
          <a:prstGeom prst="rect">
            <a:avLst/>
          </a:prstGeom>
          <a:noFill/>
        </p:spPr>
        <p:txBody>
          <a:bodyPr wrap="none" rtlCol="0">
            <a:spAutoFit/>
          </a:bodyPr>
          <a:lstStyle/>
          <a:p>
            <a:r>
              <a:rPr lang="en-US" altLang="zh-CN" dirty="0" smtClean="0"/>
              <a:t>placement</a:t>
            </a:r>
            <a:endParaRPr lang="zh-CN" altLang="en-US" dirty="0"/>
          </a:p>
        </p:txBody>
      </p:sp>
      <p:sp>
        <p:nvSpPr>
          <p:cNvPr id="126" name="矩形 125"/>
          <p:cNvSpPr/>
          <p:nvPr/>
        </p:nvSpPr>
        <p:spPr>
          <a:xfrm>
            <a:off x="863629" y="1321120"/>
            <a:ext cx="1061509" cy="461665"/>
          </a:xfrm>
          <a:prstGeom prst="rect">
            <a:avLst/>
          </a:prstGeom>
          <a:noFill/>
        </p:spPr>
        <p:txBody>
          <a:bodyPr wrap="none" lIns="91440" tIns="45720" rIns="91440" bIns="45720">
            <a:spAutoFit/>
          </a:bodyPr>
          <a:lstStyle/>
          <a:p>
            <a:pPr algn="ctr"/>
            <a:r>
              <a:rPr lang="en-US" altLang="zh-CN" sz="2400" b="0" cap="none" spc="0" dirty="0" smtClean="0">
                <a:ln w="0"/>
                <a:solidFill>
                  <a:schemeClr val="tx1"/>
                </a:solidFill>
                <a:effectLst>
                  <a:outerShdw blurRad="38100" dist="19050" dir="2700000" algn="tl" rotWithShape="0">
                    <a:schemeClr val="dk1">
                      <a:alpha val="40000"/>
                    </a:schemeClr>
                  </a:outerShdw>
                </a:effectLst>
              </a:rPr>
              <a:t>State s</a:t>
            </a:r>
            <a:endParaRPr lang="zh-CN" altLang="en-US" sz="2400" b="0" cap="none" spc="0" dirty="0">
              <a:ln w="0"/>
              <a:solidFill>
                <a:schemeClr val="tx1"/>
              </a:solidFill>
              <a:effectLst>
                <a:outerShdw blurRad="38100" dist="19050" dir="2700000" algn="tl" rotWithShape="0">
                  <a:schemeClr val="dk1">
                    <a:alpha val="40000"/>
                  </a:schemeClr>
                </a:outerShdw>
              </a:effectLst>
            </a:endParaRPr>
          </a:p>
        </p:txBody>
      </p:sp>
      <p:sp>
        <p:nvSpPr>
          <p:cNvPr id="127" name="矩形 126"/>
          <p:cNvSpPr/>
          <p:nvPr/>
        </p:nvSpPr>
        <p:spPr>
          <a:xfrm>
            <a:off x="6263346" y="1339787"/>
            <a:ext cx="1061509" cy="461665"/>
          </a:xfrm>
          <a:prstGeom prst="rect">
            <a:avLst/>
          </a:prstGeom>
          <a:noFill/>
        </p:spPr>
        <p:txBody>
          <a:bodyPr wrap="none" lIns="91440" tIns="45720" rIns="91440" bIns="45720">
            <a:spAutoFit/>
          </a:bodyPr>
          <a:lstStyle/>
          <a:p>
            <a:pPr algn="ctr"/>
            <a:r>
              <a:rPr lang="en-US" altLang="zh-CN" sz="2400" b="0" cap="none" spc="0" dirty="0" smtClean="0">
                <a:ln w="0"/>
                <a:solidFill>
                  <a:schemeClr val="tx1"/>
                </a:solidFill>
                <a:effectLst>
                  <a:outerShdw blurRad="38100" dist="19050" dir="2700000" algn="tl" rotWithShape="0">
                    <a:schemeClr val="dk1">
                      <a:alpha val="40000"/>
                    </a:schemeClr>
                  </a:outerShdw>
                </a:effectLst>
              </a:rPr>
              <a:t>State s</a:t>
            </a:r>
            <a:endParaRPr lang="zh-CN" altLang="en-US" sz="2400" b="0" cap="none" spc="0" dirty="0">
              <a:ln w="0"/>
              <a:solidFill>
                <a:schemeClr val="tx1"/>
              </a:solidFill>
              <a:effectLst>
                <a:outerShdw blurRad="38100" dist="19050" dir="2700000" algn="tl" rotWithShape="0">
                  <a:schemeClr val="dk1">
                    <a:alpha val="40000"/>
                  </a:schemeClr>
                </a:outerShdw>
              </a:effectLst>
            </a:endParaRPr>
          </a:p>
        </p:txBody>
      </p:sp>
      <p:sp>
        <p:nvSpPr>
          <p:cNvPr id="128" name="文本框 127"/>
          <p:cNvSpPr txBox="1"/>
          <p:nvPr/>
        </p:nvSpPr>
        <p:spPr>
          <a:xfrm>
            <a:off x="36226" y="1384889"/>
            <a:ext cx="609744" cy="369332"/>
          </a:xfrm>
          <a:prstGeom prst="rect">
            <a:avLst/>
          </a:prstGeom>
          <a:noFill/>
        </p:spPr>
        <p:txBody>
          <a:bodyPr wrap="square" rtlCol="0">
            <a:spAutoFit/>
          </a:bodyPr>
          <a:lstStyle/>
          <a:p>
            <a:r>
              <a:rPr lang="en-US" altLang="zh-CN" dirty="0" err="1" smtClean="0"/>
              <a:t>api</a:t>
            </a:r>
            <a:endParaRPr lang="zh-CN" altLang="en-US" dirty="0"/>
          </a:p>
        </p:txBody>
      </p:sp>
      <p:cxnSp>
        <p:nvCxnSpPr>
          <p:cNvPr id="133" name="曲线连接符 132"/>
          <p:cNvCxnSpPr>
            <a:stCxn id="128" idx="2"/>
            <a:endCxn id="13" idx="1"/>
          </p:cNvCxnSpPr>
          <p:nvPr/>
        </p:nvCxnSpPr>
        <p:spPr>
          <a:xfrm rot="16200000" flipH="1">
            <a:off x="168387" y="1926931"/>
            <a:ext cx="709975" cy="36455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47" name="文本框 146"/>
          <p:cNvSpPr txBox="1"/>
          <p:nvPr/>
        </p:nvSpPr>
        <p:spPr>
          <a:xfrm>
            <a:off x="5071884" y="847970"/>
            <a:ext cx="1219487" cy="369332"/>
          </a:xfrm>
          <a:prstGeom prst="rect">
            <a:avLst/>
          </a:prstGeom>
          <a:noFill/>
        </p:spPr>
        <p:txBody>
          <a:bodyPr wrap="square" rtlCol="0">
            <a:spAutoFit/>
          </a:bodyPr>
          <a:lstStyle/>
          <a:p>
            <a:r>
              <a:rPr lang="en-US" altLang="zh-CN" dirty="0" smtClean="0"/>
              <a:t>Job owner</a:t>
            </a:r>
            <a:endParaRPr lang="zh-CN" altLang="en-US" dirty="0"/>
          </a:p>
        </p:txBody>
      </p:sp>
      <p:cxnSp>
        <p:nvCxnSpPr>
          <p:cNvPr id="148" name="曲线连接符 147"/>
          <p:cNvCxnSpPr>
            <a:stCxn id="147" idx="2"/>
            <a:endCxn id="74" idx="1"/>
          </p:cNvCxnSpPr>
          <p:nvPr/>
        </p:nvCxnSpPr>
        <p:spPr>
          <a:xfrm rot="16200000" flipH="1">
            <a:off x="5264676" y="1634253"/>
            <a:ext cx="1247948" cy="41404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49" name="文本框 148"/>
          <p:cNvSpPr txBox="1"/>
          <p:nvPr/>
        </p:nvSpPr>
        <p:spPr>
          <a:xfrm>
            <a:off x="5372455" y="5593994"/>
            <a:ext cx="618347" cy="369332"/>
          </a:xfrm>
          <a:prstGeom prst="rect">
            <a:avLst/>
          </a:prstGeom>
          <a:noFill/>
        </p:spPr>
        <p:txBody>
          <a:bodyPr wrap="square" rtlCol="0">
            <a:spAutoFit/>
          </a:bodyPr>
          <a:lstStyle/>
          <a:p>
            <a:r>
              <a:rPr lang="en-US" altLang="zh-CN" dirty="0" err="1" smtClean="0"/>
              <a:t>api</a:t>
            </a:r>
            <a:endParaRPr lang="zh-CN" altLang="en-US" dirty="0"/>
          </a:p>
        </p:txBody>
      </p:sp>
      <p:cxnSp>
        <p:nvCxnSpPr>
          <p:cNvPr id="151" name="曲线连接符 150"/>
          <p:cNvCxnSpPr>
            <a:stCxn id="149" idx="0"/>
            <a:endCxn id="75" idx="1"/>
          </p:cNvCxnSpPr>
          <p:nvPr/>
        </p:nvCxnSpPr>
        <p:spPr>
          <a:xfrm rot="5400000" flipH="1" flipV="1">
            <a:off x="4924402" y="4389049"/>
            <a:ext cx="1962173" cy="447718"/>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2" name="曲线连接符 161"/>
          <p:cNvCxnSpPr>
            <a:stCxn id="149" idx="0"/>
            <a:endCxn id="76" idx="1"/>
          </p:cNvCxnSpPr>
          <p:nvPr/>
        </p:nvCxnSpPr>
        <p:spPr>
          <a:xfrm rot="5400000" flipH="1" flipV="1">
            <a:off x="5258229" y="4756550"/>
            <a:ext cx="1260844" cy="414044"/>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9" name="曲线连接符 178"/>
          <p:cNvCxnSpPr>
            <a:stCxn id="128" idx="2"/>
            <a:endCxn id="15" idx="1"/>
          </p:cNvCxnSpPr>
          <p:nvPr/>
        </p:nvCxnSpPr>
        <p:spPr>
          <a:xfrm rot="16200000" flipH="1">
            <a:off x="-765563" y="2860882"/>
            <a:ext cx="2577875" cy="364552"/>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9721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87F7609B-44D8-4A6F-85A8-FC5A2D0C942D}"/>
              </a:ext>
            </a:extLst>
          </p:cNvPr>
          <p:cNvSpPr/>
          <p:nvPr/>
        </p:nvSpPr>
        <p:spPr>
          <a:xfrm>
            <a:off x="-83801" y="668559"/>
            <a:ext cx="2807855" cy="45719"/>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E4B5C20D-4A12-483C-8756-87F0BD864146}"/>
              </a:ext>
            </a:extLst>
          </p:cNvPr>
          <p:cNvSpPr txBox="1"/>
          <p:nvPr/>
        </p:nvSpPr>
        <p:spPr>
          <a:xfrm>
            <a:off x="756035" y="249977"/>
            <a:ext cx="1838709" cy="446276"/>
          </a:xfrm>
          <a:prstGeom prst="rect">
            <a:avLst/>
          </a:prstGeom>
          <a:noFill/>
        </p:spPr>
        <p:txBody>
          <a:bodyPr vert="horz" wrap="square" rtlCol="0">
            <a:spAutoFit/>
          </a:bodyPr>
          <a:lstStyle>
            <a:defPPr>
              <a:defRPr lang="zh-CN"/>
            </a:defPPr>
            <a:lvl1pPr>
              <a:defRPr sz="2000">
                <a:solidFill>
                  <a:schemeClr val="bg1"/>
                </a:solidFill>
                <a:latin typeface="Verdana" panose="020B0604030504040204" pitchFamily="34" charset="0"/>
                <a:ea typeface="Verdana" panose="020B0604030504040204" pitchFamily="34" charset="0"/>
              </a:defRPr>
            </a:lvl1pPr>
          </a:lstStyle>
          <a:p>
            <a:pPr algn="r"/>
            <a:r>
              <a:rPr lang="en-US" altLang="zh-CN" sz="2300" b="1" dirty="0">
                <a:solidFill>
                  <a:schemeClr val="tx1">
                    <a:lumMod val="75000"/>
                    <a:lumOff val="25000"/>
                  </a:schemeClr>
                </a:solidFill>
                <a:latin typeface="+mn-lt"/>
              </a:rPr>
              <a:t>Background</a:t>
            </a:r>
          </a:p>
        </p:txBody>
      </p:sp>
      <p:sp>
        <p:nvSpPr>
          <p:cNvPr id="14" name="Rectangle 2">
            <a:extLst>
              <a:ext uri="{FF2B5EF4-FFF2-40B4-BE49-F238E27FC236}">
                <a16:creationId xmlns:a16="http://schemas.microsoft.com/office/drawing/2014/main" id="{620F5066-ECE0-4D9D-AE2D-91CCA77E27B5}"/>
              </a:ext>
            </a:extLst>
          </p:cNvPr>
          <p:cNvSpPr>
            <a:spLocks noChangeArrowheads="1"/>
          </p:cNvSpPr>
          <p:nvPr/>
        </p:nvSpPr>
        <p:spPr bwMode="auto">
          <a:xfrm>
            <a:off x="2594743" y="3017267"/>
            <a:ext cx="37391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SzPct val="100000"/>
            </a:pPr>
            <a:r>
              <a:rPr lang="en-US" altLang="zh-CN" sz="2400" b="1" dirty="0">
                <a:solidFill>
                  <a:schemeClr val="tx1">
                    <a:lumMod val="75000"/>
                    <a:lumOff val="25000"/>
                  </a:schemeClr>
                </a:solidFill>
                <a:latin typeface="+mn-ea"/>
                <a:cs typeface="Times New Roman" panose="02020603050405020304" pitchFamily="18" charset="0"/>
              </a:rPr>
              <a:t>Transactional </a:t>
            </a:r>
            <a:r>
              <a:rPr lang="en-US" altLang="zh-CN" sz="2400" b="1" dirty="0" smtClean="0">
                <a:solidFill>
                  <a:schemeClr val="tx1">
                    <a:lumMod val="75000"/>
                    <a:lumOff val="25000"/>
                  </a:schemeClr>
                </a:solidFill>
                <a:latin typeface="+mn-ea"/>
                <a:cs typeface="Times New Roman" panose="02020603050405020304" pitchFamily="18" charset="0"/>
              </a:rPr>
              <a:t>Memory</a:t>
            </a:r>
            <a:endParaRPr lang="en-US" altLang="zh-CN" sz="2400" b="1" dirty="0">
              <a:solidFill>
                <a:schemeClr val="tx1">
                  <a:lumMod val="75000"/>
                  <a:lumOff val="25000"/>
                </a:schemeClr>
              </a:solidFill>
              <a:latin typeface="+mn-ea"/>
              <a:cs typeface="Times New Roman" panose="02020603050405020304" pitchFamily="18" charset="0"/>
            </a:endParaRPr>
          </a:p>
        </p:txBody>
      </p:sp>
      <p:sp>
        <p:nvSpPr>
          <p:cNvPr id="16" name="箭头: V 形 15">
            <a:extLst>
              <a:ext uri="{FF2B5EF4-FFF2-40B4-BE49-F238E27FC236}">
                <a16:creationId xmlns:a16="http://schemas.microsoft.com/office/drawing/2014/main" id="{AAA1CBB0-A8F6-45F1-BB63-88399FDD68DD}"/>
              </a:ext>
            </a:extLst>
          </p:cNvPr>
          <p:cNvSpPr/>
          <p:nvPr/>
        </p:nvSpPr>
        <p:spPr>
          <a:xfrm rot="5400000">
            <a:off x="1718765" y="3095039"/>
            <a:ext cx="710902" cy="302613"/>
          </a:xfrm>
          <a:prstGeom prst="chevr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85000"/>
                </a:schemeClr>
              </a:solidFill>
            </a:endParaRPr>
          </a:p>
        </p:txBody>
      </p:sp>
      <p:sp>
        <p:nvSpPr>
          <p:cNvPr id="17" name="箭头: V 形 16">
            <a:extLst>
              <a:ext uri="{FF2B5EF4-FFF2-40B4-BE49-F238E27FC236}">
                <a16:creationId xmlns:a16="http://schemas.microsoft.com/office/drawing/2014/main" id="{335C05C4-3643-4444-9C43-5CB6C4CC75FE}"/>
              </a:ext>
            </a:extLst>
          </p:cNvPr>
          <p:cNvSpPr/>
          <p:nvPr/>
        </p:nvSpPr>
        <p:spPr>
          <a:xfrm rot="5400000">
            <a:off x="1718765" y="4124004"/>
            <a:ext cx="710902" cy="302613"/>
          </a:xfrm>
          <a:prstGeom prst="chevron">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85000"/>
                </a:schemeClr>
              </a:solidFill>
            </a:endParaRPr>
          </a:p>
        </p:txBody>
      </p:sp>
      <p:sp>
        <p:nvSpPr>
          <p:cNvPr id="21" name="Rectangle 2">
            <a:extLst>
              <a:ext uri="{FF2B5EF4-FFF2-40B4-BE49-F238E27FC236}">
                <a16:creationId xmlns:a16="http://schemas.microsoft.com/office/drawing/2014/main" id="{7AA38F08-F58F-4917-AF22-25E544208D86}"/>
              </a:ext>
            </a:extLst>
          </p:cNvPr>
          <p:cNvSpPr>
            <a:spLocks noChangeArrowheads="1"/>
          </p:cNvSpPr>
          <p:nvPr/>
        </p:nvSpPr>
        <p:spPr bwMode="auto">
          <a:xfrm>
            <a:off x="2594744" y="4025713"/>
            <a:ext cx="2377488" cy="502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ts val="3217"/>
              </a:lnSpc>
              <a:spcAft>
                <a:spcPts val="600"/>
              </a:spcAft>
            </a:pPr>
            <a:r>
              <a:rPr lang="en-US" altLang="zh-CN" sz="2400" b="1" dirty="0" smtClean="0">
                <a:solidFill>
                  <a:schemeClr val="tx1">
                    <a:lumMod val="75000"/>
                    <a:lumOff val="25000"/>
                  </a:schemeClr>
                </a:solidFill>
                <a:latin typeface="+mn-ea"/>
                <a:cs typeface="Times New Roman" panose="02020603050405020304" pitchFamily="18" charset="0"/>
              </a:rPr>
              <a:t>Class Project</a:t>
            </a:r>
            <a:endParaRPr lang="en-US" altLang="zh-CN" sz="2400" b="1" dirty="0">
              <a:solidFill>
                <a:schemeClr val="tx1">
                  <a:lumMod val="75000"/>
                  <a:lumOff val="25000"/>
                </a:schemeClr>
              </a:solidFill>
              <a:latin typeface="+mn-ea"/>
              <a:cs typeface="Times New Roman" panose="02020603050405020304" pitchFamily="18" charset="0"/>
            </a:endParaRPr>
          </a:p>
        </p:txBody>
      </p:sp>
    </p:spTree>
    <p:extLst>
      <p:ext uri="{BB962C8B-B14F-4D97-AF65-F5344CB8AC3E}">
        <p14:creationId xmlns:p14="http://schemas.microsoft.com/office/powerpoint/2010/main" val="258223426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87F7609B-44D8-4A6F-85A8-FC5A2D0C942D}"/>
              </a:ext>
            </a:extLst>
          </p:cNvPr>
          <p:cNvSpPr/>
          <p:nvPr/>
        </p:nvSpPr>
        <p:spPr>
          <a:xfrm>
            <a:off x="-83801" y="668559"/>
            <a:ext cx="4078285" cy="45719"/>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E4B5C20D-4A12-483C-8756-87F0BD864146}"/>
              </a:ext>
            </a:extLst>
          </p:cNvPr>
          <p:cNvSpPr txBox="1"/>
          <p:nvPr/>
        </p:nvSpPr>
        <p:spPr>
          <a:xfrm>
            <a:off x="756035" y="249977"/>
            <a:ext cx="3142197" cy="446276"/>
          </a:xfrm>
          <a:prstGeom prst="rect">
            <a:avLst/>
          </a:prstGeom>
          <a:noFill/>
        </p:spPr>
        <p:txBody>
          <a:bodyPr vert="horz" wrap="square" rtlCol="0">
            <a:spAutoFit/>
          </a:bodyPr>
          <a:lstStyle>
            <a:defPPr>
              <a:defRPr lang="zh-CN"/>
            </a:defPPr>
            <a:lvl1pPr>
              <a:defRPr sz="2000">
                <a:solidFill>
                  <a:schemeClr val="bg1"/>
                </a:solidFill>
                <a:latin typeface="Verdana" panose="020B0604030504040204" pitchFamily="34" charset="0"/>
                <a:ea typeface="Verdana" panose="020B0604030504040204" pitchFamily="34" charset="0"/>
              </a:defRPr>
            </a:lvl1pPr>
          </a:lstStyle>
          <a:p>
            <a:pPr algn="r"/>
            <a:r>
              <a:rPr lang="en-US" altLang="zh-CN" sz="2300" b="1" dirty="0">
                <a:solidFill>
                  <a:schemeClr val="tx1">
                    <a:lumMod val="75000"/>
                    <a:lumOff val="25000"/>
                  </a:schemeClr>
                </a:solidFill>
                <a:latin typeface="+mn-ea"/>
                <a:ea typeface="+mn-ea"/>
              </a:rPr>
              <a:t>Transactional Memory</a:t>
            </a:r>
          </a:p>
        </p:txBody>
      </p:sp>
      <p:sp>
        <p:nvSpPr>
          <p:cNvPr id="13" name="Object 4">
            <a:extLst>
              <a:ext uri="{FF2B5EF4-FFF2-40B4-BE49-F238E27FC236}">
                <a16:creationId xmlns:a16="http://schemas.microsoft.com/office/drawing/2014/main" id="{6AD93DFA-F93D-4C24-B2AA-23D06276874A}"/>
              </a:ext>
            </a:extLst>
          </p:cNvPr>
          <p:cNvSpPr/>
          <p:nvPr/>
        </p:nvSpPr>
        <p:spPr>
          <a:xfrm>
            <a:off x="3651292" y="4175238"/>
            <a:ext cx="8007308" cy="1877044"/>
          </a:xfrm>
          <a:prstGeom prst="rect">
            <a:avLst/>
          </a:prstGeom>
          <a:noFill/>
        </p:spPr>
        <p:txBody>
          <a:bodyPr wrap="square" lIns="0" tIns="0" rIns="0" bIns="0" rtlCol="0" anchor="t"/>
          <a:lstStyle/>
          <a:p>
            <a:pPr lvl="0">
              <a:lnSpc>
                <a:spcPts val="2574"/>
              </a:lnSpc>
              <a:spcAft>
                <a:spcPts val="600"/>
              </a:spcAft>
            </a:pPr>
            <a:r>
              <a:rPr lang="en-US" altLang="zh-CN" sz="2400" dirty="0"/>
              <a:t>We use transaction memory to </a:t>
            </a:r>
            <a:r>
              <a:rPr lang="en-US" altLang="zh-CN" sz="2400" dirty="0" smtClean="0"/>
              <a:t>improve </a:t>
            </a:r>
            <a:r>
              <a:rPr lang="en-US" altLang="zh-CN" sz="2400" dirty="0"/>
              <a:t>the performance </a:t>
            </a:r>
            <a:r>
              <a:rPr lang="en-US" altLang="zh-CN" sz="2400" dirty="0" smtClean="0"/>
              <a:t>of parallel </a:t>
            </a:r>
            <a:r>
              <a:rPr lang="en-US" altLang="zh-CN" sz="2400" dirty="0"/>
              <a:t>programs, and ensure the efficiency </a:t>
            </a:r>
            <a:r>
              <a:rPr lang="en-US" altLang="zh-CN" sz="2400" dirty="0" smtClean="0"/>
              <a:t>of programming.</a:t>
            </a:r>
            <a:endParaRPr lang="en-US" sz="2400" dirty="0"/>
          </a:p>
        </p:txBody>
      </p:sp>
      <p:sp>
        <p:nvSpPr>
          <p:cNvPr id="37" name="文本框 36">
            <a:extLst>
              <a:ext uri="{FF2B5EF4-FFF2-40B4-BE49-F238E27FC236}">
                <a16:creationId xmlns:a16="http://schemas.microsoft.com/office/drawing/2014/main" id="{F2780D51-B0AF-4922-85EE-8A372E9AC621}"/>
              </a:ext>
            </a:extLst>
          </p:cNvPr>
          <p:cNvSpPr txBox="1"/>
          <p:nvPr/>
        </p:nvSpPr>
        <p:spPr>
          <a:xfrm>
            <a:off x="904637" y="1506236"/>
            <a:ext cx="2274907" cy="861774"/>
          </a:xfrm>
          <a:prstGeom prst="rect">
            <a:avLst/>
          </a:prstGeom>
          <a:noFill/>
        </p:spPr>
        <p:txBody>
          <a:bodyPr wrap="square" rtlCol="0">
            <a:spAutoFit/>
          </a:bodyPr>
          <a:lstStyle/>
          <a:p>
            <a:pPr algn="ctr"/>
            <a:r>
              <a:rPr lang="en-US" altLang="zh-CN" sz="2500" b="1" dirty="0">
                <a:solidFill>
                  <a:srgbClr val="C00000"/>
                </a:solidFill>
                <a:effectLst>
                  <a:outerShdw blurRad="38100" dist="38100" dir="2700000" algn="tl">
                    <a:srgbClr val="000000">
                      <a:alpha val="43137"/>
                    </a:srgbClr>
                  </a:outerShdw>
                </a:effectLst>
                <a:latin typeface="+mn-ea"/>
                <a:cs typeface="Times New Roman" panose="02020603050405020304" pitchFamily="18" charset="0"/>
              </a:rPr>
              <a:t>Parallel Programming</a:t>
            </a:r>
            <a:endParaRPr kumimoji="1" lang="zh-CN" altLang="en-US" sz="2500" b="1" dirty="0">
              <a:solidFill>
                <a:srgbClr val="C00000"/>
              </a:solidFill>
              <a:effectLst>
                <a:outerShdw blurRad="38100" dist="38100" dir="2700000" algn="tl">
                  <a:srgbClr val="000000">
                    <a:alpha val="43137"/>
                  </a:srgbClr>
                </a:outerShdw>
              </a:effectLst>
              <a:latin typeface="+mn-ea"/>
            </a:endParaRPr>
          </a:p>
        </p:txBody>
      </p:sp>
      <p:sp>
        <p:nvSpPr>
          <p:cNvPr id="8" name="Object 4">
            <a:extLst>
              <a:ext uri="{FF2B5EF4-FFF2-40B4-BE49-F238E27FC236}">
                <a16:creationId xmlns:a16="http://schemas.microsoft.com/office/drawing/2014/main" id="{6AD93DFA-F93D-4C24-B2AA-23D06276874A}"/>
              </a:ext>
            </a:extLst>
          </p:cNvPr>
          <p:cNvSpPr/>
          <p:nvPr/>
        </p:nvSpPr>
        <p:spPr>
          <a:xfrm>
            <a:off x="3651292" y="1506235"/>
            <a:ext cx="8403548" cy="2236031"/>
          </a:xfrm>
          <a:prstGeom prst="rect">
            <a:avLst/>
          </a:prstGeom>
          <a:noFill/>
        </p:spPr>
        <p:txBody>
          <a:bodyPr wrap="square" lIns="0" tIns="0" rIns="0" bIns="0" rtlCol="0" anchor="t"/>
          <a:lstStyle/>
          <a:p>
            <a:pPr>
              <a:lnSpc>
                <a:spcPts val="2574"/>
              </a:lnSpc>
              <a:spcAft>
                <a:spcPts val="600"/>
              </a:spcAft>
            </a:pPr>
            <a:r>
              <a:rPr lang="en-US" altLang="zh-CN" sz="2400" dirty="0"/>
              <a:t>Between concurrent tasks, writing the same variable requires a synchronization mechanism to ensure its coherence.  Some parallel programs use the lock or the semaphore mechanisms. But these mechanisms make parallel programs difficult to design, debug, and generally perform poorly. </a:t>
            </a:r>
            <a:endParaRPr lang="en-US" dirty="0">
              <a:latin typeface="+mn-ea"/>
              <a:cs typeface="Times New Roman" panose="02020603050405020304" pitchFamily="18" charset="0"/>
            </a:endParaRPr>
          </a:p>
        </p:txBody>
      </p:sp>
    </p:spTree>
    <p:extLst>
      <p:ext uri="{BB962C8B-B14F-4D97-AF65-F5344CB8AC3E}">
        <p14:creationId xmlns:p14="http://schemas.microsoft.com/office/powerpoint/2010/main" val="34633176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a:extLst>
              <a:ext uri="{FF2B5EF4-FFF2-40B4-BE49-F238E27FC236}">
                <a16:creationId xmlns:a16="http://schemas.microsoft.com/office/drawing/2014/main" id="{794ACEAF-B02E-4970-9F0B-E8539FFDB6C4}"/>
              </a:ext>
            </a:extLst>
          </p:cNvPr>
          <p:cNvSpPr/>
          <p:nvPr/>
        </p:nvSpPr>
        <p:spPr>
          <a:xfrm>
            <a:off x="3579368" y="2492441"/>
            <a:ext cx="7883967" cy="2186422"/>
          </a:xfrm>
          <a:prstGeom prst="rect">
            <a:avLst/>
          </a:prstGeom>
          <a:solidFill>
            <a:srgbClr val="A90B07">
              <a:alpha val="2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87F7609B-44D8-4A6F-85A8-FC5A2D0C942D}"/>
              </a:ext>
            </a:extLst>
          </p:cNvPr>
          <p:cNvSpPr/>
          <p:nvPr/>
        </p:nvSpPr>
        <p:spPr>
          <a:xfrm>
            <a:off x="-83801" y="668559"/>
            <a:ext cx="4078285" cy="45719"/>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E4B5C20D-4A12-483C-8756-87F0BD864146}"/>
              </a:ext>
            </a:extLst>
          </p:cNvPr>
          <p:cNvSpPr txBox="1"/>
          <p:nvPr/>
        </p:nvSpPr>
        <p:spPr>
          <a:xfrm>
            <a:off x="756035" y="249977"/>
            <a:ext cx="3142197" cy="446276"/>
          </a:xfrm>
          <a:prstGeom prst="rect">
            <a:avLst/>
          </a:prstGeom>
          <a:noFill/>
        </p:spPr>
        <p:txBody>
          <a:bodyPr vert="horz" wrap="square" rtlCol="0">
            <a:spAutoFit/>
          </a:bodyPr>
          <a:lstStyle>
            <a:defPPr>
              <a:defRPr lang="zh-CN"/>
            </a:defPPr>
            <a:lvl1pPr>
              <a:defRPr sz="2000">
                <a:solidFill>
                  <a:schemeClr val="bg1"/>
                </a:solidFill>
                <a:latin typeface="Verdana" panose="020B0604030504040204" pitchFamily="34" charset="0"/>
                <a:ea typeface="Verdana" panose="020B0604030504040204" pitchFamily="34" charset="0"/>
              </a:defRPr>
            </a:lvl1pPr>
          </a:lstStyle>
          <a:p>
            <a:pPr algn="r"/>
            <a:r>
              <a:rPr lang="en-US" altLang="zh-CN" sz="2300" b="1" dirty="0">
                <a:solidFill>
                  <a:schemeClr val="tx1">
                    <a:lumMod val="75000"/>
                    <a:lumOff val="25000"/>
                  </a:schemeClr>
                </a:solidFill>
                <a:latin typeface="+mn-ea"/>
                <a:ea typeface="+mn-ea"/>
              </a:rPr>
              <a:t>Transactional Memory</a:t>
            </a:r>
          </a:p>
        </p:txBody>
      </p:sp>
      <p:sp>
        <p:nvSpPr>
          <p:cNvPr id="11" name="文本框 10">
            <a:extLst>
              <a:ext uri="{FF2B5EF4-FFF2-40B4-BE49-F238E27FC236}">
                <a16:creationId xmlns:a16="http://schemas.microsoft.com/office/drawing/2014/main" id="{65D12867-8858-49EA-ABD5-45997A39490D}"/>
              </a:ext>
            </a:extLst>
          </p:cNvPr>
          <p:cNvSpPr txBox="1"/>
          <p:nvPr/>
        </p:nvSpPr>
        <p:spPr>
          <a:xfrm>
            <a:off x="1057959" y="1315422"/>
            <a:ext cx="6392174" cy="400110"/>
          </a:xfrm>
          <a:prstGeom prst="rect">
            <a:avLst/>
          </a:prstGeom>
          <a:noFill/>
        </p:spPr>
        <p:txBody>
          <a:bodyPr wrap="square" rtlCol="0">
            <a:spAutoFit/>
          </a:bodyPr>
          <a:lstStyle/>
          <a:p>
            <a:r>
              <a:rPr lang="en-US" altLang="zh-CN" sz="2000" dirty="0">
                <a:solidFill>
                  <a:schemeClr val="bg1"/>
                </a:solidFill>
                <a:latin typeface="+mn-ea"/>
              </a:rPr>
              <a:t>TM</a:t>
            </a:r>
            <a:r>
              <a:rPr lang="zh-CN" altLang="en-US" sz="2000" dirty="0">
                <a:solidFill>
                  <a:schemeClr val="bg1"/>
                </a:solidFill>
                <a:latin typeface="+mn-ea"/>
              </a:rPr>
              <a:t>（</a:t>
            </a:r>
            <a:r>
              <a:rPr lang="en-US" altLang="zh-CN" sz="2000" dirty="0">
                <a:solidFill>
                  <a:schemeClr val="bg1"/>
                </a:solidFill>
                <a:latin typeface="+mn-ea"/>
              </a:rPr>
              <a:t>Transactional Memory</a:t>
            </a:r>
            <a:r>
              <a:rPr lang="zh-CN" altLang="en-US" sz="2000" dirty="0">
                <a:solidFill>
                  <a:schemeClr val="bg1"/>
                </a:solidFill>
                <a:latin typeface="+mn-ea"/>
              </a:rPr>
              <a:t>），事务内存。</a:t>
            </a:r>
            <a:endParaRPr lang="en-US" altLang="zh-CN" sz="2000" dirty="0">
              <a:solidFill>
                <a:schemeClr val="bg1"/>
              </a:solidFill>
              <a:latin typeface="+mn-ea"/>
            </a:endParaRPr>
          </a:p>
        </p:txBody>
      </p:sp>
      <p:sp>
        <p:nvSpPr>
          <p:cNvPr id="12" name="Object 3">
            <a:extLst>
              <a:ext uri="{FF2B5EF4-FFF2-40B4-BE49-F238E27FC236}">
                <a16:creationId xmlns:a16="http://schemas.microsoft.com/office/drawing/2014/main" id="{B77BF248-BB09-498D-BE70-A201EF54E98A}"/>
              </a:ext>
            </a:extLst>
          </p:cNvPr>
          <p:cNvSpPr/>
          <p:nvPr/>
        </p:nvSpPr>
        <p:spPr>
          <a:xfrm>
            <a:off x="3801982" y="1617451"/>
            <a:ext cx="95988" cy="95988"/>
          </a:xfrm>
          <a:prstGeom prst="ellipse">
            <a:avLst/>
          </a:prstGeom>
          <a:solidFill>
            <a:schemeClr val="bg2">
              <a:lumMod val="25000"/>
            </a:schemeClr>
          </a:solidFill>
        </p:spPr>
      </p:sp>
      <p:sp>
        <p:nvSpPr>
          <p:cNvPr id="13" name="Object 4">
            <a:extLst>
              <a:ext uri="{FF2B5EF4-FFF2-40B4-BE49-F238E27FC236}">
                <a16:creationId xmlns:a16="http://schemas.microsoft.com/office/drawing/2014/main" id="{6AD93DFA-F93D-4C24-B2AA-23D06276874A}"/>
              </a:ext>
            </a:extLst>
          </p:cNvPr>
          <p:cNvSpPr/>
          <p:nvPr/>
        </p:nvSpPr>
        <p:spPr>
          <a:xfrm>
            <a:off x="4108492" y="1506236"/>
            <a:ext cx="7883967" cy="263205"/>
          </a:xfrm>
          <a:prstGeom prst="rect">
            <a:avLst/>
          </a:prstGeom>
          <a:noFill/>
        </p:spPr>
        <p:txBody>
          <a:bodyPr wrap="square" lIns="0" tIns="0" rIns="0" bIns="0" rtlCol="0" anchor="t"/>
          <a:lstStyle/>
          <a:p>
            <a:pPr algn="l">
              <a:lnSpc>
                <a:spcPts val="2574"/>
              </a:lnSpc>
              <a:spcAft>
                <a:spcPts val="600"/>
              </a:spcAft>
              <a:buNone/>
            </a:pPr>
            <a:r>
              <a:rPr lang="en-US" sz="2100" dirty="0">
                <a:solidFill>
                  <a:srgbClr val="333333"/>
                </a:solidFill>
                <a:latin typeface="+mn-ea"/>
                <a:cs typeface="Times New Roman" panose="02020603050405020304" pitchFamily="18" charset="0"/>
              </a:rPr>
              <a:t>Find independent tasks in the algorithm</a:t>
            </a:r>
            <a:endParaRPr lang="en-US" dirty="0">
              <a:latin typeface="+mn-ea"/>
              <a:cs typeface="Times New Roman" panose="02020603050405020304" pitchFamily="18" charset="0"/>
            </a:endParaRPr>
          </a:p>
        </p:txBody>
      </p:sp>
      <p:sp>
        <p:nvSpPr>
          <p:cNvPr id="15" name="Object 5">
            <a:extLst>
              <a:ext uri="{FF2B5EF4-FFF2-40B4-BE49-F238E27FC236}">
                <a16:creationId xmlns:a16="http://schemas.microsoft.com/office/drawing/2014/main" id="{F1945473-B9A7-4245-B1C9-AD039389E6DB}"/>
              </a:ext>
            </a:extLst>
          </p:cNvPr>
          <p:cNvSpPr/>
          <p:nvPr/>
        </p:nvSpPr>
        <p:spPr>
          <a:xfrm>
            <a:off x="3801982" y="2207853"/>
            <a:ext cx="95988" cy="95988"/>
          </a:xfrm>
          <a:prstGeom prst="ellipse">
            <a:avLst/>
          </a:prstGeom>
          <a:solidFill>
            <a:schemeClr val="bg2">
              <a:lumMod val="25000"/>
            </a:schemeClr>
          </a:solidFill>
        </p:spPr>
      </p:sp>
      <p:sp>
        <p:nvSpPr>
          <p:cNvPr id="23" name="Object 6">
            <a:extLst>
              <a:ext uri="{FF2B5EF4-FFF2-40B4-BE49-F238E27FC236}">
                <a16:creationId xmlns:a16="http://schemas.microsoft.com/office/drawing/2014/main" id="{B174A772-2D78-4ECC-B79D-77B015EEF9D2}"/>
              </a:ext>
            </a:extLst>
          </p:cNvPr>
          <p:cNvSpPr/>
          <p:nvPr/>
        </p:nvSpPr>
        <p:spPr>
          <a:xfrm>
            <a:off x="4108492" y="2091382"/>
            <a:ext cx="7883967" cy="263205"/>
          </a:xfrm>
          <a:prstGeom prst="rect">
            <a:avLst/>
          </a:prstGeom>
          <a:noFill/>
        </p:spPr>
        <p:txBody>
          <a:bodyPr wrap="square" lIns="0" tIns="0" rIns="0" bIns="0" rtlCol="0" anchor="t"/>
          <a:lstStyle/>
          <a:p>
            <a:pPr algn="l">
              <a:lnSpc>
                <a:spcPts val="2574"/>
              </a:lnSpc>
              <a:spcAft>
                <a:spcPts val="600"/>
              </a:spcAft>
              <a:buNone/>
            </a:pPr>
            <a:r>
              <a:rPr lang="en-US" sz="2100" dirty="0">
                <a:solidFill>
                  <a:srgbClr val="333333"/>
                </a:solidFill>
                <a:latin typeface="+mn-ea"/>
                <a:cs typeface="Times New Roman" panose="02020603050405020304" pitchFamily="18" charset="0"/>
              </a:rPr>
              <a:t>Map tasks to execution units (e.g. threads)</a:t>
            </a:r>
            <a:endParaRPr lang="en-US" dirty="0">
              <a:latin typeface="+mn-ea"/>
              <a:cs typeface="Times New Roman" panose="02020603050405020304" pitchFamily="18" charset="0"/>
            </a:endParaRPr>
          </a:p>
        </p:txBody>
      </p:sp>
      <p:sp>
        <p:nvSpPr>
          <p:cNvPr id="24" name="Object 7">
            <a:extLst>
              <a:ext uri="{FF2B5EF4-FFF2-40B4-BE49-F238E27FC236}">
                <a16:creationId xmlns:a16="http://schemas.microsoft.com/office/drawing/2014/main" id="{3B16B0E6-3436-4602-A78D-E714A9E644D9}"/>
              </a:ext>
            </a:extLst>
          </p:cNvPr>
          <p:cNvSpPr/>
          <p:nvPr/>
        </p:nvSpPr>
        <p:spPr>
          <a:xfrm>
            <a:off x="3801982" y="2788733"/>
            <a:ext cx="95988" cy="95988"/>
          </a:xfrm>
          <a:prstGeom prst="ellipse">
            <a:avLst/>
          </a:prstGeom>
          <a:solidFill>
            <a:schemeClr val="bg2">
              <a:lumMod val="25000"/>
            </a:schemeClr>
          </a:solidFill>
        </p:spPr>
      </p:sp>
      <p:sp>
        <p:nvSpPr>
          <p:cNvPr id="25" name="Object 8">
            <a:extLst>
              <a:ext uri="{FF2B5EF4-FFF2-40B4-BE49-F238E27FC236}">
                <a16:creationId xmlns:a16="http://schemas.microsoft.com/office/drawing/2014/main" id="{1C0A5B1B-A260-4A08-A540-67642623775F}"/>
              </a:ext>
            </a:extLst>
          </p:cNvPr>
          <p:cNvSpPr/>
          <p:nvPr/>
        </p:nvSpPr>
        <p:spPr>
          <a:xfrm>
            <a:off x="4108492" y="2676528"/>
            <a:ext cx="7883967" cy="263205"/>
          </a:xfrm>
          <a:prstGeom prst="rect">
            <a:avLst/>
          </a:prstGeom>
          <a:noFill/>
        </p:spPr>
        <p:txBody>
          <a:bodyPr wrap="square" lIns="0" tIns="0" rIns="0" bIns="0" rtlCol="0" anchor="t"/>
          <a:lstStyle/>
          <a:p>
            <a:pPr algn="l">
              <a:lnSpc>
                <a:spcPts val="2574"/>
              </a:lnSpc>
              <a:spcAft>
                <a:spcPts val="600"/>
              </a:spcAft>
              <a:buNone/>
            </a:pPr>
            <a:r>
              <a:rPr lang="en-US" sz="2100" dirty="0">
                <a:solidFill>
                  <a:srgbClr val="333333"/>
                </a:solidFill>
                <a:latin typeface="+mn-ea"/>
                <a:cs typeface="Times New Roman" panose="02020603050405020304" pitchFamily="18" charset="0"/>
              </a:rPr>
              <a:t>Define and implement synchronization among tasks</a:t>
            </a:r>
            <a:endParaRPr lang="en-US" dirty="0">
              <a:latin typeface="+mn-ea"/>
              <a:cs typeface="Times New Roman" panose="02020603050405020304" pitchFamily="18" charset="0"/>
            </a:endParaRPr>
          </a:p>
        </p:txBody>
      </p:sp>
      <p:sp>
        <p:nvSpPr>
          <p:cNvPr id="26" name="Object 9">
            <a:extLst>
              <a:ext uri="{FF2B5EF4-FFF2-40B4-BE49-F238E27FC236}">
                <a16:creationId xmlns:a16="http://schemas.microsoft.com/office/drawing/2014/main" id="{C4AF654A-17E0-448B-8F76-51F4680DCE5E}"/>
              </a:ext>
            </a:extLst>
          </p:cNvPr>
          <p:cNvSpPr/>
          <p:nvPr/>
        </p:nvSpPr>
        <p:spPr>
          <a:xfrm>
            <a:off x="4108492" y="3075926"/>
            <a:ext cx="7883967" cy="187786"/>
          </a:xfrm>
          <a:prstGeom prst="rect">
            <a:avLst/>
          </a:prstGeom>
          <a:noFill/>
        </p:spPr>
        <p:txBody>
          <a:bodyPr wrap="square" lIns="0" tIns="0" rIns="0" bIns="0" rtlCol="0" anchor="t"/>
          <a:lstStyle/>
          <a:p>
            <a:pPr algn="l">
              <a:lnSpc>
                <a:spcPts val="1683"/>
              </a:lnSpc>
              <a:spcAft>
                <a:spcPts val="600"/>
              </a:spcAft>
              <a:buNone/>
            </a:pPr>
            <a:r>
              <a:rPr lang="en-US" sz="2000" dirty="0">
                <a:solidFill>
                  <a:srgbClr val="000000">
                    <a:alpha val="60000"/>
                  </a:srgbClr>
                </a:solidFill>
                <a:latin typeface="+mn-ea"/>
                <a:cs typeface="Times New Roman" panose="02020603050405020304" pitchFamily="18" charset="0"/>
              </a:rPr>
              <a:t>Avoid races and </a:t>
            </a:r>
            <a:r>
              <a:rPr lang="en-US" sz="2000" dirty="0" smtClean="0">
                <a:solidFill>
                  <a:srgbClr val="000000">
                    <a:alpha val="60000"/>
                  </a:srgbClr>
                </a:solidFill>
                <a:latin typeface="+mn-ea"/>
                <a:cs typeface="Times New Roman" panose="02020603050405020304" pitchFamily="18" charset="0"/>
              </a:rPr>
              <a:t>deadlocks </a:t>
            </a:r>
            <a:r>
              <a:rPr lang="en-US" sz="2000" dirty="0">
                <a:solidFill>
                  <a:srgbClr val="000000">
                    <a:alpha val="60000"/>
                  </a:srgbClr>
                </a:solidFill>
                <a:latin typeface="+mn-ea"/>
                <a:cs typeface="Times New Roman" panose="02020603050405020304" pitchFamily="18" charset="0"/>
              </a:rPr>
              <a:t>…</a:t>
            </a:r>
            <a:endParaRPr lang="en-US" sz="2000" dirty="0">
              <a:latin typeface="+mn-ea"/>
              <a:cs typeface="Times New Roman" panose="02020603050405020304" pitchFamily="18" charset="0"/>
            </a:endParaRPr>
          </a:p>
        </p:txBody>
      </p:sp>
      <p:sp>
        <p:nvSpPr>
          <p:cNvPr id="27" name="Object 10">
            <a:extLst>
              <a:ext uri="{FF2B5EF4-FFF2-40B4-BE49-F238E27FC236}">
                <a16:creationId xmlns:a16="http://schemas.microsoft.com/office/drawing/2014/main" id="{167ACD06-A667-4E80-A432-E97B1A40DFE0}"/>
              </a:ext>
            </a:extLst>
          </p:cNvPr>
          <p:cNvSpPr/>
          <p:nvPr/>
        </p:nvSpPr>
        <p:spPr>
          <a:xfrm>
            <a:off x="3801982" y="3702904"/>
            <a:ext cx="95988" cy="95988"/>
          </a:xfrm>
          <a:prstGeom prst="ellipse">
            <a:avLst/>
          </a:prstGeom>
          <a:solidFill>
            <a:schemeClr val="bg2">
              <a:lumMod val="25000"/>
            </a:schemeClr>
          </a:solidFill>
        </p:spPr>
      </p:sp>
      <p:sp>
        <p:nvSpPr>
          <p:cNvPr id="28" name="Object 11">
            <a:extLst>
              <a:ext uri="{FF2B5EF4-FFF2-40B4-BE49-F238E27FC236}">
                <a16:creationId xmlns:a16="http://schemas.microsoft.com/office/drawing/2014/main" id="{C23DC419-D5CF-4DF9-A720-D03979C3F313}"/>
              </a:ext>
            </a:extLst>
          </p:cNvPr>
          <p:cNvSpPr/>
          <p:nvPr/>
        </p:nvSpPr>
        <p:spPr>
          <a:xfrm>
            <a:off x="4108492" y="3585652"/>
            <a:ext cx="7883967" cy="263205"/>
          </a:xfrm>
          <a:prstGeom prst="rect">
            <a:avLst/>
          </a:prstGeom>
          <a:noFill/>
        </p:spPr>
        <p:txBody>
          <a:bodyPr wrap="square" lIns="0" tIns="0" rIns="0" bIns="0" rtlCol="0" anchor="t"/>
          <a:lstStyle/>
          <a:p>
            <a:pPr algn="l">
              <a:lnSpc>
                <a:spcPts val="2574"/>
              </a:lnSpc>
              <a:spcAft>
                <a:spcPts val="600"/>
              </a:spcAft>
              <a:buNone/>
            </a:pPr>
            <a:r>
              <a:rPr lang="en-US" sz="2100" dirty="0">
                <a:solidFill>
                  <a:srgbClr val="333333"/>
                </a:solidFill>
                <a:latin typeface="+mn-ea"/>
                <a:cs typeface="Times New Roman" panose="02020603050405020304" pitchFamily="18" charset="0"/>
              </a:rPr>
              <a:t>Compose parallel tasks</a:t>
            </a:r>
            <a:endParaRPr lang="en-US" dirty="0">
              <a:latin typeface="+mn-ea"/>
              <a:cs typeface="Times New Roman" panose="02020603050405020304" pitchFamily="18" charset="0"/>
            </a:endParaRPr>
          </a:p>
        </p:txBody>
      </p:sp>
      <p:sp>
        <p:nvSpPr>
          <p:cNvPr id="29" name="Object 12">
            <a:extLst>
              <a:ext uri="{FF2B5EF4-FFF2-40B4-BE49-F238E27FC236}">
                <a16:creationId xmlns:a16="http://schemas.microsoft.com/office/drawing/2014/main" id="{E772384E-FC6D-448F-AA50-C28A32B601F8}"/>
              </a:ext>
            </a:extLst>
          </p:cNvPr>
          <p:cNvSpPr/>
          <p:nvPr/>
        </p:nvSpPr>
        <p:spPr>
          <a:xfrm>
            <a:off x="3801982" y="4283784"/>
            <a:ext cx="95988" cy="95988"/>
          </a:xfrm>
          <a:prstGeom prst="ellipse">
            <a:avLst/>
          </a:prstGeom>
          <a:solidFill>
            <a:schemeClr val="bg2">
              <a:lumMod val="25000"/>
            </a:schemeClr>
          </a:solidFill>
        </p:spPr>
      </p:sp>
      <p:sp>
        <p:nvSpPr>
          <p:cNvPr id="30" name="Object 13">
            <a:extLst>
              <a:ext uri="{FF2B5EF4-FFF2-40B4-BE49-F238E27FC236}">
                <a16:creationId xmlns:a16="http://schemas.microsoft.com/office/drawing/2014/main" id="{028C41EE-76C2-48CD-8AC3-7AD40013A8D2}"/>
              </a:ext>
            </a:extLst>
          </p:cNvPr>
          <p:cNvSpPr/>
          <p:nvPr/>
        </p:nvSpPr>
        <p:spPr>
          <a:xfrm>
            <a:off x="4108492" y="4170798"/>
            <a:ext cx="7883967" cy="263205"/>
          </a:xfrm>
          <a:prstGeom prst="rect">
            <a:avLst/>
          </a:prstGeom>
          <a:noFill/>
        </p:spPr>
        <p:txBody>
          <a:bodyPr wrap="square" lIns="0" tIns="0" rIns="0" bIns="0" rtlCol="0" anchor="t"/>
          <a:lstStyle/>
          <a:p>
            <a:pPr algn="l">
              <a:lnSpc>
                <a:spcPts val="2574"/>
              </a:lnSpc>
              <a:spcAft>
                <a:spcPts val="600"/>
              </a:spcAft>
              <a:buNone/>
            </a:pPr>
            <a:r>
              <a:rPr lang="en-US" sz="2100" dirty="0">
                <a:solidFill>
                  <a:srgbClr val="333333"/>
                </a:solidFill>
                <a:latin typeface="+mn-ea"/>
                <a:cs typeface="Times New Roman" panose="02020603050405020304" pitchFamily="18" charset="0"/>
              </a:rPr>
              <a:t>Recover from errors</a:t>
            </a:r>
            <a:endParaRPr lang="en-US" dirty="0">
              <a:latin typeface="+mn-ea"/>
              <a:cs typeface="Times New Roman" panose="02020603050405020304" pitchFamily="18" charset="0"/>
            </a:endParaRPr>
          </a:p>
        </p:txBody>
      </p:sp>
      <p:sp>
        <p:nvSpPr>
          <p:cNvPr id="31" name="Object 14">
            <a:extLst>
              <a:ext uri="{FF2B5EF4-FFF2-40B4-BE49-F238E27FC236}">
                <a16:creationId xmlns:a16="http://schemas.microsoft.com/office/drawing/2014/main" id="{20BBE43F-769A-446B-9309-5880778DEC86}"/>
              </a:ext>
            </a:extLst>
          </p:cNvPr>
          <p:cNvSpPr/>
          <p:nvPr/>
        </p:nvSpPr>
        <p:spPr>
          <a:xfrm>
            <a:off x="3801982" y="4864664"/>
            <a:ext cx="95988" cy="95988"/>
          </a:xfrm>
          <a:prstGeom prst="ellipse">
            <a:avLst/>
          </a:prstGeom>
          <a:solidFill>
            <a:schemeClr val="bg2">
              <a:lumMod val="25000"/>
            </a:schemeClr>
          </a:solidFill>
        </p:spPr>
      </p:sp>
      <p:sp>
        <p:nvSpPr>
          <p:cNvPr id="32" name="Object 15">
            <a:extLst>
              <a:ext uri="{FF2B5EF4-FFF2-40B4-BE49-F238E27FC236}">
                <a16:creationId xmlns:a16="http://schemas.microsoft.com/office/drawing/2014/main" id="{AE409908-7E55-44F4-8F46-461B2B579DE4}"/>
              </a:ext>
            </a:extLst>
          </p:cNvPr>
          <p:cNvSpPr/>
          <p:nvPr/>
        </p:nvSpPr>
        <p:spPr>
          <a:xfrm>
            <a:off x="4108492" y="4755944"/>
            <a:ext cx="7883967" cy="263205"/>
          </a:xfrm>
          <a:prstGeom prst="rect">
            <a:avLst/>
          </a:prstGeom>
          <a:noFill/>
        </p:spPr>
        <p:txBody>
          <a:bodyPr wrap="square" lIns="0" tIns="0" rIns="0" bIns="0" rtlCol="0" anchor="t"/>
          <a:lstStyle/>
          <a:p>
            <a:pPr algn="l">
              <a:lnSpc>
                <a:spcPts val="2574"/>
              </a:lnSpc>
              <a:spcAft>
                <a:spcPts val="600"/>
              </a:spcAft>
              <a:buNone/>
            </a:pPr>
            <a:r>
              <a:rPr lang="en-US" sz="2100" dirty="0">
                <a:solidFill>
                  <a:srgbClr val="333333"/>
                </a:solidFill>
                <a:latin typeface="+mn-ea"/>
                <a:cs typeface="Times New Roman" panose="02020603050405020304" pitchFamily="18" charset="0"/>
              </a:rPr>
              <a:t>Ensure scalability</a:t>
            </a:r>
            <a:endParaRPr lang="en-US" dirty="0">
              <a:latin typeface="+mn-ea"/>
              <a:cs typeface="Times New Roman" panose="02020603050405020304" pitchFamily="18" charset="0"/>
            </a:endParaRPr>
          </a:p>
        </p:txBody>
      </p:sp>
      <p:sp>
        <p:nvSpPr>
          <p:cNvPr id="33" name="Object 16">
            <a:extLst>
              <a:ext uri="{FF2B5EF4-FFF2-40B4-BE49-F238E27FC236}">
                <a16:creationId xmlns:a16="http://schemas.microsoft.com/office/drawing/2014/main" id="{E5BA40AA-EBF5-4F8F-BB79-2895CA29D274}"/>
              </a:ext>
            </a:extLst>
          </p:cNvPr>
          <p:cNvSpPr/>
          <p:nvPr/>
        </p:nvSpPr>
        <p:spPr>
          <a:xfrm>
            <a:off x="3801982" y="5455066"/>
            <a:ext cx="95988" cy="95988"/>
          </a:xfrm>
          <a:prstGeom prst="ellipse">
            <a:avLst/>
          </a:prstGeom>
          <a:solidFill>
            <a:schemeClr val="bg2">
              <a:lumMod val="25000"/>
            </a:schemeClr>
          </a:solidFill>
        </p:spPr>
      </p:sp>
      <p:sp>
        <p:nvSpPr>
          <p:cNvPr id="34" name="Object 17">
            <a:extLst>
              <a:ext uri="{FF2B5EF4-FFF2-40B4-BE49-F238E27FC236}">
                <a16:creationId xmlns:a16="http://schemas.microsoft.com/office/drawing/2014/main" id="{0EAC0209-4746-4B93-B593-E85B026E399F}"/>
              </a:ext>
            </a:extLst>
          </p:cNvPr>
          <p:cNvSpPr/>
          <p:nvPr/>
        </p:nvSpPr>
        <p:spPr>
          <a:xfrm>
            <a:off x="4108492" y="5341090"/>
            <a:ext cx="7883967" cy="263205"/>
          </a:xfrm>
          <a:prstGeom prst="rect">
            <a:avLst/>
          </a:prstGeom>
          <a:noFill/>
        </p:spPr>
        <p:txBody>
          <a:bodyPr wrap="square" lIns="0" tIns="0" rIns="0" bIns="0" rtlCol="0" anchor="t"/>
          <a:lstStyle/>
          <a:p>
            <a:pPr algn="l">
              <a:lnSpc>
                <a:spcPts val="2574"/>
              </a:lnSpc>
              <a:spcAft>
                <a:spcPts val="600"/>
              </a:spcAft>
              <a:buNone/>
            </a:pPr>
            <a:r>
              <a:rPr lang="en-US" sz="2100" dirty="0">
                <a:solidFill>
                  <a:srgbClr val="333333"/>
                </a:solidFill>
                <a:latin typeface="+mn-ea"/>
                <a:cs typeface="Times New Roman" panose="02020603050405020304" pitchFamily="18" charset="0"/>
              </a:rPr>
              <a:t>Manage locality</a:t>
            </a:r>
            <a:endParaRPr lang="en-US" dirty="0">
              <a:latin typeface="+mn-ea"/>
              <a:cs typeface="Times New Roman" panose="02020603050405020304" pitchFamily="18" charset="0"/>
            </a:endParaRPr>
          </a:p>
        </p:txBody>
      </p:sp>
      <p:sp>
        <p:nvSpPr>
          <p:cNvPr id="35" name="Object 18">
            <a:extLst>
              <a:ext uri="{FF2B5EF4-FFF2-40B4-BE49-F238E27FC236}">
                <a16:creationId xmlns:a16="http://schemas.microsoft.com/office/drawing/2014/main" id="{5DEE7C80-A9CA-4BB4-A701-ED9FEA9DDF01}"/>
              </a:ext>
            </a:extLst>
          </p:cNvPr>
          <p:cNvSpPr/>
          <p:nvPr/>
        </p:nvSpPr>
        <p:spPr>
          <a:xfrm>
            <a:off x="3801982" y="6035946"/>
            <a:ext cx="95988" cy="95988"/>
          </a:xfrm>
          <a:prstGeom prst="ellipse">
            <a:avLst/>
          </a:prstGeom>
          <a:solidFill>
            <a:schemeClr val="bg2">
              <a:lumMod val="25000"/>
            </a:schemeClr>
          </a:solidFill>
        </p:spPr>
      </p:sp>
      <p:sp>
        <p:nvSpPr>
          <p:cNvPr id="36" name="Object 19">
            <a:extLst>
              <a:ext uri="{FF2B5EF4-FFF2-40B4-BE49-F238E27FC236}">
                <a16:creationId xmlns:a16="http://schemas.microsoft.com/office/drawing/2014/main" id="{5F646362-BB8B-4FF4-B320-B099E99EE82D}"/>
              </a:ext>
            </a:extLst>
          </p:cNvPr>
          <p:cNvSpPr/>
          <p:nvPr/>
        </p:nvSpPr>
        <p:spPr>
          <a:xfrm>
            <a:off x="4108492" y="5926236"/>
            <a:ext cx="7883967" cy="263205"/>
          </a:xfrm>
          <a:prstGeom prst="rect">
            <a:avLst/>
          </a:prstGeom>
          <a:noFill/>
        </p:spPr>
        <p:txBody>
          <a:bodyPr wrap="square" lIns="0" tIns="0" rIns="0" bIns="0" rtlCol="0" anchor="t"/>
          <a:lstStyle/>
          <a:p>
            <a:pPr algn="l">
              <a:lnSpc>
                <a:spcPts val="2574"/>
              </a:lnSpc>
              <a:spcAft>
                <a:spcPts val="600"/>
              </a:spcAft>
              <a:buNone/>
            </a:pPr>
            <a:r>
              <a:rPr lang="en-US" sz="2100" dirty="0">
                <a:solidFill>
                  <a:srgbClr val="333333"/>
                </a:solidFill>
                <a:latin typeface="+mn-ea"/>
                <a:cs typeface="Times New Roman" panose="02020603050405020304" pitchFamily="18" charset="0"/>
              </a:rPr>
              <a:t>...</a:t>
            </a:r>
            <a:endParaRPr lang="en-US" dirty="0">
              <a:latin typeface="+mn-ea"/>
              <a:cs typeface="Times New Roman" panose="02020603050405020304" pitchFamily="18" charset="0"/>
            </a:endParaRPr>
          </a:p>
        </p:txBody>
      </p:sp>
      <p:sp>
        <p:nvSpPr>
          <p:cNvPr id="37" name="文本框 36">
            <a:extLst>
              <a:ext uri="{FF2B5EF4-FFF2-40B4-BE49-F238E27FC236}">
                <a16:creationId xmlns:a16="http://schemas.microsoft.com/office/drawing/2014/main" id="{F2780D51-B0AF-4922-85EE-8A372E9AC621}"/>
              </a:ext>
            </a:extLst>
          </p:cNvPr>
          <p:cNvSpPr txBox="1"/>
          <p:nvPr/>
        </p:nvSpPr>
        <p:spPr>
          <a:xfrm>
            <a:off x="660797" y="2908789"/>
            <a:ext cx="2274907" cy="861774"/>
          </a:xfrm>
          <a:prstGeom prst="rect">
            <a:avLst/>
          </a:prstGeom>
          <a:noFill/>
        </p:spPr>
        <p:txBody>
          <a:bodyPr wrap="square" rtlCol="0">
            <a:spAutoFit/>
          </a:bodyPr>
          <a:lstStyle/>
          <a:p>
            <a:pPr algn="ctr"/>
            <a:r>
              <a:rPr lang="en-US" altLang="zh-CN" sz="2500" b="1" dirty="0">
                <a:solidFill>
                  <a:srgbClr val="C00000"/>
                </a:solidFill>
                <a:effectLst>
                  <a:outerShdw blurRad="38100" dist="38100" dir="2700000" algn="tl">
                    <a:srgbClr val="000000">
                      <a:alpha val="43137"/>
                    </a:srgbClr>
                  </a:outerShdw>
                </a:effectLst>
                <a:latin typeface="+mn-ea"/>
                <a:cs typeface="Times New Roman" panose="02020603050405020304" pitchFamily="18" charset="0"/>
              </a:rPr>
              <a:t>Parallel Programming</a:t>
            </a:r>
            <a:endParaRPr kumimoji="1" lang="zh-CN" altLang="en-US" sz="2500" b="1" dirty="0">
              <a:solidFill>
                <a:srgbClr val="C00000"/>
              </a:solidFill>
              <a:effectLst>
                <a:outerShdw blurRad="38100" dist="38100" dir="2700000" algn="tl">
                  <a:srgbClr val="000000">
                    <a:alpha val="43137"/>
                  </a:srgbClr>
                </a:outerShdw>
              </a:effectLst>
              <a:latin typeface="+mn-ea"/>
            </a:endParaRPr>
          </a:p>
        </p:txBody>
      </p:sp>
      <p:sp>
        <p:nvSpPr>
          <p:cNvPr id="39" name="文本框 38">
            <a:extLst>
              <a:ext uri="{FF2B5EF4-FFF2-40B4-BE49-F238E27FC236}">
                <a16:creationId xmlns:a16="http://schemas.microsoft.com/office/drawing/2014/main" id="{F37F96A1-296E-49AE-A3E0-ED67D2B5358A}"/>
              </a:ext>
            </a:extLst>
          </p:cNvPr>
          <p:cNvSpPr txBox="1"/>
          <p:nvPr/>
        </p:nvSpPr>
        <p:spPr>
          <a:xfrm>
            <a:off x="8137102" y="4118020"/>
            <a:ext cx="3142197" cy="446276"/>
          </a:xfrm>
          <a:prstGeom prst="rect">
            <a:avLst/>
          </a:prstGeom>
          <a:noFill/>
        </p:spPr>
        <p:txBody>
          <a:bodyPr vert="horz" wrap="square" rtlCol="0">
            <a:spAutoFit/>
          </a:bodyPr>
          <a:lstStyle>
            <a:defPPr>
              <a:defRPr lang="zh-CN"/>
            </a:defPPr>
            <a:lvl1pPr>
              <a:defRPr sz="2000">
                <a:solidFill>
                  <a:schemeClr val="bg1"/>
                </a:solidFill>
                <a:latin typeface="Verdana" panose="020B0604030504040204" pitchFamily="34" charset="0"/>
                <a:ea typeface="Verdana" panose="020B0604030504040204" pitchFamily="34" charset="0"/>
              </a:defRPr>
            </a:lvl1pPr>
          </a:lstStyle>
          <a:p>
            <a:pPr algn="r"/>
            <a:r>
              <a:rPr lang="en-US" altLang="zh-CN" sz="2300" b="1" dirty="0">
                <a:solidFill>
                  <a:schemeClr val="tx1">
                    <a:lumMod val="75000"/>
                    <a:lumOff val="25000"/>
                  </a:schemeClr>
                </a:solidFill>
                <a:effectLst>
                  <a:outerShdw blurRad="38100" dist="38100" dir="2700000" algn="tl">
                    <a:srgbClr val="000000">
                      <a:alpha val="43137"/>
                    </a:srgbClr>
                  </a:outerShdw>
                </a:effectLst>
                <a:latin typeface="+mn-ea"/>
                <a:ea typeface="+mn-ea"/>
              </a:rPr>
              <a:t>Transactional Memory</a:t>
            </a:r>
          </a:p>
        </p:txBody>
      </p:sp>
    </p:spTree>
    <p:extLst>
      <p:ext uri="{BB962C8B-B14F-4D97-AF65-F5344CB8AC3E}">
        <p14:creationId xmlns:p14="http://schemas.microsoft.com/office/powerpoint/2010/main" val="419339689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87F7609B-44D8-4A6F-85A8-FC5A2D0C942D}"/>
              </a:ext>
            </a:extLst>
          </p:cNvPr>
          <p:cNvSpPr/>
          <p:nvPr/>
        </p:nvSpPr>
        <p:spPr>
          <a:xfrm>
            <a:off x="-83801" y="668559"/>
            <a:ext cx="2807855" cy="45719"/>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E4B5C20D-4A12-483C-8756-87F0BD864146}"/>
              </a:ext>
            </a:extLst>
          </p:cNvPr>
          <p:cNvSpPr txBox="1"/>
          <p:nvPr/>
        </p:nvSpPr>
        <p:spPr>
          <a:xfrm>
            <a:off x="756035" y="249977"/>
            <a:ext cx="1838709" cy="446276"/>
          </a:xfrm>
          <a:prstGeom prst="rect">
            <a:avLst/>
          </a:prstGeom>
          <a:noFill/>
        </p:spPr>
        <p:txBody>
          <a:bodyPr vert="horz" wrap="square" rtlCol="0">
            <a:spAutoFit/>
          </a:bodyPr>
          <a:lstStyle>
            <a:defPPr>
              <a:defRPr lang="zh-CN"/>
            </a:defPPr>
            <a:lvl1pPr>
              <a:defRPr sz="2000">
                <a:solidFill>
                  <a:schemeClr val="bg1"/>
                </a:solidFill>
                <a:latin typeface="Verdana" panose="020B0604030504040204" pitchFamily="34" charset="0"/>
                <a:ea typeface="Verdana" panose="020B0604030504040204" pitchFamily="34" charset="0"/>
              </a:defRPr>
            </a:lvl1pPr>
          </a:lstStyle>
          <a:p>
            <a:pPr algn="r"/>
            <a:r>
              <a:rPr lang="en-US" altLang="zh-CN" sz="2300" b="1" dirty="0">
                <a:solidFill>
                  <a:schemeClr val="tx1">
                    <a:lumMod val="75000"/>
                    <a:lumOff val="25000"/>
                  </a:schemeClr>
                </a:solidFill>
                <a:latin typeface="+mn-lt"/>
              </a:rPr>
              <a:t>Limitation?</a:t>
            </a:r>
          </a:p>
        </p:txBody>
      </p:sp>
      <p:sp>
        <p:nvSpPr>
          <p:cNvPr id="14" name="Rectangle 2">
            <a:extLst>
              <a:ext uri="{FF2B5EF4-FFF2-40B4-BE49-F238E27FC236}">
                <a16:creationId xmlns:a16="http://schemas.microsoft.com/office/drawing/2014/main" id="{620F5066-ECE0-4D9D-AE2D-91CCA77E27B5}"/>
              </a:ext>
            </a:extLst>
          </p:cNvPr>
          <p:cNvSpPr>
            <a:spLocks noChangeArrowheads="1"/>
          </p:cNvSpPr>
          <p:nvPr/>
        </p:nvSpPr>
        <p:spPr bwMode="auto">
          <a:xfrm>
            <a:off x="756035" y="1008254"/>
            <a:ext cx="787579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Font typeface="Wingdings" panose="05000000000000000000" pitchFamily="2" charset="2"/>
              <a:buChar char="l"/>
            </a:pPr>
            <a:r>
              <a:rPr kumimoji="0" lang="en-US" altLang="zh-CN" sz="2200" b="1" i="0" u="none" strike="noStrike" cap="none" normalizeH="0" baseline="0" dirty="0">
                <a:ln>
                  <a:noFill/>
                </a:ln>
                <a:solidFill>
                  <a:srgbClr val="333333"/>
                </a:solidFill>
                <a:effectLst>
                  <a:outerShdw blurRad="38100" dist="38100" dir="2700000" algn="tl">
                    <a:srgbClr val="000000">
                      <a:alpha val="43137"/>
                    </a:srgbClr>
                  </a:outerShdw>
                </a:effectLst>
                <a:latin typeface="+mn-ea"/>
                <a:cs typeface="Segoe UI Historic" panose="020B0502040204020203" pitchFamily="34" charset="0"/>
              </a:rPr>
              <a:t>Logging</a:t>
            </a:r>
            <a:r>
              <a:rPr kumimoji="0" lang="zh-CN" altLang="en-US" sz="2200" b="1" i="0" u="none" strike="noStrike" cap="none" normalizeH="0" baseline="0" dirty="0">
                <a:ln>
                  <a:noFill/>
                </a:ln>
                <a:solidFill>
                  <a:srgbClr val="333333"/>
                </a:solidFill>
                <a:effectLst>
                  <a:outerShdw blurRad="38100" dist="38100" dir="2700000" algn="tl">
                    <a:srgbClr val="000000">
                      <a:alpha val="43137"/>
                    </a:srgbClr>
                  </a:outerShdw>
                </a:effectLst>
                <a:latin typeface="+mn-ea"/>
                <a:cs typeface="Segoe UI Historic" panose="020B0502040204020203" pitchFamily="34" charset="0"/>
              </a:rPr>
              <a:t> </a:t>
            </a:r>
            <a:r>
              <a:rPr kumimoji="0" lang="en-US" altLang="zh-CN" sz="2200" b="1" i="0" u="none" strike="noStrike" cap="none" normalizeH="0" baseline="0" dirty="0">
                <a:ln>
                  <a:noFill/>
                </a:ln>
                <a:solidFill>
                  <a:srgbClr val="333333"/>
                </a:solidFill>
                <a:effectLst>
                  <a:outerShdw blurRad="38100" dist="38100" dir="2700000" algn="tl">
                    <a:srgbClr val="000000">
                      <a:alpha val="43137"/>
                    </a:srgbClr>
                  </a:outerShdw>
                </a:effectLst>
                <a:latin typeface="+mn-ea"/>
                <a:cs typeface="Segoe UI Historic" panose="020B0502040204020203" pitchFamily="34" charset="0"/>
              </a:rPr>
              <a:t>eagerness: </a:t>
            </a:r>
            <a:r>
              <a:rPr kumimoji="0" lang="en-US" altLang="zh-CN" sz="2200" i="0" u="none" strike="noStrike" cap="none" normalizeH="0" baseline="0" dirty="0" smtClean="0">
                <a:ln>
                  <a:noFill/>
                </a:ln>
                <a:solidFill>
                  <a:srgbClr val="333333"/>
                </a:solidFill>
                <a:latin typeface="+mn-ea"/>
                <a:cs typeface="Segoe UI Historic" panose="020B0502040204020203" pitchFamily="34" charset="0"/>
              </a:rPr>
              <a:t>coupling</a:t>
            </a:r>
            <a:r>
              <a:rPr kumimoji="0" lang="en-US" altLang="zh-CN" sz="2200" i="0" u="none" strike="noStrike" cap="none" normalizeH="0" dirty="0" smtClean="0">
                <a:ln>
                  <a:noFill/>
                </a:ln>
                <a:solidFill>
                  <a:srgbClr val="333333"/>
                </a:solidFill>
                <a:latin typeface="+mn-ea"/>
                <a:cs typeface="Segoe UI Historic" panose="020B0502040204020203" pitchFamily="34" charset="0"/>
              </a:rPr>
              <a:t> store and log</a:t>
            </a:r>
            <a:endParaRPr kumimoji="0" lang="en-US" altLang="zh-CN" sz="2200" i="0" u="none" strike="noStrike" cap="none" normalizeH="0" baseline="0" dirty="0">
              <a:ln>
                <a:noFill/>
              </a:ln>
              <a:solidFill>
                <a:srgbClr val="333333"/>
              </a:solidFill>
              <a:latin typeface="+mn-ea"/>
              <a:cs typeface="Segoe UI Historic" panose="020B0502040204020203" pitchFamily="34" charset="0"/>
            </a:endParaRPr>
          </a:p>
        </p:txBody>
      </p:sp>
      <p:pic>
        <p:nvPicPr>
          <p:cNvPr id="5" name="Object 3" descr="preencoded.png">
            <a:extLst>
              <a:ext uri="{FF2B5EF4-FFF2-40B4-BE49-F238E27FC236}">
                <a16:creationId xmlns:a16="http://schemas.microsoft.com/office/drawing/2014/main" id="{D3EA2C58-1178-47CD-8094-E80463BA9BF0}"/>
              </a:ext>
            </a:extLst>
          </p:cNvPr>
          <p:cNvPicPr>
            <a:picLocks noChangeAspect="1"/>
          </p:cNvPicPr>
          <p:nvPr/>
        </p:nvPicPr>
        <p:blipFill>
          <a:blip r:embed="rId3"/>
          <a:srcRect/>
          <a:stretch/>
        </p:blipFill>
        <p:spPr>
          <a:xfrm>
            <a:off x="1848450" y="1648281"/>
            <a:ext cx="8726105" cy="4647038"/>
          </a:xfrm>
          <a:prstGeom prst="rect">
            <a:avLst/>
          </a:prstGeom>
        </p:spPr>
      </p:pic>
    </p:spTree>
    <p:extLst>
      <p:ext uri="{BB962C8B-B14F-4D97-AF65-F5344CB8AC3E}">
        <p14:creationId xmlns:p14="http://schemas.microsoft.com/office/powerpoint/2010/main" val="23700175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87F7609B-44D8-4A6F-85A8-FC5A2D0C942D}"/>
              </a:ext>
            </a:extLst>
          </p:cNvPr>
          <p:cNvSpPr/>
          <p:nvPr/>
        </p:nvSpPr>
        <p:spPr>
          <a:xfrm>
            <a:off x="-83801" y="668559"/>
            <a:ext cx="2807855" cy="45719"/>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E4B5C20D-4A12-483C-8756-87F0BD864146}"/>
              </a:ext>
            </a:extLst>
          </p:cNvPr>
          <p:cNvSpPr txBox="1"/>
          <p:nvPr/>
        </p:nvSpPr>
        <p:spPr>
          <a:xfrm>
            <a:off x="756035" y="249977"/>
            <a:ext cx="1968019" cy="446276"/>
          </a:xfrm>
          <a:prstGeom prst="rect">
            <a:avLst/>
          </a:prstGeom>
          <a:noFill/>
        </p:spPr>
        <p:txBody>
          <a:bodyPr vert="horz" wrap="square" rtlCol="0">
            <a:spAutoFit/>
          </a:bodyPr>
          <a:lstStyle>
            <a:defPPr>
              <a:defRPr lang="zh-CN"/>
            </a:defPPr>
            <a:lvl1pPr>
              <a:defRPr sz="2000">
                <a:solidFill>
                  <a:schemeClr val="bg1"/>
                </a:solidFill>
                <a:latin typeface="Verdana" panose="020B0604030504040204" pitchFamily="34" charset="0"/>
                <a:ea typeface="Verdana" panose="020B0604030504040204" pitchFamily="34" charset="0"/>
              </a:defRPr>
            </a:lvl1pPr>
          </a:lstStyle>
          <a:p>
            <a:pPr algn="r"/>
            <a:r>
              <a:rPr lang="en-US" altLang="zh-CN" sz="2300" b="1" dirty="0">
                <a:solidFill>
                  <a:schemeClr val="tx1">
                    <a:lumMod val="75000"/>
                    <a:lumOff val="25000"/>
                  </a:schemeClr>
                </a:solidFill>
                <a:latin typeface="+mn-lt"/>
              </a:rPr>
              <a:t>Lazy Logging</a:t>
            </a:r>
          </a:p>
        </p:txBody>
      </p:sp>
      <p:pic>
        <p:nvPicPr>
          <p:cNvPr id="8" name="图片 7">
            <a:extLst>
              <a:ext uri="{FF2B5EF4-FFF2-40B4-BE49-F238E27FC236}">
                <a16:creationId xmlns:a16="http://schemas.microsoft.com/office/drawing/2014/main" id="{A03B9C6E-556F-4015-ABB5-B25742A954BE}"/>
              </a:ext>
            </a:extLst>
          </p:cNvPr>
          <p:cNvPicPr>
            <a:picLocks noChangeAspect="1"/>
          </p:cNvPicPr>
          <p:nvPr/>
        </p:nvPicPr>
        <p:blipFill>
          <a:blip r:embed="rId3"/>
          <a:stretch>
            <a:fillRect/>
          </a:stretch>
        </p:blipFill>
        <p:spPr>
          <a:xfrm>
            <a:off x="100276" y="1353450"/>
            <a:ext cx="11706887" cy="4894950"/>
          </a:xfrm>
          <a:prstGeom prst="rect">
            <a:avLst/>
          </a:prstGeom>
        </p:spPr>
      </p:pic>
    </p:spTree>
    <p:extLst>
      <p:ext uri="{BB962C8B-B14F-4D97-AF65-F5344CB8AC3E}">
        <p14:creationId xmlns:p14="http://schemas.microsoft.com/office/powerpoint/2010/main" val="408139120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87F7609B-44D8-4A6F-85A8-FC5A2D0C942D}"/>
              </a:ext>
            </a:extLst>
          </p:cNvPr>
          <p:cNvSpPr/>
          <p:nvPr/>
        </p:nvSpPr>
        <p:spPr>
          <a:xfrm>
            <a:off x="-83801" y="668559"/>
            <a:ext cx="2807855" cy="45719"/>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E4B5C20D-4A12-483C-8756-87F0BD864146}"/>
              </a:ext>
            </a:extLst>
          </p:cNvPr>
          <p:cNvSpPr txBox="1"/>
          <p:nvPr/>
        </p:nvSpPr>
        <p:spPr>
          <a:xfrm>
            <a:off x="756035" y="249977"/>
            <a:ext cx="1968019" cy="446276"/>
          </a:xfrm>
          <a:prstGeom prst="rect">
            <a:avLst/>
          </a:prstGeom>
          <a:noFill/>
        </p:spPr>
        <p:txBody>
          <a:bodyPr vert="horz" wrap="square" rtlCol="0">
            <a:spAutoFit/>
          </a:bodyPr>
          <a:lstStyle>
            <a:defPPr>
              <a:defRPr lang="zh-CN"/>
            </a:defPPr>
            <a:lvl1pPr>
              <a:defRPr sz="2000">
                <a:solidFill>
                  <a:schemeClr val="bg1"/>
                </a:solidFill>
                <a:latin typeface="Verdana" panose="020B0604030504040204" pitchFamily="34" charset="0"/>
                <a:ea typeface="Verdana" panose="020B0604030504040204" pitchFamily="34" charset="0"/>
              </a:defRPr>
            </a:lvl1pPr>
          </a:lstStyle>
          <a:p>
            <a:pPr algn="r"/>
            <a:r>
              <a:rPr lang="en-US" altLang="zh-CN" sz="2300" b="1" dirty="0">
                <a:solidFill>
                  <a:schemeClr val="tx1">
                    <a:lumMod val="75000"/>
                    <a:lumOff val="25000"/>
                  </a:schemeClr>
                </a:solidFill>
                <a:latin typeface="+mn-lt"/>
              </a:rPr>
              <a:t>Lazy Logging</a:t>
            </a:r>
          </a:p>
        </p:txBody>
      </p:sp>
      <p:pic>
        <p:nvPicPr>
          <p:cNvPr id="5" name="图片 4">
            <a:extLst>
              <a:ext uri="{FF2B5EF4-FFF2-40B4-BE49-F238E27FC236}">
                <a16:creationId xmlns:a16="http://schemas.microsoft.com/office/drawing/2014/main" id="{65BF3BD9-2B38-483A-B894-9522A01B6A9E}"/>
              </a:ext>
            </a:extLst>
          </p:cNvPr>
          <p:cNvPicPr>
            <a:picLocks noChangeAspect="1"/>
          </p:cNvPicPr>
          <p:nvPr/>
        </p:nvPicPr>
        <p:blipFill>
          <a:blip r:embed="rId3"/>
          <a:stretch>
            <a:fillRect/>
          </a:stretch>
        </p:blipFill>
        <p:spPr>
          <a:xfrm>
            <a:off x="0" y="2109160"/>
            <a:ext cx="12192000" cy="2869870"/>
          </a:xfrm>
          <a:prstGeom prst="rect">
            <a:avLst/>
          </a:prstGeom>
        </p:spPr>
      </p:pic>
      <p:sp>
        <p:nvSpPr>
          <p:cNvPr id="6" name="Object 4">
            <a:extLst>
              <a:ext uri="{FF2B5EF4-FFF2-40B4-BE49-F238E27FC236}">
                <a16:creationId xmlns:a16="http://schemas.microsoft.com/office/drawing/2014/main" id="{64FA0623-87F6-4AD4-B37D-A06771C7E5AA}"/>
              </a:ext>
            </a:extLst>
          </p:cNvPr>
          <p:cNvSpPr/>
          <p:nvPr/>
        </p:nvSpPr>
        <p:spPr>
          <a:xfrm>
            <a:off x="756035" y="1360788"/>
            <a:ext cx="6569104" cy="730347"/>
          </a:xfrm>
          <a:prstGeom prst="rect">
            <a:avLst/>
          </a:prstGeom>
          <a:noFill/>
        </p:spPr>
        <p:txBody>
          <a:bodyPr wrap="square" lIns="0" tIns="0" rIns="0" bIns="0" rtlCol="0" anchor="t"/>
          <a:lstStyle/>
          <a:p>
            <a:pPr marL="457200" indent="-457200">
              <a:lnSpc>
                <a:spcPts val="3217"/>
              </a:lnSpc>
              <a:spcAft>
                <a:spcPts val="600"/>
              </a:spcAft>
              <a:buFont typeface="Wingdings" panose="05000000000000000000" pitchFamily="2" charset="2"/>
              <a:buChar char="l"/>
            </a:pPr>
            <a:r>
              <a:rPr lang="en-US" sz="2600" dirty="0">
                <a:solidFill>
                  <a:schemeClr val="bg2">
                    <a:lumMod val="25000"/>
                  </a:schemeClr>
                </a:solidFill>
                <a:latin typeface="+mn-ea"/>
                <a:cs typeface="Times New Roman" panose="02020603050405020304" pitchFamily="18" charset="0"/>
              </a:rPr>
              <a:t>Shortened execution of</a:t>
            </a:r>
            <a:r>
              <a:rPr lang="zh-CN" altLang="en-US" sz="2600" dirty="0">
                <a:solidFill>
                  <a:schemeClr val="bg2">
                    <a:lumMod val="25000"/>
                  </a:schemeClr>
                </a:solidFill>
                <a:latin typeface="+mn-ea"/>
                <a:cs typeface="Times New Roman" panose="02020603050405020304" pitchFamily="18" charset="0"/>
              </a:rPr>
              <a:t> </a:t>
            </a:r>
            <a:r>
              <a:rPr lang="en-US" sz="2600" dirty="0">
                <a:solidFill>
                  <a:schemeClr val="bg2">
                    <a:lumMod val="25000"/>
                  </a:schemeClr>
                </a:solidFill>
                <a:latin typeface="+mn-ea"/>
                <a:cs typeface="Times New Roman" panose="02020603050405020304" pitchFamily="18" charset="0"/>
              </a:rPr>
              <a:t>store</a:t>
            </a:r>
            <a:r>
              <a:rPr lang="zh-CN" altLang="en-US" sz="2600" dirty="0">
                <a:solidFill>
                  <a:schemeClr val="bg2">
                    <a:lumMod val="25000"/>
                  </a:schemeClr>
                </a:solidFill>
                <a:latin typeface="+mn-ea"/>
                <a:cs typeface="Times New Roman" panose="02020603050405020304" pitchFamily="18" charset="0"/>
              </a:rPr>
              <a:t> </a:t>
            </a:r>
            <a:r>
              <a:rPr lang="en-US" sz="2600" dirty="0">
                <a:solidFill>
                  <a:schemeClr val="bg2">
                    <a:lumMod val="25000"/>
                  </a:schemeClr>
                </a:solidFill>
                <a:latin typeface="+mn-ea"/>
                <a:cs typeface="Times New Roman" panose="02020603050405020304" pitchFamily="18" charset="0"/>
              </a:rPr>
              <a:t>instructions.</a:t>
            </a:r>
          </a:p>
          <a:p>
            <a:pPr marL="457200" indent="-457200">
              <a:lnSpc>
                <a:spcPts val="3217"/>
              </a:lnSpc>
              <a:spcAft>
                <a:spcPts val="600"/>
              </a:spcAft>
              <a:buFont typeface="Wingdings" panose="05000000000000000000" pitchFamily="2" charset="2"/>
              <a:buChar char="l"/>
            </a:pPr>
            <a:endParaRPr lang="en-US" sz="2600" dirty="0">
              <a:solidFill>
                <a:schemeClr val="bg2">
                  <a:lumMod val="25000"/>
                </a:schemeClr>
              </a:solidFill>
              <a:latin typeface="+mn-ea"/>
              <a:cs typeface="Times New Roman" panose="02020603050405020304" pitchFamily="18" charset="0"/>
            </a:endParaRPr>
          </a:p>
          <a:p>
            <a:pPr marL="457200" indent="-457200">
              <a:lnSpc>
                <a:spcPts val="3217"/>
              </a:lnSpc>
              <a:spcAft>
                <a:spcPts val="600"/>
              </a:spcAft>
              <a:buFont typeface="Wingdings" panose="05000000000000000000" pitchFamily="2" charset="2"/>
              <a:buChar char="l"/>
            </a:pPr>
            <a:endParaRPr lang="en-US" sz="2600" dirty="0">
              <a:solidFill>
                <a:schemeClr val="bg2">
                  <a:lumMod val="25000"/>
                </a:schemeClr>
              </a:solidFill>
              <a:latin typeface="+mn-ea"/>
              <a:cs typeface="Times New Roman" panose="02020603050405020304" pitchFamily="18" charset="0"/>
            </a:endParaRPr>
          </a:p>
          <a:p>
            <a:pPr marL="457200" indent="-457200">
              <a:lnSpc>
                <a:spcPts val="3217"/>
              </a:lnSpc>
              <a:spcAft>
                <a:spcPts val="600"/>
              </a:spcAft>
              <a:buFont typeface="Wingdings" panose="05000000000000000000" pitchFamily="2" charset="2"/>
              <a:buChar char="l"/>
            </a:pPr>
            <a:endParaRPr lang="en-US" sz="2600" dirty="0">
              <a:solidFill>
                <a:schemeClr val="bg2">
                  <a:lumMod val="25000"/>
                </a:schemeClr>
              </a:solidFill>
              <a:latin typeface="+mn-ea"/>
              <a:cs typeface="Times New Roman" panose="02020603050405020304" pitchFamily="18" charset="0"/>
            </a:endParaRPr>
          </a:p>
          <a:p>
            <a:pPr marL="457200" indent="-457200">
              <a:lnSpc>
                <a:spcPts val="3217"/>
              </a:lnSpc>
              <a:spcAft>
                <a:spcPts val="600"/>
              </a:spcAft>
              <a:buFont typeface="Wingdings" panose="05000000000000000000" pitchFamily="2" charset="2"/>
              <a:buChar char="l"/>
            </a:pPr>
            <a:endParaRPr lang="en-US" sz="2600" dirty="0">
              <a:solidFill>
                <a:schemeClr val="bg2">
                  <a:lumMod val="25000"/>
                </a:schemeClr>
              </a:solidFill>
              <a:latin typeface="+mn-ea"/>
              <a:cs typeface="Times New Roman" panose="02020603050405020304" pitchFamily="18" charset="0"/>
            </a:endParaRPr>
          </a:p>
          <a:p>
            <a:pPr marL="457200" indent="-457200">
              <a:lnSpc>
                <a:spcPts val="3217"/>
              </a:lnSpc>
              <a:spcAft>
                <a:spcPts val="600"/>
              </a:spcAft>
              <a:buFont typeface="Wingdings" panose="05000000000000000000" pitchFamily="2" charset="2"/>
              <a:buChar char="l"/>
            </a:pPr>
            <a:endParaRPr lang="en-US" sz="2600" dirty="0">
              <a:solidFill>
                <a:schemeClr val="bg2">
                  <a:lumMod val="25000"/>
                </a:schemeClr>
              </a:solidFill>
              <a:latin typeface="+mn-ea"/>
              <a:cs typeface="Times New Roman" panose="02020603050405020304" pitchFamily="18" charset="0"/>
            </a:endParaRPr>
          </a:p>
          <a:p>
            <a:pPr marL="457200" indent="-457200">
              <a:lnSpc>
                <a:spcPts val="3217"/>
              </a:lnSpc>
              <a:spcAft>
                <a:spcPts val="600"/>
              </a:spcAft>
              <a:buFont typeface="Wingdings" panose="05000000000000000000" pitchFamily="2" charset="2"/>
              <a:buChar char="l"/>
            </a:pPr>
            <a:endParaRPr lang="en-US" sz="2600" dirty="0">
              <a:solidFill>
                <a:schemeClr val="bg2">
                  <a:lumMod val="25000"/>
                </a:schemeClr>
              </a:solidFill>
              <a:latin typeface="+mn-ea"/>
              <a:cs typeface="Times New Roman" panose="02020603050405020304" pitchFamily="18" charset="0"/>
            </a:endParaRPr>
          </a:p>
          <a:p>
            <a:pPr marL="457200" indent="-457200">
              <a:lnSpc>
                <a:spcPts val="3217"/>
              </a:lnSpc>
              <a:spcAft>
                <a:spcPts val="600"/>
              </a:spcAft>
              <a:buFont typeface="Wingdings" panose="05000000000000000000" pitchFamily="2" charset="2"/>
              <a:buChar char="l"/>
            </a:pPr>
            <a:endParaRPr lang="en-US" sz="2600" dirty="0">
              <a:solidFill>
                <a:schemeClr val="bg2">
                  <a:lumMod val="25000"/>
                </a:schemeClr>
              </a:solidFill>
              <a:latin typeface="+mn-ea"/>
              <a:cs typeface="Times New Roman" panose="02020603050405020304" pitchFamily="18" charset="0"/>
            </a:endParaRPr>
          </a:p>
          <a:p>
            <a:pPr marL="457200" indent="-457200">
              <a:lnSpc>
                <a:spcPts val="3217"/>
              </a:lnSpc>
              <a:spcAft>
                <a:spcPts val="600"/>
              </a:spcAft>
              <a:buFont typeface="Wingdings" panose="05000000000000000000" pitchFamily="2" charset="2"/>
              <a:buChar char="l"/>
            </a:pPr>
            <a:r>
              <a:rPr lang="en-US" sz="2600" dirty="0">
                <a:solidFill>
                  <a:schemeClr val="bg2">
                    <a:lumMod val="25000"/>
                  </a:schemeClr>
                </a:solidFill>
                <a:latin typeface="+mn-ea"/>
                <a:cs typeface="Times New Roman" panose="02020603050405020304" pitchFamily="18" charset="0"/>
              </a:rPr>
              <a:t>Inherent support of log coalescing.</a:t>
            </a:r>
          </a:p>
          <a:p>
            <a:pPr marL="457200" indent="-457200">
              <a:lnSpc>
                <a:spcPts val="3217"/>
              </a:lnSpc>
              <a:spcAft>
                <a:spcPts val="600"/>
              </a:spcAft>
              <a:buFont typeface="Wingdings" panose="05000000000000000000" pitchFamily="2" charset="2"/>
              <a:buChar char="l"/>
            </a:pPr>
            <a:endParaRPr lang="en-US" sz="2600" dirty="0">
              <a:solidFill>
                <a:schemeClr val="bg2">
                  <a:lumMod val="25000"/>
                </a:schemeClr>
              </a:solidFill>
              <a:latin typeface="+mn-ea"/>
              <a:cs typeface="Times New Roman" panose="02020603050405020304" pitchFamily="18" charset="0"/>
            </a:endParaRPr>
          </a:p>
        </p:txBody>
      </p:sp>
    </p:spTree>
    <p:extLst>
      <p:ext uri="{BB962C8B-B14F-4D97-AF65-F5344CB8AC3E}">
        <p14:creationId xmlns:p14="http://schemas.microsoft.com/office/powerpoint/2010/main" val="227476891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87F7609B-44D8-4A6F-85A8-FC5A2D0C942D}"/>
              </a:ext>
            </a:extLst>
          </p:cNvPr>
          <p:cNvSpPr/>
          <p:nvPr/>
        </p:nvSpPr>
        <p:spPr>
          <a:xfrm>
            <a:off x="-83801" y="668559"/>
            <a:ext cx="2807855" cy="45719"/>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CF2A4AB7-FA81-449E-AA6D-AAF757185399}"/>
              </a:ext>
            </a:extLst>
          </p:cNvPr>
          <p:cNvSpPr txBox="1"/>
          <p:nvPr/>
        </p:nvSpPr>
        <p:spPr>
          <a:xfrm>
            <a:off x="1171526" y="1065318"/>
            <a:ext cx="9746732" cy="2215991"/>
          </a:xfrm>
          <a:prstGeom prst="rect">
            <a:avLst/>
          </a:prstGeom>
          <a:noFill/>
        </p:spPr>
        <p:txBody>
          <a:bodyPr vert="horz" wrap="square" rtlCol="0">
            <a:spAutoFit/>
          </a:bodyPr>
          <a:lstStyle>
            <a:defPPr>
              <a:defRPr lang="zh-CN"/>
            </a:defPPr>
            <a:lvl1pPr>
              <a:defRPr sz="2000">
                <a:solidFill>
                  <a:schemeClr val="bg1"/>
                </a:solidFill>
                <a:latin typeface="Verdana" panose="020B0604030504040204" pitchFamily="34" charset="0"/>
                <a:ea typeface="Verdana" panose="020B0604030504040204" pitchFamily="34" charset="0"/>
              </a:defRPr>
            </a:lvl1pPr>
          </a:lstStyle>
          <a:p>
            <a:endParaRPr lang="en-US" altLang="zh-CN" sz="2300" b="1" dirty="0">
              <a:solidFill>
                <a:schemeClr val="tx1">
                  <a:lumMod val="75000"/>
                  <a:lumOff val="25000"/>
                </a:schemeClr>
              </a:solidFill>
              <a:latin typeface="+mn-lt"/>
            </a:endParaRPr>
          </a:p>
          <a:p>
            <a:pPr marL="342900" indent="-342900">
              <a:buFont typeface="Arial" panose="020B0604020202020204" pitchFamily="34" charset="0"/>
              <a:buChar char="•"/>
            </a:pPr>
            <a:r>
              <a:rPr lang="en-US" altLang="zh-CN" sz="2300" b="1" dirty="0">
                <a:solidFill>
                  <a:schemeClr val="tx1">
                    <a:lumMod val="75000"/>
                    <a:lumOff val="25000"/>
                  </a:schemeClr>
                </a:solidFill>
                <a:latin typeface="+mn-lt"/>
              </a:rPr>
              <a:t>Design the </a:t>
            </a:r>
            <a:r>
              <a:rPr lang="en-US" altLang="zh-CN" sz="2300" b="1" dirty="0">
                <a:solidFill>
                  <a:srgbClr val="C00000"/>
                </a:solidFill>
                <a:latin typeface="+mn-lt"/>
              </a:rPr>
              <a:t>optimization method </a:t>
            </a:r>
            <a:r>
              <a:rPr lang="en-US" altLang="zh-CN" sz="2300" b="1" dirty="0">
                <a:solidFill>
                  <a:schemeClr val="tx1">
                    <a:lumMod val="75000"/>
                    <a:lumOff val="25000"/>
                  </a:schemeClr>
                </a:solidFill>
                <a:latin typeface="+mn-lt"/>
              </a:rPr>
              <a:t>and make a theoretical comparison</a:t>
            </a:r>
          </a:p>
          <a:p>
            <a:pPr marL="342900" indent="-342900">
              <a:buFont typeface="Arial" panose="020B0604020202020204" pitchFamily="34" charset="0"/>
              <a:buChar char="•"/>
            </a:pPr>
            <a:endParaRPr lang="en-US" altLang="zh-CN" sz="2300" b="1" dirty="0">
              <a:solidFill>
                <a:schemeClr val="tx1">
                  <a:lumMod val="75000"/>
                  <a:lumOff val="25000"/>
                </a:schemeClr>
              </a:solidFill>
              <a:latin typeface="+mn-lt"/>
            </a:endParaRPr>
          </a:p>
          <a:p>
            <a:pPr marL="342900" indent="-342900">
              <a:buFont typeface="Arial" panose="020B0604020202020204" pitchFamily="34" charset="0"/>
              <a:buChar char="•"/>
            </a:pPr>
            <a:r>
              <a:rPr lang="en-US" altLang="zh-CN" sz="2300" b="1" dirty="0">
                <a:solidFill>
                  <a:schemeClr val="tx1">
                    <a:lumMod val="75000"/>
                    <a:lumOff val="25000"/>
                  </a:schemeClr>
                </a:solidFill>
                <a:latin typeface="+mn-lt"/>
              </a:rPr>
              <a:t>Learn </a:t>
            </a:r>
            <a:r>
              <a:rPr lang="en-US" altLang="zh-CN" sz="2300" b="1" dirty="0">
                <a:solidFill>
                  <a:srgbClr val="C00000"/>
                </a:solidFill>
                <a:latin typeface="+mn-lt"/>
              </a:rPr>
              <a:t>gem5</a:t>
            </a:r>
            <a:r>
              <a:rPr lang="en-US" altLang="zh-CN" sz="2300" b="1" dirty="0">
                <a:solidFill>
                  <a:schemeClr val="tx1">
                    <a:lumMod val="75000"/>
                    <a:lumOff val="25000"/>
                  </a:schemeClr>
                </a:solidFill>
                <a:latin typeface="+mn-lt"/>
              </a:rPr>
              <a:t> and the </a:t>
            </a:r>
            <a:r>
              <a:rPr lang="en-US" altLang="zh-CN" sz="2300" b="1" dirty="0">
                <a:solidFill>
                  <a:srgbClr val="C00000"/>
                </a:solidFill>
                <a:latin typeface="+mn-lt"/>
              </a:rPr>
              <a:t>experiment </a:t>
            </a:r>
            <a:endParaRPr lang="en-US" altLang="zh-CN" sz="2300" b="1" dirty="0">
              <a:solidFill>
                <a:schemeClr val="tx1">
                  <a:lumMod val="75000"/>
                  <a:lumOff val="25000"/>
                </a:schemeClr>
              </a:solidFill>
              <a:latin typeface="+mn-lt"/>
            </a:endParaRPr>
          </a:p>
          <a:p>
            <a:endParaRPr lang="en-US" altLang="zh-CN" sz="2300" b="1" dirty="0">
              <a:solidFill>
                <a:schemeClr val="tx1">
                  <a:lumMod val="75000"/>
                  <a:lumOff val="25000"/>
                </a:schemeClr>
              </a:solidFill>
              <a:latin typeface="+mn-lt"/>
            </a:endParaRPr>
          </a:p>
          <a:p>
            <a:pPr marL="342900" indent="-342900">
              <a:buFont typeface="Arial" panose="020B0604020202020204" pitchFamily="34" charset="0"/>
              <a:buChar char="•"/>
            </a:pPr>
            <a:endParaRPr lang="en-US" altLang="zh-CN" sz="2300" b="1" dirty="0">
              <a:solidFill>
                <a:schemeClr val="tx1">
                  <a:lumMod val="75000"/>
                  <a:lumOff val="25000"/>
                </a:schemeClr>
              </a:solidFill>
              <a:latin typeface="+mn-lt"/>
            </a:endParaRPr>
          </a:p>
        </p:txBody>
      </p:sp>
      <p:pic>
        <p:nvPicPr>
          <p:cNvPr id="2" name="图片 1"/>
          <p:cNvPicPr>
            <a:picLocks noChangeAspect="1"/>
          </p:cNvPicPr>
          <p:nvPr/>
        </p:nvPicPr>
        <p:blipFill>
          <a:blip r:embed="rId3"/>
          <a:stretch>
            <a:fillRect/>
          </a:stretch>
        </p:blipFill>
        <p:spPr>
          <a:xfrm>
            <a:off x="196697" y="2690396"/>
            <a:ext cx="5931205" cy="3854648"/>
          </a:xfrm>
          <a:prstGeom prst="rect">
            <a:avLst/>
          </a:prstGeom>
        </p:spPr>
      </p:pic>
      <p:pic>
        <p:nvPicPr>
          <p:cNvPr id="3" name="图片 2"/>
          <p:cNvPicPr>
            <a:picLocks noChangeAspect="1"/>
          </p:cNvPicPr>
          <p:nvPr/>
        </p:nvPicPr>
        <p:blipFill>
          <a:blip r:embed="rId4"/>
          <a:stretch>
            <a:fillRect/>
          </a:stretch>
        </p:blipFill>
        <p:spPr>
          <a:xfrm>
            <a:off x="6195528" y="3024756"/>
            <a:ext cx="5815677" cy="2667383"/>
          </a:xfrm>
          <a:prstGeom prst="rect">
            <a:avLst/>
          </a:prstGeom>
        </p:spPr>
      </p:pic>
    </p:spTree>
    <p:extLst>
      <p:ext uri="{BB962C8B-B14F-4D97-AF65-F5344CB8AC3E}">
        <p14:creationId xmlns:p14="http://schemas.microsoft.com/office/powerpoint/2010/main" val="31924705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87F7609B-44D8-4A6F-85A8-FC5A2D0C942D}"/>
              </a:ext>
            </a:extLst>
          </p:cNvPr>
          <p:cNvSpPr/>
          <p:nvPr/>
        </p:nvSpPr>
        <p:spPr>
          <a:xfrm>
            <a:off x="-83801" y="668559"/>
            <a:ext cx="6170240" cy="45719"/>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E4B5C20D-4A12-483C-8756-87F0BD864146}"/>
              </a:ext>
            </a:extLst>
          </p:cNvPr>
          <p:cNvSpPr txBox="1"/>
          <p:nvPr/>
        </p:nvSpPr>
        <p:spPr>
          <a:xfrm>
            <a:off x="133666" y="268002"/>
            <a:ext cx="5952773" cy="446276"/>
          </a:xfrm>
          <a:prstGeom prst="rect">
            <a:avLst/>
          </a:prstGeom>
          <a:noFill/>
        </p:spPr>
        <p:txBody>
          <a:bodyPr vert="horz" wrap="square" rtlCol="0">
            <a:spAutoFit/>
          </a:bodyPr>
          <a:lstStyle>
            <a:defPPr>
              <a:defRPr lang="zh-CN"/>
            </a:defPPr>
            <a:lvl1pPr>
              <a:defRPr sz="2000">
                <a:solidFill>
                  <a:schemeClr val="bg1"/>
                </a:solidFill>
                <a:latin typeface="Verdana" panose="020B0604030504040204" pitchFamily="34" charset="0"/>
                <a:ea typeface="Verdana" panose="020B0604030504040204" pitchFamily="34" charset="0"/>
              </a:defRPr>
            </a:lvl1pPr>
          </a:lstStyle>
          <a:p>
            <a:pPr algn="r"/>
            <a:r>
              <a:rPr lang="en-US" altLang="zh-CN" sz="2300" b="1" dirty="0">
                <a:solidFill>
                  <a:schemeClr val="tx1">
                    <a:lumMod val="75000"/>
                    <a:lumOff val="25000"/>
                  </a:schemeClr>
                </a:solidFill>
                <a:latin typeface="+mn-ea"/>
                <a:ea typeface="+mn-ea"/>
              </a:rPr>
              <a:t>C</a:t>
            </a:r>
            <a:r>
              <a:rPr lang="en-US" altLang="zh-CN" sz="2300" b="1" dirty="0" smtClean="0">
                <a:solidFill>
                  <a:schemeClr val="tx1">
                    <a:lumMod val="75000"/>
                    <a:lumOff val="25000"/>
                  </a:schemeClr>
                </a:solidFill>
                <a:latin typeface="+mn-ea"/>
                <a:ea typeface="+mn-ea"/>
              </a:rPr>
              <a:t>lass </a:t>
            </a:r>
            <a:r>
              <a:rPr lang="en-US" altLang="zh-CN" sz="2300" b="1" dirty="0">
                <a:solidFill>
                  <a:schemeClr val="tx1">
                    <a:lumMod val="75000"/>
                    <a:lumOff val="25000"/>
                  </a:schemeClr>
                </a:solidFill>
                <a:latin typeface="+mn-ea"/>
                <a:ea typeface="+mn-ea"/>
              </a:rPr>
              <a:t>P</a:t>
            </a:r>
            <a:r>
              <a:rPr lang="en-US" altLang="zh-CN" sz="2300" b="1" dirty="0" smtClean="0">
                <a:solidFill>
                  <a:schemeClr val="tx1">
                    <a:lumMod val="75000"/>
                    <a:lumOff val="25000"/>
                  </a:schemeClr>
                </a:solidFill>
                <a:latin typeface="+mn-ea"/>
                <a:ea typeface="+mn-ea"/>
              </a:rPr>
              <a:t>roject</a:t>
            </a:r>
            <a:endParaRPr lang="en-US" altLang="zh-CN" sz="2300" b="1" dirty="0">
              <a:solidFill>
                <a:schemeClr val="tx1">
                  <a:lumMod val="75000"/>
                  <a:lumOff val="25000"/>
                </a:schemeClr>
              </a:solidFill>
              <a:latin typeface="+mn-ea"/>
              <a:ea typeface="+mn-ea"/>
            </a:endParaRPr>
          </a:p>
        </p:txBody>
      </p:sp>
      <p:sp>
        <p:nvSpPr>
          <p:cNvPr id="10" name="Object 6">
            <a:extLst>
              <a:ext uri="{FF2B5EF4-FFF2-40B4-BE49-F238E27FC236}">
                <a16:creationId xmlns:a16="http://schemas.microsoft.com/office/drawing/2014/main" id="{BB04409B-C881-4759-8086-04E589597079}"/>
              </a:ext>
            </a:extLst>
          </p:cNvPr>
          <p:cNvSpPr/>
          <p:nvPr/>
        </p:nvSpPr>
        <p:spPr>
          <a:xfrm>
            <a:off x="1569746" y="3759475"/>
            <a:ext cx="133317" cy="133317"/>
          </a:xfrm>
          <a:prstGeom prst="ellipse">
            <a:avLst/>
          </a:prstGeom>
          <a:solidFill>
            <a:srgbClr val="C00000"/>
          </a:solidFill>
        </p:spPr>
      </p:sp>
      <p:sp>
        <p:nvSpPr>
          <p:cNvPr id="12" name="Object 8">
            <a:extLst>
              <a:ext uri="{FF2B5EF4-FFF2-40B4-BE49-F238E27FC236}">
                <a16:creationId xmlns:a16="http://schemas.microsoft.com/office/drawing/2014/main" id="{A2A5A1A6-9BE5-48C4-8EAE-8EFE183E0CC8}"/>
              </a:ext>
            </a:extLst>
          </p:cNvPr>
          <p:cNvSpPr/>
          <p:nvPr/>
        </p:nvSpPr>
        <p:spPr>
          <a:xfrm>
            <a:off x="1569746" y="4235690"/>
            <a:ext cx="8969917" cy="2252978"/>
          </a:xfrm>
          <a:prstGeom prst="rect">
            <a:avLst/>
          </a:prstGeom>
          <a:noFill/>
        </p:spPr>
        <p:txBody>
          <a:bodyPr wrap="square" lIns="0" tIns="0" rIns="0" bIns="0" rtlCol="0" anchor="t"/>
          <a:lstStyle/>
          <a:p>
            <a:r>
              <a:rPr lang="en-US" altLang="zh-CN" sz="2500" dirty="0">
                <a:solidFill>
                  <a:schemeClr val="tx1">
                    <a:lumMod val="65000"/>
                    <a:lumOff val="35000"/>
                  </a:schemeClr>
                </a:solidFill>
                <a:latin typeface="+mn-ea"/>
                <a:cs typeface="Times New Roman" panose="02020603050405020304" pitchFamily="18" charset="0"/>
              </a:rPr>
              <a:t>I used JavaFX as </a:t>
            </a:r>
            <a:r>
              <a:rPr lang="en-US" altLang="zh-CN" sz="2500" dirty="0" smtClean="0">
                <a:solidFill>
                  <a:schemeClr val="tx1">
                    <a:lumMod val="65000"/>
                    <a:lumOff val="35000"/>
                  </a:schemeClr>
                </a:solidFill>
                <a:latin typeface="+mn-ea"/>
                <a:cs typeface="Times New Roman" panose="02020603050405020304" pitchFamily="18" charset="0"/>
              </a:rPr>
              <a:t>UI, implemented </a:t>
            </a:r>
            <a:r>
              <a:rPr lang="en-US" altLang="zh-CN" sz="2500" dirty="0">
                <a:solidFill>
                  <a:schemeClr val="tx1">
                    <a:lumMod val="65000"/>
                    <a:lumOff val="35000"/>
                  </a:schemeClr>
                </a:solidFill>
                <a:latin typeface="+mn-ea"/>
                <a:cs typeface="Times New Roman" panose="02020603050405020304" pitchFamily="18" charset="0"/>
              </a:rPr>
              <a:t>an online chat room, which has group chat\private chat\login\register, and other functions</a:t>
            </a:r>
            <a:r>
              <a:rPr lang="zh-CN" altLang="zh-CN" sz="2500" dirty="0" smtClean="0">
                <a:solidFill>
                  <a:schemeClr val="tx1">
                    <a:lumMod val="65000"/>
                    <a:lumOff val="35000"/>
                  </a:schemeClr>
                </a:solidFill>
                <a:latin typeface="+mn-ea"/>
                <a:cs typeface="Times New Roman" panose="02020603050405020304" pitchFamily="18" charset="0"/>
              </a:rPr>
              <a:t>。</a:t>
            </a:r>
            <a:r>
              <a:rPr lang="en-US" altLang="zh-CN" sz="2500" dirty="0" smtClean="0">
                <a:solidFill>
                  <a:schemeClr val="tx1">
                    <a:lumMod val="65000"/>
                    <a:lumOff val="35000"/>
                  </a:schemeClr>
                </a:solidFill>
                <a:latin typeface="+mn-ea"/>
                <a:cs typeface="Times New Roman" panose="02020603050405020304" pitchFamily="18" charset="0"/>
              </a:rPr>
              <a:t>It supports multiple clients connection.</a:t>
            </a:r>
            <a:endParaRPr lang="zh-CN" altLang="zh-CN" sz="2500" dirty="0">
              <a:solidFill>
                <a:schemeClr val="tx1">
                  <a:lumMod val="65000"/>
                  <a:lumOff val="35000"/>
                </a:schemeClr>
              </a:solidFill>
              <a:latin typeface="+mn-ea"/>
              <a:cs typeface="Times New Roman" panose="02020603050405020304" pitchFamily="18" charset="0"/>
            </a:endParaRPr>
          </a:p>
        </p:txBody>
      </p:sp>
      <p:sp>
        <p:nvSpPr>
          <p:cNvPr id="16" name="Object 4">
            <a:extLst>
              <a:ext uri="{FF2B5EF4-FFF2-40B4-BE49-F238E27FC236}">
                <a16:creationId xmlns:a16="http://schemas.microsoft.com/office/drawing/2014/main" id="{5B9FBF90-29DB-486D-9F07-20FF3DCF1E99}"/>
              </a:ext>
            </a:extLst>
          </p:cNvPr>
          <p:cNvSpPr/>
          <p:nvPr/>
        </p:nvSpPr>
        <p:spPr>
          <a:xfrm>
            <a:off x="1845902" y="3622418"/>
            <a:ext cx="4715182" cy="730347"/>
          </a:xfrm>
          <a:prstGeom prst="rect">
            <a:avLst/>
          </a:prstGeom>
          <a:noFill/>
        </p:spPr>
        <p:txBody>
          <a:bodyPr wrap="square" lIns="0" tIns="0" rIns="0" bIns="0" rtlCol="0" anchor="t"/>
          <a:lstStyle/>
          <a:p>
            <a:pPr>
              <a:lnSpc>
                <a:spcPts val="3217"/>
              </a:lnSpc>
              <a:spcAft>
                <a:spcPts val="600"/>
              </a:spcAft>
            </a:pPr>
            <a:r>
              <a:rPr lang="en-US" altLang="zh-CN" sz="2800" b="1" dirty="0" smtClean="0">
                <a:solidFill>
                  <a:schemeClr val="tx1">
                    <a:lumMod val="65000"/>
                    <a:lumOff val="35000"/>
                  </a:schemeClr>
                </a:solidFill>
                <a:latin typeface="+mn-ea"/>
                <a:cs typeface="Times New Roman" panose="02020603050405020304" pitchFamily="18" charset="0"/>
              </a:rPr>
              <a:t>Java Application</a:t>
            </a:r>
            <a:endParaRPr lang="en-US" sz="2800" b="1" dirty="0">
              <a:solidFill>
                <a:schemeClr val="tx1">
                  <a:lumMod val="65000"/>
                  <a:lumOff val="35000"/>
                </a:schemeClr>
              </a:solidFill>
              <a:latin typeface="+mn-ea"/>
              <a:cs typeface="Times New Roman" panose="02020603050405020304" pitchFamily="18" charset="0"/>
            </a:endParaRPr>
          </a:p>
        </p:txBody>
      </p:sp>
      <p:sp>
        <p:nvSpPr>
          <p:cNvPr id="11" name="Object 6">
            <a:extLst>
              <a:ext uri="{FF2B5EF4-FFF2-40B4-BE49-F238E27FC236}">
                <a16:creationId xmlns:a16="http://schemas.microsoft.com/office/drawing/2014/main" id="{BB04409B-C881-4759-8086-04E589597079}"/>
              </a:ext>
            </a:extLst>
          </p:cNvPr>
          <p:cNvSpPr/>
          <p:nvPr/>
        </p:nvSpPr>
        <p:spPr>
          <a:xfrm>
            <a:off x="1569747" y="1735516"/>
            <a:ext cx="133317" cy="133317"/>
          </a:xfrm>
          <a:prstGeom prst="ellipse">
            <a:avLst/>
          </a:prstGeom>
          <a:solidFill>
            <a:srgbClr val="C00000"/>
          </a:solidFill>
        </p:spPr>
      </p:sp>
      <p:sp>
        <p:nvSpPr>
          <p:cNvPr id="15" name="Object 8">
            <a:extLst>
              <a:ext uri="{FF2B5EF4-FFF2-40B4-BE49-F238E27FC236}">
                <a16:creationId xmlns:a16="http://schemas.microsoft.com/office/drawing/2014/main" id="{A2A5A1A6-9BE5-48C4-8EAE-8EFE183E0CC8}"/>
              </a:ext>
            </a:extLst>
          </p:cNvPr>
          <p:cNvSpPr/>
          <p:nvPr/>
        </p:nvSpPr>
        <p:spPr>
          <a:xfrm>
            <a:off x="1636405" y="2133929"/>
            <a:ext cx="8969917" cy="2252978"/>
          </a:xfrm>
          <a:prstGeom prst="rect">
            <a:avLst/>
          </a:prstGeom>
          <a:noFill/>
        </p:spPr>
        <p:txBody>
          <a:bodyPr wrap="square" lIns="0" tIns="0" rIns="0" bIns="0" rtlCol="0" anchor="t"/>
          <a:lstStyle/>
          <a:p>
            <a:r>
              <a:rPr lang="en-US" altLang="zh-CN" sz="2500" dirty="0" smtClean="0">
                <a:solidFill>
                  <a:schemeClr val="tx1">
                    <a:lumMod val="65000"/>
                    <a:lumOff val="35000"/>
                  </a:schemeClr>
                </a:solidFill>
                <a:latin typeface="+mn-ea"/>
                <a:cs typeface="Times New Roman" panose="02020603050405020304" pitchFamily="18" charset="0"/>
              </a:rPr>
              <a:t>I implement a </a:t>
            </a:r>
            <a:r>
              <a:rPr lang="en-US" altLang="zh-CN" sz="2500" dirty="0">
                <a:solidFill>
                  <a:schemeClr val="tx1">
                    <a:lumMod val="65000"/>
                    <a:lumOff val="35000"/>
                  </a:schemeClr>
                </a:solidFill>
                <a:latin typeface="+mn-ea"/>
                <a:cs typeface="Times New Roman" panose="02020603050405020304" pitchFamily="18" charset="0"/>
              </a:rPr>
              <a:t>particle filter algorithm to track the specified target</a:t>
            </a:r>
            <a:r>
              <a:rPr lang="en-US" altLang="zh-CN" sz="2500" dirty="0" smtClean="0">
                <a:solidFill>
                  <a:schemeClr val="tx1">
                    <a:lumMod val="65000"/>
                    <a:lumOff val="35000"/>
                  </a:schemeClr>
                </a:solidFill>
                <a:latin typeface="+mn-ea"/>
                <a:cs typeface="Times New Roman" panose="02020603050405020304" pitchFamily="18" charset="0"/>
              </a:rPr>
              <a:t>.</a:t>
            </a:r>
          </a:p>
          <a:p>
            <a:r>
              <a:rPr lang="en-US" altLang="zh-CN" sz="2500" dirty="0" smtClean="0">
                <a:solidFill>
                  <a:schemeClr val="tx1">
                    <a:lumMod val="65000"/>
                    <a:lumOff val="35000"/>
                  </a:schemeClr>
                </a:solidFill>
                <a:latin typeface="+mn-ea"/>
                <a:cs typeface="Times New Roman" panose="02020603050405020304" pitchFamily="18" charset="0"/>
              </a:rPr>
              <a:t>I implement a reinforcement learning project using Q-learning</a:t>
            </a:r>
          </a:p>
        </p:txBody>
      </p:sp>
      <p:sp>
        <p:nvSpPr>
          <p:cNvPr id="17" name="Object 4">
            <a:extLst>
              <a:ext uri="{FF2B5EF4-FFF2-40B4-BE49-F238E27FC236}">
                <a16:creationId xmlns:a16="http://schemas.microsoft.com/office/drawing/2014/main" id="{5B9FBF90-29DB-486D-9F07-20FF3DCF1E99}"/>
              </a:ext>
            </a:extLst>
          </p:cNvPr>
          <p:cNvSpPr/>
          <p:nvPr/>
        </p:nvSpPr>
        <p:spPr>
          <a:xfrm>
            <a:off x="1845902" y="1568333"/>
            <a:ext cx="4715182" cy="730347"/>
          </a:xfrm>
          <a:prstGeom prst="rect">
            <a:avLst/>
          </a:prstGeom>
          <a:noFill/>
        </p:spPr>
        <p:txBody>
          <a:bodyPr wrap="square" lIns="0" tIns="0" rIns="0" bIns="0" rtlCol="0" anchor="t"/>
          <a:lstStyle/>
          <a:p>
            <a:pPr>
              <a:lnSpc>
                <a:spcPts val="3217"/>
              </a:lnSpc>
              <a:spcAft>
                <a:spcPts val="600"/>
              </a:spcAft>
            </a:pPr>
            <a:r>
              <a:rPr lang="en-US" altLang="zh-CN" sz="2800" b="1" dirty="0" smtClean="0">
                <a:solidFill>
                  <a:schemeClr val="tx1">
                    <a:lumMod val="65000"/>
                    <a:lumOff val="35000"/>
                  </a:schemeClr>
                </a:solidFill>
                <a:latin typeface="+mn-ea"/>
                <a:cs typeface="Times New Roman" panose="02020603050405020304" pitchFamily="18" charset="0"/>
              </a:rPr>
              <a:t>AI project</a:t>
            </a:r>
            <a:endParaRPr lang="en-US" sz="2800" b="1" dirty="0">
              <a:solidFill>
                <a:schemeClr val="tx1">
                  <a:lumMod val="65000"/>
                  <a:lumOff val="35000"/>
                </a:schemeClr>
              </a:solidFill>
              <a:latin typeface="+mn-ea"/>
              <a:cs typeface="Times New Roman" panose="02020603050405020304" pitchFamily="18" charset="0"/>
            </a:endParaRPr>
          </a:p>
        </p:txBody>
      </p:sp>
    </p:spTree>
    <p:extLst>
      <p:ext uri="{BB962C8B-B14F-4D97-AF65-F5344CB8AC3E}">
        <p14:creationId xmlns:p14="http://schemas.microsoft.com/office/powerpoint/2010/main" val="131375820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87F7609B-44D8-4A6F-85A8-FC5A2D0C942D}"/>
              </a:ext>
            </a:extLst>
          </p:cNvPr>
          <p:cNvSpPr/>
          <p:nvPr/>
        </p:nvSpPr>
        <p:spPr>
          <a:xfrm>
            <a:off x="-601039" y="4429364"/>
            <a:ext cx="6004311" cy="4571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E4B5C20D-4A12-483C-8756-87F0BD864146}"/>
              </a:ext>
            </a:extLst>
          </p:cNvPr>
          <p:cNvSpPr txBox="1"/>
          <p:nvPr/>
        </p:nvSpPr>
        <p:spPr>
          <a:xfrm>
            <a:off x="1730807" y="3799134"/>
            <a:ext cx="3672465" cy="830997"/>
          </a:xfrm>
          <a:prstGeom prst="rect">
            <a:avLst/>
          </a:prstGeom>
          <a:noFill/>
        </p:spPr>
        <p:txBody>
          <a:bodyPr vert="horz" wrap="square" rtlCol="0">
            <a:spAutoFit/>
          </a:bodyPr>
          <a:lstStyle>
            <a:defPPr>
              <a:defRPr lang="zh-CN"/>
            </a:defPPr>
            <a:lvl1pPr>
              <a:defRPr sz="2000">
                <a:solidFill>
                  <a:schemeClr val="bg1"/>
                </a:solidFill>
                <a:latin typeface="Verdana" panose="020B0604030504040204" pitchFamily="34" charset="0"/>
                <a:ea typeface="Verdana" panose="020B0604030504040204" pitchFamily="34" charset="0"/>
              </a:defRPr>
            </a:lvl1pPr>
          </a:lstStyle>
          <a:p>
            <a:pPr algn="r"/>
            <a:r>
              <a:rPr lang="en-US" altLang="zh-CN" sz="4800" dirty="0">
                <a:solidFill>
                  <a:schemeClr val="tx1">
                    <a:lumMod val="75000"/>
                    <a:lumOff val="25000"/>
                  </a:schemeClr>
                </a:solidFill>
                <a:latin typeface="Nirmala UI" panose="020B0502040204020203" pitchFamily="34" charset="0"/>
              </a:rPr>
              <a:t>Thanks.</a:t>
            </a:r>
          </a:p>
        </p:txBody>
      </p:sp>
    </p:spTree>
    <p:extLst>
      <p:ext uri="{BB962C8B-B14F-4D97-AF65-F5344CB8AC3E}">
        <p14:creationId xmlns:p14="http://schemas.microsoft.com/office/powerpoint/2010/main" val="428864558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1946</TotalTime>
  <Words>988</Words>
  <Application>Microsoft Office PowerPoint</Application>
  <PresentationFormat>宽屏</PresentationFormat>
  <Paragraphs>169</Paragraphs>
  <Slides>18</Slides>
  <Notes>18</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18</vt:i4>
      </vt:variant>
    </vt:vector>
  </HeadingPairs>
  <TitlesOfParts>
    <vt:vector size="27" baseType="lpstr">
      <vt:lpstr>Nirmala UI</vt:lpstr>
      <vt:lpstr>等线</vt:lpstr>
      <vt:lpstr>Times New Roman</vt:lpstr>
      <vt:lpstr>Arial</vt:lpstr>
      <vt:lpstr>Segoe UI Historic</vt:lpstr>
      <vt:lpstr>等线 Light</vt:lpstr>
      <vt:lpstr>Wingdings</vt:lpstr>
      <vt:lpstr>Verdana</vt:lpstr>
      <vt:lpstr>Office 主题​​</vt:lpstr>
      <vt:lpstr>PowerPoint 演示文稿</vt:lpstr>
      <vt:lpstr>PowerPoint 演示文稿</vt:lpstr>
      <vt:lpstr>PowerPoint 演示文稿</vt:lpstr>
      <vt:lpstr>PowerPoint 演示文稿</vt:lpstr>
      <vt:lpstr>PowerPoint 演示文稿</vt:lpstr>
      <vt:lpstr>PowerPoint 演示文稿</vt:lpstr>
      <vt:lpstr>Device placement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Yuan Tian</dc:creator>
  <cp:lastModifiedBy>luke</cp:lastModifiedBy>
  <cp:revision>160</cp:revision>
  <dcterms:created xsi:type="dcterms:W3CDTF">2020-03-24T14:02:17Z</dcterms:created>
  <dcterms:modified xsi:type="dcterms:W3CDTF">2021-08-22T15:10:40Z</dcterms:modified>
</cp:coreProperties>
</file>