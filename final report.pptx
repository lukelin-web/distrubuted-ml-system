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4.xml" ContentType="application/vnd.openxmlformats-officedocument.presentationml.tags+xml"/>
  <Override PartName="/ppt/notesSlides/notesSlide11.xml" ContentType="application/vnd.openxmlformats-officedocument.presentationml.notesSlide+xml"/>
  <Override PartName="/ppt/tags/tag5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6.xml" ContentType="application/vnd.openxmlformats-officedocument.presentationml.tags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8" r:id="rId2"/>
    <p:sldId id="259" r:id="rId3"/>
    <p:sldId id="335" r:id="rId4"/>
    <p:sldId id="314" r:id="rId5"/>
    <p:sldId id="337" r:id="rId6"/>
    <p:sldId id="331" r:id="rId7"/>
    <p:sldId id="336" r:id="rId8"/>
    <p:sldId id="343" r:id="rId9"/>
    <p:sldId id="329" r:id="rId10"/>
    <p:sldId id="332" r:id="rId11"/>
    <p:sldId id="315" r:id="rId12"/>
    <p:sldId id="342" r:id="rId13"/>
    <p:sldId id="334" r:id="rId14"/>
    <p:sldId id="339" r:id="rId15"/>
    <p:sldId id="316" r:id="rId16"/>
    <p:sldId id="333" r:id="rId17"/>
    <p:sldId id="344" r:id="rId18"/>
    <p:sldId id="340" r:id="rId19"/>
    <p:sldId id="341" r:id="rId20"/>
    <p:sldId id="328" r:id="rId21"/>
  </p:sldIdLst>
  <p:sldSz cx="12192000" cy="6858000"/>
  <p:notesSz cx="6858000" cy="9144000"/>
  <p:custDataLst>
    <p:tags r:id="rId2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017" userDrawn="1">
          <p15:clr>
            <a:srgbClr val="A4A3A4"/>
          </p15:clr>
        </p15:guide>
        <p15:guide id="3" orient="horz" pos="1275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58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杨 智尧" initials="杨" lastIdx="1" clrIdx="0">
    <p:extLst>
      <p:ext uri="{19B8F6BF-5375-455C-9EA6-DF929625EA0E}">
        <p15:presenceInfo xmlns:p15="http://schemas.microsoft.com/office/powerpoint/2012/main" userId="b56bfcca133f64f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5020"/>
    <a:srgbClr val="437729"/>
    <a:srgbClr val="7D7D23"/>
    <a:srgbClr val="F8FAFC"/>
    <a:srgbClr val="5B9BD5"/>
    <a:srgbClr val="0070C0"/>
    <a:srgbClr val="F4F6FB"/>
    <a:srgbClr val="3042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88827" autoAdjust="0"/>
  </p:normalViewPr>
  <p:slideViewPr>
    <p:cSldViewPr snapToGrid="0">
      <p:cViewPr varScale="1">
        <p:scale>
          <a:sx n="60" d="100"/>
          <a:sy n="60" d="100"/>
        </p:scale>
        <p:origin x="116" y="48"/>
      </p:cViewPr>
      <p:guideLst>
        <p:guide pos="6017"/>
        <p:guide orient="horz" pos="1275"/>
        <p:guide pos="3840"/>
        <p:guide orient="horz" pos="5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gs" Target="tags/tag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Sheet1!$K$11</c:f>
              <c:strCache>
                <c:ptCount val="1"/>
                <c:pt idx="0">
                  <c:v>bandwidth GiB/s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Sheet1!$L$10:$O$10</c:f>
              <c:strCache>
                <c:ptCount val="4"/>
                <c:pt idx="0">
                  <c:v>10 Gigabit Ethernet</c:v>
                </c:pt>
                <c:pt idx="1">
                  <c:v>QPI</c:v>
                </c:pt>
                <c:pt idx="2">
                  <c:v>PCI-e(X16 Gen5) </c:v>
                </c:pt>
                <c:pt idx="3">
                  <c:v>   NVLink 2.0</c:v>
                </c:pt>
              </c:strCache>
            </c:strRef>
          </c:cat>
          <c:val>
            <c:numRef>
              <c:f>Sheet1!$L$11:$O$11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63</c:v>
                </c:pt>
                <c:pt idx="3">
                  <c:v>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A02-4C16-B150-DB0022BD52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89000400"/>
        <c:axId val="2089070048"/>
      </c:barChart>
      <c:catAx>
        <c:axId val="20890004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089070048"/>
        <c:crosses val="autoZero"/>
        <c:auto val="1"/>
        <c:lblAlgn val="ctr"/>
        <c:lblOffset val="100"/>
        <c:noMultiLvlLbl val="0"/>
      </c:catAx>
      <c:valAx>
        <c:axId val="20890700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0890004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2A0892-48F5-400D-9A65-6168D6414168}" type="datetimeFigureOut">
              <a:rPr lang="zh-CN" altLang="en-US" smtClean="0"/>
              <a:t>2021/8/29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C55E18-7BE2-43E3-B20E-3C330ADABF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8044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Good afternoon, professor! </a:t>
            </a:r>
            <a:r>
              <a:rPr lang="en-US" altLang="zh-CN" dirty="0" smtClean="0"/>
              <a:t>I am glad to present my summer research project here. The topic of my project is hierarchical reinforcement learning for allocating GPU resources and place jobs. </a:t>
            </a:r>
            <a:endParaRPr lang="zh-CN" altLang="en-US" sz="1200" spc="300" dirty="0">
              <a:solidFill>
                <a:schemeClr val="accent1"/>
              </a:solidFill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C55E18-7BE2-43E3-B20E-3C330ADABFB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41642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C55E18-7BE2-43E3-B20E-3C330ADABFB0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97076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07003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C55E18-7BE2-43E3-B20E-3C330ADABFB0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88082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C55E18-7BE2-43E3-B20E-3C330ADABFB0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66895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63758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the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03885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the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29048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For example, when the GPU cards on a server are allocated to different ML jobs, the </a:t>
            </a:r>
            <a:r>
              <a:rPr lang="en-US" altLang="zh-CN" dirty="0" err="1" smtClean="0"/>
              <a:t>PCIe</a:t>
            </a:r>
            <a:r>
              <a:rPr lang="en-US" altLang="zh-CN" dirty="0" smtClean="0"/>
              <a:t> bus is shared when the jobs shuffle data between their allocated CPU and GPU.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70536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the QPI bus is shared when two allocated GPUs are not attached to the same CPU in the non-uniform memory access architecture.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67970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C55E18-7BE2-43E3-B20E-3C330ADABFB0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3829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C55E18-7BE2-43E3-B20E-3C330ADABFB0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55108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020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spc="300" dirty="0" smtClean="0">
                <a:solidFill>
                  <a:schemeClr val="accent1"/>
                </a:solidFill>
              </a:rPr>
              <a:t>That’s all, thank you</a:t>
            </a:r>
            <a:r>
              <a:rPr lang="en-US" altLang="zh-CN" sz="1200" spc="300" baseline="0" dirty="0" smtClean="0">
                <a:solidFill>
                  <a:schemeClr val="accent1"/>
                </a:solidFill>
              </a:rPr>
              <a:t> for listening!</a:t>
            </a:r>
            <a:endParaRPr lang="zh-CN" altLang="en-US" sz="1200" spc="300" dirty="0">
              <a:solidFill>
                <a:schemeClr val="accent1"/>
              </a:solidFill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C55E18-7BE2-43E3-B20E-3C330ADABFB0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43244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B97D71-3412-49FC-AB3A-B094379594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BECEA9F-D75C-418A-A150-85D0BAA51D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7B66BA2-584E-471F-B4FA-48F4E6324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0F6C9-59DB-45A4-B5F3-4BA38C0FBD5F}" type="datetimeFigureOut">
              <a:rPr lang="zh-CN" altLang="en-US" smtClean="0"/>
              <a:t>2021/8/29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0C978-AA1B-41A3-A1B6-E98898CAC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F8B3D4-061A-401A-B160-905091506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8433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1A1871-31C2-4C5D-BE4D-B9F60B744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C75462-EF10-48BA-B7A5-198A50309F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8B04FD-D904-4A15-ABF9-ECACEB16C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0F6C9-59DB-45A4-B5F3-4BA38C0FBD5F}" type="datetimeFigureOut">
              <a:rPr lang="zh-CN" altLang="en-US" smtClean="0"/>
              <a:t>2021/8/29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DEB889A-2284-4BF6-8D49-4A4281482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942C13-BDF2-4EF3-9C34-D09BA9E10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4392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A0C2DD-0E62-42C3-B299-8086286AD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C76FA0C-1F2E-4A08-9884-5638A6D2CD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CC6BBD-81F2-46BE-9F46-71267F88A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0F6C9-59DB-45A4-B5F3-4BA38C0FBD5F}" type="datetimeFigureOut">
              <a:rPr lang="zh-CN" altLang="en-US" smtClean="0"/>
              <a:t>2021/8/29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69961E-6066-46C2-9130-1C3513F0B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1796815-3529-4CC8-9AF5-A6DCA9912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3436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6B360F-B09F-4AEB-8D9D-A03724018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FE71CA-F1AC-41B4-97C8-20B4248019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6BD0DB5-EEF4-4B62-AA9C-A227E8155E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4430A6-5FEC-430E-B30A-5AD2C35CD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0F6C9-59DB-45A4-B5F3-4BA38C0FBD5F}" type="datetimeFigureOut">
              <a:rPr lang="zh-CN" altLang="en-US" smtClean="0"/>
              <a:t>2021/8/29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A4074A9-204C-485F-8A60-347B2E351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D85F218-DBB8-42A8-A542-7231A970C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5274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C47078-6F23-45C2-B1BD-6B5095A60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4C4473-BF91-4CC3-BFC0-CD21EE7C0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540F2BA-42FF-4E06-B247-F4081CA71C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4DBEA62-C161-4028-A381-A6B5BD2C13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767D8E3-50A5-44CC-90F6-BE04EB1A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BE39A16-1D08-4710-A71C-EE91D03F5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0F6C9-59DB-45A4-B5F3-4BA38C0FBD5F}" type="datetimeFigureOut">
              <a:rPr lang="zh-CN" altLang="en-US" smtClean="0"/>
              <a:t>2021/8/29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B9242FC-9CAB-4B5F-A7A5-CEB1D9DF6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1CA6FE1-8ED6-4591-9C37-A30F3247E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0854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882C06-44E9-4B85-A782-BB8CEF892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C6D7B99-D94A-49E5-A066-1859398E9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0F6C9-59DB-45A4-B5F3-4BA38C0FBD5F}" type="datetimeFigureOut">
              <a:rPr lang="zh-CN" altLang="en-US" smtClean="0"/>
              <a:t>2021/8/29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48F5559-5C49-4CCD-ADDF-5BD1333A3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0D14802-6233-4703-B355-0555AB4AB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870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B8DFD89-7571-422B-A8ED-F4B1FA583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0F6C9-59DB-45A4-B5F3-4BA38C0FBD5F}" type="datetimeFigureOut">
              <a:rPr lang="zh-CN" altLang="en-US" smtClean="0"/>
              <a:t>2021/8/29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6C81FB9-1313-44C0-838B-C9CE63D21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BD96345-807B-47A6-805D-A8F4ED614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7657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3E11B-37BA-406F-BF21-C6D3290FB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08AF67E-79EE-425C-BFE6-4F699C90D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53BB85C-C165-4429-B0A2-50E424FE3C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17EE054-6F97-493E-8A56-3ACFD63F0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0F6C9-59DB-45A4-B5F3-4BA38C0FBD5F}" type="datetimeFigureOut">
              <a:rPr lang="zh-CN" altLang="en-US" smtClean="0"/>
              <a:t>2021/8/29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183DBEB-BC03-46C5-BD8E-B226CC269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4FC9193-D822-487D-9082-67C670232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2717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F4283C-9AFF-446E-95DD-F63435972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165B3D3-8929-4BC0-B8BE-8D61138CBD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55F133-A3AC-4274-A518-6BFFA09B89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5DC452-5DAA-41FF-A893-08AFD9C0E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0F6C9-59DB-45A4-B5F3-4BA38C0FBD5F}" type="datetimeFigureOut">
              <a:rPr lang="zh-CN" altLang="en-US" smtClean="0"/>
              <a:t>2021/8/29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EB5E31-E28C-4540-BE3A-D58EF0C27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12A650A-66CF-400D-804F-9175B2565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636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82E4CD-BBE7-4B44-B72B-0A263637A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341A351-E9A1-4364-90E0-36AEEB30F5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2A6F19E-E700-4D16-A2D2-9A6C2AAD2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0F6C9-59DB-45A4-B5F3-4BA38C0FBD5F}" type="datetimeFigureOut">
              <a:rPr lang="zh-CN" altLang="en-US" smtClean="0"/>
              <a:t>2021/8/29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DDCE25-80B8-4B82-9245-8B4532446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95DF695-1B1C-46BC-BC21-B9D66DEE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7385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895EE86-4371-4751-8C6A-CDA4060E62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502817-C4FB-48AB-89ED-0AE9C86C7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411B06-5488-4B43-968C-F90D6FCC6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0F6C9-59DB-45A4-B5F3-4BA38C0FBD5F}" type="datetimeFigureOut">
              <a:rPr lang="zh-CN" altLang="en-US" smtClean="0"/>
              <a:t>2021/8/29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1FC875-5F0B-4DB3-9C69-4BA4E12E6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7861CE-CF8D-43AF-A550-FC8ECEA97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1929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6653704-19FB-4C37-B629-6EECA881D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E9623F6-53F0-466F-BD13-FEEC10C07C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CD720E-065A-48AB-8FD3-242CD357D3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50F6C9-59DB-45A4-B5F3-4BA38C0FBD5F}" type="datetimeFigureOut">
              <a:rPr lang="zh-CN" altLang="en-US" smtClean="0"/>
              <a:t>2021/8/29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BD05687-D96F-4DE9-A3DE-36A6F4D015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AD56E9-2906-4BD1-9954-385F55D278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3342FE-1BF8-4D8F-9E56-10AC0B9381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9135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Juyi </a:t>
            </a:r>
            <a:r>
              <a:rPr lang="en-US" altLang="zh-CN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</a:t>
            </a:r>
          </a:p>
          <a:p>
            <a:pPr algn="ctr"/>
            <a:r>
              <a:rPr lang="en-US" altLang="zh-CN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Supervised by Prof. </a:t>
            </a:r>
            <a:r>
              <a:rPr lang="en-US" altLang="zh-CN" sz="2400" dirty="0" err="1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C.Wu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1200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en-US" altLang="zh-CN" sz="3600" spc="300" dirty="0" smtClean="0">
                <a:solidFill>
                  <a:schemeClr val="accent1"/>
                </a:solidFill>
              </a:rPr>
              <a:t>Hierarchical </a:t>
            </a:r>
            <a:r>
              <a:rPr lang="en-US" altLang="zh-CN" sz="3600" spc="300" dirty="0">
                <a:solidFill>
                  <a:schemeClr val="accent1"/>
                </a:solidFill>
              </a:rPr>
              <a:t>Scheduler </a:t>
            </a:r>
          </a:p>
          <a:p>
            <a:r>
              <a:rPr lang="en-US" altLang="zh-CN" sz="3600" spc="300" dirty="0">
                <a:solidFill>
                  <a:schemeClr val="accent1"/>
                </a:solidFill>
              </a:rPr>
              <a:t>For Deep Learning Cluster</a:t>
            </a: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505019" y="3888553"/>
            <a:ext cx="394936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HKU Summer Research Presentation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/>
          <p:cNvSpPr/>
          <p:nvPr/>
        </p:nvSpPr>
        <p:spPr>
          <a:xfrm>
            <a:off x="676210" y="6082425"/>
            <a:ext cx="13324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+mn-ea"/>
              </a:rPr>
              <a:t>2021/08/30</a:t>
            </a:r>
            <a:endParaRPr lang="zh-CN" altLang="en-US" dirty="0">
              <a:latin typeface="等线" panose="02010600030101010101" charset="-122"/>
              <a:ea typeface="等线" panose="02010600030101010101" charset="-122"/>
              <a:cs typeface="等线" panose="02010600030101010101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4598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635"/>
    </mc:Choice>
    <mc:Fallback xmlns="">
      <p:transition spd="slow" advTm="12635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7" name="稻壳儿搜索【幻雨工作室】__2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3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9" name="稻壳儿搜索【幻雨工作室】__5">
            <a:extLst>
              <a:ext uri="{FF2B5EF4-FFF2-40B4-BE49-F238E27FC236}">
                <a16:creationId xmlns:a16="http://schemas.microsoft.com/office/drawing/2014/main" id="{92F68D92-1087-4DA9-BE0B-8C113C415C0D}"/>
              </a:ext>
            </a:extLst>
          </p:cNvPr>
          <p:cNvSpPr/>
          <p:nvPr/>
        </p:nvSpPr>
        <p:spPr>
          <a:xfrm>
            <a:off x="2223051" y="2799716"/>
            <a:ext cx="1213172" cy="1226099"/>
          </a:xfrm>
          <a:prstGeom prst="ellipse">
            <a:avLst/>
          </a:prstGeom>
          <a:solidFill>
            <a:schemeClr val="accent1"/>
          </a:solidFill>
          <a:ln w="25400">
            <a:noFill/>
          </a:ln>
          <a:effectLst>
            <a:outerShdw blurRad="571500" dist="482600" dir="7500000" sx="68000" sy="68000" algn="ctr" rotWithShape="0">
              <a:srgbClr val="000000">
                <a:alpha val="1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01</a:t>
            </a:r>
            <a:endParaRPr lang="zh-CN" altLang="en-US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稻壳儿搜索【幻雨工作室】__6">
            <a:extLst>
              <a:ext uri="{FF2B5EF4-FFF2-40B4-BE49-F238E27FC236}">
                <a16:creationId xmlns:a16="http://schemas.microsoft.com/office/drawing/2014/main" id="{37CD99D6-8B12-4DDE-AFF2-ED4593DD50AA}"/>
              </a:ext>
            </a:extLst>
          </p:cNvPr>
          <p:cNvSpPr/>
          <p:nvPr/>
        </p:nvSpPr>
        <p:spPr>
          <a:xfrm>
            <a:off x="5076083" y="2815950"/>
            <a:ext cx="1213172" cy="1226099"/>
          </a:xfrm>
          <a:prstGeom prst="ellipse">
            <a:avLst/>
          </a:prstGeom>
          <a:solidFill>
            <a:schemeClr val="accent1"/>
          </a:solidFill>
          <a:ln w="25400">
            <a:noFill/>
          </a:ln>
          <a:effectLst>
            <a:outerShdw blurRad="571500" dist="482600" dir="7500000" sx="68000" sy="68000" algn="ctr" rotWithShape="0">
              <a:srgbClr val="000000">
                <a:alpha val="1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02</a:t>
            </a:r>
            <a:endParaRPr lang="zh-CN" altLang="en-US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稻壳儿搜索【幻雨工作室】__8">
            <a:extLst>
              <a:ext uri="{FF2B5EF4-FFF2-40B4-BE49-F238E27FC236}">
                <a16:creationId xmlns:a16="http://schemas.microsoft.com/office/drawing/2014/main" id="{F227342D-C1A8-471D-8F4B-A2E37231ABC2}"/>
              </a:ext>
            </a:extLst>
          </p:cNvPr>
          <p:cNvSpPr/>
          <p:nvPr/>
        </p:nvSpPr>
        <p:spPr>
          <a:xfrm>
            <a:off x="7929115" y="2815950"/>
            <a:ext cx="1213172" cy="1226099"/>
          </a:xfrm>
          <a:prstGeom prst="ellipse">
            <a:avLst/>
          </a:prstGeom>
          <a:solidFill>
            <a:schemeClr val="accent1"/>
          </a:solidFill>
          <a:ln w="25400">
            <a:noFill/>
          </a:ln>
          <a:effectLst>
            <a:outerShdw blurRad="571500" dist="482600" dir="7500000" sx="68000" sy="68000" algn="ctr" rotWithShape="0">
              <a:srgbClr val="000000">
                <a:alpha val="1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03</a:t>
            </a:r>
            <a:endParaRPr lang="zh-CN" altLang="en-US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稻壳儿搜索【幻雨工作室】__9">
            <a:extLst>
              <a:ext uri="{FF2B5EF4-FFF2-40B4-BE49-F238E27FC236}">
                <a16:creationId xmlns:a16="http://schemas.microsoft.com/office/drawing/2014/main" id="{DDF992BB-257C-4045-B409-41CF5DE464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7193" y="4276795"/>
            <a:ext cx="2825469" cy="683264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ctr" defTabSz="685800">
              <a:lnSpc>
                <a:spcPct val="120000"/>
              </a:lnSpc>
              <a:defRPr/>
            </a:pPr>
            <a:r>
              <a:rPr lang="en-US" altLang="zh-CN" sz="32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endParaRPr lang="en-US" altLang="zh-CN" sz="32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稻壳儿搜索【幻雨工作室】__10">
            <a:extLst>
              <a:ext uri="{FF2B5EF4-FFF2-40B4-BE49-F238E27FC236}">
                <a16:creationId xmlns:a16="http://schemas.microsoft.com/office/drawing/2014/main" id="{220DDF6A-2E37-47CC-8689-24F0FBB859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8473" y="4267988"/>
            <a:ext cx="2217011" cy="633187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ctr" defTabSz="685800">
              <a:lnSpc>
                <a:spcPct val="120000"/>
              </a:lnSpc>
              <a:defRPr/>
            </a:pPr>
            <a:r>
              <a:rPr lang="en-US" altLang="zh-CN" sz="32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Progress</a:t>
            </a:r>
            <a:endParaRPr lang="en-US" altLang="zh-CN" sz="32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" name="稻壳儿搜索【幻雨工作室】__13">
            <a:extLst>
              <a:ext uri="{FF2B5EF4-FFF2-40B4-BE49-F238E27FC236}">
                <a16:creationId xmlns:a16="http://schemas.microsoft.com/office/drawing/2014/main" id="{5C439B9F-E652-4578-8FB7-D526292967C3}"/>
              </a:ext>
            </a:extLst>
          </p:cNvPr>
          <p:cNvCxnSpPr>
            <a:cxnSpLocks/>
          </p:cNvCxnSpPr>
          <p:nvPr/>
        </p:nvCxnSpPr>
        <p:spPr>
          <a:xfrm>
            <a:off x="4546600" y="1798223"/>
            <a:ext cx="318770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稻壳儿搜索【幻雨工作室】__10">
            <a:extLst>
              <a:ext uri="{FF2B5EF4-FFF2-40B4-BE49-F238E27FC236}">
                <a16:creationId xmlns:a16="http://schemas.microsoft.com/office/drawing/2014/main" id="{220DDF6A-2E37-47CC-8689-24F0FBB859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95815" y="4276795"/>
            <a:ext cx="2608039" cy="633187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ctr" defTabSz="685800">
              <a:lnSpc>
                <a:spcPct val="120000"/>
              </a:lnSpc>
              <a:defRPr/>
            </a:pPr>
            <a:r>
              <a:rPr lang="en-US" altLang="zh-CN" sz="32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Future Work</a:t>
            </a:r>
            <a:endParaRPr lang="en-US" altLang="zh-CN" sz="32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稻壳儿搜索【幻雨工作室】__10">
            <a:extLst>
              <a:ext uri="{FF2B5EF4-FFF2-40B4-BE49-F238E27FC236}">
                <a16:creationId xmlns:a16="http://schemas.microsoft.com/office/drawing/2014/main" id="{220DDF6A-2E37-47CC-8689-24F0FBB859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87494" y="1030575"/>
            <a:ext cx="2217011" cy="768415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ctr" defTabSz="685800">
              <a:lnSpc>
                <a:spcPct val="120000"/>
              </a:lnSpc>
              <a:defRPr/>
            </a:pPr>
            <a:r>
              <a:rPr lang="en-US" altLang="zh-CN" sz="40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Outline</a:t>
            </a:r>
            <a:endParaRPr lang="en-US" altLang="zh-CN" sz="40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6116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/>
      <p:bldP spid="74" grpId="0"/>
      <p:bldP spid="14" grpId="0"/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/>
        </p:nvSpPr>
        <p:spPr>
          <a:xfrm>
            <a:off x="7190441" y="939053"/>
            <a:ext cx="3815977" cy="397584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5141" y="2208179"/>
            <a:ext cx="1155700" cy="11557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321" y="3302755"/>
            <a:ext cx="746985" cy="67391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3610536" y="3192333"/>
            <a:ext cx="3448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chemeClr val="bg1"/>
                </a:solidFill>
              </a:rPr>
              <a:t>Submit # GPUs 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5141" y="3581684"/>
            <a:ext cx="1155700" cy="115570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0741" y="3581684"/>
            <a:ext cx="1155700" cy="115570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0741" y="2208179"/>
            <a:ext cx="1155700" cy="1155700"/>
          </a:xfrm>
          <a:prstGeom prst="rect">
            <a:avLst/>
          </a:prstGeom>
        </p:spPr>
      </p:pic>
      <p:sp>
        <p:nvSpPr>
          <p:cNvPr id="15" name="稻壳儿搜索【幻雨工作室】__1">
            <a:extLst>
              <a:ext uri="{FF2B5EF4-FFF2-40B4-BE49-F238E27FC236}">
                <a16:creationId xmlns:a16="http://schemas.microsoft.com/office/drawing/2014/main" id="{D9FE0944-3B00-40DF-AA91-60AEB7C9E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01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6" name="稻壳儿搜索【幻雨工作室】__2">
            <a:extLst>
              <a:ext uri="{FF2B5EF4-FFF2-40B4-BE49-F238E27FC236}">
                <a16:creationId xmlns:a16="http://schemas.microsoft.com/office/drawing/2014/main" id="{579731AE-6C87-46B5-BAC3-570262B42B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428" y="408204"/>
            <a:ext cx="2909448" cy="646331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r"/>
            <a:r>
              <a:rPr lang="en-US" altLang="zh-CN" sz="3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Background</a:t>
            </a:r>
            <a:endParaRPr lang="en-US" altLang="zh-CN" sz="36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20" name="稻壳儿搜索【幻雨工作室】__2">
            <a:extLst>
              <a:ext uri="{FF2B5EF4-FFF2-40B4-BE49-F238E27FC236}">
                <a16:creationId xmlns:a16="http://schemas.microsoft.com/office/drawing/2014/main" id="{086D702B-2401-44B9-B91D-B73182798FF2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6924566" y="5042225"/>
            <a:ext cx="43925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</a:rPr>
              <a:t>Expensive hardware (e.g., GPUs)</a:t>
            </a:r>
            <a:endParaRPr lang="zh-CN" altLang="en-US" sz="2400" dirty="0">
              <a:solidFill>
                <a:srgbClr val="FF0000"/>
              </a:solidFill>
            </a:endParaRPr>
          </a:p>
        </p:txBody>
      </p:sp>
      <p:sp>
        <p:nvSpPr>
          <p:cNvPr id="21" name="右箭头 20"/>
          <p:cNvSpPr/>
          <p:nvPr/>
        </p:nvSpPr>
        <p:spPr>
          <a:xfrm>
            <a:off x="3365124" y="2743716"/>
            <a:ext cx="3556000" cy="1358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2" name="文本框 21"/>
          <p:cNvSpPr txBox="1"/>
          <p:nvPr/>
        </p:nvSpPr>
        <p:spPr>
          <a:xfrm>
            <a:off x="3612961" y="3178045"/>
            <a:ext cx="24112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 smtClean="0">
                <a:solidFill>
                  <a:schemeClr val="bg1"/>
                </a:solidFill>
              </a:rPr>
              <a:t>Submit ML  jobs 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2780D51-B0AF-4922-85EE-8A372E9AC621}"/>
              </a:ext>
            </a:extLst>
          </p:cNvPr>
          <p:cNvSpPr txBox="1"/>
          <p:nvPr/>
        </p:nvSpPr>
        <p:spPr>
          <a:xfrm>
            <a:off x="-98272" y="1201584"/>
            <a:ext cx="628731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500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Deep Learning Training </a:t>
            </a:r>
          </a:p>
          <a:p>
            <a:pPr algn="ctr"/>
            <a:r>
              <a:rPr lang="en-US" altLang="zh-CN" sz="2500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in shared Clusters </a:t>
            </a:r>
            <a:endParaRPr kumimoji="1" lang="zh-CN" altLang="en-US" sz="2500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4122" y="2965800"/>
            <a:ext cx="746985" cy="673910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8923" y="2615500"/>
            <a:ext cx="746985" cy="673910"/>
          </a:xfrm>
          <a:prstGeom prst="rect">
            <a:avLst/>
          </a:prstGeom>
        </p:spPr>
      </p:pic>
      <p:sp>
        <p:nvSpPr>
          <p:cNvPr id="26" name="文本框 25"/>
          <p:cNvSpPr txBox="1"/>
          <p:nvPr/>
        </p:nvSpPr>
        <p:spPr>
          <a:xfrm>
            <a:off x="7384693" y="1026897"/>
            <a:ext cx="3318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Shared compute cluster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082409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稻壳儿搜索【幻雨工作室】__1">
            <a:extLst>
              <a:ext uri="{FF2B5EF4-FFF2-40B4-BE49-F238E27FC236}">
                <a16:creationId xmlns:a16="http://schemas.microsoft.com/office/drawing/2014/main" id="{D9FE0944-3B00-40DF-AA91-60AEB7C9E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01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68" name="稻壳儿搜索【幻雨工作室】__2">
            <a:extLst>
              <a:ext uri="{FF2B5EF4-FFF2-40B4-BE49-F238E27FC236}">
                <a16:creationId xmlns:a16="http://schemas.microsoft.com/office/drawing/2014/main" id="{579731AE-6C87-46B5-BAC3-570262B42B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428" y="408204"/>
            <a:ext cx="2909448" cy="646331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r"/>
            <a:r>
              <a:rPr lang="en-US" altLang="zh-CN" sz="3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Background</a:t>
            </a:r>
            <a:endParaRPr lang="en-US" altLang="zh-CN" sz="36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69" name="稻壳儿搜索【幻雨工作室】__2">
            <a:extLst>
              <a:ext uri="{FF2B5EF4-FFF2-40B4-BE49-F238E27FC236}">
                <a16:creationId xmlns:a16="http://schemas.microsoft.com/office/drawing/2014/main" id="{086D702B-2401-44B9-B91D-B73182798FF2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2780D51-B0AF-4922-85EE-8A372E9AC621}"/>
              </a:ext>
            </a:extLst>
          </p:cNvPr>
          <p:cNvSpPr txBox="1"/>
          <p:nvPr/>
        </p:nvSpPr>
        <p:spPr>
          <a:xfrm>
            <a:off x="190550" y="993643"/>
            <a:ext cx="427316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500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Parameters Server Architecture</a:t>
            </a:r>
            <a:endParaRPr kumimoji="1" lang="zh-CN" altLang="en-US" sz="2500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772444" y="3296419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gradient</a:t>
            </a:r>
            <a:endParaRPr lang="zh-CN" altLang="en-US" dirty="0"/>
          </a:p>
        </p:txBody>
      </p:sp>
      <p:cxnSp>
        <p:nvCxnSpPr>
          <p:cNvPr id="18" name="直接箭头连接符 17"/>
          <p:cNvCxnSpPr/>
          <p:nvPr/>
        </p:nvCxnSpPr>
        <p:spPr>
          <a:xfrm flipH="1">
            <a:off x="4723324" y="2155004"/>
            <a:ext cx="7161" cy="200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/>
          <p:nvPr/>
        </p:nvCxnSpPr>
        <p:spPr>
          <a:xfrm>
            <a:off x="5043193" y="2080325"/>
            <a:ext cx="3736113" cy="20571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>
            <a:off x="5271508" y="1770955"/>
            <a:ext cx="3443241" cy="265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4212609" y="740117"/>
            <a:ext cx="923888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3200" b="1" cap="none" spc="0" dirty="0" smtClean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PS</a:t>
            </a:r>
            <a:endParaRPr lang="zh-CN" altLang="en-US" sz="3200" b="1" cap="none" spc="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9267296" y="4256136"/>
            <a:ext cx="243859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3200" b="1" dirty="0" smtClean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worker</a:t>
            </a:r>
            <a:endParaRPr lang="zh-CN" altLang="en-US" sz="3200" b="1" cap="none" spc="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772444" y="3891944"/>
            <a:ext cx="1305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parameters</a:t>
            </a:r>
            <a:endParaRPr lang="zh-CN" altLang="en-US" dirty="0"/>
          </a:p>
        </p:txBody>
      </p:sp>
      <p:cxnSp>
        <p:nvCxnSpPr>
          <p:cNvPr id="4" name="直接箭头连接符 3"/>
          <p:cNvCxnSpPr/>
          <p:nvPr/>
        </p:nvCxnSpPr>
        <p:spPr>
          <a:xfrm>
            <a:off x="845449" y="3786768"/>
            <a:ext cx="1481683" cy="0"/>
          </a:xfrm>
          <a:prstGeom prst="straightConnector1">
            <a:avLst/>
          </a:prstGeom>
          <a:ln>
            <a:prstDash val="lg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/>
        </p:nvCxnSpPr>
        <p:spPr>
          <a:xfrm>
            <a:off x="845449" y="4388571"/>
            <a:ext cx="14816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 flipV="1">
            <a:off x="4418854" y="2126602"/>
            <a:ext cx="14325" cy="2001159"/>
          </a:xfrm>
          <a:prstGeom prst="straightConnector1">
            <a:avLst/>
          </a:prstGeom>
          <a:ln>
            <a:prstDash val="lg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/>
          <p:nvPr/>
        </p:nvCxnSpPr>
        <p:spPr>
          <a:xfrm flipH="1" flipV="1">
            <a:off x="5271510" y="2049243"/>
            <a:ext cx="3656417" cy="2028411"/>
          </a:xfrm>
          <a:prstGeom prst="straightConnector1">
            <a:avLst/>
          </a:prstGeom>
          <a:ln>
            <a:prstDash val="lg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/>
        </p:nvCxnSpPr>
        <p:spPr>
          <a:xfrm flipH="1" flipV="1">
            <a:off x="5233830" y="1393806"/>
            <a:ext cx="3480919" cy="25069"/>
          </a:xfrm>
          <a:prstGeom prst="straightConnector1">
            <a:avLst/>
          </a:prstGeom>
          <a:ln>
            <a:prstDash val="lg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/>
          <p:cNvSpPr/>
          <p:nvPr/>
        </p:nvSpPr>
        <p:spPr>
          <a:xfrm>
            <a:off x="8379062" y="670409"/>
            <a:ext cx="1699121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3200" b="1" dirty="0" smtClean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worker</a:t>
            </a:r>
            <a:endParaRPr lang="zh-CN" altLang="en-US" sz="3200" b="1" cap="none" spc="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  <p:sp>
        <p:nvSpPr>
          <p:cNvPr id="12" name="流程图: 磁盘 11"/>
          <p:cNvSpPr/>
          <p:nvPr/>
        </p:nvSpPr>
        <p:spPr>
          <a:xfrm>
            <a:off x="4159876" y="5271920"/>
            <a:ext cx="898635" cy="636137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箭头连接符 13"/>
          <p:cNvCxnSpPr/>
          <p:nvPr/>
        </p:nvCxnSpPr>
        <p:spPr>
          <a:xfrm>
            <a:off x="4586178" y="4880631"/>
            <a:ext cx="0" cy="3908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流程图: 磁盘 31"/>
          <p:cNvSpPr/>
          <p:nvPr/>
        </p:nvSpPr>
        <p:spPr>
          <a:xfrm>
            <a:off x="8779306" y="5271920"/>
            <a:ext cx="898635" cy="636137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3" name="直接箭头连接符 32"/>
          <p:cNvCxnSpPr/>
          <p:nvPr/>
        </p:nvCxnSpPr>
        <p:spPr>
          <a:xfrm>
            <a:off x="9205608" y="4880631"/>
            <a:ext cx="0" cy="3908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流程图: 磁盘 34"/>
          <p:cNvSpPr/>
          <p:nvPr/>
        </p:nvSpPr>
        <p:spPr>
          <a:xfrm>
            <a:off x="8756290" y="2489223"/>
            <a:ext cx="898635" cy="636137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箭头连接符 35"/>
          <p:cNvCxnSpPr/>
          <p:nvPr/>
        </p:nvCxnSpPr>
        <p:spPr>
          <a:xfrm>
            <a:off x="9182592" y="2097934"/>
            <a:ext cx="0" cy="3908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3057971" y="5405322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dataset</a:t>
            </a:r>
            <a:endParaRPr lang="zh-CN" altLang="en-US" dirty="0"/>
          </a:p>
        </p:txBody>
      </p:sp>
      <p:sp>
        <p:nvSpPr>
          <p:cNvPr id="42" name="文本框 41"/>
          <p:cNvSpPr txBox="1"/>
          <p:nvPr/>
        </p:nvSpPr>
        <p:spPr>
          <a:xfrm>
            <a:off x="7805526" y="5405322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dataset</a:t>
            </a:r>
            <a:endParaRPr lang="zh-CN" altLang="en-US" dirty="0"/>
          </a:p>
        </p:txBody>
      </p:sp>
      <p:sp>
        <p:nvSpPr>
          <p:cNvPr id="43" name="文本框 42"/>
          <p:cNvSpPr txBox="1"/>
          <p:nvPr/>
        </p:nvSpPr>
        <p:spPr>
          <a:xfrm>
            <a:off x="7827647" y="2641009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dataset</a:t>
            </a:r>
            <a:endParaRPr lang="zh-CN" altLang="en-US" dirty="0"/>
          </a:p>
        </p:txBody>
      </p:sp>
      <p:sp>
        <p:nvSpPr>
          <p:cNvPr id="44" name="矩形 43"/>
          <p:cNvSpPr/>
          <p:nvPr/>
        </p:nvSpPr>
        <p:spPr>
          <a:xfrm>
            <a:off x="4212609" y="4231744"/>
            <a:ext cx="803563" cy="609167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6" name="矩形 45"/>
          <p:cNvSpPr/>
          <p:nvPr/>
        </p:nvSpPr>
        <p:spPr>
          <a:xfrm>
            <a:off x="8828091" y="4244722"/>
            <a:ext cx="803563" cy="609167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9" name="矩形 48"/>
          <p:cNvSpPr/>
          <p:nvPr/>
        </p:nvSpPr>
        <p:spPr>
          <a:xfrm>
            <a:off x="8771427" y="1324892"/>
            <a:ext cx="803563" cy="609167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/>
          <p:cNvSpPr txBox="1"/>
          <p:nvPr/>
        </p:nvSpPr>
        <p:spPr>
          <a:xfrm>
            <a:off x="8781689" y="1397659"/>
            <a:ext cx="86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</a:rPr>
              <a:t>GPU3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8824960" y="4369135"/>
            <a:ext cx="86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</a:rPr>
              <a:t>GPU2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192838" y="4351661"/>
            <a:ext cx="86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</a:rPr>
              <a:t>GPU1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313310" y="4193683"/>
            <a:ext cx="243859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3200" b="1" dirty="0" smtClean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worker</a:t>
            </a:r>
            <a:endParaRPr lang="zh-CN" altLang="en-US" sz="3200" b="1" cap="none" spc="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4184396" y="1331619"/>
            <a:ext cx="803563" cy="609167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/>
          <p:cNvSpPr txBox="1"/>
          <p:nvPr/>
        </p:nvSpPr>
        <p:spPr>
          <a:xfrm>
            <a:off x="4164625" y="1451536"/>
            <a:ext cx="86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</a:rPr>
              <a:t>GPU0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852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稻壳儿搜索【幻雨工作室】__1">
            <a:extLst>
              <a:ext uri="{FF2B5EF4-FFF2-40B4-BE49-F238E27FC236}">
                <a16:creationId xmlns:a16="http://schemas.microsoft.com/office/drawing/2014/main" id="{D9FE0944-3B00-40DF-AA91-60AEB7C9E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01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68" name="稻壳儿搜索【幻雨工作室】__2">
            <a:extLst>
              <a:ext uri="{FF2B5EF4-FFF2-40B4-BE49-F238E27FC236}">
                <a16:creationId xmlns:a16="http://schemas.microsoft.com/office/drawing/2014/main" id="{579731AE-6C87-46B5-BAC3-570262B42B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428" y="408204"/>
            <a:ext cx="2909448" cy="646331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r"/>
            <a:r>
              <a:rPr lang="en-US" altLang="zh-CN" sz="3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Background</a:t>
            </a:r>
            <a:endParaRPr lang="en-US" altLang="zh-CN" sz="36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69" name="稻壳儿搜索【幻雨工作室】__2">
            <a:extLst>
              <a:ext uri="{FF2B5EF4-FFF2-40B4-BE49-F238E27FC236}">
                <a16:creationId xmlns:a16="http://schemas.microsoft.com/office/drawing/2014/main" id="{086D702B-2401-44B9-B91D-B73182798FF2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/>
          <p:cNvSpPr/>
          <p:nvPr/>
        </p:nvSpPr>
        <p:spPr>
          <a:xfrm>
            <a:off x="1942471" y="2740947"/>
            <a:ext cx="243859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3200" b="1" dirty="0" smtClean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Non-linear!</a:t>
            </a:r>
            <a:endParaRPr lang="zh-CN" altLang="en-US" sz="3200" b="1" cap="none" spc="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1372976" y="1785597"/>
            <a:ext cx="4787192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3200" b="1" dirty="0" smtClean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Add more worker?</a:t>
            </a:r>
            <a:endParaRPr lang="zh-CN" altLang="en-US" sz="3200" b="1" cap="none" spc="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  <p:sp>
        <p:nvSpPr>
          <p:cNvPr id="2" name="左箭头 1"/>
          <p:cNvSpPr/>
          <p:nvPr/>
        </p:nvSpPr>
        <p:spPr>
          <a:xfrm>
            <a:off x="4446349" y="2835067"/>
            <a:ext cx="1714400" cy="409267"/>
          </a:xfrm>
          <a:prstGeom prst="leftArrow">
            <a:avLst>
              <a:gd name="adj1" fmla="val 43104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6055684" y="2705725"/>
            <a:ext cx="6031832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3200" dirty="0" smtClean="0"/>
              <a:t>more </a:t>
            </a:r>
            <a:r>
              <a:rPr lang="zh-CN" altLang="en-US" sz="3200" dirty="0"/>
              <a:t>communication </a:t>
            </a:r>
            <a:r>
              <a:rPr lang="zh-CN" altLang="en-US" sz="3200" dirty="0" smtClean="0"/>
              <a:t>overhead</a:t>
            </a:r>
            <a:endParaRPr lang="zh-CN" altLang="en-US" sz="3200" dirty="0"/>
          </a:p>
        </p:txBody>
      </p:sp>
      <p:sp>
        <p:nvSpPr>
          <p:cNvPr id="7" name="矩形 6"/>
          <p:cNvSpPr/>
          <p:nvPr/>
        </p:nvSpPr>
        <p:spPr>
          <a:xfrm>
            <a:off x="1942471" y="4159129"/>
            <a:ext cx="985398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800" dirty="0" smtClean="0"/>
              <a:t>How much faster can model train</a:t>
            </a:r>
            <a:r>
              <a:rPr lang="zh-CN" altLang="en-US" sz="2800" dirty="0" smtClean="0"/>
              <a:t> </a:t>
            </a:r>
            <a:r>
              <a:rPr lang="en-US" altLang="zh-CN" sz="2800" dirty="0" smtClean="0"/>
              <a:t>after adding</a:t>
            </a:r>
            <a:r>
              <a:rPr lang="zh-CN" altLang="en-US" sz="2800" dirty="0" smtClean="0"/>
              <a:t> </a:t>
            </a:r>
            <a:r>
              <a:rPr lang="zh-CN" altLang="en-US" sz="2800" dirty="0"/>
              <a:t>extra </a:t>
            </a:r>
            <a:r>
              <a:rPr lang="zh-CN" altLang="en-US" sz="2800" dirty="0" smtClean="0"/>
              <a:t>resources</a:t>
            </a:r>
            <a:r>
              <a:rPr lang="en-US" altLang="zh-CN" sz="2800" dirty="0" smtClean="0"/>
              <a:t>?</a:t>
            </a:r>
            <a:endParaRPr lang="zh-CN" altLang="en-US" sz="2800" dirty="0"/>
          </a:p>
        </p:txBody>
      </p:sp>
      <p:sp>
        <p:nvSpPr>
          <p:cNvPr id="45" name="矩形 44"/>
          <p:cNvSpPr/>
          <p:nvPr/>
        </p:nvSpPr>
        <p:spPr>
          <a:xfrm>
            <a:off x="1942471" y="5012369"/>
            <a:ext cx="782417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smtClean="0"/>
              <a:t>PS: worker = 1:3 is best?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574676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7190441" y="939053"/>
            <a:ext cx="3815977" cy="397584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5141" y="2208179"/>
            <a:ext cx="1155700" cy="1155700"/>
          </a:xfrm>
          <a:prstGeom prst="rect">
            <a:avLst/>
          </a:prstGeom>
        </p:spPr>
      </p:pic>
      <p:sp>
        <p:nvSpPr>
          <p:cNvPr id="3" name="右箭头 2"/>
          <p:cNvSpPr/>
          <p:nvPr/>
        </p:nvSpPr>
        <p:spPr>
          <a:xfrm>
            <a:off x="3365124" y="2743716"/>
            <a:ext cx="3556000" cy="1358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5141" y="3581684"/>
            <a:ext cx="1155700" cy="115570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0741" y="3581684"/>
            <a:ext cx="1155700" cy="115570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0741" y="2208179"/>
            <a:ext cx="1155700" cy="11557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384693" y="1026897"/>
            <a:ext cx="24897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 smtClean="0"/>
              <a:t>Cluster Scheduler</a:t>
            </a:r>
            <a:endParaRPr lang="zh-CN" altLang="en-US" sz="2400" dirty="0"/>
          </a:p>
        </p:txBody>
      </p:sp>
      <p:sp>
        <p:nvSpPr>
          <p:cNvPr id="9" name="矩形 8"/>
          <p:cNvSpPr/>
          <p:nvPr/>
        </p:nvSpPr>
        <p:spPr>
          <a:xfrm>
            <a:off x="1393943" y="5486710"/>
            <a:ext cx="935249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32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Cluster scheduler </a:t>
            </a:r>
            <a:r>
              <a:rPr lang="en-US" altLang="zh-CN" sz="2400" dirty="0"/>
              <a:t>decides how to allocate resources to jobs in order to </a:t>
            </a:r>
            <a:r>
              <a:rPr lang="en-US" altLang="zh-CN" sz="2400" b="1" dirty="0"/>
              <a:t>minimize training </a:t>
            </a:r>
            <a:r>
              <a:rPr lang="en-US" altLang="zh-CN" sz="2400" b="1" dirty="0" smtClean="0"/>
              <a:t>time</a:t>
            </a:r>
            <a:r>
              <a:rPr lang="en-US" altLang="zh-CN" sz="2400" dirty="0" smtClean="0"/>
              <a:t> and </a:t>
            </a:r>
            <a:r>
              <a:rPr lang="en-US" altLang="zh-CN" sz="2400" b="1" dirty="0"/>
              <a:t>maximize cluster utilization</a:t>
            </a:r>
            <a:endParaRPr lang="zh-CN" altLang="en-US" sz="2400" b="1" dirty="0"/>
          </a:p>
        </p:txBody>
      </p:sp>
      <p:sp>
        <p:nvSpPr>
          <p:cNvPr id="15" name="稻壳儿搜索【幻雨工作室】__1">
            <a:extLst>
              <a:ext uri="{FF2B5EF4-FFF2-40B4-BE49-F238E27FC236}">
                <a16:creationId xmlns:a16="http://schemas.microsoft.com/office/drawing/2014/main" id="{D9FE0944-3B00-40DF-AA91-60AEB7C9E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01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6" name="稻壳儿搜索【幻雨工作室】__2">
            <a:extLst>
              <a:ext uri="{FF2B5EF4-FFF2-40B4-BE49-F238E27FC236}">
                <a16:creationId xmlns:a16="http://schemas.microsoft.com/office/drawing/2014/main" id="{579731AE-6C87-46B5-BAC3-570262B42B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428" y="408204"/>
            <a:ext cx="2909448" cy="646331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r"/>
            <a:r>
              <a:rPr lang="en-US" altLang="zh-CN" sz="3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Background</a:t>
            </a:r>
            <a:endParaRPr lang="en-US" altLang="zh-CN" sz="36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20" name="稻壳儿搜索【幻雨工作室】__2">
            <a:extLst>
              <a:ext uri="{FF2B5EF4-FFF2-40B4-BE49-F238E27FC236}">
                <a16:creationId xmlns:a16="http://schemas.microsoft.com/office/drawing/2014/main" id="{086D702B-2401-44B9-B91D-B73182798FF2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321" y="3302755"/>
            <a:ext cx="746985" cy="673910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4122" y="2965800"/>
            <a:ext cx="746985" cy="673910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8923" y="2615500"/>
            <a:ext cx="746985" cy="673910"/>
          </a:xfrm>
          <a:prstGeom prst="rect">
            <a:avLst/>
          </a:prstGeom>
        </p:spPr>
      </p:pic>
      <p:sp>
        <p:nvSpPr>
          <p:cNvPr id="23" name="文本框 22"/>
          <p:cNvSpPr txBox="1"/>
          <p:nvPr/>
        </p:nvSpPr>
        <p:spPr>
          <a:xfrm>
            <a:off x="3612961" y="3178045"/>
            <a:ext cx="24112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 smtClean="0">
                <a:solidFill>
                  <a:schemeClr val="bg1"/>
                </a:solidFill>
              </a:rPr>
              <a:t>Submit ML  jobs 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542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文本框 36">
            <a:extLst>
              <a:ext uri="{FF2B5EF4-FFF2-40B4-BE49-F238E27FC236}">
                <a16:creationId xmlns:a16="http://schemas.microsoft.com/office/drawing/2014/main" id="{F2780D51-B0AF-4922-85EE-8A372E9AC621}"/>
              </a:ext>
            </a:extLst>
          </p:cNvPr>
          <p:cNvSpPr txBox="1"/>
          <p:nvPr/>
        </p:nvSpPr>
        <p:spPr>
          <a:xfrm>
            <a:off x="904637" y="1506236"/>
            <a:ext cx="227490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500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Colocated jobs</a:t>
            </a:r>
            <a:endParaRPr kumimoji="1" lang="zh-CN" altLang="en-US" sz="2500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104" name="稻壳儿搜索【幻雨工作室】__2">
            <a:extLst>
              <a:ext uri="{FF2B5EF4-FFF2-40B4-BE49-F238E27FC236}">
                <a16:creationId xmlns:a16="http://schemas.microsoft.com/office/drawing/2014/main" id="{086D702B-2401-44B9-B91D-B73182798FF2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稻壳儿搜索【幻雨工作室】__1">
            <a:extLst>
              <a:ext uri="{FF2B5EF4-FFF2-40B4-BE49-F238E27FC236}">
                <a16:creationId xmlns:a16="http://schemas.microsoft.com/office/drawing/2014/main" id="{D9FE0944-3B00-40DF-AA91-60AEB7C9E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01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06" name="稻壳儿搜索【幻雨工作室】__2">
            <a:extLst>
              <a:ext uri="{FF2B5EF4-FFF2-40B4-BE49-F238E27FC236}">
                <a16:creationId xmlns:a16="http://schemas.microsoft.com/office/drawing/2014/main" id="{579731AE-6C87-46B5-BAC3-570262B42B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428" y="408204"/>
            <a:ext cx="2909448" cy="646331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r"/>
            <a:r>
              <a:rPr lang="en-US" altLang="zh-CN" sz="3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Background</a:t>
            </a:r>
            <a:endParaRPr lang="en-US" altLang="zh-CN" sz="36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705152" y="2598061"/>
            <a:ext cx="8069179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800" b="1" dirty="0"/>
              <a:t>The workers and Parameter servers </a:t>
            </a:r>
            <a:r>
              <a:rPr lang="en-US" altLang="zh-CN" sz="2800" b="1" dirty="0" smtClean="0"/>
              <a:t>on </a:t>
            </a:r>
            <a:r>
              <a:rPr lang="en-US" altLang="zh-CN" sz="2800" b="1" dirty="0"/>
              <a:t>different physical servers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800" b="1" dirty="0"/>
              <a:t>Co-located ML jobs</a:t>
            </a:r>
            <a:r>
              <a:rPr lang="zh-CN" altLang="en-US" sz="2800" b="1" dirty="0" smtClean="0"/>
              <a:t> </a:t>
            </a:r>
            <a:r>
              <a:rPr lang="en-US" altLang="zh-CN" sz="2800" b="1" dirty="0"/>
              <a:t>interfere with each other </a:t>
            </a:r>
            <a:r>
              <a:rPr lang="en-US" altLang="zh-CN" sz="2800" b="1" dirty="0" smtClean="0"/>
              <a:t>negatively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729075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文本框 36">
            <a:extLst>
              <a:ext uri="{FF2B5EF4-FFF2-40B4-BE49-F238E27FC236}">
                <a16:creationId xmlns:a16="http://schemas.microsoft.com/office/drawing/2014/main" id="{F2780D51-B0AF-4922-85EE-8A372E9AC621}"/>
              </a:ext>
            </a:extLst>
          </p:cNvPr>
          <p:cNvSpPr txBox="1"/>
          <p:nvPr/>
        </p:nvSpPr>
        <p:spPr>
          <a:xfrm>
            <a:off x="904637" y="1506236"/>
            <a:ext cx="227490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500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Colocated jobs</a:t>
            </a:r>
            <a:endParaRPr kumimoji="1" lang="zh-CN" altLang="en-US" sz="2500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104" name="稻壳儿搜索【幻雨工作室】__2">
            <a:extLst>
              <a:ext uri="{FF2B5EF4-FFF2-40B4-BE49-F238E27FC236}">
                <a16:creationId xmlns:a16="http://schemas.microsoft.com/office/drawing/2014/main" id="{086D702B-2401-44B9-B91D-B73182798FF2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稻壳儿搜索【幻雨工作室】__1">
            <a:extLst>
              <a:ext uri="{FF2B5EF4-FFF2-40B4-BE49-F238E27FC236}">
                <a16:creationId xmlns:a16="http://schemas.microsoft.com/office/drawing/2014/main" id="{D9FE0944-3B00-40DF-AA91-60AEB7C9E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01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06" name="稻壳儿搜索【幻雨工作室】__2">
            <a:extLst>
              <a:ext uri="{FF2B5EF4-FFF2-40B4-BE49-F238E27FC236}">
                <a16:creationId xmlns:a16="http://schemas.microsoft.com/office/drawing/2014/main" id="{579731AE-6C87-46B5-BAC3-570262B42B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428" y="408204"/>
            <a:ext cx="2909448" cy="646331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r"/>
            <a:r>
              <a:rPr lang="en-US" altLang="zh-CN" sz="3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Background</a:t>
            </a:r>
            <a:endParaRPr lang="en-US" altLang="zh-CN" sz="36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graphicFrame>
        <p:nvGraphicFramePr>
          <p:cNvPr id="57" name="图表 56"/>
          <p:cNvGraphicFramePr>
            <a:graphicFrameLocks/>
          </p:cNvGraphicFramePr>
          <p:nvPr>
            <p:extLst/>
          </p:nvPr>
        </p:nvGraphicFramePr>
        <p:xfrm>
          <a:off x="2989262" y="1387475"/>
          <a:ext cx="8108666" cy="5032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210788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矩形 54"/>
          <p:cNvSpPr/>
          <p:nvPr/>
        </p:nvSpPr>
        <p:spPr>
          <a:xfrm>
            <a:off x="4516698" y="1054535"/>
            <a:ext cx="3673650" cy="5313145"/>
          </a:xfrm>
          <a:prstGeom prst="rect">
            <a:avLst/>
          </a:prstGeom>
          <a:solidFill>
            <a:srgbClr val="F8FAF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4652501" y="1719205"/>
            <a:ext cx="1271560" cy="1041284"/>
          </a:xfrm>
          <a:prstGeom prst="rect">
            <a:avLst/>
          </a:prstGeom>
          <a:solidFill>
            <a:srgbClr val="00B0F0">
              <a:alpha val="2196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7070940" y="1719205"/>
            <a:ext cx="1093889" cy="1041284"/>
          </a:xfrm>
          <a:prstGeom prst="rect">
            <a:avLst/>
          </a:prstGeom>
          <a:solidFill>
            <a:srgbClr val="7D7D23">
              <a:alpha val="2196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780D51-B0AF-4922-85EE-8A372E9AC621}"/>
              </a:ext>
            </a:extLst>
          </p:cNvPr>
          <p:cNvSpPr txBox="1"/>
          <p:nvPr/>
        </p:nvSpPr>
        <p:spPr>
          <a:xfrm>
            <a:off x="904637" y="1506236"/>
            <a:ext cx="227490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500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Colocated jobs</a:t>
            </a:r>
            <a:endParaRPr kumimoji="1" lang="zh-CN" altLang="en-US" sz="2500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895479" y="2874291"/>
            <a:ext cx="18325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 err="1" smtClean="0"/>
              <a:t>PCIe</a:t>
            </a:r>
            <a:r>
              <a:rPr lang="en-US" altLang="zh-CN" sz="2400" dirty="0" smtClean="0"/>
              <a:t> sharing</a:t>
            </a:r>
            <a:endParaRPr lang="zh-CN" altLang="en-US" sz="2400" dirty="0"/>
          </a:p>
        </p:txBody>
      </p:sp>
      <p:sp>
        <p:nvSpPr>
          <p:cNvPr id="96" name="稻壳儿搜索【幻雨工作室】__1">
            <a:extLst>
              <a:ext uri="{FF2B5EF4-FFF2-40B4-BE49-F238E27FC236}">
                <a16:creationId xmlns:a16="http://schemas.microsoft.com/office/drawing/2014/main" id="{D9FE0944-3B00-40DF-AA91-60AEB7C9E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01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97" name="稻壳儿搜索【幻雨工作室】__2">
            <a:extLst>
              <a:ext uri="{FF2B5EF4-FFF2-40B4-BE49-F238E27FC236}">
                <a16:creationId xmlns:a16="http://schemas.microsoft.com/office/drawing/2014/main" id="{579731AE-6C87-46B5-BAC3-570262B42B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428" y="408204"/>
            <a:ext cx="2909448" cy="646331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r"/>
            <a:r>
              <a:rPr lang="en-US" altLang="zh-CN" sz="3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Background</a:t>
            </a:r>
            <a:endParaRPr lang="en-US" altLang="zh-CN" sz="36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98" name="稻壳儿搜索【幻雨工作室】__2">
            <a:extLst>
              <a:ext uri="{FF2B5EF4-FFF2-40B4-BE49-F238E27FC236}">
                <a16:creationId xmlns:a16="http://schemas.microsoft.com/office/drawing/2014/main" id="{086D702B-2401-44B9-B91D-B73182798FF2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/>
        </p:nvSpPr>
        <p:spPr>
          <a:xfrm>
            <a:off x="310638" y="4094408"/>
            <a:ext cx="729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PCIe</a:t>
            </a:r>
            <a:endParaRPr lang="zh-CN" altLang="en-US" dirty="0"/>
          </a:p>
        </p:txBody>
      </p:sp>
      <p:cxnSp>
        <p:nvCxnSpPr>
          <p:cNvPr id="29" name="直接箭头连接符 28"/>
          <p:cNvCxnSpPr/>
          <p:nvPr/>
        </p:nvCxnSpPr>
        <p:spPr>
          <a:xfrm>
            <a:off x="1297641" y="4237582"/>
            <a:ext cx="13133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/>
        </p:nvCxnSpPr>
        <p:spPr>
          <a:xfrm>
            <a:off x="1256819" y="4846749"/>
            <a:ext cx="1455296" cy="2841"/>
          </a:xfrm>
          <a:prstGeom prst="straightConnector1">
            <a:avLst/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 83"/>
          <p:cNvSpPr/>
          <p:nvPr/>
        </p:nvSpPr>
        <p:spPr>
          <a:xfrm>
            <a:off x="4944371" y="1893136"/>
            <a:ext cx="803563" cy="609167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文本框 31"/>
          <p:cNvSpPr txBox="1"/>
          <p:nvPr/>
        </p:nvSpPr>
        <p:spPr>
          <a:xfrm>
            <a:off x="281642" y="4636971"/>
            <a:ext cx="1015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NVLink</a:t>
            </a:r>
            <a:endParaRPr lang="zh-CN" altLang="en-US" dirty="0"/>
          </a:p>
        </p:txBody>
      </p:sp>
      <p:sp>
        <p:nvSpPr>
          <p:cNvPr id="83" name="矩形 82"/>
          <p:cNvSpPr/>
          <p:nvPr/>
        </p:nvSpPr>
        <p:spPr>
          <a:xfrm>
            <a:off x="7240931" y="1887367"/>
            <a:ext cx="803563" cy="609167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8" name="文本框 57"/>
          <p:cNvSpPr txBox="1"/>
          <p:nvPr/>
        </p:nvSpPr>
        <p:spPr>
          <a:xfrm>
            <a:off x="4930224" y="1957293"/>
            <a:ext cx="86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</a:rPr>
              <a:t>GPU1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7251193" y="1960134"/>
            <a:ext cx="86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</a:rPr>
              <a:t>GPU2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5904044" y="5352656"/>
            <a:ext cx="1338469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2" name="文本框 61"/>
          <p:cNvSpPr txBox="1"/>
          <p:nvPr/>
        </p:nvSpPr>
        <p:spPr>
          <a:xfrm>
            <a:off x="6124419" y="5439038"/>
            <a:ext cx="1268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chemeClr val="bg1"/>
                </a:solidFill>
              </a:rPr>
              <a:t>CPU1</a:t>
            </a:r>
            <a:r>
              <a:rPr lang="en-US" altLang="zh-CN" dirty="0" smtClean="0">
                <a:solidFill>
                  <a:schemeClr val="bg1"/>
                </a:solidFill>
              </a:rPr>
              <a:t>	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5904044" y="4002331"/>
            <a:ext cx="1338469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/>
          <p:cNvSpPr txBox="1"/>
          <p:nvPr/>
        </p:nvSpPr>
        <p:spPr>
          <a:xfrm>
            <a:off x="5904497" y="4048373"/>
            <a:ext cx="1596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>
                <a:solidFill>
                  <a:schemeClr val="bg1"/>
                </a:solidFill>
              </a:rPr>
              <a:t>PCIe</a:t>
            </a:r>
            <a:r>
              <a:rPr lang="en-US" altLang="zh-CN" dirty="0">
                <a:solidFill>
                  <a:schemeClr val="bg1"/>
                </a:solidFill>
              </a:rPr>
              <a:t> </a:t>
            </a:r>
            <a:r>
              <a:rPr lang="en-US" altLang="zh-CN" dirty="0" smtClean="0">
                <a:solidFill>
                  <a:schemeClr val="bg1"/>
                </a:solidFill>
              </a:rPr>
              <a:t>switch</a:t>
            </a:r>
          </a:p>
        </p:txBody>
      </p:sp>
      <p:cxnSp>
        <p:nvCxnSpPr>
          <p:cNvPr id="65" name="肘形连接符 64"/>
          <p:cNvCxnSpPr/>
          <p:nvPr/>
        </p:nvCxnSpPr>
        <p:spPr>
          <a:xfrm rot="16200000" flipV="1">
            <a:off x="5133671" y="2687946"/>
            <a:ext cx="1517786" cy="1121116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肘形连接符 65"/>
          <p:cNvCxnSpPr/>
          <p:nvPr/>
        </p:nvCxnSpPr>
        <p:spPr>
          <a:xfrm rot="5400000" flipH="1" flipV="1">
            <a:off x="6416510" y="2765866"/>
            <a:ext cx="1509878" cy="96305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>
            <a:stCxn id="63" idx="2"/>
          </p:cNvCxnSpPr>
          <p:nvPr/>
        </p:nvCxnSpPr>
        <p:spPr>
          <a:xfrm>
            <a:off x="6573279" y="4611498"/>
            <a:ext cx="0" cy="7411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/>
          <p:cNvCxnSpPr>
            <a:stCxn id="58" idx="3"/>
            <a:endCxn id="60" idx="1"/>
          </p:cNvCxnSpPr>
          <p:nvPr/>
        </p:nvCxnSpPr>
        <p:spPr>
          <a:xfrm>
            <a:off x="5795897" y="2141959"/>
            <a:ext cx="1455296" cy="2841"/>
          </a:xfrm>
          <a:prstGeom prst="straightConnector1">
            <a:avLst/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/>
          <p:cNvSpPr txBox="1"/>
          <p:nvPr/>
        </p:nvSpPr>
        <p:spPr>
          <a:xfrm>
            <a:off x="4538821" y="1127914"/>
            <a:ext cx="86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Node0</a:t>
            </a:r>
            <a:endParaRPr lang="zh-CN" altLang="en-US" dirty="0"/>
          </a:p>
        </p:txBody>
      </p:sp>
      <p:sp>
        <p:nvSpPr>
          <p:cNvPr id="72" name="闪电形 71"/>
          <p:cNvSpPr/>
          <p:nvPr/>
        </p:nvSpPr>
        <p:spPr>
          <a:xfrm>
            <a:off x="6261705" y="4790480"/>
            <a:ext cx="623146" cy="414031"/>
          </a:xfrm>
          <a:prstGeom prst="lightningBol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527502" y="1887367"/>
            <a:ext cx="1271560" cy="595319"/>
          </a:xfrm>
          <a:prstGeom prst="rect">
            <a:avLst/>
          </a:prstGeom>
          <a:solidFill>
            <a:srgbClr val="00B0F0">
              <a:alpha val="2196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文本框 73"/>
          <p:cNvSpPr txBox="1"/>
          <p:nvPr/>
        </p:nvSpPr>
        <p:spPr>
          <a:xfrm>
            <a:off x="8511503" y="2013037"/>
            <a:ext cx="1015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job1</a:t>
            </a:r>
            <a:endParaRPr lang="zh-CN" altLang="en-US" dirty="0"/>
          </a:p>
        </p:txBody>
      </p:sp>
      <p:sp>
        <p:nvSpPr>
          <p:cNvPr id="75" name="矩形 74"/>
          <p:cNvSpPr/>
          <p:nvPr/>
        </p:nvSpPr>
        <p:spPr>
          <a:xfrm>
            <a:off x="9527503" y="2760489"/>
            <a:ext cx="1271560" cy="575467"/>
          </a:xfrm>
          <a:prstGeom prst="rect">
            <a:avLst/>
          </a:prstGeom>
          <a:solidFill>
            <a:srgbClr val="7D7D23">
              <a:alpha val="2196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/>
          <p:cNvSpPr txBox="1"/>
          <p:nvPr/>
        </p:nvSpPr>
        <p:spPr>
          <a:xfrm>
            <a:off x="8511502" y="2851274"/>
            <a:ext cx="1015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4007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矩形 52"/>
          <p:cNvSpPr/>
          <p:nvPr/>
        </p:nvSpPr>
        <p:spPr>
          <a:xfrm>
            <a:off x="10509935" y="1881572"/>
            <a:ext cx="1271560" cy="1041284"/>
          </a:xfrm>
          <a:prstGeom prst="rect">
            <a:avLst/>
          </a:prstGeom>
          <a:solidFill>
            <a:srgbClr val="00B0F0">
              <a:alpha val="2196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左右箭头 5"/>
          <p:cNvSpPr/>
          <p:nvPr/>
        </p:nvSpPr>
        <p:spPr>
          <a:xfrm>
            <a:off x="6516189" y="6004112"/>
            <a:ext cx="1622738" cy="27566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闪电形 4"/>
          <p:cNvSpPr/>
          <p:nvPr/>
        </p:nvSpPr>
        <p:spPr>
          <a:xfrm>
            <a:off x="7046258" y="5829300"/>
            <a:ext cx="646549" cy="578224"/>
          </a:xfrm>
          <a:prstGeom prst="lightningBol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4" name="矩形 3"/>
          <p:cNvSpPr/>
          <p:nvPr/>
        </p:nvSpPr>
        <p:spPr>
          <a:xfrm>
            <a:off x="2842539" y="1289786"/>
            <a:ext cx="3673650" cy="5313145"/>
          </a:xfrm>
          <a:prstGeom prst="rect">
            <a:avLst/>
          </a:prstGeom>
          <a:solidFill>
            <a:srgbClr val="F8FAF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780D51-B0AF-4922-85EE-8A372E9AC621}"/>
              </a:ext>
            </a:extLst>
          </p:cNvPr>
          <p:cNvSpPr txBox="1"/>
          <p:nvPr/>
        </p:nvSpPr>
        <p:spPr>
          <a:xfrm>
            <a:off x="904637" y="1506236"/>
            <a:ext cx="227490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500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Colocated jobs</a:t>
            </a:r>
            <a:endParaRPr kumimoji="1" lang="zh-CN" altLang="en-US" sz="2500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895479" y="2874291"/>
            <a:ext cx="17155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 smtClean="0"/>
              <a:t>QPI sharing</a:t>
            </a:r>
            <a:endParaRPr lang="zh-CN" altLang="en-US" sz="2400" dirty="0"/>
          </a:p>
        </p:txBody>
      </p:sp>
      <p:sp>
        <p:nvSpPr>
          <p:cNvPr id="30" name="矩形 29"/>
          <p:cNvSpPr/>
          <p:nvPr/>
        </p:nvSpPr>
        <p:spPr>
          <a:xfrm>
            <a:off x="3256065" y="2115695"/>
            <a:ext cx="803563" cy="609167"/>
          </a:xfrm>
          <a:prstGeom prst="rect">
            <a:avLst/>
          </a:prstGeom>
          <a:solidFill>
            <a:srgbClr val="FFC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/>
          <p:cNvSpPr txBox="1"/>
          <p:nvPr/>
        </p:nvSpPr>
        <p:spPr>
          <a:xfrm>
            <a:off x="3256065" y="2192544"/>
            <a:ext cx="86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</a:rPr>
              <a:t>GPU1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577034" y="2118536"/>
            <a:ext cx="803563" cy="609167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5577034" y="2195385"/>
            <a:ext cx="86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</a:rPr>
              <a:t>GPU2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4229885" y="5587907"/>
            <a:ext cx="1338469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/>
          <p:cNvSpPr txBox="1"/>
          <p:nvPr/>
        </p:nvSpPr>
        <p:spPr>
          <a:xfrm>
            <a:off x="4450260" y="5674289"/>
            <a:ext cx="1268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chemeClr val="bg1"/>
                </a:solidFill>
              </a:rPr>
              <a:t>CPU1</a:t>
            </a:r>
            <a:r>
              <a:rPr lang="en-US" altLang="zh-CN" dirty="0" smtClean="0">
                <a:solidFill>
                  <a:schemeClr val="bg1"/>
                </a:solidFill>
              </a:rPr>
              <a:t>	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4229885" y="4237582"/>
            <a:ext cx="1338469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/>
          <p:cNvSpPr txBox="1"/>
          <p:nvPr/>
        </p:nvSpPr>
        <p:spPr>
          <a:xfrm>
            <a:off x="4230338" y="4283624"/>
            <a:ext cx="1596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>
                <a:solidFill>
                  <a:schemeClr val="bg1"/>
                </a:solidFill>
              </a:rPr>
              <a:t>PCIe</a:t>
            </a:r>
            <a:r>
              <a:rPr lang="en-US" altLang="zh-CN" dirty="0">
                <a:solidFill>
                  <a:schemeClr val="bg1"/>
                </a:solidFill>
              </a:rPr>
              <a:t> </a:t>
            </a:r>
            <a:r>
              <a:rPr lang="en-US" altLang="zh-CN" dirty="0" smtClean="0">
                <a:solidFill>
                  <a:schemeClr val="bg1"/>
                </a:solidFill>
              </a:rPr>
              <a:t>switch</a:t>
            </a:r>
          </a:p>
        </p:txBody>
      </p:sp>
      <p:cxnSp>
        <p:nvCxnSpPr>
          <p:cNvPr id="52" name="肘形连接符 51"/>
          <p:cNvCxnSpPr>
            <a:endCxn id="30" idx="2"/>
          </p:cNvCxnSpPr>
          <p:nvPr/>
        </p:nvCxnSpPr>
        <p:spPr>
          <a:xfrm rot="16200000" flipV="1">
            <a:off x="3459512" y="2923197"/>
            <a:ext cx="1517786" cy="1121116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肘形连接符 53"/>
          <p:cNvCxnSpPr>
            <a:endCxn id="32" idx="2"/>
          </p:cNvCxnSpPr>
          <p:nvPr/>
        </p:nvCxnSpPr>
        <p:spPr>
          <a:xfrm rot="5400000" flipH="1" flipV="1">
            <a:off x="4742351" y="3001117"/>
            <a:ext cx="1509878" cy="96305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/>
          <p:cNvCxnSpPr>
            <a:stCxn id="39" idx="2"/>
          </p:cNvCxnSpPr>
          <p:nvPr/>
        </p:nvCxnSpPr>
        <p:spPr>
          <a:xfrm>
            <a:off x="4899120" y="4846749"/>
            <a:ext cx="0" cy="7411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/>
          <p:cNvCxnSpPr>
            <a:stCxn id="31" idx="3"/>
            <a:endCxn id="33" idx="1"/>
          </p:cNvCxnSpPr>
          <p:nvPr/>
        </p:nvCxnSpPr>
        <p:spPr>
          <a:xfrm>
            <a:off x="4121738" y="2377210"/>
            <a:ext cx="1455296" cy="2841"/>
          </a:xfrm>
          <a:prstGeom prst="straightConnector1">
            <a:avLst/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本框 74"/>
          <p:cNvSpPr txBox="1"/>
          <p:nvPr/>
        </p:nvSpPr>
        <p:spPr>
          <a:xfrm>
            <a:off x="281642" y="4636971"/>
            <a:ext cx="1015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NVLink</a:t>
            </a:r>
            <a:endParaRPr lang="zh-CN" altLang="en-US" dirty="0"/>
          </a:p>
        </p:txBody>
      </p:sp>
      <p:sp>
        <p:nvSpPr>
          <p:cNvPr id="76" name="文本框 75"/>
          <p:cNvSpPr txBox="1"/>
          <p:nvPr/>
        </p:nvSpPr>
        <p:spPr>
          <a:xfrm>
            <a:off x="310638" y="4094408"/>
            <a:ext cx="729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PCIe</a:t>
            </a:r>
            <a:endParaRPr lang="zh-CN" altLang="en-US" dirty="0"/>
          </a:p>
        </p:txBody>
      </p:sp>
      <p:sp>
        <p:nvSpPr>
          <p:cNvPr id="79" name="文本框 78"/>
          <p:cNvSpPr txBox="1"/>
          <p:nvPr/>
        </p:nvSpPr>
        <p:spPr>
          <a:xfrm>
            <a:off x="350568" y="5250039"/>
            <a:ext cx="704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QPI</a:t>
            </a:r>
            <a:endParaRPr lang="zh-CN" altLang="en-US" dirty="0"/>
          </a:p>
        </p:txBody>
      </p:sp>
      <p:sp>
        <p:nvSpPr>
          <p:cNvPr id="83" name="文本框 82"/>
          <p:cNvSpPr txBox="1"/>
          <p:nvPr/>
        </p:nvSpPr>
        <p:spPr>
          <a:xfrm>
            <a:off x="2864662" y="1363165"/>
            <a:ext cx="86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Node0</a:t>
            </a:r>
            <a:endParaRPr lang="zh-CN" altLang="en-US" dirty="0"/>
          </a:p>
        </p:txBody>
      </p:sp>
      <p:sp>
        <p:nvSpPr>
          <p:cNvPr id="84" name="矩形 83"/>
          <p:cNvSpPr/>
          <p:nvPr/>
        </p:nvSpPr>
        <p:spPr>
          <a:xfrm>
            <a:off x="8138927" y="1289786"/>
            <a:ext cx="3673650" cy="5313145"/>
          </a:xfrm>
          <a:prstGeom prst="rect">
            <a:avLst/>
          </a:prstGeom>
          <a:solidFill>
            <a:srgbClr val="F8FAF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/>
          <p:cNvSpPr/>
          <p:nvPr/>
        </p:nvSpPr>
        <p:spPr>
          <a:xfrm>
            <a:off x="8552453" y="2115695"/>
            <a:ext cx="803563" cy="609167"/>
          </a:xfrm>
          <a:prstGeom prst="rect">
            <a:avLst/>
          </a:prstGeom>
          <a:solidFill>
            <a:srgbClr val="FFC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文本框 86"/>
          <p:cNvSpPr txBox="1"/>
          <p:nvPr/>
        </p:nvSpPr>
        <p:spPr>
          <a:xfrm>
            <a:off x="8552453" y="2192544"/>
            <a:ext cx="86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</a:rPr>
              <a:t>GPU3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10873422" y="2118536"/>
            <a:ext cx="803563" cy="609167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/>
          <p:cNvSpPr txBox="1"/>
          <p:nvPr/>
        </p:nvSpPr>
        <p:spPr>
          <a:xfrm>
            <a:off x="10873422" y="2195385"/>
            <a:ext cx="86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</a:rPr>
              <a:t>GPU4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526273" y="5587907"/>
            <a:ext cx="1338469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/>
          <p:cNvSpPr txBox="1"/>
          <p:nvPr/>
        </p:nvSpPr>
        <p:spPr>
          <a:xfrm>
            <a:off x="9746648" y="5674289"/>
            <a:ext cx="1268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chemeClr val="bg1"/>
                </a:solidFill>
              </a:rPr>
              <a:t>CPU2</a:t>
            </a:r>
            <a:r>
              <a:rPr lang="en-US" altLang="zh-CN" dirty="0" smtClean="0">
                <a:solidFill>
                  <a:schemeClr val="bg1"/>
                </a:solidFill>
              </a:rPr>
              <a:t>	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9526273" y="4237582"/>
            <a:ext cx="1338469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4" name="文本框 93"/>
          <p:cNvSpPr txBox="1"/>
          <p:nvPr/>
        </p:nvSpPr>
        <p:spPr>
          <a:xfrm>
            <a:off x="9526726" y="4283624"/>
            <a:ext cx="1596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>
                <a:solidFill>
                  <a:schemeClr val="bg1"/>
                </a:solidFill>
              </a:rPr>
              <a:t>PCIe</a:t>
            </a:r>
            <a:r>
              <a:rPr lang="en-US" altLang="zh-CN" dirty="0">
                <a:solidFill>
                  <a:schemeClr val="bg1"/>
                </a:solidFill>
              </a:rPr>
              <a:t> </a:t>
            </a:r>
            <a:r>
              <a:rPr lang="en-US" altLang="zh-CN" dirty="0" smtClean="0">
                <a:solidFill>
                  <a:schemeClr val="bg1"/>
                </a:solidFill>
              </a:rPr>
              <a:t>switch</a:t>
            </a:r>
          </a:p>
        </p:txBody>
      </p:sp>
      <p:cxnSp>
        <p:nvCxnSpPr>
          <p:cNvPr id="95" name="肘形连接符 94"/>
          <p:cNvCxnSpPr>
            <a:endCxn id="86" idx="2"/>
          </p:cNvCxnSpPr>
          <p:nvPr/>
        </p:nvCxnSpPr>
        <p:spPr>
          <a:xfrm rot="16200000" flipV="1">
            <a:off x="8755900" y="2923197"/>
            <a:ext cx="1517786" cy="1121116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肘形连接符 95"/>
          <p:cNvCxnSpPr>
            <a:endCxn id="88" idx="2"/>
          </p:cNvCxnSpPr>
          <p:nvPr/>
        </p:nvCxnSpPr>
        <p:spPr>
          <a:xfrm rot="5400000" flipH="1" flipV="1">
            <a:off x="10038739" y="3001117"/>
            <a:ext cx="1509878" cy="96305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93" idx="2"/>
          </p:cNvCxnSpPr>
          <p:nvPr/>
        </p:nvCxnSpPr>
        <p:spPr>
          <a:xfrm>
            <a:off x="10195508" y="4846749"/>
            <a:ext cx="0" cy="7411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>
            <a:stCxn id="87" idx="3"/>
            <a:endCxn id="89" idx="1"/>
          </p:cNvCxnSpPr>
          <p:nvPr/>
        </p:nvCxnSpPr>
        <p:spPr>
          <a:xfrm>
            <a:off x="9418126" y="2377210"/>
            <a:ext cx="1455296" cy="2841"/>
          </a:xfrm>
          <a:prstGeom prst="straightConnector1">
            <a:avLst/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/>
          <p:cNvSpPr txBox="1"/>
          <p:nvPr/>
        </p:nvSpPr>
        <p:spPr>
          <a:xfrm>
            <a:off x="8161050" y="1363165"/>
            <a:ext cx="86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Node1</a:t>
            </a:r>
            <a:endParaRPr lang="zh-CN" altLang="en-US" dirty="0"/>
          </a:p>
        </p:txBody>
      </p:sp>
      <p:sp>
        <p:nvSpPr>
          <p:cNvPr id="104" name="稻壳儿搜索【幻雨工作室】__2">
            <a:extLst>
              <a:ext uri="{FF2B5EF4-FFF2-40B4-BE49-F238E27FC236}">
                <a16:creationId xmlns:a16="http://schemas.microsoft.com/office/drawing/2014/main" id="{086D702B-2401-44B9-B91D-B73182798FF2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稻壳儿搜索【幻雨工作室】__1">
            <a:extLst>
              <a:ext uri="{FF2B5EF4-FFF2-40B4-BE49-F238E27FC236}">
                <a16:creationId xmlns:a16="http://schemas.microsoft.com/office/drawing/2014/main" id="{D9FE0944-3B00-40DF-AA91-60AEB7C9E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01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06" name="稻壳儿搜索【幻雨工作室】__2">
            <a:extLst>
              <a:ext uri="{FF2B5EF4-FFF2-40B4-BE49-F238E27FC236}">
                <a16:creationId xmlns:a16="http://schemas.microsoft.com/office/drawing/2014/main" id="{579731AE-6C87-46B5-BAC3-570262B42B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428" y="408204"/>
            <a:ext cx="2909448" cy="646331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r"/>
            <a:r>
              <a:rPr lang="en-US" altLang="zh-CN" sz="3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Background</a:t>
            </a:r>
            <a:endParaRPr lang="en-US" altLang="zh-CN" sz="36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5383093" y="1944769"/>
            <a:ext cx="4035034" cy="1041284"/>
          </a:xfrm>
          <a:prstGeom prst="rect">
            <a:avLst/>
          </a:prstGeom>
          <a:solidFill>
            <a:srgbClr val="7D7D23">
              <a:alpha val="2196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/>
          <p:cNvSpPr/>
          <p:nvPr/>
        </p:nvSpPr>
        <p:spPr>
          <a:xfrm>
            <a:off x="2978342" y="1954456"/>
            <a:ext cx="1271560" cy="1041284"/>
          </a:xfrm>
          <a:prstGeom prst="rect">
            <a:avLst/>
          </a:prstGeom>
          <a:solidFill>
            <a:srgbClr val="00B0F0">
              <a:alpha val="2196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箭头连接符 7"/>
          <p:cNvCxnSpPr/>
          <p:nvPr/>
        </p:nvCxnSpPr>
        <p:spPr>
          <a:xfrm>
            <a:off x="1297641" y="4237582"/>
            <a:ext cx="13133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57"/>
          <p:cNvCxnSpPr/>
          <p:nvPr/>
        </p:nvCxnSpPr>
        <p:spPr>
          <a:xfrm>
            <a:off x="1256819" y="4846749"/>
            <a:ext cx="1455296" cy="2841"/>
          </a:xfrm>
          <a:prstGeom prst="straightConnector1">
            <a:avLst/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左右箭头 58"/>
          <p:cNvSpPr/>
          <p:nvPr/>
        </p:nvSpPr>
        <p:spPr>
          <a:xfrm>
            <a:off x="1112216" y="5320924"/>
            <a:ext cx="1622738" cy="27566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10458041" y="1887946"/>
            <a:ext cx="1271560" cy="1041284"/>
          </a:xfrm>
          <a:prstGeom prst="rect">
            <a:avLst/>
          </a:prstGeom>
          <a:solidFill>
            <a:srgbClr val="00B0F0">
              <a:alpha val="2196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9796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稻壳儿搜索【幻雨工作室】__1">
            <a:extLst>
              <a:ext uri="{FF2B5EF4-FFF2-40B4-BE49-F238E27FC236}">
                <a16:creationId xmlns:a16="http://schemas.microsoft.com/office/drawing/2014/main" id="{8CE98E44-6239-4130-BF5E-E392F22F7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 dirty="0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01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6" name="稻壳儿搜索【幻雨工作室】__2">
            <a:extLst>
              <a:ext uri="{FF2B5EF4-FFF2-40B4-BE49-F238E27FC236}">
                <a16:creationId xmlns:a16="http://schemas.microsoft.com/office/drawing/2014/main" id="{579731AE-6C87-46B5-BAC3-570262B42B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428" y="408204"/>
            <a:ext cx="2909448" cy="646331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r"/>
            <a:r>
              <a:rPr lang="en-US" altLang="zh-CN" sz="3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Background</a:t>
            </a:r>
            <a:endParaRPr lang="en-US" altLang="zh-CN" sz="36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graphicFrame>
        <p:nvGraphicFramePr>
          <p:cNvPr id="18" name="表格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496739"/>
              </p:ext>
            </p:extLst>
          </p:nvPr>
        </p:nvGraphicFramePr>
        <p:xfrm>
          <a:off x="114299" y="1482823"/>
          <a:ext cx="11925300" cy="41062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5100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9388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Parallel</a:t>
                      </a:r>
                      <a:r>
                        <a:rPr lang="en-US" altLang="zh-CN" baseline="0" dirty="0" smtClean="0"/>
                        <a:t> type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Spotlight: Optimizing Device Placement for Training Deep Neural Networks 2018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reinforcement learning algorithm based on proximal policy optimization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 smtClean="0"/>
                        <a:t>Parameters parallel operation placement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30925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HIERARCHICAL MODEL FOR DEVICE PLACEMENT 2018</a:t>
                      </a:r>
                      <a:endParaRPr lang="en-US" altLang="zh-CN" sz="1800" b="1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assign graph operations to groups and to allocate those groups to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en-US" altLang="zh-CN" dirty="0" smtClean="0"/>
                        <a:t>devices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 smtClean="0"/>
                        <a:t>Parameters parallel , </a:t>
                      </a:r>
                      <a:r>
                        <a:rPr lang="en-US" altLang="zh-CN" dirty="0" smtClean="0"/>
                        <a:t>operation placement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Tiresias: A GPU Cluster Manager for Distributed Deep Learning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nsdi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2019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800" b="1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2D Attained Service-Based Scheduler scheduling framework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Data parallel,</a:t>
                      </a:r>
                      <a:r>
                        <a:rPr lang="en-US" altLang="zh-CN" baseline="0" dirty="0" smtClean="0"/>
                        <a:t> worker placement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42609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820691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稻壳儿搜索【幻雨工作室】__1">
            <a:extLst>
              <a:ext uri="{FF2B5EF4-FFF2-40B4-BE49-F238E27FC236}">
                <a16:creationId xmlns:a16="http://schemas.microsoft.com/office/drawing/2014/main" id="{8CE98E44-6239-4130-BF5E-E392F22F7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 dirty="0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01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6" name="稻壳儿搜索【幻雨工作室】__2">
            <a:extLst>
              <a:ext uri="{FF2B5EF4-FFF2-40B4-BE49-F238E27FC236}">
                <a16:creationId xmlns:a16="http://schemas.microsoft.com/office/drawing/2014/main" id="{579731AE-6C87-46B5-BAC3-570262B42B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428" y="408204"/>
            <a:ext cx="2909448" cy="646331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algn="r"/>
            <a:r>
              <a:rPr lang="en-US" altLang="zh-CN" sz="3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Background</a:t>
            </a:r>
            <a:endParaRPr lang="en-US" altLang="zh-CN" sz="36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684420" y="4963113"/>
            <a:ext cx="53708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800" b="1" dirty="0" smtClean="0"/>
              <a:t>End to end 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2780D51-B0AF-4922-85EE-8A372E9AC621}"/>
              </a:ext>
            </a:extLst>
          </p:cNvPr>
          <p:cNvSpPr txBox="1"/>
          <p:nvPr/>
        </p:nvSpPr>
        <p:spPr>
          <a:xfrm>
            <a:off x="904637" y="1506236"/>
            <a:ext cx="227490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500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Explicit model</a:t>
            </a:r>
            <a:endParaRPr kumimoji="1" lang="zh-CN" altLang="en-US" sz="2500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5" name="下箭头 4"/>
          <p:cNvSpPr/>
          <p:nvPr/>
        </p:nvSpPr>
        <p:spPr>
          <a:xfrm>
            <a:off x="4456497" y="3633161"/>
            <a:ext cx="558265" cy="1260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684419" y="2179125"/>
            <a:ext cx="8069179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800" b="1" dirty="0" smtClean="0"/>
              <a:t>Couple with</a:t>
            </a:r>
            <a:r>
              <a:rPr lang="zh-CN" altLang="en-US" sz="2800" b="1" dirty="0" smtClean="0"/>
              <a:t> </a:t>
            </a:r>
            <a:r>
              <a:rPr lang="zh-CN" altLang="en-US" sz="2800" b="1" dirty="0"/>
              <a:t>ML framework </a:t>
            </a:r>
            <a:r>
              <a:rPr lang="zh-CN" altLang="en-US" sz="2800" b="1" dirty="0" smtClean="0"/>
              <a:t>implementation</a:t>
            </a:r>
            <a:endParaRPr lang="en-US" altLang="zh-CN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800" b="1" dirty="0" smtClean="0"/>
              <a:t>without </a:t>
            </a:r>
            <a:r>
              <a:rPr lang="zh-CN" altLang="en-US" sz="2800" b="1" dirty="0"/>
              <a:t>considering </a:t>
            </a:r>
            <a:r>
              <a:rPr lang="zh-CN" altLang="en-US" sz="2800" b="1" dirty="0" smtClean="0"/>
              <a:t>interference</a:t>
            </a:r>
            <a:endParaRPr lang="zh-CN" altLang="en-US" sz="2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0388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稻壳儿搜索【幻雨工作室】__1">
            <a:extLst>
              <a:ext uri="{FF2B5EF4-FFF2-40B4-BE49-F238E27FC236}">
                <a16:creationId xmlns:a16="http://schemas.microsoft.com/office/drawing/2014/main" id="{7D6BE628-9F1F-4A9E-9C43-710286B5D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 dirty="0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02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5" name="稻壳儿搜索【幻雨工作室】__2">
            <a:extLst>
              <a:ext uri="{FF2B5EF4-FFF2-40B4-BE49-F238E27FC236}">
                <a16:creationId xmlns:a16="http://schemas.microsoft.com/office/drawing/2014/main" id="{615DBE0D-2B10-4B13-81ED-94CE3AE1E6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9721" y="431209"/>
            <a:ext cx="3845923" cy="1200329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defTabSz="685800">
              <a:defRPr/>
            </a:pPr>
            <a:r>
              <a:rPr lang="en-US" altLang="zh-CN" sz="36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Progress</a:t>
            </a:r>
            <a:endParaRPr lang="en-US" altLang="zh-CN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685800">
              <a:defRPr/>
            </a:pPr>
            <a:endParaRPr lang="en-US" altLang="zh-CN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F2A4AB7-FA81-449E-AA6D-AAF757185399}"/>
              </a:ext>
            </a:extLst>
          </p:cNvPr>
          <p:cNvSpPr txBox="1"/>
          <p:nvPr/>
        </p:nvSpPr>
        <p:spPr>
          <a:xfrm>
            <a:off x="1223963" y="1539602"/>
            <a:ext cx="9746732" cy="398570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300" b="1" dirty="0" smtClean="0">
                <a:solidFill>
                  <a:schemeClr val="tx1"/>
                </a:solidFill>
                <a:latin typeface="+mn-lt"/>
              </a:rPr>
              <a:t>Read previous work and find potential limitations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 smtClean="0">
              <a:solidFill>
                <a:schemeClr val="tx1"/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300" b="1" dirty="0" smtClean="0">
                <a:solidFill>
                  <a:schemeClr val="tx1"/>
                </a:solidFill>
                <a:latin typeface="+mn-lt"/>
              </a:rPr>
              <a:t>Design the hierarchical </a:t>
            </a:r>
            <a:r>
              <a:rPr lang="en-US" altLang="zh-CN" sz="2300" b="1" dirty="0" smtClean="0">
                <a:solidFill>
                  <a:schemeClr val="tx1"/>
                </a:solidFill>
                <a:latin typeface="+mn-lt"/>
              </a:rPr>
              <a:t>method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 smtClean="0">
              <a:solidFill>
                <a:schemeClr val="tx1"/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300" b="1" dirty="0">
                <a:solidFill>
                  <a:schemeClr val="tx1"/>
                </a:solidFill>
                <a:latin typeface="+mn-lt"/>
              </a:rPr>
              <a:t>Calculate the communication time in PS and </a:t>
            </a:r>
            <a:r>
              <a:rPr lang="en-US" altLang="zh-CN" sz="2300" b="1" dirty="0" err="1">
                <a:solidFill>
                  <a:schemeClr val="tx1"/>
                </a:solidFill>
                <a:latin typeface="+mn-lt"/>
              </a:rPr>
              <a:t>Allreduce</a:t>
            </a:r>
            <a:r>
              <a:rPr lang="en-US" altLang="zh-CN" sz="2300" b="1" dirty="0">
                <a:solidFill>
                  <a:schemeClr val="tx1"/>
                </a:solidFill>
                <a:latin typeface="+mn-lt"/>
              </a:rPr>
              <a:t> architecture.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>
              <a:solidFill>
                <a:schemeClr val="tx1"/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300" b="1" dirty="0">
                <a:solidFill>
                  <a:schemeClr val="tx1"/>
                </a:solidFill>
                <a:latin typeface="+mn-lt"/>
              </a:rPr>
              <a:t>Extract data from the </a:t>
            </a:r>
            <a:r>
              <a:rPr lang="en-US" altLang="zh-CN" sz="2300" b="1" dirty="0" smtClean="0">
                <a:solidFill>
                  <a:schemeClr val="tx1"/>
                </a:solidFill>
                <a:latin typeface="+mn-lt"/>
              </a:rPr>
              <a:t>trace for fitting </a:t>
            </a:r>
            <a:r>
              <a:rPr lang="en-US" altLang="zh-CN" sz="2300" b="1" dirty="0">
                <a:solidFill>
                  <a:schemeClr val="tx1"/>
                </a:solidFill>
                <a:latin typeface="+mn-lt"/>
              </a:rPr>
              <a:t>the </a:t>
            </a:r>
            <a:r>
              <a:rPr lang="en-US" altLang="zh-CN" sz="2300" b="1" dirty="0" smtClean="0">
                <a:solidFill>
                  <a:schemeClr val="tx1"/>
                </a:solidFill>
                <a:latin typeface="+mn-lt"/>
              </a:rPr>
              <a:t>training speed </a:t>
            </a:r>
            <a:r>
              <a:rPr lang="en-US" altLang="zh-CN" sz="2300" b="1" dirty="0">
                <a:solidFill>
                  <a:schemeClr val="tx1"/>
                </a:solidFill>
                <a:latin typeface="+mn-lt"/>
              </a:rPr>
              <a:t>function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>
              <a:solidFill>
                <a:schemeClr val="tx1"/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300" b="1" dirty="0">
                <a:solidFill>
                  <a:schemeClr val="tx1"/>
                </a:solidFill>
                <a:latin typeface="+mn-lt"/>
              </a:rPr>
              <a:t>Finished </a:t>
            </a:r>
            <a:r>
              <a:rPr lang="en-US" altLang="zh-CN" sz="2300" b="1" dirty="0" err="1">
                <a:solidFill>
                  <a:schemeClr val="tx1"/>
                </a:solidFill>
                <a:latin typeface="+mn-lt"/>
              </a:rPr>
              <a:t>srtf,fifo,drf</a:t>
            </a:r>
            <a:r>
              <a:rPr lang="en-US" altLang="zh-CN" sz="2300" b="1" dirty="0">
                <a:solidFill>
                  <a:schemeClr val="tx1"/>
                </a:solidFill>
                <a:latin typeface="+mn-lt"/>
              </a:rPr>
              <a:t> etc. baseline.</a:t>
            </a:r>
          </a:p>
          <a:p>
            <a:endParaRPr lang="en-US" altLang="zh-CN" sz="2300" b="1" dirty="0" smtClean="0">
              <a:solidFill>
                <a:schemeClr val="tx1"/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23055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圆角矩形 68"/>
          <p:cNvSpPr/>
          <p:nvPr/>
        </p:nvSpPr>
        <p:spPr>
          <a:xfrm>
            <a:off x="638931" y="1439333"/>
            <a:ext cx="4754537" cy="3468838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3298048" y="2640434"/>
            <a:ext cx="1280667" cy="7492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705651" y="1644285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type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638931" y="2967857"/>
            <a:ext cx="1773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Remaing</a:t>
            </a:r>
            <a:r>
              <a:rPr lang="en-US" altLang="zh-CN" dirty="0" smtClean="0"/>
              <a:t> epoch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705651" y="2279530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Run time</a:t>
            </a:r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572215" y="3560695"/>
            <a:ext cx="19070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Domain resource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705650" y="4147430"/>
            <a:ext cx="1773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Job’s worker/PS</a:t>
            </a:r>
            <a:endParaRPr lang="zh-CN" altLang="en-US" dirty="0"/>
          </a:p>
        </p:txBody>
      </p:sp>
      <p:cxnSp>
        <p:nvCxnSpPr>
          <p:cNvPr id="18" name="直接箭头连接符 17"/>
          <p:cNvCxnSpPr>
            <a:stCxn id="6" idx="3"/>
            <a:endCxn id="28" idx="1"/>
          </p:cNvCxnSpPr>
          <p:nvPr/>
        </p:nvCxnSpPr>
        <p:spPr>
          <a:xfrm>
            <a:off x="1925138" y="1828951"/>
            <a:ext cx="1372910" cy="1186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>
            <a:stCxn id="13" idx="3"/>
            <a:endCxn id="28" idx="1"/>
          </p:cNvCxnSpPr>
          <p:nvPr/>
        </p:nvCxnSpPr>
        <p:spPr>
          <a:xfrm>
            <a:off x="1925138" y="2464196"/>
            <a:ext cx="1372910" cy="5508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>
            <a:stCxn id="7" idx="3"/>
            <a:endCxn id="28" idx="1"/>
          </p:cNvCxnSpPr>
          <p:nvPr/>
        </p:nvCxnSpPr>
        <p:spPr>
          <a:xfrm flipV="1">
            <a:off x="2412552" y="3015077"/>
            <a:ext cx="885496" cy="1374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>
            <a:stCxn id="14" idx="3"/>
            <a:endCxn id="28" idx="1"/>
          </p:cNvCxnSpPr>
          <p:nvPr/>
        </p:nvCxnSpPr>
        <p:spPr>
          <a:xfrm flipV="1">
            <a:off x="2479270" y="3015077"/>
            <a:ext cx="818778" cy="730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15" idx="3"/>
            <a:endCxn id="28" idx="1"/>
          </p:cNvCxnSpPr>
          <p:nvPr/>
        </p:nvCxnSpPr>
        <p:spPr>
          <a:xfrm flipV="1">
            <a:off x="2479271" y="3015077"/>
            <a:ext cx="818777" cy="1317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3421026" y="2808230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Policy NN</a:t>
            </a:r>
            <a:endParaRPr lang="zh-CN" altLang="en-US" dirty="0"/>
          </a:p>
        </p:txBody>
      </p:sp>
      <p:sp>
        <p:nvSpPr>
          <p:cNvPr id="70" name="圆角矩形 69"/>
          <p:cNvSpPr/>
          <p:nvPr/>
        </p:nvSpPr>
        <p:spPr>
          <a:xfrm>
            <a:off x="6034494" y="1384889"/>
            <a:ext cx="5537671" cy="3511296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直接箭头连接符 29"/>
          <p:cNvCxnSpPr>
            <a:stCxn id="28" idx="3"/>
            <a:endCxn id="73" idx="1"/>
          </p:cNvCxnSpPr>
          <p:nvPr/>
        </p:nvCxnSpPr>
        <p:spPr>
          <a:xfrm>
            <a:off x="4578715" y="3015077"/>
            <a:ext cx="14502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6" idx="3"/>
            <a:endCxn id="72" idx="1"/>
          </p:cNvCxnSpPr>
          <p:nvPr/>
        </p:nvCxnSpPr>
        <p:spPr>
          <a:xfrm>
            <a:off x="1925138" y="1828951"/>
            <a:ext cx="42188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本框 37"/>
          <p:cNvSpPr txBox="1"/>
          <p:nvPr/>
        </p:nvSpPr>
        <p:spPr>
          <a:xfrm>
            <a:off x="4754108" y="2234764"/>
            <a:ext cx="1236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Allocate worker/PS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8070948" y="2559370"/>
            <a:ext cx="1416991" cy="7492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2" name="文本框 71"/>
          <p:cNvSpPr txBox="1"/>
          <p:nvPr/>
        </p:nvSpPr>
        <p:spPr>
          <a:xfrm>
            <a:off x="6143983" y="1644285"/>
            <a:ext cx="1071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type</a:t>
            </a:r>
            <a:endParaRPr lang="zh-CN" altLang="en-US" dirty="0"/>
          </a:p>
        </p:txBody>
      </p:sp>
      <p:sp>
        <p:nvSpPr>
          <p:cNvPr id="73" name="文本框 72"/>
          <p:cNvSpPr txBox="1"/>
          <p:nvPr/>
        </p:nvSpPr>
        <p:spPr>
          <a:xfrm>
            <a:off x="6028953" y="2830411"/>
            <a:ext cx="1286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Worker/PS</a:t>
            </a:r>
            <a:endParaRPr lang="zh-CN" altLang="en-US" dirty="0"/>
          </a:p>
        </p:txBody>
      </p:sp>
      <p:sp>
        <p:nvSpPr>
          <p:cNvPr id="74" name="文本框 73"/>
          <p:cNvSpPr txBox="1"/>
          <p:nvPr/>
        </p:nvSpPr>
        <p:spPr>
          <a:xfrm>
            <a:off x="6095673" y="2142084"/>
            <a:ext cx="12194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Resource demand</a:t>
            </a:r>
            <a:endParaRPr lang="zh-CN" altLang="en-US" dirty="0"/>
          </a:p>
        </p:txBody>
      </p:sp>
      <p:sp>
        <p:nvSpPr>
          <p:cNvPr id="75" name="文本框 74"/>
          <p:cNvSpPr txBox="1"/>
          <p:nvPr/>
        </p:nvSpPr>
        <p:spPr>
          <a:xfrm>
            <a:off x="6129347" y="3308655"/>
            <a:ext cx="1185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available resource</a:t>
            </a:r>
            <a:endParaRPr lang="zh-CN" altLang="en-US" dirty="0"/>
          </a:p>
        </p:txBody>
      </p:sp>
      <p:sp>
        <p:nvSpPr>
          <p:cNvPr id="76" name="文本框 75"/>
          <p:cNvSpPr txBox="1"/>
          <p:nvPr/>
        </p:nvSpPr>
        <p:spPr>
          <a:xfrm>
            <a:off x="6095673" y="4009984"/>
            <a:ext cx="1219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Current placement</a:t>
            </a:r>
            <a:endParaRPr lang="zh-CN" altLang="en-US" dirty="0"/>
          </a:p>
        </p:txBody>
      </p:sp>
      <p:cxnSp>
        <p:nvCxnSpPr>
          <p:cNvPr id="77" name="直接箭头连接符 76"/>
          <p:cNvCxnSpPr>
            <a:stCxn id="72" idx="3"/>
            <a:endCxn id="71" idx="1"/>
          </p:cNvCxnSpPr>
          <p:nvPr/>
        </p:nvCxnSpPr>
        <p:spPr>
          <a:xfrm>
            <a:off x="7215366" y="1828951"/>
            <a:ext cx="855582" cy="1105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74" idx="3"/>
            <a:endCxn id="71" idx="1"/>
          </p:cNvCxnSpPr>
          <p:nvPr/>
        </p:nvCxnSpPr>
        <p:spPr>
          <a:xfrm>
            <a:off x="7315160" y="2465250"/>
            <a:ext cx="755788" cy="468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>
            <a:stCxn id="73" idx="3"/>
            <a:endCxn id="71" idx="1"/>
          </p:cNvCxnSpPr>
          <p:nvPr/>
        </p:nvCxnSpPr>
        <p:spPr>
          <a:xfrm flipV="1">
            <a:off x="7315160" y="2934013"/>
            <a:ext cx="755788" cy="810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75" idx="3"/>
            <a:endCxn id="71" idx="1"/>
          </p:cNvCxnSpPr>
          <p:nvPr/>
        </p:nvCxnSpPr>
        <p:spPr>
          <a:xfrm flipV="1">
            <a:off x="7315160" y="2934013"/>
            <a:ext cx="755788" cy="6978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>
            <a:stCxn id="76" idx="3"/>
            <a:endCxn id="71" idx="1"/>
          </p:cNvCxnSpPr>
          <p:nvPr/>
        </p:nvCxnSpPr>
        <p:spPr>
          <a:xfrm flipV="1">
            <a:off x="7315161" y="2934013"/>
            <a:ext cx="755787" cy="1399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文本框 81"/>
          <p:cNvSpPr txBox="1"/>
          <p:nvPr/>
        </p:nvSpPr>
        <p:spPr>
          <a:xfrm>
            <a:off x="8200599" y="2749346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Policy NN</a:t>
            </a:r>
            <a:endParaRPr lang="zh-CN" altLang="en-US" dirty="0"/>
          </a:p>
        </p:txBody>
      </p:sp>
      <p:cxnSp>
        <p:nvCxnSpPr>
          <p:cNvPr id="83" name="直接箭头连接符 82"/>
          <p:cNvCxnSpPr>
            <a:stCxn id="71" idx="3"/>
          </p:cNvCxnSpPr>
          <p:nvPr/>
        </p:nvCxnSpPr>
        <p:spPr>
          <a:xfrm flipV="1">
            <a:off x="9487939" y="2922795"/>
            <a:ext cx="814987" cy="11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文本框 84"/>
          <p:cNvSpPr txBox="1"/>
          <p:nvPr/>
        </p:nvSpPr>
        <p:spPr>
          <a:xfrm>
            <a:off x="9518862" y="2548153"/>
            <a:ext cx="1220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placement</a:t>
            </a:r>
            <a:endParaRPr lang="zh-CN" altLang="en-US" dirty="0"/>
          </a:p>
        </p:txBody>
      </p:sp>
      <p:sp>
        <p:nvSpPr>
          <p:cNvPr id="126" name="矩形 125"/>
          <p:cNvSpPr/>
          <p:nvPr/>
        </p:nvSpPr>
        <p:spPr>
          <a:xfrm>
            <a:off x="863629" y="1321120"/>
            <a:ext cx="106150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State s</a:t>
            </a:r>
            <a:endParaRPr lang="zh-CN" alt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6263346" y="1339787"/>
            <a:ext cx="106150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State s</a:t>
            </a:r>
            <a:endParaRPr lang="zh-CN" alt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8" name="文本框 127"/>
          <p:cNvSpPr txBox="1"/>
          <p:nvPr/>
        </p:nvSpPr>
        <p:spPr>
          <a:xfrm>
            <a:off x="36226" y="1384889"/>
            <a:ext cx="609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api</a:t>
            </a:r>
            <a:endParaRPr lang="zh-CN" altLang="en-US" dirty="0"/>
          </a:p>
        </p:txBody>
      </p:sp>
      <p:cxnSp>
        <p:nvCxnSpPr>
          <p:cNvPr id="133" name="曲线连接符 132"/>
          <p:cNvCxnSpPr>
            <a:stCxn id="128" idx="2"/>
            <a:endCxn id="13" idx="1"/>
          </p:cNvCxnSpPr>
          <p:nvPr/>
        </p:nvCxnSpPr>
        <p:spPr>
          <a:xfrm rot="16200000" flipH="1">
            <a:off x="168387" y="1926931"/>
            <a:ext cx="709975" cy="36455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文本框 146"/>
          <p:cNvSpPr txBox="1"/>
          <p:nvPr/>
        </p:nvSpPr>
        <p:spPr>
          <a:xfrm>
            <a:off x="5071884" y="847970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owner</a:t>
            </a:r>
            <a:endParaRPr lang="zh-CN" altLang="en-US" dirty="0"/>
          </a:p>
        </p:txBody>
      </p:sp>
      <p:cxnSp>
        <p:nvCxnSpPr>
          <p:cNvPr id="148" name="曲线连接符 147"/>
          <p:cNvCxnSpPr>
            <a:stCxn id="147" idx="2"/>
            <a:endCxn id="74" idx="1"/>
          </p:cNvCxnSpPr>
          <p:nvPr/>
        </p:nvCxnSpPr>
        <p:spPr>
          <a:xfrm rot="16200000" flipH="1">
            <a:off x="5264676" y="1634253"/>
            <a:ext cx="1247948" cy="4140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文本框 148"/>
          <p:cNvSpPr txBox="1"/>
          <p:nvPr/>
        </p:nvSpPr>
        <p:spPr>
          <a:xfrm>
            <a:off x="5372455" y="5593994"/>
            <a:ext cx="618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api</a:t>
            </a:r>
            <a:endParaRPr lang="zh-CN" altLang="en-US" dirty="0"/>
          </a:p>
        </p:txBody>
      </p:sp>
      <p:cxnSp>
        <p:nvCxnSpPr>
          <p:cNvPr id="151" name="曲线连接符 150"/>
          <p:cNvCxnSpPr>
            <a:stCxn id="149" idx="0"/>
            <a:endCxn id="75" idx="1"/>
          </p:cNvCxnSpPr>
          <p:nvPr/>
        </p:nvCxnSpPr>
        <p:spPr>
          <a:xfrm rot="5400000" flipH="1" flipV="1">
            <a:off x="4924402" y="4389049"/>
            <a:ext cx="1962173" cy="44771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曲线连接符 161"/>
          <p:cNvCxnSpPr>
            <a:stCxn id="149" idx="0"/>
            <a:endCxn id="76" idx="1"/>
          </p:cNvCxnSpPr>
          <p:nvPr/>
        </p:nvCxnSpPr>
        <p:spPr>
          <a:xfrm rot="5400000" flipH="1" flipV="1">
            <a:off x="5258229" y="4756550"/>
            <a:ext cx="1260844" cy="41404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曲线连接符 178"/>
          <p:cNvCxnSpPr>
            <a:stCxn id="128" idx="2"/>
            <a:endCxn id="15" idx="1"/>
          </p:cNvCxnSpPr>
          <p:nvPr/>
        </p:nvCxnSpPr>
        <p:spPr>
          <a:xfrm rot="16200000" flipH="1">
            <a:off x="-765563" y="2860882"/>
            <a:ext cx="2577875" cy="3645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稻壳儿搜索【幻雨工作室】__1">
            <a:extLst>
              <a:ext uri="{FF2B5EF4-FFF2-40B4-BE49-F238E27FC236}">
                <a16:creationId xmlns:a16="http://schemas.microsoft.com/office/drawing/2014/main" id="{7D6BE628-9F1F-4A9E-9C43-710286B5D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 dirty="0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02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44" name="稻壳儿搜索【幻雨工作室】__2">
            <a:extLst>
              <a:ext uri="{FF2B5EF4-FFF2-40B4-BE49-F238E27FC236}">
                <a16:creationId xmlns:a16="http://schemas.microsoft.com/office/drawing/2014/main" id="{615DBE0D-2B10-4B13-81ED-94CE3AE1E6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9721" y="431209"/>
            <a:ext cx="3845923" cy="1200329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defTabSz="685800">
              <a:defRPr/>
            </a:pPr>
            <a:r>
              <a:rPr lang="en-US" altLang="zh-CN" sz="36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Progress</a:t>
            </a:r>
            <a:endParaRPr lang="en-US" altLang="zh-CN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685800">
              <a:defRPr/>
            </a:pPr>
            <a:endParaRPr lang="en-US" altLang="zh-CN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63455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稻壳儿搜索【幻雨工作室】__1">
            <a:extLst>
              <a:ext uri="{FF2B5EF4-FFF2-40B4-BE49-F238E27FC236}">
                <a16:creationId xmlns:a16="http://schemas.microsoft.com/office/drawing/2014/main" id="{7D6BE628-9F1F-4A9E-9C43-710286B5D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 dirty="0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02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5" name="稻壳儿搜索【幻雨工作室】__2">
            <a:extLst>
              <a:ext uri="{FF2B5EF4-FFF2-40B4-BE49-F238E27FC236}">
                <a16:creationId xmlns:a16="http://schemas.microsoft.com/office/drawing/2014/main" id="{615DBE0D-2B10-4B13-81ED-94CE3AE1E6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9721" y="431209"/>
            <a:ext cx="3845923" cy="1200329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defTabSz="685800">
              <a:defRPr/>
            </a:pPr>
            <a:r>
              <a:rPr lang="en-US" altLang="zh-CN" sz="36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Progress</a:t>
            </a:r>
            <a:endParaRPr lang="en-US" altLang="zh-CN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685800">
              <a:defRPr/>
            </a:pPr>
            <a:endParaRPr lang="en-US" altLang="zh-CN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CF2A4AB7-FA81-449E-AA6D-AAF757185399}"/>
                  </a:ext>
                </a:extLst>
              </p:cNvPr>
              <p:cNvSpPr txBox="1"/>
              <p:nvPr/>
            </p:nvSpPr>
            <p:spPr>
              <a:xfrm>
                <a:off x="1933627" y="2205947"/>
                <a:ext cx="7004889" cy="766492"/>
              </a:xfrm>
              <a:prstGeom prst="rect">
                <a:avLst/>
              </a:prstGeom>
              <a:noFill/>
            </p:spPr>
            <p:txBody>
              <a:bodyPr vert="horz" wrap="square" rtlCol="0">
                <a:spAutoFit/>
              </a:bodyPr>
              <a:lstStyle>
                <a:defPPr>
                  <a:defRPr lang="zh-CN"/>
                </a:defPPr>
                <a:lvl1pPr>
                  <a:defRPr sz="2000">
                    <a:solidFill>
                      <a:schemeClr val="bg1"/>
                    </a:solidFill>
                    <a:latin typeface="Verdana" panose="020B0604030504040204" pitchFamily="34" charset="0"/>
                    <a:ea typeface="Verdana" panose="020B0604030504040204" pitchFamily="34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300" b="1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𝒕𝒊𝒎𝒆</m:t>
                      </m:r>
                      <m:r>
                        <a:rPr lang="en-US" altLang="zh-CN" sz="2300" b="1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𝒕𝒉𝒓𝒐𝒖𝒈𝒉𝒑𝒖</m:t>
                          </m:r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num>
                        <m:den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𝒃𝒂𝒏𝒅𝒘𝒊𝒅𝒕𝒉</m:t>
                          </m:r>
                        </m:den>
                      </m:f>
                      <m:r>
                        <a:rPr lang="en-US" altLang="zh-CN" sz="2300" b="1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𝒔𝒊𝒛𝒆</m:t>
                          </m:r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l-GR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  <m:r>
                            <a:rPr lang="el-GR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)∗(</m:t>
                          </m:r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den>
                      </m:f>
                    </m:oMath>
                  </m:oMathPara>
                </a14:m>
                <a:endParaRPr lang="en-US" altLang="zh-CN" sz="23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</a:endParaRPr>
              </a:p>
            </p:txBody>
          </p:sp>
        </mc:Choice>
        <mc:Fallback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CF2A4AB7-FA81-449E-AA6D-AAF757185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627" y="2205947"/>
                <a:ext cx="7004889" cy="76649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CF2A4AB7-FA81-449E-AA6D-AAF757185399}"/>
                  </a:ext>
                </a:extLst>
              </p:cNvPr>
              <p:cNvSpPr txBox="1"/>
              <p:nvPr/>
            </p:nvSpPr>
            <p:spPr>
              <a:xfrm>
                <a:off x="2283700" y="3365007"/>
                <a:ext cx="9170469" cy="446276"/>
              </a:xfrm>
              <a:prstGeom prst="rect">
                <a:avLst/>
              </a:prstGeom>
              <a:noFill/>
            </p:spPr>
            <p:txBody>
              <a:bodyPr vert="horz" wrap="square" rtlCol="0">
                <a:spAutoFit/>
              </a:bodyPr>
              <a:lstStyle>
                <a:defPPr>
                  <a:defRPr lang="zh-CN"/>
                </a:defPPr>
                <a:lvl1pPr>
                  <a:defRPr sz="2000">
                    <a:solidFill>
                      <a:schemeClr val="bg1"/>
                    </a:solidFill>
                    <a:latin typeface="Verdana" panose="020B0604030504040204" pitchFamily="34" charset="0"/>
                    <a:ea typeface="Verdana" panose="020B0604030504040204" pitchFamily="34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𝒕𝒉𝒓𝒐𝒖𝒈𝒉𝒑𝒖𝒕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∗ 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𝒃𝒚𝒕𝒆𝒔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∗ 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𝒈𝒓𝒂𝒅𝒊𝒆𝒏𝒕𝑵𝒖𝒎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∗ 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𝒘𝒐𝒓𝒌𝒆𝒓𝑵𝒖𝒎</m:t>
                      </m:r>
                    </m:oMath>
                  </m:oMathPara>
                </a14:m>
                <a:endParaRPr lang="en-US" altLang="zh-CN" sz="23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</a:endParaRPr>
              </a:p>
            </p:txBody>
          </p:sp>
        </mc:Choice>
        <mc:Fallback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CF2A4AB7-FA81-449E-AA6D-AAF757185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3700" y="3365007"/>
                <a:ext cx="9170469" cy="446276"/>
              </a:xfrm>
              <a:prstGeom prst="rect">
                <a:avLst/>
              </a:prstGeom>
              <a:blipFill>
                <a:blip r:embed="rId3"/>
                <a:stretch>
                  <a:fillRect b="-178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F2A4AB7-FA81-449E-AA6D-AAF757185399}"/>
                  </a:ext>
                </a:extLst>
              </p:cNvPr>
              <p:cNvSpPr txBox="1"/>
              <p:nvPr/>
            </p:nvSpPr>
            <p:spPr>
              <a:xfrm>
                <a:off x="2604052" y="4478391"/>
                <a:ext cx="5055044" cy="446276"/>
              </a:xfrm>
              <a:prstGeom prst="rect">
                <a:avLst/>
              </a:prstGeom>
              <a:noFill/>
            </p:spPr>
            <p:txBody>
              <a:bodyPr vert="horz" wrap="square" rtlCol="0">
                <a:spAutoFit/>
              </a:bodyPr>
              <a:lstStyle>
                <a:defPPr>
                  <a:defRPr lang="zh-CN"/>
                </a:defPPr>
                <a:lvl1pPr>
                  <a:defRPr sz="2000">
                    <a:solidFill>
                      <a:schemeClr val="bg1"/>
                    </a:solidFill>
                    <a:latin typeface="Verdana" panose="020B0604030504040204" pitchFamily="34" charset="0"/>
                    <a:ea typeface="Verdana" panose="020B0604030504040204" pitchFamily="34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𝒈𝒓𝒂𝒅𝒊𝒆𝒏𝒕𝑵𝒖𝒎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𝒑𝒂𝒓𝒂𝒎𝒆𝒕𝒆𝒓𝑵𝒖𝒎</m:t>
                      </m:r>
                    </m:oMath>
                  </m:oMathPara>
                </a14:m>
                <a:endParaRPr lang="en-US" altLang="zh-CN" sz="23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F2A4AB7-FA81-449E-AA6D-AAF757185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052" y="4478391"/>
                <a:ext cx="5055044" cy="446276"/>
              </a:xfrm>
              <a:prstGeom prst="rect">
                <a:avLst/>
              </a:prstGeom>
              <a:blipFill>
                <a:blip r:embed="rId4"/>
                <a:stretch>
                  <a:fillRect b="-164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本框 8">
            <a:extLst>
              <a:ext uri="{FF2B5EF4-FFF2-40B4-BE49-F238E27FC236}">
                <a16:creationId xmlns:a16="http://schemas.microsoft.com/office/drawing/2014/main" id="{F37F96A1-296E-49AE-A3E0-ED67D2B5358A}"/>
              </a:ext>
            </a:extLst>
          </p:cNvPr>
          <p:cNvSpPr txBox="1"/>
          <p:nvPr/>
        </p:nvSpPr>
        <p:spPr>
          <a:xfrm>
            <a:off x="2435087" y="963251"/>
            <a:ext cx="3345511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altLang="zh-CN" sz="2300" b="1" dirty="0" smtClean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PS communication time</a:t>
            </a:r>
            <a:endParaRPr lang="en-US" altLang="zh-CN" sz="2300" b="1" dirty="0">
              <a:solidFill>
                <a:schemeClr val="tx1">
                  <a:lumMod val="75000"/>
                  <a:lumOff val="2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  <a:ea typeface="+mn-ea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8257907" y="3733700"/>
            <a:ext cx="1800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 smtClean="0"/>
              <a:t>N = workerNum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8257907" y="4143581"/>
            <a:ext cx="16466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/>
              <a:t>B = bandwidth</a:t>
            </a:r>
          </a:p>
        </p:txBody>
      </p:sp>
    </p:spTree>
    <p:extLst>
      <p:ext uri="{BB962C8B-B14F-4D97-AF65-F5344CB8AC3E}">
        <p14:creationId xmlns:p14="http://schemas.microsoft.com/office/powerpoint/2010/main" val="7557954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稻壳儿搜索【幻雨工作室】__1">
            <a:extLst>
              <a:ext uri="{FF2B5EF4-FFF2-40B4-BE49-F238E27FC236}">
                <a16:creationId xmlns:a16="http://schemas.microsoft.com/office/drawing/2014/main" id="{7D6BE628-9F1F-4A9E-9C43-710286B5D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 dirty="0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02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5" name="稻壳儿搜索【幻雨工作室】__2">
            <a:extLst>
              <a:ext uri="{FF2B5EF4-FFF2-40B4-BE49-F238E27FC236}">
                <a16:creationId xmlns:a16="http://schemas.microsoft.com/office/drawing/2014/main" id="{615DBE0D-2B10-4B13-81ED-94CE3AE1E6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9721" y="431209"/>
            <a:ext cx="3845923" cy="1200329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defTabSz="685800">
              <a:defRPr/>
            </a:pPr>
            <a:r>
              <a:rPr lang="en-US" altLang="zh-CN" sz="36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Progress</a:t>
            </a:r>
            <a:endParaRPr lang="en-US" altLang="zh-CN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685800">
              <a:defRPr/>
            </a:pPr>
            <a:endParaRPr lang="en-US" altLang="zh-CN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37F96A1-296E-49AE-A3E0-ED67D2B5358A}"/>
              </a:ext>
            </a:extLst>
          </p:cNvPr>
          <p:cNvSpPr txBox="1"/>
          <p:nvPr/>
        </p:nvSpPr>
        <p:spPr>
          <a:xfrm>
            <a:off x="2435087" y="963251"/>
            <a:ext cx="5428753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altLang="zh-CN" sz="2300" b="1" dirty="0" err="1" smtClean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Allreduce</a:t>
            </a:r>
            <a:r>
              <a:rPr lang="en-US" altLang="zh-CN" sz="2300" b="1" dirty="0" smtClean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 communication time</a:t>
            </a:r>
            <a:endParaRPr lang="en-US" altLang="zh-CN" sz="2300" b="1" dirty="0">
              <a:solidFill>
                <a:schemeClr val="tx1">
                  <a:lumMod val="75000"/>
                  <a:lumOff val="2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  <a:ea typeface="+mn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F2A4AB7-FA81-449E-AA6D-AAF757185399}"/>
                  </a:ext>
                </a:extLst>
              </p:cNvPr>
              <p:cNvSpPr txBox="1"/>
              <p:nvPr/>
            </p:nvSpPr>
            <p:spPr>
              <a:xfrm>
                <a:off x="2585743" y="1858283"/>
                <a:ext cx="6467025" cy="1141723"/>
              </a:xfrm>
              <a:prstGeom prst="rect">
                <a:avLst/>
              </a:prstGeom>
              <a:noFill/>
            </p:spPr>
            <p:txBody>
              <a:bodyPr vert="horz" wrap="square" rtlCol="0">
                <a:spAutoFit/>
              </a:bodyPr>
              <a:lstStyle>
                <a:defPPr>
                  <a:defRPr lang="zh-CN"/>
                </a:defPPr>
                <a:lvl1pPr>
                  <a:defRPr sz="2000">
                    <a:solidFill>
                      <a:schemeClr val="bg1"/>
                    </a:solidFill>
                    <a:latin typeface="Verdana" panose="020B0604030504040204" pitchFamily="34" charset="0"/>
                    <a:ea typeface="Verdana" panose="020B0604030504040204" pitchFamily="34" charset="0"/>
                  </a:defRPr>
                </a:lvl1pPr>
              </a:lstStyle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3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300" b="1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𝒕𝒊𝒎𝒆</m:t>
                      </m:r>
                      <m:r>
                        <a:rPr lang="en-US" altLang="zh-CN" sz="2300" b="1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𝒕𝒉𝒓𝒐𝒖𝒈𝒉𝒑𝒖𝒕</m:t>
                          </m:r>
                        </m:num>
                        <m:den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𝒃𝒂𝒏𝒅𝒘𝒊𝒅𝒕𝒉</m:t>
                          </m:r>
                        </m:den>
                      </m:f>
                      <m:r>
                        <a:rPr lang="en-US" altLang="zh-CN" sz="2300" b="1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300" b="1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𝒔𝒊𝒛𝒆</m:t>
                          </m:r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l-GR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  <m:r>
                            <a:rPr lang="el-GR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)∗(</m:t>
                          </m:r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zh-CN" sz="2300" b="1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𝑵𝑩</m:t>
                          </m:r>
                        </m:den>
                      </m:f>
                    </m:oMath>
                  </m:oMathPara>
                </a14:m>
                <a:endParaRPr lang="en-US" altLang="zh-CN" sz="23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</a:endParaRPr>
              </a:p>
            </p:txBody>
          </p:sp>
        </mc:Choice>
        <mc:Fallback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F2A4AB7-FA81-449E-AA6D-AAF757185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43" y="1858283"/>
                <a:ext cx="6467025" cy="114172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CF2A4AB7-FA81-449E-AA6D-AAF757185399}"/>
                  </a:ext>
                </a:extLst>
              </p:cNvPr>
              <p:cNvSpPr txBox="1"/>
              <p:nvPr/>
            </p:nvSpPr>
            <p:spPr>
              <a:xfrm>
                <a:off x="2724054" y="4153352"/>
                <a:ext cx="5624606" cy="800219"/>
              </a:xfrm>
              <a:prstGeom prst="rect">
                <a:avLst/>
              </a:prstGeom>
              <a:noFill/>
            </p:spPr>
            <p:txBody>
              <a:bodyPr vert="horz" wrap="square" rtlCol="0">
                <a:spAutoFit/>
              </a:bodyPr>
              <a:lstStyle>
                <a:defPPr>
                  <a:defRPr lang="zh-CN"/>
                </a:defPPr>
                <a:lvl1pPr>
                  <a:defRPr sz="2000">
                    <a:solidFill>
                      <a:schemeClr val="bg1"/>
                    </a:solidFill>
                    <a:latin typeface="Verdana" panose="020B0604030504040204" pitchFamily="34" charset="0"/>
                    <a:ea typeface="Verdana" panose="020B0604030504040204" pitchFamily="34" charset="0"/>
                  </a:defRPr>
                </a:lvl1pPr>
              </a:lstStyle>
              <a:p>
                <a:endParaRPr lang="en-US" altLang="zh-CN" sz="23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𝒔𝒊𝒛𝒆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𝜽</m:t>
                      </m:r>
                      <m:r>
                        <a:rPr lang="el-GR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  = 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𝒑𝒂𝒓𝒂𝒎𝒆𝒕𝒆𝒓𝑵𝒖𝒎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∗ 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altLang="zh-CN" sz="2300" b="1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𝒃𝒚𝒕𝒆𝒔</m:t>
                      </m:r>
                    </m:oMath>
                  </m:oMathPara>
                </a14:m>
                <a:endParaRPr lang="en-US" altLang="zh-CN" sz="23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</a:endParaRPr>
              </a:p>
            </p:txBody>
          </p:sp>
        </mc:Choice>
        <mc:Fallback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CF2A4AB7-FA81-449E-AA6D-AAF757185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4054" y="4153352"/>
                <a:ext cx="5624606" cy="80021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CF2A4AB7-FA81-449E-AA6D-AAF757185399}"/>
                  </a:ext>
                </a:extLst>
              </p:cNvPr>
              <p:cNvSpPr txBox="1"/>
              <p:nvPr/>
            </p:nvSpPr>
            <p:spPr>
              <a:xfrm>
                <a:off x="2724054" y="2970875"/>
                <a:ext cx="6190404" cy="955774"/>
              </a:xfrm>
              <a:prstGeom prst="rect">
                <a:avLst/>
              </a:prstGeom>
              <a:noFill/>
            </p:spPr>
            <p:txBody>
              <a:bodyPr vert="horz" wrap="square" rtlCol="0">
                <a:spAutoFit/>
              </a:bodyPr>
              <a:lstStyle>
                <a:defPPr>
                  <a:defRPr lang="zh-CN"/>
                </a:defPPr>
                <a:lvl1pPr>
                  <a:defRPr sz="2000">
                    <a:solidFill>
                      <a:schemeClr val="bg1"/>
                    </a:solidFill>
                    <a:latin typeface="Verdana" panose="020B0604030504040204" pitchFamily="34" charset="0"/>
                    <a:ea typeface="Verdana" panose="020B0604030504040204" pitchFamily="34" charset="0"/>
                  </a:defRPr>
                </a:lvl1pPr>
              </a:lstStyle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3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sz="2300" b="1" i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𝒕𝒉𝒓𝒐𝒖𝒈𝒉𝒑𝒖</m:t>
                    </m:r>
                    <m:r>
                      <a:rPr lang="en-US" altLang="zh-CN" sz="2300" b="1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altLang="zh-CN" sz="23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300" b="1" i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altLang="zh-CN" sz="2300" b="1" i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altLang="zh-CN" sz="2300" b="1" i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altLang="zh-CN" sz="2300" b="1" i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𝒔𝒊𝒛𝒆</m:t>
                    </m:r>
                    <m:r>
                      <a:rPr lang="en-US" altLang="zh-CN" sz="2300" b="1" i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altLang="zh-CN" sz="2300" b="1" i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l-GR" altLang="zh-CN" sz="2300" b="1" i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)∗</m:t>
                    </m:r>
                    <m:f>
                      <m:fPr>
                        <m:ctrlPr>
                          <a:rPr lang="en-US" altLang="zh-CN" sz="2300" b="1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2300" b="1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altLang="zh-CN" sz="2300" b="1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2300" b="1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altLang="zh-CN" sz="2300" b="1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den>
                    </m:f>
                  </m:oMath>
                </a14:m>
                <a:r>
                  <a:rPr lang="en-US" altLang="zh-CN" sz="2300" b="1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</a:rPr>
                  <a:t> </a:t>
                </a:r>
                <a:endParaRPr lang="en-US" altLang="zh-CN" sz="23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</a:endParaRPr>
              </a:p>
            </p:txBody>
          </p:sp>
        </mc:Choice>
        <mc:Fallback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CF2A4AB7-FA81-449E-AA6D-AAF757185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4054" y="2970875"/>
                <a:ext cx="6190404" cy="955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矩形 13"/>
          <p:cNvSpPr/>
          <p:nvPr/>
        </p:nvSpPr>
        <p:spPr>
          <a:xfrm>
            <a:off x="8257907" y="3733700"/>
            <a:ext cx="1800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mtClean="0"/>
              <a:t>N = workerNum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8257907" y="4143581"/>
            <a:ext cx="16466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/>
              <a:t>B = bandwidth</a:t>
            </a:r>
          </a:p>
        </p:txBody>
      </p:sp>
    </p:spTree>
    <p:extLst>
      <p:ext uri="{BB962C8B-B14F-4D97-AF65-F5344CB8AC3E}">
        <p14:creationId xmlns:p14="http://schemas.microsoft.com/office/powerpoint/2010/main" val="271708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稻壳儿搜索【幻雨工作室】__1">
            <a:extLst>
              <a:ext uri="{FF2B5EF4-FFF2-40B4-BE49-F238E27FC236}">
                <a16:creationId xmlns:a16="http://schemas.microsoft.com/office/drawing/2014/main" id="{7D6BE628-9F1F-4A9E-9C43-710286B5D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 dirty="0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02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5" name="稻壳儿搜索【幻雨工作室】__2">
            <a:extLst>
              <a:ext uri="{FF2B5EF4-FFF2-40B4-BE49-F238E27FC236}">
                <a16:creationId xmlns:a16="http://schemas.microsoft.com/office/drawing/2014/main" id="{615DBE0D-2B10-4B13-81ED-94CE3AE1E6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9721" y="431209"/>
            <a:ext cx="3845923" cy="1200329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defTabSz="685800">
              <a:defRPr/>
            </a:pPr>
            <a:r>
              <a:rPr lang="en-US" altLang="zh-CN" sz="36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Progress</a:t>
            </a:r>
            <a:endParaRPr lang="en-US" altLang="zh-CN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685800">
              <a:defRPr/>
            </a:pPr>
            <a:endParaRPr lang="en-US" altLang="zh-CN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37F96A1-296E-49AE-A3E0-ED67D2B5358A}"/>
              </a:ext>
            </a:extLst>
          </p:cNvPr>
          <p:cNvSpPr txBox="1"/>
          <p:nvPr/>
        </p:nvSpPr>
        <p:spPr>
          <a:xfrm>
            <a:off x="2435087" y="963251"/>
            <a:ext cx="6246576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altLang="zh-CN" sz="2300" b="1" dirty="0" smtClean="0">
                <a:solidFill>
                  <a:schemeClr val="tx1"/>
                </a:solidFill>
              </a:rPr>
              <a:t>fitting </a:t>
            </a:r>
            <a:r>
              <a:rPr lang="en-US" altLang="zh-CN" sz="2300" b="1" dirty="0">
                <a:solidFill>
                  <a:schemeClr val="tx1"/>
                </a:solidFill>
              </a:rPr>
              <a:t>the training speed function 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808" y="2163580"/>
            <a:ext cx="4857672" cy="3753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4773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稻壳儿搜索【幻雨工作室】__1">
            <a:extLst>
              <a:ext uri="{FF2B5EF4-FFF2-40B4-BE49-F238E27FC236}">
                <a16:creationId xmlns:a16="http://schemas.microsoft.com/office/drawing/2014/main" id="{7D6BE628-9F1F-4A9E-9C43-710286B5D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2800" b="1" dirty="0" smtClean="0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03</a:t>
            </a: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5" name="稻壳儿搜索【幻雨工作室】__2">
            <a:extLst>
              <a:ext uri="{FF2B5EF4-FFF2-40B4-BE49-F238E27FC236}">
                <a16:creationId xmlns:a16="http://schemas.microsoft.com/office/drawing/2014/main" id="{615DBE0D-2B10-4B13-81ED-94CE3AE1E6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9721" y="431209"/>
            <a:ext cx="3845923" cy="646331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defTabSz="685800">
              <a:defRPr/>
            </a:pPr>
            <a:r>
              <a:rPr lang="en-US" altLang="zh-CN" sz="36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Future work</a:t>
            </a:r>
            <a:endParaRPr lang="en-US" altLang="zh-CN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F2A4AB7-FA81-449E-AA6D-AAF757185399}"/>
              </a:ext>
            </a:extLst>
          </p:cNvPr>
          <p:cNvSpPr txBox="1"/>
          <p:nvPr/>
        </p:nvSpPr>
        <p:spPr>
          <a:xfrm>
            <a:off x="1223963" y="1173842"/>
            <a:ext cx="9746732" cy="29238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 smtClean="0">
              <a:solidFill>
                <a:schemeClr val="tx1"/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>
              <a:solidFill>
                <a:schemeClr val="tx1"/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300" b="1" dirty="0" smtClean="0">
                <a:solidFill>
                  <a:schemeClr val="tx1"/>
                </a:solidFill>
                <a:latin typeface="+mn-lt"/>
              </a:rPr>
              <a:t>Implement reinforcement learning and </a:t>
            </a:r>
            <a:r>
              <a:rPr lang="en-US" altLang="zh-CN" sz="2300" b="1" dirty="0" smtClean="0">
                <a:solidFill>
                  <a:schemeClr val="tx1"/>
                </a:solidFill>
                <a:latin typeface="+mn-lt"/>
              </a:rPr>
              <a:t>evaluate it in the </a:t>
            </a:r>
            <a:r>
              <a:rPr lang="en-US" altLang="zh-CN" sz="2300" b="1" dirty="0" smtClean="0">
                <a:solidFill>
                  <a:schemeClr val="tx1"/>
                </a:solidFill>
                <a:latin typeface="+mn-lt"/>
              </a:rPr>
              <a:t>experiment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 smtClean="0">
              <a:solidFill>
                <a:schemeClr val="tx1"/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300" b="1" dirty="0">
                <a:solidFill>
                  <a:schemeClr val="tx1"/>
                </a:solidFill>
                <a:latin typeface="+mn-lt"/>
              </a:rPr>
              <a:t>implement some optimization in reinforcement learning like experience replay, job-aware exploration.</a:t>
            </a:r>
            <a:endParaRPr lang="en-US" altLang="zh-CN" sz="2300" b="1" dirty="0" smtClean="0">
              <a:solidFill>
                <a:schemeClr val="tx1"/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 smtClean="0">
              <a:solidFill>
                <a:schemeClr val="tx1"/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3596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635267" y="1115552"/>
            <a:ext cx="10712918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0"/>
              </a:spcAft>
            </a:pP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1.	Peng, Y. </a:t>
            </a:r>
            <a:r>
              <a:rPr lang="en-US" altLang="zh-CN" sz="2400" i="1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et al.</a:t>
            </a: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 DL2: A Deep Learning-driven Scheduler for Deep Learning Clusters. </a:t>
            </a:r>
            <a:r>
              <a:rPr lang="en-US" altLang="zh-CN" sz="2400" i="1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arXiv:1909.06040 [</a:t>
            </a:r>
            <a:r>
              <a:rPr lang="en-US" altLang="zh-CN" sz="2400" i="1" kern="100" dirty="0" err="1">
                <a:latin typeface="等线" panose="02010600030101010101" pitchFamily="2" charset="-122"/>
                <a:cs typeface="Times New Roman" panose="02020603050405020304" pitchFamily="18" charset="0"/>
              </a:rPr>
              <a:t>cs</a:t>
            </a:r>
            <a:r>
              <a:rPr lang="en-US" altLang="zh-CN" sz="2400" i="1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, stat]</a:t>
            </a: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 (2019).</a:t>
            </a:r>
            <a:endParaRPr lang="zh-CN" altLang="zh-CN" sz="2400" kern="100" dirty="0">
              <a:latin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spcAft>
                <a:spcPts val="0"/>
              </a:spcAft>
            </a:pP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2.	</a:t>
            </a:r>
            <a:r>
              <a:rPr lang="en-US" altLang="zh-CN" sz="2400" kern="100" dirty="0" err="1">
                <a:latin typeface="等线" panose="02010600030101010101" pitchFamily="2" charset="-122"/>
                <a:cs typeface="Times New Roman" panose="02020603050405020304" pitchFamily="18" charset="0"/>
              </a:rPr>
              <a:t>Bao</a:t>
            </a: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, Y., Peng, Y. &amp; Wu, C. Deep Learning-based Job Placement in Distributed Machine Learning Clusters. in </a:t>
            </a:r>
            <a:r>
              <a:rPr lang="en-US" altLang="zh-CN" sz="2400" i="1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IEEE INFOCOM 2019 - IEEE Conference on Computer Communications</a:t>
            </a: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 505–513 (IEEE, 2019). doi:10.1109/INFOCOM.2019.8737460.</a:t>
            </a:r>
            <a:endParaRPr lang="zh-CN" altLang="zh-CN" sz="2400" kern="100" dirty="0">
              <a:latin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spcAft>
                <a:spcPts val="0"/>
              </a:spcAft>
            </a:pP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3.	</a:t>
            </a:r>
            <a:r>
              <a:rPr lang="en-US" altLang="zh-CN" sz="2400" kern="100" dirty="0" err="1">
                <a:latin typeface="等线" panose="02010600030101010101" pitchFamily="2" charset="-122"/>
                <a:cs typeface="Times New Roman" panose="02020603050405020304" pitchFamily="18" charset="0"/>
              </a:rPr>
              <a:t>Qiao</a:t>
            </a: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, A. </a:t>
            </a:r>
            <a:r>
              <a:rPr lang="en-US" altLang="zh-CN" sz="2400" i="1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et al.</a:t>
            </a: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 Pollux: Co-adaptive Cluster Scheduling for </a:t>
            </a:r>
            <a:r>
              <a:rPr lang="en-US" altLang="zh-CN" sz="2400" kern="100" dirty="0" err="1">
                <a:latin typeface="等线" panose="02010600030101010101" pitchFamily="2" charset="-122"/>
                <a:cs typeface="Times New Roman" panose="02020603050405020304" pitchFamily="18" charset="0"/>
              </a:rPr>
              <a:t>Goodput</a:t>
            </a: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-Optimized Deep Learning. </a:t>
            </a:r>
            <a:r>
              <a:rPr lang="en-US" altLang="zh-CN" sz="2400" i="1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arXiv:2008.12260 [</a:t>
            </a:r>
            <a:r>
              <a:rPr lang="en-US" altLang="zh-CN" sz="2400" i="1" kern="100" dirty="0" err="1">
                <a:latin typeface="等线" panose="02010600030101010101" pitchFamily="2" charset="-122"/>
                <a:cs typeface="Times New Roman" panose="02020603050405020304" pitchFamily="18" charset="0"/>
              </a:rPr>
              <a:t>cs</a:t>
            </a:r>
            <a:r>
              <a:rPr lang="en-US" altLang="zh-CN" sz="2400" i="1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 (2021).</a:t>
            </a:r>
            <a:endParaRPr lang="zh-CN" altLang="zh-CN" sz="2400" kern="100" dirty="0">
              <a:latin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spcAft>
                <a:spcPts val="0"/>
              </a:spcAft>
            </a:pP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4.	Gao, Y., Chen, L. &amp; Li, B. Spotlight: Optimizing Device Placement for Training Deep Neural Networks. 9.</a:t>
            </a:r>
            <a:endParaRPr lang="zh-CN" altLang="zh-CN" sz="2400" kern="100" dirty="0">
              <a:latin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spcAft>
                <a:spcPts val="0"/>
              </a:spcAft>
            </a:pP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5.	</a:t>
            </a:r>
            <a:r>
              <a:rPr lang="en-US" altLang="zh-CN" sz="2400" kern="100" dirty="0" err="1">
                <a:latin typeface="等线" panose="02010600030101010101" pitchFamily="2" charset="-122"/>
                <a:cs typeface="Times New Roman" panose="02020603050405020304" pitchFamily="18" charset="0"/>
              </a:rPr>
              <a:t>Mirhoseini</a:t>
            </a: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, A. </a:t>
            </a:r>
            <a:r>
              <a:rPr lang="en-US" altLang="zh-CN" sz="2400" i="1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et al.</a:t>
            </a: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 A HIERARCHICAL MODEL FOR DEVICE PLACEMENT. 11 (2018).</a:t>
            </a:r>
            <a:endParaRPr lang="zh-CN" altLang="zh-CN" sz="2400" kern="100" dirty="0">
              <a:latin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spcAft>
                <a:spcPts val="0"/>
              </a:spcAft>
            </a:pP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6.	</a:t>
            </a:r>
            <a:r>
              <a:rPr lang="en-US" altLang="zh-CN" sz="2400" kern="100" dirty="0" err="1">
                <a:latin typeface="等线" panose="02010600030101010101" pitchFamily="2" charset="-122"/>
                <a:cs typeface="Times New Roman" panose="02020603050405020304" pitchFamily="18" charset="0"/>
              </a:rPr>
              <a:t>Gu</a:t>
            </a: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, J. </a:t>
            </a:r>
            <a:r>
              <a:rPr lang="en-US" altLang="zh-CN" sz="2400" i="1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et al.</a:t>
            </a:r>
            <a:r>
              <a:rPr lang="en-US" altLang="zh-CN" sz="2400" kern="100" dirty="0">
                <a:latin typeface="等线" panose="02010600030101010101" pitchFamily="2" charset="-122"/>
                <a:cs typeface="Times New Roman" panose="02020603050405020304" pitchFamily="18" charset="0"/>
              </a:rPr>
              <a:t> Tiresias: A GPU Cluster Manager for Distributed Deep Learning. 17 (2019).</a:t>
            </a:r>
            <a:endParaRPr lang="zh-CN" altLang="zh-CN" sz="2400" kern="100" dirty="0">
              <a:latin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稻壳儿搜索【幻雨工作室】__1">
            <a:extLst>
              <a:ext uri="{FF2B5EF4-FFF2-40B4-BE49-F238E27FC236}">
                <a16:creationId xmlns:a16="http://schemas.microsoft.com/office/drawing/2014/main" id="{7D6BE628-9F1F-4A9E-9C43-710286B5D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15" y="334907"/>
            <a:ext cx="841148" cy="838935"/>
          </a:xfrm>
          <a:prstGeom prst="ellipse">
            <a:avLst/>
          </a:prstGeom>
          <a:solidFill>
            <a:schemeClr val="accent1"/>
          </a:solidFill>
          <a:ln w="76200"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endParaRPr lang="zh-CN" altLang="en-US" sz="2800" b="1" dirty="0">
              <a:solidFill>
                <a:schemeClr val="bg1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6" name="稻壳儿搜索【幻雨工作室】__2">
            <a:extLst>
              <a:ext uri="{FF2B5EF4-FFF2-40B4-BE49-F238E27FC236}">
                <a16:creationId xmlns:a16="http://schemas.microsoft.com/office/drawing/2014/main" id="{615DBE0D-2B10-4B13-81ED-94CE3AE1E6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9721" y="431209"/>
            <a:ext cx="3845923" cy="646331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5pPr>
            <a:lvl6pPr marL="25146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6pPr>
            <a:lvl7pPr marL="29718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7pPr>
            <a:lvl8pPr marL="34290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8pPr>
            <a:lvl9pPr marL="3886200" indent="-228600" defTabSz="683895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9pPr>
          </a:lstStyle>
          <a:p>
            <a:pPr defTabSz="685800">
              <a:defRPr/>
            </a:pPr>
            <a:r>
              <a:rPr lang="en-US" altLang="zh-CN" sz="36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Reference</a:t>
            </a:r>
            <a:endParaRPr lang="en-US" altLang="zh-CN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4556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 err="1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Juyi</a:t>
            </a:r>
            <a:r>
              <a:rPr lang="en-US" altLang="zh-CN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Lin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en-US" altLang="zh-CN" sz="3600" spc="300" dirty="0" smtClean="0">
                <a:solidFill>
                  <a:schemeClr val="accent1"/>
                </a:solidFill>
              </a:rPr>
              <a:t>Thank you for listening!</a:t>
            </a:r>
            <a:endParaRPr lang="en-US" altLang="zh-CN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505019" y="3888553"/>
            <a:ext cx="394936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HKU Summer Research Presentation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/>
          <p:cNvSpPr/>
          <p:nvPr/>
        </p:nvSpPr>
        <p:spPr>
          <a:xfrm>
            <a:off x="676210" y="6082425"/>
            <a:ext cx="13324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+mn-ea"/>
              </a:rPr>
              <a:t>2021/08/30</a:t>
            </a:r>
            <a:endParaRPr lang="zh-CN" altLang="en-US" dirty="0">
              <a:latin typeface="等线" panose="02010600030101010101" charset="-122"/>
              <a:ea typeface="等线" panose="02010600030101010101" charset="-122"/>
              <a:cs typeface="等线" panose="02010600030101010101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7388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635"/>
    </mc:Choice>
    <mc:Fallback xmlns="">
      <p:transition spd="slow" advTm="12635"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MICROSOFT_TRANSLATOR_CLM_PRESENTATIONINFO" val="{&quot;DocumentId&quot;:&quot;c1b08e468d422b427fb088d212321722&quot;,&quot;LanguageCode&quot;:&quot;zh-CN&quot;,&quot;SlideGuids&quot;:[&quot;9c3b7d8f-67d5-4996-b9cb-0c637bf93da7&quot;,&quot;b4a1607e-2f12-4603-b558-c6c056e53c9f&quot;,&quot;76df5fb5-a40e-48d4-b30a-36a6a3d62090&quot;,&quot;6d37170c-4f9c-4628-979b-aba1c0f85ea7&quot;,&quot;32179e31-e3ed-4d4b-89d5-ee8e215bb525&quot;,&quot;6b53a810-ceca-42d3-860b-fe36f939c2cd&quot;,&quot;fdedf59c-d0ec-42cc-b4bd-b1997501c777&quot;,&quot;3db3f99f-cd64-4ace-810c-e0709444e593&quot;,&quot;3108d546-faa8-4438-bad5-60d21fb4b0a8&quot;,&quot;32c0e8b7-34ee-40b5-92f5-23ff47772c52&quot;,&quot;83ecbbaf-2e58-4387-baa5-607a52756528&quot;,&quot;b65a5b5f-2dca-4a73-9bcc-c4fa55f9b4d0&quot;],&quot;TimeStamp&quot;:&quot;2020-12-09T15:44:53.5848555+08:00&quot;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MICROSOFT_TRANSLATOR_CLM_SLIDEINFO" val="{&quot;Guid&quot;:&quot;9c3b7d8f-67d5-4996-b9cb-0c637bf93da7&quot;,&quot;TimeStamp&quot;:&quot;2020-12-09T15:44:53.534971+08:00&quot;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MICROSOFT_TRANSLATOR_CLM_SLIDEINFO" val="{&quot;Guid&quot;:&quot;b4a1607e-2f12-4603-b558-c6c056e53c9f&quot;,&quot;TimeStamp&quot;:&quot;2020-12-09T15:44:53.5838328+08:00&quot;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MICROSOFT_TRANSLATOR_CLM_SLIDEINFO" val="{&quot;Guid&quot;:&quot;32179e31-e3ed-4d4b-89d5-ee8e215bb525&quot;,&quot;TimeStamp&quot;:&quot;2020-12-09T15:44:53.5838328+08:00&quot;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MICROSOFT_TRANSLATOR_CLM_SLIDEINFO" val="{&quot;Guid&quot;:&quot;32179e31-e3ed-4d4b-89d5-ee8e215bb525&quot;,&quot;TimeStamp&quot;:&quot;2020-12-09T15:44:53.5838328+08:00&quot;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MICROSOFT_TRANSLATOR_CLM_SLIDEINFO" val="{&quot;Guid&quot;:&quot;9c3b7d8f-67d5-4996-b9cb-0c637bf93da7&quot;,&quot;TimeStamp&quot;:&quot;2020-12-09T15:44:53.534971+08:00&quot;}"/>
</p:tagLst>
</file>

<file path=ppt/theme/theme1.xml><?xml version="1.0" encoding="utf-8"?>
<a:theme xmlns:a="http://schemas.openxmlformats.org/drawingml/2006/main" name="Office 主题​​">
  <a:themeElements>
    <a:clrScheme name="蓝色毕业答辩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04270"/>
      </a:accent1>
      <a:accent2>
        <a:srgbClr val="304270"/>
      </a:accent2>
      <a:accent3>
        <a:srgbClr val="304270"/>
      </a:accent3>
      <a:accent4>
        <a:srgbClr val="304270"/>
      </a:accent4>
      <a:accent5>
        <a:srgbClr val="304270"/>
      </a:accent5>
      <a:accent6>
        <a:srgbClr val="30427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8269</TotalTime>
  <Words>571</Words>
  <Application>Microsoft Office PowerPoint</Application>
  <PresentationFormat>宽屏</PresentationFormat>
  <Paragraphs>200</Paragraphs>
  <Slides>20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9" baseType="lpstr">
      <vt:lpstr>等线</vt:lpstr>
      <vt:lpstr>等线 Light</vt:lpstr>
      <vt:lpstr>华文细黑</vt:lpstr>
      <vt:lpstr>微软雅黑</vt:lpstr>
      <vt:lpstr>Arial</vt:lpstr>
      <vt:lpstr>Cambria Math</vt:lpstr>
      <vt:lpstr>Times New Roman</vt:lpstr>
      <vt:lpstr>Verdana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林炬乙</dc:creator>
  <cp:lastModifiedBy>luke</cp:lastModifiedBy>
  <cp:revision>485</cp:revision>
  <dcterms:created xsi:type="dcterms:W3CDTF">2019-05-16T14:39:19Z</dcterms:created>
  <dcterms:modified xsi:type="dcterms:W3CDTF">2021-08-30T11:56:55Z</dcterms:modified>
</cp:coreProperties>
</file>