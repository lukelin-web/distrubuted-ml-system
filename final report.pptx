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8" r:id="rId2"/>
    <p:sldId id="259" r:id="rId3"/>
    <p:sldId id="314" r:id="rId4"/>
    <p:sldId id="323" r:id="rId5"/>
    <p:sldId id="324" r:id="rId6"/>
    <p:sldId id="322" r:id="rId7"/>
    <p:sldId id="315" r:id="rId8"/>
    <p:sldId id="327" r:id="rId9"/>
    <p:sldId id="316" r:id="rId10"/>
    <p:sldId id="325" r:id="rId11"/>
    <p:sldId id="326" r:id="rId12"/>
    <p:sldId id="320" r:id="rId13"/>
    <p:sldId id="321" r:id="rId14"/>
    <p:sldId id="279" r:id="rId15"/>
    <p:sldId id="298" r:id="rId16"/>
    <p:sldId id="296" r:id="rId17"/>
    <p:sldId id="328" r:id="rId18"/>
  </p:sldIdLst>
  <p:sldSz cx="12192000" cy="6858000"/>
  <p:notesSz cx="6858000" cy="9144000"/>
  <p:custDataLst>
    <p:tags r:id="rId2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6017" userDrawn="1">
          <p15:clr>
            <a:srgbClr val="A4A3A4"/>
          </p15:clr>
        </p15:guide>
        <p15:guide id="3" orient="horz" pos="1275" userDrawn="1">
          <p15:clr>
            <a:srgbClr val="A4A3A4"/>
          </p15:clr>
        </p15:guide>
        <p15:guide id="4" pos="3840" userDrawn="1">
          <p15:clr>
            <a:srgbClr val="A4A3A4"/>
          </p15:clr>
        </p15:guide>
        <p15:guide id="5" orient="horz" pos="58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杨 智尧" initials="杨" lastIdx="1" clrIdx="0">
    <p:extLst>
      <p:ext uri="{19B8F6BF-5375-455C-9EA6-DF929625EA0E}">
        <p15:presenceInfo xmlns:p15="http://schemas.microsoft.com/office/powerpoint/2012/main" userId="b56bfcca133f64f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B9BD5"/>
    <a:srgbClr val="0070C0"/>
    <a:srgbClr val="F4F6FB"/>
    <a:srgbClr val="F8FAFC"/>
    <a:srgbClr val="30427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88827" autoAdjust="0"/>
  </p:normalViewPr>
  <p:slideViewPr>
    <p:cSldViewPr snapToGrid="0">
      <p:cViewPr varScale="1">
        <p:scale>
          <a:sx n="74" d="100"/>
          <a:sy n="74" d="100"/>
        </p:scale>
        <p:origin x="84" y="312"/>
      </p:cViewPr>
      <p:guideLst>
        <p:guide pos="6017"/>
        <p:guide orient="horz" pos="1275"/>
        <p:guide pos="3840"/>
        <p:guide orient="horz" pos="58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2A0892-48F5-400D-9A65-6168D6414168}" type="datetimeFigureOut">
              <a:rPr lang="zh-CN" altLang="en-US" smtClean="0"/>
              <a:t>2021/8/22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C55E18-7BE2-43E3-B20E-3C330ADABFB0}" type="slidenum">
              <a:rPr lang="zh-CN" altLang="en-US" smtClean="0"/>
              <a:t>‹#›</a:t>
            </a:fld>
            <a:endParaRPr lang="zh-CN" altLang="en-US"/>
          </a:p>
        </p:txBody>
      </p:sp>
    </p:spTree>
    <p:extLst>
      <p:ext uri="{BB962C8B-B14F-4D97-AF65-F5344CB8AC3E}">
        <p14:creationId xmlns:p14="http://schemas.microsoft.com/office/powerpoint/2010/main" val="1608044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The theme of our project</a:t>
            </a:r>
            <a:r>
              <a:rPr lang="en-US" altLang="zh-CN" baseline="0" dirty="0" smtClean="0"/>
              <a:t> is </a:t>
            </a:r>
            <a:r>
              <a:rPr lang="en-US" altLang="zh-CN" sz="1200" b="0" i="0" kern="1200" dirty="0" smtClean="0">
                <a:solidFill>
                  <a:schemeClr val="tx1"/>
                </a:solidFill>
                <a:effectLst/>
                <a:latin typeface="+mn-lt"/>
                <a:ea typeface="+mn-ea"/>
                <a:cs typeface="+mn-cs"/>
              </a:rPr>
              <a:t>hierarchical reinforcement learning to jointly allocate GPU resources and place jobs. </a:t>
            </a:r>
            <a:endParaRPr lang="zh-CN" alt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200" spc="300" dirty="0">
              <a:solidFill>
                <a:schemeClr val="accent1"/>
              </a:solidFill>
            </a:endParaRPr>
          </a:p>
          <a:p>
            <a:endParaRPr lang="zh-CN" altLang="en-US" dirty="0"/>
          </a:p>
        </p:txBody>
      </p:sp>
      <p:sp>
        <p:nvSpPr>
          <p:cNvPr id="4" name="灯片编号占位符 3"/>
          <p:cNvSpPr>
            <a:spLocks noGrp="1"/>
          </p:cNvSpPr>
          <p:nvPr>
            <p:ph type="sldNum" sz="quarter" idx="10"/>
          </p:nvPr>
        </p:nvSpPr>
        <p:spPr/>
        <p:txBody>
          <a:bodyPr/>
          <a:lstStyle/>
          <a:p>
            <a:fld id="{53C55E18-7BE2-43E3-B20E-3C330ADABFB0}" type="slidenum">
              <a:rPr lang="zh-CN" altLang="en-US" smtClean="0"/>
              <a:t>1</a:t>
            </a:fld>
            <a:endParaRPr lang="zh-CN" altLang="en-US"/>
          </a:p>
        </p:txBody>
      </p:sp>
    </p:spTree>
    <p:extLst>
      <p:ext uri="{BB962C8B-B14F-4D97-AF65-F5344CB8AC3E}">
        <p14:creationId xmlns:p14="http://schemas.microsoft.com/office/powerpoint/2010/main" val="3054164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First, before introducing the progress, let’s briefly review the background of the project, and then introduce the progress of the project and the shortcomings and deficiencies.</a:t>
            </a:r>
            <a:endParaRPr lang="zh-CN" altLang="en-US" dirty="0"/>
          </a:p>
        </p:txBody>
      </p:sp>
      <p:sp>
        <p:nvSpPr>
          <p:cNvPr id="4" name="灯片编号占位符 3"/>
          <p:cNvSpPr>
            <a:spLocks noGrp="1"/>
          </p:cNvSpPr>
          <p:nvPr>
            <p:ph type="sldNum" sz="quarter" idx="10"/>
          </p:nvPr>
        </p:nvSpPr>
        <p:spPr/>
        <p:txBody>
          <a:bodyPr/>
          <a:lstStyle/>
          <a:p>
            <a:fld id="{53C55E18-7BE2-43E3-B20E-3C330ADABFB0}" type="slidenum">
              <a:rPr lang="zh-CN" altLang="en-US" smtClean="0"/>
              <a:t>2</a:t>
            </a:fld>
            <a:endParaRPr lang="zh-CN" altLang="en-US"/>
          </a:p>
        </p:txBody>
      </p:sp>
    </p:spTree>
    <p:extLst>
      <p:ext uri="{BB962C8B-B14F-4D97-AF65-F5344CB8AC3E}">
        <p14:creationId xmlns:p14="http://schemas.microsoft.com/office/powerpoint/2010/main" val="1279707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latin typeface="+mn-ea"/>
                <a:cs typeface="Times New Roman" panose="02020603050405020304" pitchFamily="18" charset="0"/>
              </a:rPr>
              <a:t>Nowadays leading IT companies operate ML clusters, where deep learning (DL) models are trained for providing various AI-driven services. Efficient resource scheduling is essential for maximal utilization of expensive DL clusters. </a:t>
            </a:r>
          </a:p>
          <a:p>
            <a:endParaRPr lang="zh-CN" altLang="en-US" dirty="0"/>
          </a:p>
        </p:txBody>
      </p:sp>
      <p:sp>
        <p:nvSpPr>
          <p:cNvPr id="4" name="灯片编号占位符 3"/>
          <p:cNvSpPr>
            <a:spLocks noGrp="1"/>
          </p:cNvSpPr>
          <p:nvPr>
            <p:ph type="sldNum" sz="quarter" idx="10"/>
          </p:nvPr>
        </p:nvSpPr>
        <p:spPr/>
        <p:txBody>
          <a:bodyPr/>
          <a:lstStyle/>
          <a:p>
            <a:fld id="{53C55E18-7BE2-43E3-B20E-3C330ADABFB0}" type="slidenum">
              <a:rPr lang="zh-CN" altLang="en-US" smtClean="0"/>
              <a:t>3</a:t>
            </a:fld>
            <a:endParaRPr lang="zh-CN" altLang="en-US"/>
          </a:p>
        </p:txBody>
      </p:sp>
    </p:spTree>
    <p:extLst>
      <p:ext uri="{BB962C8B-B14F-4D97-AF65-F5344CB8AC3E}">
        <p14:creationId xmlns:p14="http://schemas.microsoft.com/office/powerpoint/2010/main" val="11488082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这是我们整理出低温下电路变化的规律和电路搭建的思路</a:t>
            </a:r>
            <a:r>
              <a:rPr lang="en-US" altLang="zh-CN" dirty="0"/>
              <a:t>.</a:t>
            </a:r>
            <a:r>
              <a:rPr lang="zh-CN" altLang="en-US" dirty="0"/>
              <a:t>一是 减额</a:t>
            </a:r>
            <a:r>
              <a:rPr lang="zh-CN" altLang="en-US" sz="1200" dirty="0">
                <a:latin typeface="微软雅黑" panose="020B0503020204020204" pitchFamily="34" charset="-122"/>
                <a:ea typeface="微软雅黑" panose="020B0503020204020204" pitchFamily="34" charset="-122"/>
              </a:rPr>
              <a:t>因数变化规律</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二是模拟前端搭建思路</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三是数字后端搭建思路</a:t>
            </a:r>
            <a:endParaRPr lang="en-US" altLang="zh-CN" sz="1200" dirty="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利用</a:t>
            </a:r>
            <a:r>
              <a:rPr lang="en-US" altLang="zh-CN" sz="1200" dirty="0" err="1">
                <a:latin typeface="微软雅黑" panose="020B0503020204020204" pitchFamily="34" charset="-122"/>
                <a:ea typeface="微软雅黑" panose="020B0503020204020204" pitchFamily="34" charset="-122"/>
              </a:rPr>
              <a:t>simulink</a:t>
            </a:r>
            <a:r>
              <a:rPr lang="zh-CN" altLang="en-US" sz="1200" dirty="0">
                <a:latin typeface="微软雅黑" panose="020B0503020204020204" pitchFamily="34" charset="-122"/>
                <a:ea typeface="微软雅黑" panose="020B0503020204020204" pitchFamily="34" charset="-122"/>
              </a:rPr>
              <a:t>建模</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仿真高速射频电路</a:t>
            </a:r>
            <a:r>
              <a:rPr lang="en-US" altLang="zh-CN" sz="1200" dirty="0">
                <a:latin typeface="微软雅黑" panose="020B0503020204020204" pitchFamily="34" charset="-122"/>
                <a:ea typeface="微软雅黑" panose="020B0503020204020204" pitchFamily="34" charset="-122"/>
              </a:rPr>
              <a:t>. </a:t>
            </a:r>
            <a:r>
              <a:rPr lang="en-US" altLang="zh-CN" sz="1200" dirty="0" err="1">
                <a:latin typeface="微软雅黑" panose="020B0503020204020204" pitchFamily="34" charset="-122"/>
                <a:ea typeface="微软雅黑" panose="020B0503020204020204" pitchFamily="34" charset="-122"/>
              </a:rPr>
              <a:t>Hspice</a:t>
            </a:r>
            <a:r>
              <a:rPr lang="zh-CN" altLang="en-US" sz="1200" dirty="0">
                <a:latin typeface="微软雅黑" panose="020B0503020204020204" pitchFamily="34" charset="-122"/>
                <a:ea typeface="微软雅黑" panose="020B0503020204020204" pitchFamily="34" charset="-122"/>
              </a:rPr>
              <a:t>利用低温模型仿真</a:t>
            </a:r>
            <a:r>
              <a:rPr lang="en-US" altLang="zh-CN" sz="1200" dirty="0">
                <a:latin typeface="微软雅黑" panose="020B0503020204020204" pitchFamily="34" charset="-122"/>
                <a:ea typeface="微软雅黑" panose="020B0503020204020204" pitchFamily="34" charset="-122"/>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p:cNvSpPr>
            <a:spLocks noGrp="1"/>
          </p:cNvSpPr>
          <p:nvPr>
            <p:ph type="sldNum" sz="quarter" idx="10"/>
          </p:nvPr>
        </p:nvSpPr>
        <p:spPr/>
        <p:txBody>
          <a:bodyPr/>
          <a:lstStyle/>
          <a:p>
            <a:fld id="{53C55E18-7BE2-43E3-B20E-3C330ADABFB0}" type="slidenum">
              <a:rPr lang="zh-CN" altLang="en-US" smtClean="0"/>
              <a:t>7</a:t>
            </a:fld>
            <a:endParaRPr lang="zh-CN" altLang="en-US"/>
          </a:p>
        </p:txBody>
      </p:sp>
    </p:spTree>
    <p:extLst>
      <p:ext uri="{BB962C8B-B14F-4D97-AF65-F5344CB8AC3E}">
        <p14:creationId xmlns:p14="http://schemas.microsoft.com/office/powerpoint/2010/main" val="23383829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这是我们整理出低温下电路变化的规律和电路搭建的思路</a:t>
            </a:r>
            <a:r>
              <a:rPr lang="en-US" altLang="zh-CN" dirty="0"/>
              <a:t>.</a:t>
            </a:r>
            <a:r>
              <a:rPr lang="zh-CN" altLang="en-US" dirty="0"/>
              <a:t>一是 减额</a:t>
            </a:r>
            <a:r>
              <a:rPr lang="zh-CN" altLang="en-US" sz="1200" dirty="0">
                <a:latin typeface="微软雅黑" panose="020B0503020204020204" pitchFamily="34" charset="-122"/>
                <a:ea typeface="微软雅黑" panose="020B0503020204020204" pitchFamily="34" charset="-122"/>
              </a:rPr>
              <a:t>因数变化规律</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二是模拟前端搭建思路</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三是数字后端搭建思路</a:t>
            </a:r>
            <a:endParaRPr lang="en-US" altLang="zh-CN" sz="1200" dirty="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利用</a:t>
            </a:r>
            <a:r>
              <a:rPr lang="en-US" altLang="zh-CN" sz="1200" dirty="0" err="1">
                <a:latin typeface="微软雅黑" panose="020B0503020204020204" pitchFamily="34" charset="-122"/>
                <a:ea typeface="微软雅黑" panose="020B0503020204020204" pitchFamily="34" charset="-122"/>
              </a:rPr>
              <a:t>simulink</a:t>
            </a:r>
            <a:r>
              <a:rPr lang="zh-CN" altLang="en-US" sz="1200" dirty="0">
                <a:latin typeface="微软雅黑" panose="020B0503020204020204" pitchFamily="34" charset="-122"/>
                <a:ea typeface="微软雅黑" panose="020B0503020204020204" pitchFamily="34" charset="-122"/>
              </a:rPr>
              <a:t>建模</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仿真高速射频电路</a:t>
            </a:r>
            <a:r>
              <a:rPr lang="en-US" altLang="zh-CN" sz="1200" dirty="0">
                <a:latin typeface="微软雅黑" panose="020B0503020204020204" pitchFamily="34" charset="-122"/>
                <a:ea typeface="微软雅黑" panose="020B0503020204020204" pitchFamily="34" charset="-122"/>
              </a:rPr>
              <a:t>. </a:t>
            </a:r>
            <a:r>
              <a:rPr lang="en-US" altLang="zh-CN" sz="1200" dirty="0" err="1">
                <a:latin typeface="微软雅黑" panose="020B0503020204020204" pitchFamily="34" charset="-122"/>
                <a:ea typeface="微软雅黑" panose="020B0503020204020204" pitchFamily="34" charset="-122"/>
              </a:rPr>
              <a:t>Hspice</a:t>
            </a:r>
            <a:r>
              <a:rPr lang="zh-CN" altLang="en-US" sz="1200" dirty="0">
                <a:latin typeface="微软雅黑" panose="020B0503020204020204" pitchFamily="34" charset="-122"/>
                <a:ea typeface="微软雅黑" panose="020B0503020204020204" pitchFamily="34" charset="-122"/>
              </a:rPr>
              <a:t>利用低温模型仿真</a:t>
            </a:r>
            <a:r>
              <a:rPr lang="en-US" altLang="zh-CN" sz="1200" dirty="0">
                <a:latin typeface="微软雅黑" panose="020B0503020204020204" pitchFamily="34" charset="-122"/>
                <a:ea typeface="微软雅黑" panose="020B0503020204020204" pitchFamily="34" charset="-122"/>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p:cNvSpPr>
            <a:spLocks noGrp="1"/>
          </p:cNvSpPr>
          <p:nvPr>
            <p:ph type="sldNum" sz="quarter" idx="10"/>
          </p:nvPr>
        </p:nvSpPr>
        <p:spPr/>
        <p:txBody>
          <a:bodyPr/>
          <a:lstStyle/>
          <a:p>
            <a:fld id="{53C55E18-7BE2-43E3-B20E-3C330ADABFB0}" type="slidenum">
              <a:rPr lang="zh-CN" altLang="en-US" smtClean="0"/>
              <a:t>8</a:t>
            </a:fld>
            <a:endParaRPr lang="zh-CN" altLang="en-US"/>
          </a:p>
        </p:txBody>
      </p:sp>
    </p:spTree>
    <p:extLst>
      <p:ext uri="{BB962C8B-B14F-4D97-AF65-F5344CB8AC3E}">
        <p14:creationId xmlns:p14="http://schemas.microsoft.com/office/powerpoint/2010/main" val="11307883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我们用</a:t>
            </a:r>
            <a:r>
              <a:rPr lang="en-US" altLang="zh-CN" dirty="0" err="1" smtClean="0"/>
              <a:t>hspice</a:t>
            </a:r>
            <a:r>
              <a:rPr lang="zh-CN" altLang="en-US" dirty="0" smtClean="0"/>
              <a:t>进行了仿真</a:t>
            </a:r>
            <a:r>
              <a:rPr lang="en-US" altLang="zh-CN" dirty="0" smtClean="0"/>
              <a:t>,</a:t>
            </a:r>
            <a:r>
              <a:rPr lang="zh-CN" altLang="en-US" sz="1200" b="0" i="0" kern="1200" dirty="0" smtClean="0">
                <a:solidFill>
                  <a:schemeClr val="tx1"/>
                </a:solidFill>
                <a:effectLst/>
                <a:latin typeface="+mn-lt"/>
                <a:ea typeface="+mn-ea"/>
                <a:cs typeface="+mn-cs"/>
              </a:rPr>
              <a:t>低温参数的来源</a:t>
            </a:r>
            <a:r>
              <a:rPr lang="en-US" altLang="zh-CN" sz="1200" b="0" i="0" kern="1200" dirty="0" smtClean="0">
                <a:solidFill>
                  <a:schemeClr val="tx1"/>
                </a:solidFill>
                <a:effectLst/>
                <a:latin typeface="+mn-lt"/>
                <a:ea typeface="+mn-ea"/>
                <a:cs typeface="+mn-cs"/>
              </a:rPr>
              <a:t>,</a:t>
            </a:r>
            <a:r>
              <a:rPr lang="en-US" altLang="zh-CN" sz="1200" b="0" i="0" kern="1200" baseline="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在相关文献中获得多组低温</a:t>
            </a:r>
            <a:r>
              <a:rPr lang="en-US" altLang="zh-CN" sz="1200" b="0" i="0" kern="1200" dirty="0" smtClean="0">
                <a:solidFill>
                  <a:schemeClr val="tx1"/>
                </a:solidFill>
                <a:effectLst/>
                <a:latin typeface="+mn-lt"/>
                <a:ea typeface="+mn-ea"/>
                <a:cs typeface="+mn-cs"/>
              </a:rPr>
              <a:t>CMOS</a:t>
            </a:r>
            <a:r>
              <a:rPr lang="zh-CN" altLang="en-US" sz="1200" b="0" i="0" kern="1200" dirty="0" smtClean="0">
                <a:solidFill>
                  <a:schemeClr val="tx1"/>
                </a:solidFill>
                <a:effectLst/>
                <a:latin typeface="+mn-lt"/>
                <a:ea typeface="+mn-ea"/>
                <a:cs typeface="+mn-cs"/>
              </a:rPr>
              <a:t>的</a:t>
            </a:r>
            <a:r>
              <a:rPr lang="en-US" altLang="zh-CN" sz="1200" b="0" i="0" kern="1200" dirty="0" smtClean="0">
                <a:solidFill>
                  <a:schemeClr val="tx1"/>
                </a:solidFill>
                <a:effectLst/>
                <a:latin typeface="+mn-lt"/>
                <a:ea typeface="+mn-ea"/>
                <a:cs typeface="+mn-cs"/>
              </a:rPr>
              <a:t>IV</a:t>
            </a:r>
            <a:r>
              <a:rPr lang="zh-CN" altLang="en-US" sz="1200" b="0" i="0" kern="1200" dirty="0" smtClean="0">
                <a:solidFill>
                  <a:schemeClr val="tx1"/>
                </a:solidFill>
                <a:effectLst/>
                <a:latin typeface="+mn-lt"/>
                <a:ea typeface="+mn-ea"/>
                <a:cs typeface="+mn-cs"/>
              </a:rPr>
              <a:t>曲线测量值，用数据提取软件获得每个电压对应的电流</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已经知道的模型中的公式推导出参数</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把数据给学长，学长返给我们参数</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用这个参数和文献中的图像进行比对，算均方根误差</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还是比较接近的</a:t>
            </a:r>
            <a:r>
              <a:rPr lang="en-US" altLang="zh-CN" sz="1200" b="0" i="0" kern="1200" dirty="0" smtClean="0">
                <a:solidFill>
                  <a:schemeClr val="tx1"/>
                </a:solidFill>
                <a:effectLst/>
                <a:latin typeface="+mn-lt"/>
                <a:ea typeface="+mn-ea"/>
                <a:cs typeface="+mn-cs"/>
              </a:rPr>
              <a:t>.</a:t>
            </a:r>
            <a:endParaRPr lang="zh-CN" altLang="en-US" sz="1200" b="0" i="0" kern="1200" dirty="0" smtClean="0">
              <a:solidFill>
                <a:schemeClr val="tx1"/>
              </a:solidFill>
              <a:effectLst/>
              <a:latin typeface="+mn-lt"/>
              <a:ea typeface="+mn-ea"/>
              <a:cs typeface="+mn-cs"/>
            </a:endParaRPr>
          </a:p>
          <a:p>
            <a:r>
              <a:rPr lang="zh-CN" altLang="en-US" dirty="0" smtClean="0"/>
              <a:t/>
            </a:r>
            <a:br>
              <a:rPr lang="zh-CN" altLang="en-US" dirty="0" smtClean="0"/>
            </a:br>
            <a:endParaRPr lang="zh-CN" altLang="en-US" dirty="0"/>
          </a:p>
        </p:txBody>
      </p:sp>
      <p:sp>
        <p:nvSpPr>
          <p:cNvPr id="4" name="灯片编号占位符 3"/>
          <p:cNvSpPr>
            <a:spLocks noGrp="1"/>
          </p:cNvSpPr>
          <p:nvPr>
            <p:ph type="sldNum" sz="quarter" idx="10"/>
          </p:nvPr>
        </p:nvSpPr>
        <p:spPr/>
        <p:txBody>
          <a:bodyPr/>
          <a:lstStyle/>
          <a:p>
            <a:fld id="{53C55E18-7BE2-43E3-B20E-3C330ADABFB0}" type="slidenum">
              <a:rPr lang="zh-CN" altLang="en-US" smtClean="0"/>
              <a:t>13</a:t>
            </a:fld>
            <a:endParaRPr lang="zh-CN" altLang="en-US"/>
          </a:p>
        </p:txBody>
      </p:sp>
    </p:spTree>
    <p:extLst>
      <p:ext uri="{BB962C8B-B14F-4D97-AF65-F5344CB8AC3E}">
        <p14:creationId xmlns:p14="http://schemas.microsoft.com/office/powerpoint/2010/main" val="22177850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仿真的第一部分是对重建滤波器进行仿真，重建滤波器的作用是设置基带信号摆幅，同时要满足较低的功耗。</a:t>
            </a:r>
          </a:p>
        </p:txBody>
      </p:sp>
      <p:sp>
        <p:nvSpPr>
          <p:cNvPr id="4" name="灯片编号占位符 3"/>
          <p:cNvSpPr>
            <a:spLocks noGrp="1"/>
          </p:cNvSpPr>
          <p:nvPr>
            <p:ph type="sldNum" sz="quarter" idx="5"/>
          </p:nvPr>
        </p:nvSpPr>
        <p:spPr/>
        <p:txBody>
          <a:bodyPr/>
          <a:lstStyle/>
          <a:p>
            <a:fld id="{53C55E18-7BE2-43E3-B20E-3C330ADABFB0}" type="slidenum">
              <a:rPr lang="zh-CN" altLang="en-US" smtClean="0"/>
              <a:t>14</a:t>
            </a:fld>
            <a:endParaRPr lang="zh-CN" altLang="en-US"/>
          </a:p>
        </p:txBody>
      </p:sp>
    </p:spTree>
    <p:extLst>
      <p:ext uri="{BB962C8B-B14F-4D97-AF65-F5344CB8AC3E}">
        <p14:creationId xmlns:p14="http://schemas.microsoft.com/office/powerpoint/2010/main" val="31086068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仿真的第二部分是对可变增益放大器进行建模</a:t>
            </a:r>
            <a:r>
              <a:rPr lang="en-US" altLang="zh-CN" dirty="0"/>
              <a:t>, </a:t>
            </a:r>
            <a:endParaRPr lang="zh-CN" altLang="en-US" dirty="0"/>
          </a:p>
        </p:txBody>
      </p:sp>
      <p:sp>
        <p:nvSpPr>
          <p:cNvPr id="4" name="灯片编号占位符 3"/>
          <p:cNvSpPr>
            <a:spLocks noGrp="1"/>
          </p:cNvSpPr>
          <p:nvPr>
            <p:ph type="sldNum" sz="quarter" idx="5"/>
          </p:nvPr>
        </p:nvSpPr>
        <p:spPr/>
        <p:txBody>
          <a:bodyPr/>
          <a:lstStyle/>
          <a:p>
            <a:fld id="{53C55E18-7BE2-43E3-B20E-3C330ADABFB0}" type="slidenum">
              <a:rPr lang="zh-CN" altLang="en-US" smtClean="0"/>
              <a:t>15</a:t>
            </a:fld>
            <a:endParaRPr lang="zh-CN" altLang="en-US"/>
          </a:p>
        </p:txBody>
      </p:sp>
    </p:spTree>
    <p:extLst>
      <p:ext uri="{BB962C8B-B14F-4D97-AF65-F5344CB8AC3E}">
        <p14:creationId xmlns:p14="http://schemas.microsoft.com/office/powerpoint/2010/main" val="28495175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实现完整的优化方案并进行实验，之后</a:t>
            </a:r>
            <a:r>
              <a:rPr lang="zh-CN" altLang="en-US" sz="1200" kern="100" dirty="0">
                <a:latin typeface="微软雅黑" panose="020B0503020204020204" pitchFamily="34" charset="-122"/>
                <a:ea typeface="微软雅黑" panose="020B0503020204020204" pitchFamily="34" charset="-122"/>
                <a:cs typeface="Times New Roman" panose="02020603050405020304" pitchFamily="18" charset="0"/>
                <a:sym typeface="+mn-lt"/>
              </a:rPr>
              <a:t>对建立的电路模型进行优化，</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开始论文介绍部分与原理部分撰写</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200" kern="100" dirty="0">
                <a:latin typeface="微软雅黑" panose="020B0503020204020204" pitchFamily="34" charset="-122"/>
                <a:ea typeface="微软雅黑" panose="020B0503020204020204" pitchFamily="34" charset="-122"/>
                <a:cs typeface="Times New Roman" panose="02020603050405020304" pitchFamily="18" charset="0"/>
              </a:rPr>
              <a:t>再</a:t>
            </a:r>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对仿真过程中得到的数据进行整理与总结</a:t>
            </a:r>
            <a:endParaRPr lang="zh-CN" altLang="en-US" dirty="0"/>
          </a:p>
        </p:txBody>
      </p:sp>
      <p:sp>
        <p:nvSpPr>
          <p:cNvPr id="4" name="灯片编号占位符 3"/>
          <p:cNvSpPr>
            <a:spLocks noGrp="1"/>
          </p:cNvSpPr>
          <p:nvPr>
            <p:ph type="sldNum" sz="quarter" idx="5"/>
          </p:nvPr>
        </p:nvSpPr>
        <p:spPr/>
        <p:txBody>
          <a:bodyPr/>
          <a:lstStyle/>
          <a:p>
            <a:fld id="{53C55E18-7BE2-43E3-B20E-3C330ADABFB0}" type="slidenum">
              <a:rPr lang="zh-CN" altLang="en-US" smtClean="0"/>
              <a:t>16</a:t>
            </a:fld>
            <a:endParaRPr lang="zh-CN" altLang="en-US"/>
          </a:p>
        </p:txBody>
      </p:sp>
    </p:spTree>
    <p:extLst>
      <p:ext uri="{BB962C8B-B14F-4D97-AF65-F5344CB8AC3E}">
        <p14:creationId xmlns:p14="http://schemas.microsoft.com/office/powerpoint/2010/main" val="36328631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spc="300" dirty="0" smtClean="0">
                <a:solidFill>
                  <a:schemeClr val="accent1"/>
                </a:solidFill>
              </a:rPr>
              <a:t>That’s all, thank you</a:t>
            </a:r>
            <a:r>
              <a:rPr lang="en-US" altLang="zh-CN" sz="1200" spc="300" baseline="0" dirty="0" smtClean="0">
                <a:solidFill>
                  <a:schemeClr val="accent1"/>
                </a:solidFill>
              </a:rPr>
              <a:t> for listening!</a:t>
            </a:r>
            <a:endParaRPr lang="zh-CN" altLang="en-US" sz="1200" spc="300" dirty="0">
              <a:solidFill>
                <a:schemeClr val="accent1"/>
              </a:solidFill>
            </a:endParaRPr>
          </a:p>
          <a:p>
            <a:endParaRPr lang="zh-CN" altLang="en-US" dirty="0"/>
          </a:p>
        </p:txBody>
      </p:sp>
      <p:sp>
        <p:nvSpPr>
          <p:cNvPr id="4" name="灯片编号占位符 3"/>
          <p:cNvSpPr>
            <a:spLocks noGrp="1"/>
          </p:cNvSpPr>
          <p:nvPr>
            <p:ph type="sldNum" sz="quarter" idx="10"/>
          </p:nvPr>
        </p:nvSpPr>
        <p:spPr/>
        <p:txBody>
          <a:bodyPr/>
          <a:lstStyle/>
          <a:p>
            <a:fld id="{53C55E18-7BE2-43E3-B20E-3C330ADABFB0}" type="slidenum">
              <a:rPr lang="zh-CN" altLang="en-US" smtClean="0"/>
              <a:t>17</a:t>
            </a:fld>
            <a:endParaRPr lang="zh-CN" altLang="en-US"/>
          </a:p>
        </p:txBody>
      </p:sp>
    </p:spTree>
    <p:extLst>
      <p:ext uri="{BB962C8B-B14F-4D97-AF65-F5344CB8AC3E}">
        <p14:creationId xmlns:p14="http://schemas.microsoft.com/office/powerpoint/2010/main" val="29443244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B97D71-3412-49FC-AB3A-B0943795942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BECEA9F-D75C-418A-A150-85D0BAA51D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7B66BA2-584E-471F-B4FA-48F4E6324851}"/>
              </a:ext>
            </a:extLst>
          </p:cNvPr>
          <p:cNvSpPr>
            <a:spLocks noGrp="1"/>
          </p:cNvSpPr>
          <p:nvPr>
            <p:ph type="dt" sz="half" idx="10"/>
          </p:nvPr>
        </p:nvSpPr>
        <p:spPr/>
        <p:txBody>
          <a:bodyPr/>
          <a:lstStyle/>
          <a:p>
            <a:fld id="{E650F6C9-59DB-45A4-B5F3-4BA38C0FBD5F}" type="datetimeFigureOut">
              <a:rPr lang="zh-CN" altLang="en-US" smtClean="0"/>
              <a:t>2021/8/22</a:t>
            </a:fld>
            <a:endParaRPr lang="zh-CN" altLang="en-US"/>
          </a:p>
        </p:txBody>
      </p:sp>
      <p:sp>
        <p:nvSpPr>
          <p:cNvPr id="5" name="页脚占位符 4">
            <a:extLst>
              <a:ext uri="{FF2B5EF4-FFF2-40B4-BE49-F238E27FC236}">
                <a16:creationId xmlns:a16="http://schemas.microsoft.com/office/drawing/2014/main" id="{4320C978-AA1B-41A3-A1B6-E98898CAC95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4F8B3D4-061A-401A-B160-905091506623}"/>
              </a:ext>
            </a:extLst>
          </p:cNvPr>
          <p:cNvSpPr>
            <a:spLocks noGrp="1"/>
          </p:cNvSpPr>
          <p:nvPr>
            <p:ph type="sldNum" sz="quarter" idx="12"/>
          </p:nvPr>
        </p:nvSpPr>
        <p:spPr/>
        <p:txBody>
          <a:bodyPr/>
          <a:lstStyle/>
          <a:p>
            <a:fld id="{EA3342FE-1BF8-4D8F-9E56-10AC0B9381C0}" type="slidenum">
              <a:rPr lang="zh-CN" altLang="en-US" smtClean="0"/>
              <a:t>‹#›</a:t>
            </a:fld>
            <a:endParaRPr lang="zh-CN" altLang="en-US"/>
          </a:p>
        </p:txBody>
      </p:sp>
    </p:spTree>
    <p:extLst>
      <p:ext uri="{BB962C8B-B14F-4D97-AF65-F5344CB8AC3E}">
        <p14:creationId xmlns:p14="http://schemas.microsoft.com/office/powerpoint/2010/main" val="1308433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1A1871-31C2-4C5D-BE4D-B9F60B74469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C75462-EF10-48BA-B7A5-198A50309F78}"/>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28B04FD-D904-4A15-ABF9-ECACEB16CC36}"/>
              </a:ext>
            </a:extLst>
          </p:cNvPr>
          <p:cNvSpPr>
            <a:spLocks noGrp="1"/>
          </p:cNvSpPr>
          <p:nvPr>
            <p:ph type="dt" sz="half" idx="10"/>
          </p:nvPr>
        </p:nvSpPr>
        <p:spPr/>
        <p:txBody>
          <a:bodyPr/>
          <a:lstStyle/>
          <a:p>
            <a:fld id="{E650F6C9-59DB-45A4-B5F3-4BA38C0FBD5F}" type="datetimeFigureOut">
              <a:rPr lang="zh-CN" altLang="en-US" smtClean="0"/>
              <a:t>2021/8/22</a:t>
            </a:fld>
            <a:endParaRPr lang="zh-CN" altLang="en-US"/>
          </a:p>
        </p:txBody>
      </p:sp>
      <p:sp>
        <p:nvSpPr>
          <p:cNvPr id="5" name="页脚占位符 4">
            <a:extLst>
              <a:ext uri="{FF2B5EF4-FFF2-40B4-BE49-F238E27FC236}">
                <a16:creationId xmlns:a16="http://schemas.microsoft.com/office/drawing/2014/main" id="{2DEB889A-2284-4BF6-8D49-4A4281482D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942C13-BDF2-4EF3-9C34-D09BA9E10CA8}"/>
              </a:ext>
            </a:extLst>
          </p:cNvPr>
          <p:cNvSpPr>
            <a:spLocks noGrp="1"/>
          </p:cNvSpPr>
          <p:nvPr>
            <p:ph type="sldNum" sz="quarter" idx="12"/>
          </p:nvPr>
        </p:nvSpPr>
        <p:spPr/>
        <p:txBody>
          <a:bodyPr/>
          <a:lstStyle/>
          <a:p>
            <a:fld id="{EA3342FE-1BF8-4D8F-9E56-10AC0B9381C0}" type="slidenum">
              <a:rPr lang="zh-CN" altLang="en-US" smtClean="0"/>
              <a:t>‹#›</a:t>
            </a:fld>
            <a:endParaRPr lang="zh-CN" altLang="en-US"/>
          </a:p>
        </p:txBody>
      </p:sp>
    </p:spTree>
    <p:extLst>
      <p:ext uri="{BB962C8B-B14F-4D97-AF65-F5344CB8AC3E}">
        <p14:creationId xmlns:p14="http://schemas.microsoft.com/office/powerpoint/2010/main" val="3514392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A0C2DD-0E62-42C3-B299-8086286AD22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C76FA0C-1F2E-4A08-9884-5638A6D2CDD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87CC6BBD-81F2-46BE-9F46-71267F88AA12}"/>
              </a:ext>
            </a:extLst>
          </p:cNvPr>
          <p:cNvSpPr>
            <a:spLocks noGrp="1"/>
          </p:cNvSpPr>
          <p:nvPr>
            <p:ph type="dt" sz="half" idx="10"/>
          </p:nvPr>
        </p:nvSpPr>
        <p:spPr/>
        <p:txBody>
          <a:bodyPr/>
          <a:lstStyle/>
          <a:p>
            <a:fld id="{E650F6C9-59DB-45A4-B5F3-4BA38C0FBD5F}" type="datetimeFigureOut">
              <a:rPr lang="zh-CN" altLang="en-US" smtClean="0"/>
              <a:t>2021/8/22</a:t>
            </a:fld>
            <a:endParaRPr lang="zh-CN" altLang="en-US"/>
          </a:p>
        </p:txBody>
      </p:sp>
      <p:sp>
        <p:nvSpPr>
          <p:cNvPr id="5" name="页脚占位符 4">
            <a:extLst>
              <a:ext uri="{FF2B5EF4-FFF2-40B4-BE49-F238E27FC236}">
                <a16:creationId xmlns:a16="http://schemas.microsoft.com/office/drawing/2014/main" id="{4269961E-6066-46C2-9130-1C3513F0B73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1796815-3529-4CC8-9AF5-A6DCA991229C}"/>
              </a:ext>
            </a:extLst>
          </p:cNvPr>
          <p:cNvSpPr>
            <a:spLocks noGrp="1"/>
          </p:cNvSpPr>
          <p:nvPr>
            <p:ph type="sldNum" sz="quarter" idx="12"/>
          </p:nvPr>
        </p:nvSpPr>
        <p:spPr/>
        <p:txBody>
          <a:bodyPr/>
          <a:lstStyle/>
          <a:p>
            <a:fld id="{EA3342FE-1BF8-4D8F-9E56-10AC0B9381C0}" type="slidenum">
              <a:rPr lang="zh-CN" altLang="en-US" smtClean="0"/>
              <a:t>‹#›</a:t>
            </a:fld>
            <a:endParaRPr lang="zh-CN" altLang="en-US"/>
          </a:p>
        </p:txBody>
      </p:sp>
    </p:spTree>
    <p:extLst>
      <p:ext uri="{BB962C8B-B14F-4D97-AF65-F5344CB8AC3E}">
        <p14:creationId xmlns:p14="http://schemas.microsoft.com/office/powerpoint/2010/main" val="3923436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6B360F-B09F-4AEB-8D9D-A03724018DD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2FE71CA-F1AC-41B4-97C8-20B4248019FB}"/>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06BD0DB5-EEF4-4B62-AA9C-A227E8155E7E}"/>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144430A6-5FEC-430E-B30A-5AD2C35CD1A6}"/>
              </a:ext>
            </a:extLst>
          </p:cNvPr>
          <p:cNvSpPr>
            <a:spLocks noGrp="1"/>
          </p:cNvSpPr>
          <p:nvPr>
            <p:ph type="dt" sz="half" idx="10"/>
          </p:nvPr>
        </p:nvSpPr>
        <p:spPr/>
        <p:txBody>
          <a:bodyPr/>
          <a:lstStyle/>
          <a:p>
            <a:fld id="{E650F6C9-59DB-45A4-B5F3-4BA38C0FBD5F}" type="datetimeFigureOut">
              <a:rPr lang="zh-CN" altLang="en-US" smtClean="0"/>
              <a:t>2021/8/22</a:t>
            </a:fld>
            <a:endParaRPr lang="zh-CN" altLang="en-US"/>
          </a:p>
        </p:txBody>
      </p:sp>
      <p:sp>
        <p:nvSpPr>
          <p:cNvPr id="6" name="页脚占位符 5">
            <a:extLst>
              <a:ext uri="{FF2B5EF4-FFF2-40B4-BE49-F238E27FC236}">
                <a16:creationId xmlns:a16="http://schemas.microsoft.com/office/drawing/2014/main" id="{2A4074A9-204C-485F-8A60-347B2E351AE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D85F218-DBB8-42A8-A542-7231A970C815}"/>
              </a:ext>
            </a:extLst>
          </p:cNvPr>
          <p:cNvSpPr>
            <a:spLocks noGrp="1"/>
          </p:cNvSpPr>
          <p:nvPr>
            <p:ph type="sldNum" sz="quarter" idx="12"/>
          </p:nvPr>
        </p:nvSpPr>
        <p:spPr/>
        <p:txBody>
          <a:bodyPr/>
          <a:lstStyle/>
          <a:p>
            <a:fld id="{EA3342FE-1BF8-4D8F-9E56-10AC0B9381C0}" type="slidenum">
              <a:rPr lang="zh-CN" altLang="en-US" smtClean="0"/>
              <a:t>‹#›</a:t>
            </a:fld>
            <a:endParaRPr lang="zh-CN" altLang="en-US"/>
          </a:p>
        </p:txBody>
      </p:sp>
    </p:spTree>
    <p:extLst>
      <p:ext uri="{BB962C8B-B14F-4D97-AF65-F5344CB8AC3E}">
        <p14:creationId xmlns:p14="http://schemas.microsoft.com/office/powerpoint/2010/main" val="36452746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C47078-6F23-45C2-B1BD-6B5095A602B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84C4473-BF91-4CC3-BFC0-CD21EE7C04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E540F2BA-42FF-4E06-B247-F4081CA71C2D}"/>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54DBEA62-C161-4028-A381-A6B5BD2C13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767D8E3-50A5-44CC-90F6-BE04EB1AB487}"/>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7BE39A16-1D08-4710-A71C-EE91D03F5C15}"/>
              </a:ext>
            </a:extLst>
          </p:cNvPr>
          <p:cNvSpPr>
            <a:spLocks noGrp="1"/>
          </p:cNvSpPr>
          <p:nvPr>
            <p:ph type="dt" sz="half" idx="10"/>
          </p:nvPr>
        </p:nvSpPr>
        <p:spPr/>
        <p:txBody>
          <a:bodyPr/>
          <a:lstStyle/>
          <a:p>
            <a:fld id="{E650F6C9-59DB-45A4-B5F3-4BA38C0FBD5F}" type="datetimeFigureOut">
              <a:rPr lang="zh-CN" altLang="en-US" smtClean="0"/>
              <a:t>2021/8/22</a:t>
            </a:fld>
            <a:endParaRPr lang="zh-CN" altLang="en-US"/>
          </a:p>
        </p:txBody>
      </p:sp>
      <p:sp>
        <p:nvSpPr>
          <p:cNvPr id="8" name="页脚占位符 7">
            <a:extLst>
              <a:ext uri="{FF2B5EF4-FFF2-40B4-BE49-F238E27FC236}">
                <a16:creationId xmlns:a16="http://schemas.microsoft.com/office/drawing/2014/main" id="{DB9242FC-9CAB-4B5F-A7A5-CEB1D9DF62F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1CA6FE1-8ED6-4591-9C37-A30F3247ECEC}"/>
              </a:ext>
            </a:extLst>
          </p:cNvPr>
          <p:cNvSpPr>
            <a:spLocks noGrp="1"/>
          </p:cNvSpPr>
          <p:nvPr>
            <p:ph type="sldNum" sz="quarter" idx="12"/>
          </p:nvPr>
        </p:nvSpPr>
        <p:spPr/>
        <p:txBody>
          <a:bodyPr/>
          <a:lstStyle/>
          <a:p>
            <a:fld id="{EA3342FE-1BF8-4D8F-9E56-10AC0B9381C0}" type="slidenum">
              <a:rPr lang="zh-CN" altLang="en-US" smtClean="0"/>
              <a:t>‹#›</a:t>
            </a:fld>
            <a:endParaRPr lang="zh-CN" altLang="en-US"/>
          </a:p>
        </p:txBody>
      </p:sp>
    </p:spTree>
    <p:extLst>
      <p:ext uri="{BB962C8B-B14F-4D97-AF65-F5344CB8AC3E}">
        <p14:creationId xmlns:p14="http://schemas.microsoft.com/office/powerpoint/2010/main" val="4220854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882C06-44E9-4B85-A782-BB8CEF8928C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C6D7B99-D94A-49E5-A066-1859398E9E31}"/>
              </a:ext>
            </a:extLst>
          </p:cNvPr>
          <p:cNvSpPr>
            <a:spLocks noGrp="1"/>
          </p:cNvSpPr>
          <p:nvPr>
            <p:ph type="dt" sz="half" idx="10"/>
          </p:nvPr>
        </p:nvSpPr>
        <p:spPr/>
        <p:txBody>
          <a:bodyPr/>
          <a:lstStyle/>
          <a:p>
            <a:fld id="{E650F6C9-59DB-45A4-B5F3-4BA38C0FBD5F}" type="datetimeFigureOut">
              <a:rPr lang="zh-CN" altLang="en-US" smtClean="0"/>
              <a:t>2021/8/22</a:t>
            </a:fld>
            <a:endParaRPr lang="zh-CN" altLang="en-US"/>
          </a:p>
        </p:txBody>
      </p:sp>
      <p:sp>
        <p:nvSpPr>
          <p:cNvPr id="4" name="页脚占位符 3">
            <a:extLst>
              <a:ext uri="{FF2B5EF4-FFF2-40B4-BE49-F238E27FC236}">
                <a16:creationId xmlns:a16="http://schemas.microsoft.com/office/drawing/2014/main" id="{B48F5559-5C49-4CCD-ADDF-5BD1333A362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0D14802-6233-4703-B355-0555AB4ABBD7}"/>
              </a:ext>
            </a:extLst>
          </p:cNvPr>
          <p:cNvSpPr>
            <a:spLocks noGrp="1"/>
          </p:cNvSpPr>
          <p:nvPr>
            <p:ph type="sldNum" sz="quarter" idx="12"/>
          </p:nvPr>
        </p:nvSpPr>
        <p:spPr/>
        <p:txBody>
          <a:bodyPr/>
          <a:lstStyle/>
          <a:p>
            <a:fld id="{EA3342FE-1BF8-4D8F-9E56-10AC0B9381C0}" type="slidenum">
              <a:rPr lang="zh-CN" altLang="en-US" smtClean="0"/>
              <a:t>‹#›</a:t>
            </a:fld>
            <a:endParaRPr lang="zh-CN" altLang="en-US"/>
          </a:p>
        </p:txBody>
      </p:sp>
    </p:spTree>
    <p:extLst>
      <p:ext uri="{BB962C8B-B14F-4D97-AF65-F5344CB8AC3E}">
        <p14:creationId xmlns:p14="http://schemas.microsoft.com/office/powerpoint/2010/main" val="283870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B8DFD89-7571-422B-A8ED-F4B1FA5835EC}"/>
              </a:ext>
            </a:extLst>
          </p:cNvPr>
          <p:cNvSpPr>
            <a:spLocks noGrp="1"/>
          </p:cNvSpPr>
          <p:nvPr>
            <p:ph type="dt" sz="half" idx="10"/>
          </p:nvPr>
        </p:nvSpPr>
        <p:spPr/>
        <p:txBody>
          <a:bodyPr/>
          <a:lstStyle/>
          <a:p>
            <a:fld id="{E650F6C9-59DB-45A4-B5F3-4BA38C0FBD5F}" type="datetimeFigureOut">
              <a:rPr lang="zh-CN" altLang="en-US" smtClean="0"/>
              <a:t>2021/8/22</a:t>
            </a:fld>
            <a:endParaRPr lang="zh-CN" altLang="en-US"/>
          </a:p>
        </p:txBody>
      </p:sp>
      <p:sp>
        <p:nvSpPr>
          <p:cNvPr id="3" name="页脚占位符 2">
            <a:extLst>
              <a:ext uri="{FF2B5EF4-FFF2-40B4-BE49-F238E27FC236}">
                <a16:creationId xmlns:a16="http://schemas.microsoft.com/office/drawing/2014/main" id="{36C81FB9-1313-44C0-838B-C9CE63D2116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BD96345-807B-47A6-805D-A8F4ED61440D}"/>
              </a:ext>
            </a:extLst>
          </p:cNvPr>
          <p:cNvSpPr>
            <a:spLocks noGrp="1"/>
          </p:cNvSpPr>
          <p:nvPr>
            <p:ph type="sldNum" sz="quarter" idx="12"/>
          </p:nvPr>
        </p:nvSpPr>
        <p:spPr/>
        <p:txBody>
          <a:bodyPr/>
          <a:lstStyle/>
          <a:p>
            <a:fld id="{EA3342FE-1BF8-4D8F-9E56-10AC0B9381C0}" type="slidenum">
              <a:rPr lang="zh-CN" altLang="en-US" smtClean="0"/>
              <a:t>‹#›</a:t>
            </a:fld>
            <a:endParaRPr lang="zh-CN" altLang="en-US"/>
          </a:p>
        </p:txBody>
      </p:sp>
    </p:spTree>
    <p:extLst>
      <p:ext uri="{BB962C8B-B14F-4D97-AF65-F5344CB8AC3E}">
        <p14:creationId xmlns:p14="http://schemas.microsoft.com/office/powerpoint/2010/main" val="457657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93E11B-37BA-406F-BF21-C6D3290FBE8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08AF67E-79EE-425C-BFE6-4F699C90DF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653BB85C-C165-4429-B0A2-50E424FE3C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317EE054-6F97-493E-8A56-3ACFD63F0B8A}"/>
              </a:ext>
            </a:extLst>
          </p:cNvPr>
          <p:cNvSpPr>
            <a:spLocks noGrp="1"/>
          </p:cNvSpPr>
          <p:nvPr>
            <p:ph type="dt" sz="half" idx="10"/>
          </p:nvPr>
        </p:nvSpPr>
        <p:spPr/>
        <p:txBody>
          <a:bodyPr/>
          <a:lstStyle/>
          <a:p>
            <a:fld id="{E650F6C9-59DB-45A4-B5F3-4BA38C0FBD5F}" type="datetimeFigureOut">
              <a:rPr lang="zh-CN" altLang="en-US" smtClean="0"/>
              <a:t>2021/8/22</a:t>
            </a:fld>
            <a:endParaRPr lang="zh-CN" altLang="en-US"/>
          </a:p>
        </p:txBody>
      </p:sp>
      <p:sp>
        <p:nvSpPr>
          <p:cNvPr id="6" name="页脚占位符 5">
            <a:extLst>
              <a:ext uri="{FF2B5EF4-FFF2-40B4-BE49-F238E27FC236}">
                <a16:creationId xmlns:a16="http://schemas.microsoft.com/office/drawing/2014/main" id="{9183DBEB-BC03-46C5-BD8E-B226CC2697E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4FC9193-D822-487D-9082-67C670232597}"/>
              </a:ext>
            </a:extLst>
          </p:cNvPr>
          <p:cNvSpPr>
            <a:spLocks noGrp="1"/>
          </p:cNvSpPr>
          <p:nvPr>
            <p:ph type="sldNum" sz="quarter" idx="12"/>
          </p:nvPr>
        </p:nvSpPr>
        <p:spPr/>
        <p:txBody>
          <a:bodyPr/>
          <a:lstStyle/>
          <a:p>
            <a:fld id="{EA3342FE-1BF8-4D8F-9E56-10AC0B9381C0}" type="slidenum">
              <a:rPr lang="zh-CN" altLang="en-US" smtClean="0"/>
              <a:t>‹#›</a:t>
            </a:fld>
            <a:endParaRPr lang="zh-CN" altLang="en-US"/>
          </a:p>
        </p:txBody>
      </p:sp>
    </p:spTree>
    <p:extLst>
      <p:ext uri="{BB962C8B-B14F-4D97-AF65-F5344CB8AC3E}">
        <p14:creationId xmlns:p14="http://schemas.microsoft.com/office/powerpoint/2010/main" val="2722717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F4283C-9AFF-446E-95DD-F63435972EF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E165B3D3-8929-4BC0-B8BE-8D61138CBD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255F133-A3AC-4274-A518-6BFFA09B89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565DC452-5DAA-41FF-A893-08AFD9C0EA85}"/>
              </a:ext>
            </a:extLst>
          </p:cNvPr>
          <p:cNvSpPr>
            <a:spLocks noGrp="1"/>
          </p:cNvSpPr>
          <p:nvPr>
            <p:ph type="dt" sz="half" idx="10"/>
          </p:nvPr>
        </p:nvSpPr>
        <p:spPr/>
        <p:txBody>
          <a:bodyPr/>
          <a:lstStyle/>
          <a:p>
            <a:fld id="{E650F6C9-59DB-45A4-B5F3-4BA38C0FBD5F}" type="datetimeFigureOut">
              <a:rPr lang="zh-CN" altLang="en-US" smtClean="0"/>
              <a:t>2021/8/22</a:t>
            </a:fld>
            <a:endParaRPr lang="zh-CN" altLang="en-US"/>
          </a:p>
        </p:txBody>
      </p:sp>
      <p:sp>
        <p:nvSpPr>
          <p:cNvPr id="6" name="页脚占位符 5">
            <a:extLst>
              <a:ext uri="{FF2B5EF4-FFF2-40B4-BE49-F238E27FC236}">
                <a16:creationId xmlns:a16="http://schemas.microsoft.com/office/drawing/2014/main" id="{30EB5E31-E28C-4540-BE3A-D58EF0C2747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12A650A-66CF-400D-804F-9175B2565562}"/>
              </a:ext>
            </a:extLst>
          </p:cNvPr>
          <p:cNvSpPr>
            <a:spLocks noGrp="1"/>
          </p:cNvSpPr>
          <p:nvPr>
            <p:ph type="sldNum" sz="quarter" idx="12"/>
          </p:nvPr>
        </p:nvSpPr>
        <p:spPr/>
        <p:txBody>
          <a:bodyPr/>
          <a:lstStyle/>
          <a:p>
            <a:fld id="{EA3342FE-1BF8-4D8F-9E56-10AC0B9381C0}" type="slidenum">
              <a:rPr lang="zh-CN" altLang="en-US" smtClean="0"/>
              <a:t>‹#›</a:t>
            </a:fld>
            <a:endParaRPr lang="zh-CN" altLang="en-US"/>
          </a:p>
        </p:txBody>
      </p:sp>
    </p:spTree>
    <p:extLst>
      <p:ext uri="{BB962C8B-B14F-4D97-AF65-F5344CB8AC3E}">
        <p14:creationId xmlns:p14="http://schemas.microsoft.com/office/powerpoint/2010/main" val="1656369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82E4CD-BBE7-4B44-B72B-0A263637A0E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341A351-E9A1-4364-90E0-36AEEB30F5E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42A6F19E-E700-4D16-A2D2-9A6C2AAD2FD3}"/>
              </a:ext>
            </a:extLst>
          </p:cNvPr>
          <p:cNvSpPr>
            <a:spLocks noGrp="1"/>
          </p:cNvSpPr>
          <p:nvPr>
            <p:ph type="dt" sz="half" idx="10"/>
          </p:nvPr>
        </p:nvSpPr>
        <p:spPr/>
        <p:txBody>
          <a:bodyPr/>
          <a:lstStyle/>
          <a:p>
            <a:fld id="{E650F6C9-59DB-45A4-B5F3-4BA38C0FBD5F}" type="datetimeFigureOut">
              <a:rPr lang="zh-CN" altLang="en-US" smtClean="0"/>
              <a:t>2021/8/22</a:t>
            </a:fld>
            <a:endParaRPr lang="zh-CN" altLang="en-US"/>
          </a:p>
        </p:txBody>
      </p:sp>
      <p:sp>
        <p:nvSpPr>
          <p:cNvPr id="5" name="页脚占位符 4">
            <a:extLst>
              <a:ext uri="{FF2B5EF4-FFF2-40B4-BE49-F238E27FC236}">
                <a16:creationId xmlns:a16="http://schemas.microsoft.com/office/drawing/2014/main" id="{4BDDCE25-80B8-4B82-9245-8B453244668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95DF695-1B1C-46BC-BC21-B9D66DEE56E9}"/>
              </a:ext>
            </a:extLst>
          </p:cNvPr>
          <p:cNvSpPr>
            <a:spLocks noGrp="1"/>
          </p:cNvSpPr>
          <p:nvPr>
            <p:ph type="sldNum" sz="quarter" idx="12"/>
          </p:nvPr>
        </p:nvSpPr>
        <p:spPr/>
        <p:txBody>
          <a:bodyPr/>
          <a:lstStyle/>
          <a:p>
            <a:fld id="{EA3342FE-1BF8-4D8F-9E56-10AC0B9381C0}" type="slidenum">
              <a:rPr lang="zh-CN" altLang="en-US" smtClean="0"/>
              <a:t>‹#›</a:t>
            </a:fld>
            <a:endParaRPr lang="zh-CN" altLang="en-US"/>
          </a:p>
        </p:txBody>
      </p:sp>
    </p:spTree>
    <p:extLst>
      <p:ext uri="{BB962C8B-B14F-4D97-AF65-F5344CB8AC3E}">
        <p14:creationId xmlns:p14="http://schemas.microsoft.com/office/powerpoint/2010/main" val="4037385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895EE86-4371-4751-8C6A-CDA4060E6203}"/>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8502817-C4FB-48AB-89ED-0AE9C86C72D2}"/>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4411B06-5488-4B43-968C-F90D6FCC68F3}"/>
              </a:ext>
            </a:extLst>
          </p:cNvPr>
          <p:cNvSpPr>
            <a:spLocks noGrp="1"/>
          </p:cNvSpPr>
          <p:nvPr>
            <p:ph type="dt" sz="half" idx="10"/>
          </p:nvPr>
        </p:nvSpPr>
        <p:spPr/>
        <p:txBody>
          <a:bodyPr/>
          <a:lstStyle/>
          <a:p>
            <a:fld id="{E650F6C9-59DB-45A4-B5F3-4BA38C0FBD5F}" type="datetimeFigureOut">
              <a:rPr lang="zh-CN" altLang="en-US" smtClean="0"/>
              <a:t>2021/8/22</a:t>
            </a:fld>
            <a:endParaRPr lang="zh-CN" altLang="en-US"/>
          </a:p>
        </p:txBody>
      </p:sp>
      <p:sp>
        <p:nvSpPr>
          <p:cNvPr id="5" name="页脚占位符 4">
            <a:extLst>
              <a:ext uri="{FF2B5EF4-FFF2-40B4-BE49-F238E27FC236}">
                <a16:creationId xmlns:a16="http://schemas.microsoft.com/office/drawing/2014/main" id="{221FC875-5F0B-4DB3-9C69-4BA4E12E69E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27861CE-CF8D-43AF-A550-FC8ECEA972F3}"/>
              </a:ext>
            </a:extLst>
          </p:cNvPr>
          <p:cNvSpPr>
            <a:spLocks noGrp="1"/>
          </p:cNvSpPr>
          <p:nvPr>
            <p:ph type="sldNum" sz="quarter" idx="12"/>
          </p:nvPr>
        </p:nvSpPr>
        <p:spPr/>
        <p:txBody>
          <a:bodyPr/>
          <a:lstStyle/>
          <a:p>
            <a:fld id="{EA3342FE-1BF8-4D8F-9E56-10AC0B9381C0}" type="slidenum">
              <a:rPr lang="zh-CN" altLang="en-US" smtClean="0"/>
              <a:t>‹#›</a:t>
            </a:fld>
            <a:endParaRPr lang="zh-CN" altLang="en-US"/>
          </a:p>
        </p:txBody>
      </p:sp>
    </p:spTree>
    <p:extLst>
      <p:ext uri="{BB962C8B-B14F-4D97-AF65-F5344CB8AC3E}">
        <p14:creationId xmlns:p14="http://schemas.microsoft.com/office/powerpoint/2010/main" val="3981929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6653704-19FB-4C37-B629-6EECA881D8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E9623F6-53F0-466F-BD13-FEEC10C07C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47CD720E-065A-48AB-8FD3-242CD357D3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50F6C9-59DB-45A4-B5F3-4BA38C0FBD5F}" type="datetimeFigureOut">
              <a:rPr lang="zh-CN" altLang="en-US" smtClean="0"/>
              <a:t>2021/8/22</a:t>
            </a:fld>
            <a:endParaRPr lang="zh-CN" altLang="en-US"/>
          </a:p>
        </p:txBody>
      </p:sp>
      <p:sp>
        <p:nvSpPr>
          <p:cNvPr id="5" name="页脚占位符 4">
            <a:extLst>
              <a:ext uri="{FF2B5EF4-FFF2-40B4-BE49-F238E27FC236}">
                <a16:creationId xmlns:a16="http://schemas.microsoft.com/office/drawing/2014/main" id="{6BD05687-D96F-4DE9-A3DE-36A6F4D015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3BAD56E9-2906-4BD1-9954-385F55D278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3342FE-1BF8-4D8F-9E56-10AC0B9381C0}" type="slidenum">
              <a:rPr lang="zh-CN" altLang="en-US" smtClean="0"/>
              <a:t>‹#›</a:t>
            </a:fld>
            <a:endParaRPr lang="zh-CN" altLang="en-US"/>
          </a:p>
        </p:txBody>
      </p:sp>
    </p:spTree>
    <p:extLst>
      <p:ext uri="{BB962C8B-B14F-4D97-AF65-F5344CB8AC3E}">
        <p14:creationId xmlns:p14="http://schemas.microsoft.com/office/powerpoint/2010/main" val="28191355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稻壳儿搜索【幻雨工作室】__1">
            <a:extLst>
              <a:ext uri="{FF2B5EF4-FFF2-40B4-BE49-F238E27FC236}">
                <a16:creationId xmlns:a16="http://schemas.microsoft.com/office/drawing/2014/main" id="{898EF5DD-752A-496C-861C-B924BC62481A}"/>
              </a:ext>
            </a:extLst>
          </p:cNvPr>
          <p:cNvSpPr/>
          <p:nvPr/>
        </p:nvSpPr>
        <p:spPr>
          <a:xfrm rot="5400000">
            <a:off x="10679989" y="3199681"/>
            <a:ext cx="2158998" cy="458639"/>
          </a:xfrm>
          <a:custGeom>
            <a:avLst/>
            <a:gdLst>
              <a:gd name="connsiteX0" fmla="*/ 0 w 2158998"/>
              <a:gd name="connsiteY0" fmla="*/ 6358 h 458639"/>
              <a:gd name="connsiteX1" fmla="*/ 641 w 2158998"/>
              <a:gd name="connsiteY1" fmla="*/ 0 h 458639"/>
              <a:gd name="connsiteX2" fmla="*/ 2158357 w 2158998"/>
              <a:gd name="connsiteY2" fmla="*/ 0 h 458639"/>
              <a:gd name="connsiteX3" fmla="*/ 2158998 w 2158998"/>
              <a:gd name="connsiteY3" fmla="*/ 6358 h 458639"/>
              <a:gd name="connsiteX4" fmla="*/ 1706717 w 2158998"/>
              <a:gd name="connsiteY4" fmla="*/ 458639 h 458639"/>
              <a:gd name="connsiteX5" fmla="*/ 452281 w 2158998"/>
              <a:gd name="connsiteY5" fmla="*/ 458639 h 458639"/>
              <a:gd name="connsiteX6" fmla="*/ 0 w 2158998"/>
              <a:gd name="connsiteY6" fmla="*/ 6358 h 458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8998" h="458639">
                <a:moveTo>
                  <a:pt x="0" y="6358"/>
                </a:moveTo>
                <a:lnTo>
                  <a:pt x="641" y="0"/>
                </a:lnTo>
                <a:lnTo>
                  <a:pt x="2158357" y="0"/>
                </a:lnTo>
                <a:lnTo>
                  <a:pt x="2158998" y="6358"/>
                </a:lnTo>
                <a:cubicBezTo>
                  <a:pt x="2158998" y="256146"/>
                  <a:pt x="1956505" y="458639"/>
                  <a:pt x="1706717" y="458639"/>
                </a:cubicBezTo>
                <a:lnTo>
                  <a:pt x="452281" y="458639"/>
                </a:lnTo>
                <a:cubicBezTo>
                  <a:pt x="202493" y="458639"/>
                  <a:pt x="0" y="256146"/>
                  <a:pt x="0" y="635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2" name="稻壳儿搜索【幻雨工作室】__2">
            <a:extLst>
              <a:ext uri="{FF2B5EF4-FFF2-40B4-BE49-F238E27FC236}">
                <a16:creationId xmlns:a16="http://schemas.microsoft.com/office/drawing/2014/main" id="{E70A919D-CA68-47FD-9834-FE9D8D357FE4}"/>
              </a:ext>
            </a:extLst>
          </p:cNvPr>
          <p:cNvSpPr txBox="1"/>
          <p:nvPr/>
        </p:nvSpPr>
        <p:spPr>
          <a:xfrm>
            <a:off x="2810628" y="4583458"/>
            <a:ext cx="6247303" cy="461665"/>
          </a:xfrm>
          <a:prstGeom prst="rect">
            <a:avLst/>
          </a:prstGeom>
          <a:noFill/>
        </p:spPr>
        <p:txBody>
          <a:bodyPr wrap="square" rtlCol="0">
            <a:spAutoFit/>
          </a:bodyPr>
          <a:lstStyle/>
          <a:p>
            <a:pPr algn="ctr"/>
            <a:r>
              <a:rPr lang="en-US" altLang="zh-CN" sz="2400" dirty="0" err="1" smtClean="0">
                <a:solidFill>
                  <a:schemeClr val="accent1"/>
                </a:solidFill>
                <a:latin typeface="微软雅黑" panose="020B0503020204020204" pitchFamily="34" charset="-122"/>
                <a:ea typeface="微软雅黑" panose="020B0503020204020204" pitchFamily="34" charset="-122"/>
                <a:sym typeface="+mn-ea"/>
              </a:rPr>
              <a:t>Juyi</a:t>
            </a:r>
            <a:r>
              <a:rPr lang="en-US" altLang="zh-CN" sz="2400" dirty="0" smtClean="0">
                <a:solidFill>
                  <a:schemeClr val="accent1"/>
                </a:solidFill>
                <a:latin typeface="微软雅黑" panose="020B0503020204020204" pitchFamily="34" charset="-122"/>
                <a:ea typeface="微软雅黑" panose="020B0503020204020204" pitchFamily="34" charset="-122"/>
                <a:sym typeface="+mn-ea"/>
              </a:rPr>
              <a:t> Lin</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7" name="稻壳儿搜索【幻雨工作室】__3">
            <a:extLst>
              <a:ext uri="{FF2B5EF4-FFF2-40B4-BE49-F238E27FC236}">
                <a16:creationId xmlns:a16="http://schemas.microsoft.com/office/drawing/2014/main" id="{0EBFEAA2-261B-46AA-9F3F-9AD6C2E14DD7}"/>
              </a:ext>
            </a:extLst>
          </p:cNvPr>
          <p:cNvSpPr/>
          <p:nvPr/>
        </p:nvSpPr>
        <p:spPr>
          <a:xfrm>
            <a:off x="209550" y="171450"/>
            <a:ext cx="11772900" cy="6515100"/>
          </a:xfrm>
          <a:prstGeom prst="roundRect">
            <a:avLst>
              <a:gd name="adj" fmla="val 2827"/>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稻壳儿搜索【幻雨工作室】__4">
            <a:extLst>
              <a:ext uri="{FF2B5EF4-FFF2-40B4-BE49-F238E27FC236}">
                <a16:creationId xmlns:a16="http://schemas.microsoft.com/office/drawing/2014/main" id="{2B9890A0-DC39-46BA-B6A8-8C7041112493}"/>
              </a:ext>
            </a:extLst>
          </p:cNvPr>
          <p:cNvSpPr/>
          <p:nvPr/>
        </p:nvSpPr>
        <p:spPr>
          <a:xfrm rot="16200000" flipH="1">
            <a:off x="-632609" y="3199683"/>
            <a:ext cx="2158998" cy="458639"/>
          </a:xfrm>
          <a:custGeom>
            <a:avLst/>
            <a:gdLst>
              <a:gd name="connsiteX0" fmla="*/ 0 w 2158998"/>
              <a:gd name="connsiteY0" fmla="*/ 6358 h 458639"/>
              <a:gd name="connsiteX1" fmla="*/ 641 w 2158998"/>
              <a:gd name="connsiteY1" fmla="*/ 0 h 458639"/>
              <a:gd name="connsiteX2" fmla="*/ 2158357 w 2158998"/>
              <a:gd name="connsiteY2" fmla="*/ 0 h 458639"/>
              <a:gd name="connsiteX3" fmla="*/ 2158998 w 2158998"/>
              <a:gd name="connsiteY3" fmla="*/ 6358 h 458639"/>
              <a:gd name="connsiteX4" fmla="*/ 1706717 w 2158998"/>
              <a:gd name="connsiteY4" fmla="*/ 458639 h 458639"/>
              <a:gd name="connsiteX5" fmla="*/ 452281 w 2158998"/>
              <a:gd name="connsiteY5" fmla="*/ 458639 h 458639"/>
              <a:gd name="connsiteX6" fmla="*/ 0 w 2158998"/>
              <a:gd name="connsiteY6" fmla="*/ 6358 h 458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8998" h="458639">
                <a:moveTo>
                  <a:pt x="0" y="6358"/>
                </a:moveTo>
                <a:lnTo>
                  <a:pt x="641" y="0"/>
                </a:lnTo>
                <a:lnTo>
                  <a:pt x="2158357" y="0"/>
                </a:lnTo>
                <a:lnTo>
                  <a:pt x="2158998" y="6358"/>
                </a:lnTo>
                <a:cubicBezTo>
                  <a:pt x="2158998" y="256146"/>
                  <a:pt x="1956505" y="458639"/>
                  <a:pt x="1706717" y="458639"/>
                </a:cubicBezTo>
                <a:lnTo>
                  <a:pt x="452281" y="458639"/>
                </a:lnTo>
                <a:cubicBezTo>
                  <a:pt x="202493" y="458639"/>
                  <a:pt x="0" y="256146"/>
                  <a:pt x="0" y="635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1" name="稻壳儿搜索【幻雨工作室】__5">
            <a:extLst>
              <a:ext uri="{FF2B5EF4-FFF2-40B4-BE49-F238E27FC236}">
                <a16:creationId xmlns:a16="http://schemas.microsoft.com/office/drawing/2014/main" id="{FC51F915-5A16-42F3-9122-590D528F4EB6}"/>
              </a:ext>
            </a:extLst>
          </p:cNvPr>
          <p:cNvSpPr txBox="1">
            <a:spLocks noChangeArrowheads="1"/>
          </p:cNvSpPr>
          <p:nvPr/>
        </p:nvSpPr>
        <p:spPr bwMode="auto">
          <a:xfrm>
            <a:off x="2420306" y="2678543"/>
            <a:ext cx="7351388"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defPPr>
              <a:defRPr lang="zh-CN"/>
            </a:defPPr>
            <a:lvl1pPr algn="ctr">
              <a:defRPr sz="7200" b="1">
                <a:ln w="12700">
                  <a:noFill/>
                </a:ln>
                <a:gradFill flip="none" rotWithShape="1">
                  <a:gsLst>
                    <a:gs pos="0">
                      <a:srgbClr val="ECECEC">
                        <a:alpha val="0"/>
                      </a:srgbClr>
                    </a:gs>
                    <a:gs pos="21000">
                      <a:schemeClr val="bg1"/>
                    </a:gs>
                    <a:gs pos="100000">
                      <a:schemeClr val="bg1">
                        <a:alpha val="0"/>
                      </a:schemeClr>
                    </a:gs>
                    <a:gs pos="83000">
                      <a:schemeClr val="bg1">
                        <a:lumMod val="85000"/>
                      </a:schemeClr>
                    </a:gs>
                  </a:gsLst>
                  <a:lin ang="7800000" scaled="0"/>
                  <a:tileRect/>
                </a:gradFill>
                <a:latin typeface="微软雅黑" panose="020B0503020204020204" charset="-122"/>
                <a:ea typeface="微软雅黑" panose="020B0503020204020204" charset="-122"/>
              </a:defRPr>
            </a:lvl1pPr>
            <a:lvl2pPr>
              <a:defRPr/>
            </a:lvl2pPr>
            <a:lvl3pPr>
              <a:defRPr/>
            </a:lvl3pPr>
            <a:lvl4pPr>
              <a:defRPr/>
            </a:lvl4pPr>
            <a:lvl5pPr>
              <a:defRPr/>
            </a:lvl5pPr>
            <a:lvl6pPr>
              <a:defRPr/>
            </a:lvl6pPr>
            <a:lvl7pPr>
              <a:defRPr/>
            </a:lvl7pPr>
            <a:lvl8pPr>
              <a:defRPr/>
            </a:lvl8pPr>
            <a:lvl9pPr>
              <a:defRPr/>
            </a:lvl9pPr>
          </a:lstStyle>
          <a:p>
            <a:r>
              <a:rPr lang="en-US" altLang="zh-CN" sz="3600" spc="300" dirty="0" smtClean="0">
                <a:solidFill>
                  <a:schemeClr val="accent1"/>
                </a:solidFill>
              </a:rPr>
              <a:t>Hierarchical </a:t>
            </a:r>
            <a:r>
              <a:rPr lang="en-US" altLang="zh-CN" sz="3600" spc="300" dirty="0">
                <a:solidFill>
                  <a:schemeClr val="accent1"/>
                </a:solidFill>
              </a:rPr>
              <a:t>Scheduler </a:t>
            </a:r>
          </a:p>
          <a:p>
            <a:r>
              <a:rPr lang="en-US" altLang="zh-CN" sz="3600" spc="300" dirty="0">
                <a:solidFill>
                  <a:schemeClr val="accent1"/>
                </a:solidFill>
              </a:rPr>
              <a:t>For Deep Learning Cluster</a:t>
            </a:r>
          </a:p>
        </p:txBody>
      </p:sp>
      <p:sp>
        <p:nvSpPr>
          <p:cNvPr id="4" name="稻壳儿搜索【幻雨工作室】__6">
            <a:extLst>
              <a:ext uri="{FF2B5EF4-FFF2-40B4-BE49-F238E27FC236}">
                <a16:creationId xmlns:a16="http://schemas.microsoft.com/office/drawing/2014/main" id="{8BEF275B-FDA0-4E34-8F0C-041596DF1EC7}"/>
              </a:ext>
            </a:extLst>
          </p:cNvPr>
          <p:cNvSpPr/>
          <p:nvPr/>
        </p:nvSpPr>
        <p:spPr>
          <a:xfrm>
            <a:off x="4505019" y="3888553"/>
            <a:ext cx="3949369" cy="338554"/>
          </a:xfrm>
          <a:prstGeom prst="rect">
            <a:avLst/>
          </a:prstGeom>
        </p:spPr>
        <p:txBody>
          <a:bodyPr wrap="square">
            <a:spAutoFit/>
          </a:bodyPr>
          <a:lstStyle/>
          <a:p>
            <a:r>
              <a:rPr lang="en-US" altLang="zh-CN" sz="1600" dirty="0" smtClean="0">
                <a:solidFill>
                  <a:schemeClr val="accent1"/>
                </a:solidFill>
                <a:latin typeface="Arial" panose="020B0604020202020204" pitchFamily="34" charset="0"/>
                <a:cs typeface="Arial" panose="020B0604020202020204" pitchFamily="34" charset="0"/>
              </a:rPr>
              <a:t>HKU Summer Research Presentation</a:t>
            </a:r>
            <a:endParaRPr lang="zh-CN" altLang="en-US" sz="1600" dirty="0">
              <a:solidFill>
                <a:schemeClr val="accent1"/>
              </a:solidFill>
              <a:latin typeface="Arial" panose="020B0604020202020204" pitchFamily="34" charset="0"/>
              <a:cs typeface="Arial" panose="020B0604020202020204" pitchFamily="34" charset="0"/>
            </a:endParaRPr>
          </a:p>
        </p:txBody>
      </p:sp>
      <p:cxnSp>
        <p:nvCxnSpPr>
          <p:cNvPr id="10" name="稻壳儿搜索【幻雨工作室】__7">
            <a:extLst>
              <a:ext uri="{FF2B5EF4-FFF2-40B4-BE49-F238E27FC236}">
                <a16:creationId xmlns:a16="http://schemas.microsoft.com/office/drawing/2014/main" id="{0E67287C-8A14-4847-AE6C-C390979DBCD6}"/>
              </a:ext>
            </a:extLst>
          </p:cNvPr>
          <p:cNvCxnSpPr>
            <a:cxnSpLocks/>
          </p:cNvCxnSpPr>
          <p:nvPr/>
        </p:nvCxnSpPr>
        <p:spPr>
          <a:xfrm>
            <a:off x="2619219" y="4283642"/>
            <a:ext cx="6944329" cy="0"/>
          </a:xfrm>
          <a:prstGeom prst="line">
            <a:avLst/>
          </a:prstGeom>
          <a:ln w="15240"/>
        </p:spPr>
        <p:style>
          <a:lnRef idx="1">
            <a:schemeClr val="accent1"/>
          </a:lnRef>
          <a:fillRef idx="0">
            <a:schemeClr val="accent1"/>
          </a:fillRef>
          <a:effectRef idx="0">
            <a:schemeClr val="accent1"/>
          </a:effectRef>
          <a:fontRef idx="minor">
            <a:schemeClr val="tx1"/>
          </a:fontRef>
        </p:style>
      </p:cxnSp>
      <p:cxnSp>
        <p:nvCxnSpPr>
          <p:cNvPr id="95" name="稻壳儿搜索【幻雨工作室】__8">
            <a:extLst>
              <a:ext uri="{FF2B5EF4-FFF2-40B4-BE49-F238E27FC236}">
                <a16:creationId xmlns:a16="http://schemas.microsoft.com/office/drawing/2014/main" id="{FCF1EA28-69AC-4A45-9986-43A5CD6E97C7}"/>
              </a:ext>
            </a:extLst>
          </p:cNvPr>
          <p:cNvCxnSpPr>
            <a:cxnSpLocks/>
          </p:cNvCxnSpPr>
          <p:nvPr/>
        </p:nvCxnSpPr>
        <p:spPr>
          <a:xfrm>
            <a:off x="2619219" y="2573176"/>
            <a:ext cx="6944329" cy="0"/>
          </a:xfrm>
          <a:prstGeom prst="line">
            <a:avLst/>
          </a:prstGeom>
          <a:ln w="15240"/>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676210" y="6082425"/>
            <a:ext cx="1332416" cy="369332"/>
          </a:xfrm>
          <a:prstGeom prst="rect">
            <a:avLst/>
          </a:prstGeom>
        </p:spPr>
        <p:txBody>
          <a:bodyPr wrap="none">
            <a:spAutoFit/>
          </a:bodyPr>
          <a:lstStyle/>
          <a:p>
            <a:r>
              <a:rPr lang="en-US" altLang="zh-CN" dirty="0" smtClean="0">
                <a:latin typeface="等线" panose="02010600030101010101" charset="-122"/>
                <a:ea typeface="等线" panose="02010600030101010101" charset="-122"/>
                <a:cs typeface="等线" panose="02010600030101010101" charset="-122"/>
                <a:sym typeface="+mn-ea"/>
              </a:rPr>
              <a:t>2021/08/30</a:t>
            </a:r>
            <a:endParaRPr lang="zh-CN" altLang="en-US" dirty="0">
              <a:latin typeface="等线" panose="02010600030101010101" charset="-122"/>
              <a:ea typeface="等线" panose="02010600030101010101" charset="-122"/>
              <a:cs typeface="等线" panose="02010600030101010101" charset="-122"/>
            </a:endParaRPr>
          </a:p>
        </p:txBody>
      </p:sp>
    </p:spTree>
    <p:custDataLst>
      <p:tags r:id="rId1"/>
    </p:custDataLst>
    <p:extLst>
      <p:ext uri="{BB962C8B-B14F-4D97-AF65-F5344CB8AC3E}">
        <p14:creationId xmlns:p14="http://schemas.microsoft.com/office/powerpoint/2010/main" val="645985308"/>
      </p:ext>
    </p:extLst>
  </p:cSld>
  <p:clrMapOvr>
    <a:masterClrMapping/>
  </p:clrMapOvr>
  <mc:AlternateContent xmlns:mc="http://schemas.openxmlformats.org/markup-compatibility/2006" xmlns:p14="http://schemas.microsoft.com/office/powerpoint/2010/main">
    <mc:Choice Requires="p14">
      <p:transition spd="slow" p14:dur="2000" advTm="12635"/>
    </mc:Choice>
    <mc:Fallback xmlns="">
      <p:transition spd="slow" advTm="1263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稻壳儿搜索【幻雨工作室】__1">
            <a:extLst>
              <a:ext uri="{FF2B5EF4-FFF2-40B4-BE49-F238E27FC236}">
                <a16:creationId xmlns:a16="http://schemas.microsoft.com/office/drawing/2014/main" id="{898EF5DD-752A-496C-861C-B924BC62481A}"/>
              </a:ext>
            </a:extLst>
          </p:cNvPr>
          <p:cNvSpPr/>
          <p:nvPr/>
        </p:nvSpPr>
        <p:spPr>
          <a:xfrm rot="5400000">
            <a:off x="10679989" y="3199681"/>
            <a:ext cx="2158998" cy="458639"/>
          </a:xfrm>
          <a:custGeom>
            <a:avLst/>
            <a:gdLst>
              <a:gd name="connsiteX0" fmla="*/ 0 w 2158998"/>
              <a:gd name="connsiteY0" fmla="*/ 6358 h 458639"/>
              <a:gd name="connsiteX1" fmla="*/ 641 w 2158998"/>
              <a:gd name="connsiteY1" fmla="*/ 0 h 458639"/>
              <a:gd name="connsiteX2" fmla="*/ 2158357 w 2158998"/>
              <a:gd name="connsiteY2" fmla="*/ 0 h 458639"/>
              <a:gd name="connsiteX3" fmla="*/ 2158998 w 2158998"/>
              <a:gd name="connsiteY3" fmla="*/ 6358 h 458639"/>
              <a:gd name="connsiteX4" fmla="*/ 1706717 w 2158998"/>
              <a:gd name="connsiteY4" fmla="*/ 458639 h 458639"/>
              <a:gd name="connsiteX5" fmla="*/ 452281 w 2158998"/>
              <a:gd name="connsiteY5" fmla="*/ 458639 h 458639"/>
              <a:gd name="connsiteX6" fmla="*/ 0 w 2158998"/>
              <a:gd name="connsiteY6" fmla="*/ 6358 h 458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8998" h="458639">
                <a:moveTo>
                  <a:pt x="0" y="6358"/>
                </a:moveTo>
                <a:lnTo>
                  <a:pt x="641" y="0"/>
                </a:lnTo>
                <a:lnTo>
                  <a:pt x="2158357" y="0"/>
                </a:lnTo>
                <a:lnTo>
                  <a:pt x="2158998" y="6358"/>
                </a:lnTo>
                <a:cubicBezTo>
                  <a:pt x="2158998" y="256146"/>
                  <a:pt x="1956505" y="458639"/>
                  <a:pt x="1706717" y="458639"/>
                </a:cubicBezTo>
                <a:lnTo>
                  <a:pt x="452281" y="458639"/>
                </a:lnTo>
                <a:cubicBezTo>
                  <a:pt x="202493" y="458639"/>
                  <a:pt x="0" y="256146"/>
                  <a:pt x="0" y="635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 name="稻壳儿搜索【幻雨工作室】__2">
            <a:extLst>
              <a:ext uri="{FF2B5EF4-FFF2-40B4-BE49-F238E27FC236}">
                <a16:creationId xmlns:a16="http://schemas.microsoft.com/office/drawing/2014/main" id="{0EBFEAA2-261B-46AA-9F3F-9AD6C2E14DD7}"/>
              </a:ext>
            </a:extLst>
          </p:cNvPr>
          <p:cNvSpPr/>
          <p:nvPr/>
        </p:nvSpPr>
        <p:spPr>
          <a:xfrm>
            <a:off x="209550" y="171450"/>
            <a:ext cx="11772900" cy="6515100"/>
          </a:xfrm>
          <a:prstGeom prst="roundRect">
            <a:avLst>
              <a:gd name="adj" fmla="val 2827"/>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稻壳儿搜索【幻雨工作室】__3">
            <a:extLst>
              <a:ext uri="{FF2B5EF4-FFF2-40B4-BE49-F238E27FC236}">
                <a16:creationId xmlns:a16="http://schemas.microsoft.com/office/drawing/2014/main" id="{2B9890A0-DC39-46BA-B6A8-8C7041112493}"/>
              </a:ext>
            </a:extLst>
          </p:cNvPr>
          <p:cNvSpPr/>
          <p:nvPr/>
        </p:nvSpPr>
        <p:spPr>
          <a:xfrm rot="16200000" flipH="1">
            <a:off x="-632609" y="3199683"/>
            <a:ext cx="2158998" cy="458639"/>
          </a:xfrm>
          <a:custGeom>
            <a:avLst/>
            <a:gdLst>
              <a:gd name="connsiteX0" fmla="*/ 0 w 2158998"/>
              <a:gd name="connsiteY0" fmla="*/ 6358 h 458639"/>
              <a:gd name="connsiteX1" fmla="*/ 641 w 2158998"/>
              <a:gd name="connsiteY1" fmla="*/ 0 h 458639"/>
              <a:gd name="connsiteX2" fmla="*/ 2158357 w 2158998"/>
              <a:gd name="connsiteY2" fmla="*/ 0 h 458639"/>
              <a:gd name="connsiteX3" fmla="*/ 2158998 w 2158998"/>
              <a:gd name="connsiteY3" fmla="*/ 6358 h 458639"/>
              <a:gd name="connsiteX4" fmla="*/ 1706717 w 2158998"/>
              <a:gd name="connsiteY4" fmla="*/ 458639 h 458639"/>
              <a:gd name="connsiteX5" fmla="*/ 452281 w 2158998"/>
              <a:gd name="connsiteY5" fmla="*/ 458639 h 458639"/>
              <a:gd name="connsiteX6" fmla="*/ 0 w 2158998"/>
              <a:gd name="connsiteY6" fmla="*/ 6358 h 458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8998" h="458639">
                <a:moveTo>
                  <a:pt x="0" y="6358"/>
                </a:moveTo>
                <a:lnTo>
                  <a:pt x="641" y="0"/>
                </a:lnTo>
                <a:lnTo>
                  <a:pt x="2158357" y="0"/>
                </a:lnTo>
                <a:lnTo>
                  <a:pt x="2158998" y="6358"/>
                </a:lnTo>
                <a:cubicBezTo>
                  <a:pt x="2158998" y="256146"/>
                  <a:pt x="1956505" y="458639"/>
                  <a:pt x="1706717" y="458639"/>
                </a:cubicBezTo>
                <a:lnTo>
                  <a:pt x="452281" y="458639"/>
                </a:lnTo>
                <a:cubicBezTo>
                  <a:pt x="202493" y="458639"/>
                  <a:pt x="0" y="256146"/>
                  <a:pt x="0" y="635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9" name="稻壳儿搜索【幻雨工作室】__5">
            <a:extLst>
              <a:ext uri="{FF2B5EF4-FFF2-40B4-BE49-F238E27FC236}">
                <a16:creationId xmlns:a16="http://schemas.microsoft.com/office/drawing/2014/main" id="{92F68D92-1087-4DA9-BE0B-8C113C415C0D}"/>
              </a:ext>
            </a:extLst>
          </p:cNvPr>
          <p:cNvSpPr/>
          <p:nvPr/>
        </p:nvSpPr>
        <p:spPr>
          <a:xfrm>
            <a:off x="2223051" y="2799716"/>
            <a:ext cx="1213172" cy="1226099"/>
          </a:xfrm>
          <a:prstGeom prst="ellipse">
            <a:avLst/>
          </a:prstGeom>
          <a:solidFill>
            <a:schemeClr val="accent1"/>
          </a:solidFill>
          <a:ln w="25400">
            <a:noFill/>
          </a:ln>
          <a:effectLst>
            <a:outerShdw blurRad="571500" dist="482600" dir="7500000" sx="68000" sy="68000" algn="ctr"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b="1" dirty="0">
                <a:solidFill>
                  <a:schemeClr val="bg1"/>
                </a:solidFill>
                <a:latin typeface="Arial" panose="020B0604020202020204" pitchFamily="34" charset="0"/>
                <a:cs typeface="Arial" panose="020B0604020202020204" pitchFamily="34" charset="0"/>
              </a:rPr>
              <a:t>01</a:t>
            </a:r>
            <a:endParaRPr lang="zh-CN" altLang="en-US" sz="3600" b="1" dirty="0">
              <a:solidFill>
                <a:schemeClr val="bg1"/>
              </a:solidFill>
              <a:latin typeface="Arial" panose="020B0604020202020204" pitchFamily="34" charset="0"/>
              <a:cs typeface="Arial" panose="020B0604020202020204" pitchFamily="34" charset="0"/>
            </a:endParaRPr>
          </a:p>
        </p:txBody>
      </p:sp>
      <p:sp>
        <p:nvSpPr>
          <p:cNvPr id="70" name="稻壳儿搜索【幻雨工作室】__6">
            <a:extLst>
              <a:ext uri="{FF2B5EF4-FFF2-40B4-BE49-F238E27FC236}">
                <a16:creationId xmlns:a16="http://schemas.microsoft.com/office/drawing/2014/main" id="{37CD99D6-8B12-4DDE-AFF2-ED4593DD50AA}"/>
              </a:ext>
            </a:extLst>
          </p:cNvPr>
          <p:cNvSpPr/>
          <p:nvPr/>
        </p:nvSpPr>
        <p:spPr>
          <a:xfrm>
            <a:off x="5076083" y="2815950"/>
            <a:ext cx="1213172" cy="1226099"/>
          </a:xfrm>
          <a:prstGeom prst="ellipse">
            <a:avLst/>
          </a:prstGeom>
          <a:solidFill>
            <a:schemeClr val="accent1"/>
          </a:solidFill>
          <a:ln w="25400">
            <a:noFill/>
          </a:ln>
          <a:effectLst>
            <a:outerShdw blurRad="571500" dist="482600" dir="7500000" sx="68000" sy="68000" algn="ctr"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b="1" dirty="0">
                <a:solidFill>
                  <a:schemeClr val="bg1"/>
                </a:solidFill>
                <a:latin typeface="Arial" panose="020B0604020202020204" pitchFamily="34" charset="0"/>
                <a:cs typeface="Arial" panose="020B0604020202020204" pitchFamily="34" charset="0"/>
              </a:rPr>
              <a:t>02</a:t>
            </a:r>
            <a:endParaRPr lang="zh-CN" altLang="en-US" sz="3600" b="1" dirty="0">
              <a:solidFill>
                <a:schemeClr val="bg1"/>
              </a:solidFill>
              <a:latin typeface="Arial" panose="020B0604020202020204" pitchFamily="34" charset="0"/>
              <a:cs typeface="Arial" panose="020B0604020202020204" pitchFamily="34" charset="0"/>
            </a:endParaRPr>
          </a:p>
        </p:txBody>
      </p:sp>
      <p:sp>
        <p:nvSpPr>
          <p:cNvPr id="72" name="稻壳儿搜索【幻雨工作室】__8">
            <a:extLst>
              <a:ext uri="{FF2B5EF4-FFF2-40B4-BE49-F238E27FC236}">
                <a16:creationId xmlns:a16="http://schemas.microsoft.com/office/drawing/2014/main" id="{F227342D-C1A8-471D-8F4B-A2E37231ABC2}"/>
              </a:ext>
            </a:extLst>
          </p:cNvPr>
          <p:cNvSpPr/>
          <p:nvPr/>
        </p:nvSpPr>
        <p:spPr>
          <a:xfrm>
            <a:off x="7929115" y="2815950"/>
            <a:ext cx="1213172" cy="1226099"/>
          </a:xfrm>
          <a:prstGeom prst="ellipse">
            <a:avLst/>
          </a:prstGeom>
          <a:solidFill>
            <a:schemeClr val="accent1"/>
          </a:solidFill>
          <a:ln w="25400">
            <a:noFill/>
          </a:ln>
          <a:effectLst>
            <a:outerShdw blurRad="571500" dist="482600" dir="7500000" sx="68000" sy="68000" algn="ctr"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b="1" dirty="0">
                <a:solidFill>
                  <a:schemeClr val="bg1"/>
                </a:solidFill>
                <a:latin typeface="Arial" panose="020B0604020202020204" pitchFamily="34" charset="0"/>
                <a:cs typeface="Arial" panose="020B0604020202020204" pitchFamily="34" charset="0"/>
              </a:rPr>
              <a:t>03</a:t>
            </a:r>
            <a:endParaRPr lang="zh-CN" altLang="en-US" sz="3600" b="1" dirty="0">
              <a:solidFill>
                <a:schemeClr val="bg1"/>
              </a:solidFill>
              <a:latin typeface="Arial" panose="020B0604020202020204" pitchFamily="34" charset="0"/>
              <a:cs typeface="Arial" panose="020B0604020202020204" pitchFamily="34" charset="0"/>
            </a:endParaRPr>
          </a:p>
        </p:txBody>
      </p:sp>
      <p:sp>
        <p:nvSpPr>
          <p:cNvPr id="73" name="稻壳儿搜索【幻雨工作室】__9">
            <a:extLst>
              <a:ext uri="{FF2B5EF4-FFF2-40B4-BE49-F238E27FC236}">
                <a16:creationId xmlns:a16="http://schemas.microsoft.com/office/drawing/2014/main" id="{DDF992BB-257C-4045-B409-41CF5DE46465}"/>
              </a:ext>
            </a:extLst>
          </p:cNvPr>
          <p:cNvSpPr txBox="1">
            <a:spLocks noChangeArrowheads="1"/>
          </p:cNvSpPr>
          <p:nvPr/>
        </p:nvSpPr>
        <p:spPr bwMode="auto">
          <a:xfrm>
            <a:off x="1477193" y="4276795"/>
            <a:ext cx="2825469" cy="683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algn="ctr" defTabSz="685800">
              <a:lnSpc>
                <a:spcPct val="120000"/>
              </a:lnSpc>
              <a:defRPr/>
            </a:pPr>
            <a:r>
              <a:rPr lang="en-US" altLang="zh-CN" sz="3200" dirty="0" smtClean="0">
                <a:solidFill>
                  <a:schemeClr val="accent1"/>
                </a:solidFill>
                <a:latin typeface="微软雅黑" panose="020B0503020204020204" pitchFamily="34" charset="-122"/>
                <a:ea typeface="微软雅黑" panose="020B0503020204020204" pitchFamily="34" charset="-122"/>
              </a:rPr>
              <a:t>Background</a:t>
            </a:r>
            <a:endParaRPr lang="en-US" altLang="zh-CN" sz="3200" dirty="0">
              <a:solidFill>
                <a:schemeClr val="accent1"/>
              </a:solidFill>
              <a:latin typeface="微软雅黑" panose="020B0503020204020204" pitchFamily="34" charset="-122"/>
              <a:ea typeface="微软雅黑" panose="020B0503020204020204" pitchFamily="34" charset="-122"/>
            </a:endParaRPr>
          </a:p>
        </p:txBody>
      </p:sp>
      <p:sp>
        <p:nvSpPr>
          <p:cNvPr id="74" name="稻壳儿搜索【幻雨工作室】__10">
            <a:extLst>
              <a:ext uri="{FF2B5EF4-FFF2-40B4-BE49-F238E27FC236}">
                <a16:creationId xmlns:a16="http://schemas.microsoft.com/office/drawing/2014/main" id="{220DDF6A-2E37-47CC-8689-24F0FBB85995}"/>
              </a:ext>
            </a:extLst>
          </p:cNvPr>
          <p:cNvSpPr txBox="1">
            <a:spLocks noChangeArrowheads="1"/>
          </p:cNvSpPr>
          <p:nvPr/>
        </p:nvSpPr>
        <p:spPr bwMode="auto">
          <a:xfrm>
            <a:off x="4508473" y="4267988"/>
            <a:ext cx="2217011" cy="633187"/>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algn="ctr" defTabSz="685800">
              <a:lnSpc>
                <a:spcPct val="120000"/>
              </a:lnSpc>
              <a:defRPr/>
            </a:pPr>
            <a:r>
              <a:rPr lang="en-US" altLang="zh-CN" sz="3200" dirty="0" smtClean="0">
                <a:solidFill>
                  <a:schemeClr val="accent1"/>
                </a:solidFill>
                <a:latin typeface="微软雅黑" panose="020B0503020204020204" pitchFamily="34" charset="-122"/>
                <a:ea typeface="微软雅黑" panose="020B0503020204020204" pitchFamily="34" charset="-122"/>
              </a:rPr>
              <a:t>Progress</a:t>
            </a:r>
            <a:endParaRPr lang="en-US" altLang="zh-CN" sz="3200" dirty="0">
              <a:solidFill>
                <a:schemeClr val="accent1"/>
              </a:solidFill>
              <a:latin typeface="微软雅黑" panose="020B0503020204020204" pitchFamily="34" charset="-122"/>
              <a:ea typeface="微软雅黑" panose="020B0503020204020204" pitchFamily="34" charset="-122"/>
            </a:endParaRPr>
          </a:p>
        </p:txBody>
      </p:sp>
      <p:cxnSp>
        <p:nvCxnSpPr>
          <p:cNvPr id="3" name="稻壳儿搜索【幻雨工作室】__13">
            <a:extLst>
              <a:ext uri="{FF2B5EF4-FFF2-40B4-BE49-F238E27FC236}">
                <a16:creationId xmlns:a16="http://schemas.microsoft.com/office/drawing/2014/main" id="{5C439B9F-E652-4578-8FB7-D526292967C3}"/>
              </a:ext>
            </a:extLst>
          </p:cNvPr>
          <p:cNvCxnSpPr>
            <a:cxnSpLocks/>
          </p:cNvCxnSpPr>
          <p:nvPr/>
        </p:nvCxnSpPr>
        <p:spPr>
          <a:xfrm>
            <a:off x="4546600" y="1798223"/>
            <a:ext cx="31877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稻壳儿搜索【幻雨工作室】__10">
            <a:extLst>
              <a:ext uri="{FF2B5EF4-FFF2-40B4-BE49-F238E27FC236}">
                <a16:creationId xmlns:a16="http://schemas.microsoft.com/office/drawing/2014/main" id="{220DDF6A-2E37-47CC-8689-24F0FBB85995}"/>
              </a:ext>
            </a:extLst>
          </p:cNvPr>
          <p:cNvSpPr txBox="1">
            <a:spLocks noChangeArrowheads="1"/>
          </p:cNvSpPr>
          <p:nvPr/>
        </p:nvSpPr>
        <p:spPr bwMode="auto">
          <a:xfrm>
            <a:off x="7295815" y="4276795"/>
            <a:ext cx="2608039" cy="633187"/>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algn="ctr" defTabSz="685800">
              <a:lnSpc>
                <a:spcPct val="120000"/>
              </a:lnSpc>
              <a:defRPr/>
            </a:pPr>
            <a:r>
              <a:rPr lang="en-US" altLang="zh-CN" sz="3200" dirty="0" smtClean="0">
                <a:solidFill>
                  <a:schemeClr val="accent1"/>
                </a:solidFill>
                <a:latin typeface="微软雅黑" panose="020B0503020204020204" pitchFamily="34" charset="-122"/>
                <a:ea typeface="微软雅黑" panose="020B0503020204020204" pitchFamily="34" charset="-122"/>
              </a:rPr>
              <a:t>Future Work</a:t>
            </a:r>
            <a:endParaRPr lang="en-US" altLang="zh-CN" sz="3200" dirty="0">
              <a:solidFill>
                <a:schemeClr val="accent1"/>
              </a:solidFill>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236116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anim calcmode="lin" valueType="num">
                                      <p:cBhvr additive="base">
                                        <p:cTn id="7" dur="500" fill="hold"/>
                                        <p:tgtEl>
                                          <p:spTgt spid="73"/>
                                        </p:tgtEl>
                                        <p:attrNameLst>
                                          <p:attrName>ppt_x</p:attrName>
                                        </p:attrNameLst>
                                      </p:cBhvr>
                                      <p:tavLst>
                                        <p:tav tm="0">
                                          <p:val>
                                            <p:strVal val="#ppt_x"/>
                                          </p:val>
                                        </p:tav>
                                        <p:tav tm="100000">
                                          <p:val>
                                            <p:strVal val="#ppt_x"/>
                                          </p:val>
                                        </p:tav>
                                      </p:tavLst>
                                    </p:anim>
                                    <p:anim calcmode="lin" valueType="num">
                                      <p:cBhvr additive="base">
                                        <p:cTn id="8"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4"/>
                                        </p:tgtEl>
                                        <p:attrNameLst>
                                          <p:attrName>style.visibility</p:attrName>
                                        </p:attrNameLst>
                                      </p:cBhvr>
                                      <p:to>
                                        <p:strVal val="visible"/>
                                      </p:to>
                                    </p:set>
                                    <p:anim calcmode="lin" valueType="num">
                                      <p:cBhvr additive="base">
                                        <p:cTn id="13" dur="500" fill="hold"/>
                                        <p:tgtEl>
                                          <p:spTgt spid="74"/>
                                        </p:tgtEl>
                                        <p:attrNameLst>
                                          <p:attrName>ppt_x</p:attrName>
                                        </p:attrNameLst>
                                      </p:cBhvr>
                                      <p:tavLst>
                                        <p:tav tm="0">
                                          <p:val>
                                            <p:strVal val="#ppt_x"/>
                                          </p:val>
                                        </p:tav>
                                        <p:tav tm="100000">
                                          <p:val>
                                            <p:strVal val="#ppt_x"/>
                                          </p:val>
                                        </p:tav>
                                      </p:tavLst>
                                    </p:anim>
                                    <p:anim calcmode="lin" valueType="num">
                                      <p:cBhvr additive="base">
                                        <p:cTn id="14"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P spid="74"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稻壳儿搜索【幻雨工作室】__1">
            <a:extLst>
              <a:ext uri="{FF2B5EF4-FFF2-40B4-BE49-F238E27FC236}">
                <a16:creationId xmlns:a16="http://schemas.microsoft.com/office/drawing/2014/main" id="{D9FE0944-3B00-40DF-AA91-60AEB7C9E722}"/>
              </a:ext>
            </a:extLst>
          </p:cNvPr>
          <p:cNvSpPr>
            <a:spLocks noChangeArrowheads="1"/>
          </p:cNvSpPr>
          <p:nvPr/>
        </p:nvSpPr>
        <p:spPr bwMode="auto">
          <a:xfrm>
            <a:off x="382815" y="334907"/>
            <a:ext cx="841148" cy="838935"/>
          </a:xfrm>
          <a:prstGeom prst="ellipse">
            <a:avLst/>
          </a:prstGeom>
          <a:solidFill>
            <a:schemeClr val="accent1"/>
          </a:solidFill>
          <a:ln w="76200">
            <a:noFill/>
          </a:ln>
        </p:spPr>
        <p:txBody>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lnSpc>
                <a:spcPct val="120000"/>
              </a:lnSpc>
            </a:pPr>
            <a:r>
              <a:rPr lang="en-US" altLang="zh-CN" sz="2800" b="1">
                <a:solidFill>
                  <a:schemeClr val="bg1"/>
                </a:solidFill>
                <a:ea typeface="微软雅黑" panose="020B0503020204020204" pitchFamily="34" charset="-122"/>
                <a:cs typeface="Arial" panose="020B0604020202020204" pitchFamily="34" charset="0"/>
              </a:rPr>
              <a:t>01</a:t>
            </a:r>
            <a:endParaRPr lang="zh-CN" altLang="en-US" sz="2800" b="1" dirty="0">
              <a:solidFill>
                <a:schemeClr val="bg1"/>
              </a:solidFill>
              <a:ea typeface="微软雅黑" panose="020B0503020204020204" pitchFamily="34" charset="-122"/>
              <a:cs typeface="Arial" panose="020B0604020202020204" pitchFamily="34" charset="0"/>
            </a:endParaRPr>
          </a:p>
        </p:txBody>
      </p:sp>
      <p:sp>
        <p:nvSpPr>
          <p:cNvPr id="68" name="稻壳儿搜索【幻雨工作室】__2">
            <a:extLst>
              <a:ext uri="{FF2B5EF4-FFF2-40B4-BE49-F238E27FC236}">
                <a16:creationId xmlns:a16="http://schemas.microsoft.com/office/drawing/2014/main" id="{579731AE-6C87-46B5-BAC3-570262B42B03}"/>
              </a:ext>
            </a:extLst>
          </p:cNvPr>
          <p:cNvSpPr txBox="1">
            <a:spLocks noChangeArrowheads="1"/>
          </p:cNvSpPr>
          <p:nvPr/>
        </p:nvSpPr>
        <p:spPr bwMode="auto">
          <a:xfrm>
            <a:off x="1250428" y="408204"/>
            <a:ext cx="2909448" cy="646331"/>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algn="r"/>
            <a:r>
              <a:rPr lang="en-US" altLang="zh-CN" sz="3600" b="1" dirty="0" smtClean="0">
                <a:solidFill>
                  <a:schemeClr val="tx1">
                    <a:lumMod val="75000"/>
                    <a:lumOff val="25000"/>
                  </a:schemeClr>
                </a:solidFill>
                <a:latin typeface="+mn-ea"/>
              </a:rPr>
              <a:t>Background</a:t>
            </a:r>
            <a:endParaRPr lang="en-US" altLang="zh-CN" sz="3600" b="1" dirty="0">
              <a:solidFill>
                <a:schemeClr val="tx1">
                  <a:lumMod val="75000"/>
                  <a:lumOff val="25000"/>
                </a:schemeClr>
              </a:solidFill>
              <a:latin typeface="+mn-ea"/>
            </a:endParaRPr>
          </a:p>
        </p:txBody>
      </p:sp>
      <p:sp>
        <p:nvSpPr>
          <p:cNvPr id="69" name="稻壳儿搜索【幻雨工作室】__2">
            <a:extLst>
              <a:ext uri="{FF2B5EF4-FFF2-40B4-BE49-F238E27FC236}">
                <a16:creationId xmlns:a16="http://schemas.microsoft.com/office/drawing/2014/main" id="{086D702B-2401-44B9-B91D-B73182798FF2}"/>
              </a:ext>
            </a:extLst>
          </p:cNvPr>
          <p:cNvSpPr/>
          <p:nvPr/>
        </p:nvSpPr>
        <p:spPr>
          <a:xfrm>
            <a:off x="209550" y="171450"/>
            <a:ext cx="11772900" cy="6515100"/>
          </a:xfrm>
          <a:prstGeom prst="roundRect">
            <a:avLst>
              <a:gd name="adj" fmla="val 2827"/>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47852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稻壳儿搜索【幻雨工作室】__1">
            <a:extLst>
              <a:ext uri="{FF2B5EF4-FFF2-40B4-BE49-F238E27FC236}">
                <a16:creationId xmlns:a16="http://schemas.microsoft.com/office/drawing/2014/main" id="{D9FE0944-3B00-40DF-AA91-60AEB7C9E722}"/>
              </a:ext>
            </a:extLst>
          </p:cNvPr>
          <p:cNvSpPr>
            <a:spLocks noChangeArrowheads="1"/>
          </p:cNvSpPr>
          <p:nvPr/>
        </p:nvSpPr>
        <p:spPr bwMode="auto">
          <a:xfrm>
            <a:off x="382815" y="334907"/>
            <a:ext cx="841148" cy="838935"/>
          </a:xfrm>
          <a:prstGeom prst="ellipse">
            <a:avLst/>
          </a:prstGeom>
          <a:solidFill>
            <a:schemeClr val="accent1"/>
          </a:solidFill>
          <a:ln w="76200">
            <a:noFill/>
          </a:ln>
        </p:spPr>
        <p:txBody>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lnSpc>
                <a:spcPct val="120000"/>
              </a:lnSpc>
            </a:pPr>
            <a:r>
              <a:rPr lang="en-US" altLang="zh-CN" sz="2800" b="1">
                <a:solidFill>
                  <a:schemeClr val="bg1"/>
                </a:solidFill>
                <a:ea typeface="微软雅黑" panose="020B0503020204020204" pitchFamily="34" charset="-122"/>
                <a:cs typeface="Arial" panose="020B0604020202020204" pitchFamily="34" charset="0"/>
              </a:rPr>
              <a:t>01</a:t>
            </a:r>
            <a:endParaRPr lang="zh-CN" altLang="en-US" sz="2800" b="1" dirty="0">
              <a:solidFill>
                <a:schemeClr val="bg1"/>
              </a:solidFill>
              <a:ea typeface="微软雅黑" panose="020B0503020204020204" pitchFamily="34" charset="-122"/>
              <a:cs typeface="Arial" panose="020B0604020202020204" pitchFamily="34" charset="0"/>
            </a:endParaRPr>
          </a:p>
        </p:txBody>
      </p:sp>
      <p:sp>
        <p:nvSpPr>
          <p:cNvPr id="69" name="稻壳儿搜索【幻雨工作室】__2">
            <a:extLst>
              <a:ext uri="{FF2B5EF4-FFF2-40B4-BE49-F238E27FC236}">
                <a16:creationId xmlns:a16="http://schemas.microsoft.com/office/drawing/2014/main" id="{086D702B-2401-44B9-B91D-B73182798FF2}"/>
              </a:ext>
            </a:extLst>
          </p:cNvPr>
          <p:cNvSpPr/>
          <p:nvPr/>
        </p:nvSpPr>
        <p:spPr>
          <a:xfrm>
            <a:off x="209550" y="171450"/>
            <a:ext cx="11772900" cy="6515100"/>
          </a:xfrm>
          <a:prstGeom prst="roundRect">
            <a:avLst>
              <a:gd name="adj" fmla="val 2827"/>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69">
            <a:extLst>
              <a:ext uri="{FF2B5EF4-FFF2-40B4-BE49-F238E27FC236}">
                <a16:creationId xmlns:a16="http://schemas.microsoft.com/office/drawing/2014/main" id="{E08B0BB9-7B3C-47D8-B9CE-1D1674EF963C}"/>
              </a:ext>
            </a:extLst>
          </p:cNvPr>
          <p:cNvSpPr txBox="1"/>
          <p:nvPr/>
        </p:nvSpPr>
        <p:spPr>
          <a:xfrm>
            <a:off x="1711126" y="2550274"/>
            <a:ext cx="7265449" cy="1759456"/>
          </a:xfrm>
          <a:prstGeom prst="rect">
            <a:avLst/>
          </a:prstGeom>
          <a:noFill/>
        </p:spPr>
        <p:txBody>
          <a:bodyPr wrap="square" rtlCol="0">
            <a:spAutoFit/>
          </a:bodyPr>
          <a:lstStyle/>
          <a:p>
            <a:pPr>
              <a:lnSpc>
                <a:spcPts val="2574"/>
              </a:lnSpc>
              <a:spcAft>
                <a:spcPts val="600"/>
              </a:spcAft>
            </a:pPr>
            <a:r>
              <a:rPr lang="en-US" altLang="zh-CN" dirty="0">
                <a:latin typeface="+mn-ea"/>
                <a:cs typeface="Times New Roman" panose="02020603050405020304" pitchFamily="18" charset="0"/>
              </a:rPr>
              <a:t>Most existing schedulers expect users to specify the number of resources for each job, often leading to inefficient resource use. Some recent schedulers choose job resources for users, but do so without awareness of how DL training can be re-optimized to better utilize the provided resources. </a:t>
            </a:r>
          </a:p>
        </p:txBody>
      </p:sp>
      <p:sp>
        <p:nvSpPr>
          <p:cNvPr id="6" name="稻壳儿搜索【幻雨工作室】__2">
            <a:extLst>
              <a:ext uri="{FF2B5EF4-FFF2-40B4-BE49-F238E27FC236}">
                <a16:creationId xmlns:a16="http://schemas.microsoft.com/office/drawing/2014/main" id="{579731AE-6C87-46B5-BAC3-570262B42B03}"/>
              </a:ext>
            </a:extLst>
          </p:cNvPr>
          <p:cNvSpPr txBox="1">
            <a:spLocks noChangeArrowheads="1"/>
          </p:cNvSpPr>
          <p:nvPr/>
        </p:nvSpPr>
        <p:spPr bwMode="auto">
          <a:xfrm>
            <a:off x="1250428" y="408204"/>
            <a:ext cx="2909448" cy="646331"/>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algn="r"/>
            <a:r>
              <a:rPr lang="en-US" altLang="zh-CN" sz="3600" b="1" dirty="0" smtClean="0">
                <a:solidFill>
                  <a:schemeClr val="tx1">
                    <a:lumMod val="75000"/>
                    <a:lumOff val="25000"/>
                  </a:schemeClr>
                </a:solidFill>
                <a:latin typeface="+mn-ea"/>
              </a:rPr>
              <a:t>Background</a:t>
            </a:r>
            <a:endParaRPr lang="en-US" altLang="zh-CN" sz="3600" b="1" dirty="0">
              <a:solidFill>
                <a:schemeClr val="tx1">
                  <a:lumMod val="75000"/>
                  <a:lumOff val="25000"/>
                </a:schemeClr>
              </a:solidFill>
              <a:latin typeface="+mn-ea"/>
            </a:endParaRPr>
          </a:p>
        </p:txBody>
      </p:sp>
    </p:spTree>
    <p:extLst>
      <p:ext uri="{BB962C8B-B14F-4D97-AF65-F5344CB8AC3E}">
        <p14:creationId xmlns:p14="http://schemas.microsoft.com/office/powerpoint/2010/main" val="1977324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稻壳儿搜索【幻雨工作室】__1">
            <a:extLst>
              <a:ext uri="{FF2B5EF4-FFF2-40B4-BE49-F238E27FC236}">
                <a16:creationId xmlns:a16="http://schemas.microsoft.com/office/drawing/2014/main" id="{D9FE0944-3B00-40DF-AA91-60AEB7C9E722}"/>
              </a:ext>
            </a:extLst>
          </p:cNvPr>
          <p:cNvSpPr>
            <a:spLocks noChangeArrowheads="1"/>
          </p:cNvSpPr>
          <p:nvPr/>
        </p:nvSpPr>
        <p:spPr bwMode="auto">
          <a:xfrm>
            <a:off x="382815" y="334907"/>
            <a:ext cx="841148" cy="838935"/>
          </a:xfrm>
          <a:prstGeom prst="ellipse">
            <a:avLst/>
          </a:prstGeom>
          <a:solidFill>
            <a:schemeClr val="accent1"/>
          </a:solidFill>
          <a:ln w="76200">
            <a:noFill/>
          </a:ln>
        </p:spPr>
        <p:txBody>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lnSpc>
                <a:spcPct val="120000"/>
              </a:lnSpc>
            </a:pPr>
            <a:r>
              <a:rPr lang="en-US" altLang="zh-CN" sz="2800" b="1">
                <a:solidFill>
                  <a:schemeClr val="bg1"/>
                </a:solidFill>
                <a:ea typeface="微软雅黑" panose="020B0503020204020204" pitchFamily="34" charset="-122"/>
                <a:cs typeface="Arial" panose="020B0604020202020204" pitchFamily="34" charset="0"/>
              </a:rPr>
              <a:t>01</a:t>
            </a:r>
            <a:endParaRPr lang="zh-CN" altLang="en-US" sz="2800" b="1" dirty="0">
              <a:solidFill>
                <a:schemeClr val="bg1"/>
              </a:solidFill>
              <a:ea typeface="微软雅黑" panose="020B0503020204020204" pitchFamily="34" charset="-122"/>
              <a:cs typeface="Arial" panose="020B0604020202020204" pitchFamily="34" charset="0"/>
            </a:endParaRPr>
          </a:p>
        </p:txBody>
      </p:sp>
      <p:sp>
        <p:nvSpPr>
          <p:cNvPr id="69" name="稻壳儿搜索【幻雨工作室】__2">
            <a:extLst>
              <a:ext uri="{FF2B5EF4-FFF2-40B4-BE49-F238E27FC236}">
                <a16:creationId xmlns:a16="http://schemas.microsoft.com/office/drawing/2014/main" id="{086D702B-2401-44B9-B91D-B73182798FF2}"/>
              </a:ext>
            </a:extLst>
          </p:cNvPr>
          <p:cNvSpPr/>
          <p:nvPr/>
        </p:nvSpPr>
        <p:spPr>
          <a:xfrm>
            <a:off x="209550" y="171450"/>
            <a:ext cx="11772900" cy="6515100"/>
          </a:xfrm>
          <a:prstGeom prst="roundRect">
            <a:avLst>
              <a:gd name="adj" fmla="val 2827"/>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69">
            <a:extLst>
              <a:ext uri="{FF2B5EF4-FFF2-40B4-BE49-F238E27FC236}">
                <a16:creationId xmlns:a16="http://schemas.microsoft.com/office/drawing/2014/main" id="{E08B0BB9-7B3C-47D8-B9CE-1D1674EF963C}"/>
              </a:ext>
            </a:extLst>
          </p:cNvPr>
          <p:cNvSpPr txBox="1"/>
          <p:nvPr/>
        </p:nvSpPr>
        <p:spPr>
          <a:xfrm>
            <a:off x="1711126" y="2550274"/>
            <a:ext cx="7265449" cy="425758"/>
          </a:xfrm>
          <a:prstGeom prst="rect">
            <a:avLst/>
          </a:prstGeom>
          <a:noFill/>
        </p:spPr>
        <p:txBody>
          <a:bodyPr wrap="square" rtlCol="0">
            <a:spAutoFit/>
          </a:bodyPr>
          <a:lstStyle/>
          <a:p>
            <a:pPr>
              <a:lnSpc>
                <a:spcPts val="2574"/>
              </a:lnSpc>
              <a:spcAft>
                <a:spcPts val="600"/>
              </a:spcAft>
            </a:pPr>
            <a:r>
              <a:rPr lang="en-US" altLang="zh-CN" dirty="0">
                <a:latin typeface="+mn-ea"/>
                <a:cs typeface="Times New Roman" panose="02020603050405020304" pitchFamily="18" charset="0"/>
              </a:rPr>
              <a:t>Most existing schedulers expect users to specify the number </a:t>
            </a:r>
            <a:r>
              <a:rPr lang="en-US" altLang="zh-CN" dirty="0" smtClean="0">
                <a:latin typeface="+mn-ea"/>
                <a:cs typeface="Times New Roman" panose="02020603050405020304" pitchFamily="18" charset="0"/>
              </a:rPr>
              <a:t>of</a:t>
            </a:r>
            <a:endParaRPr lang="en-US" altLang="zh-CN" dirty="0">
              <a:latin typeface="+mn-ea"/>
              <a:cs typeface="Times New Roman" panose="02020603050405020304" pitchFamily="18" charset="0"/>
            </a:endParaRPr>
          </a:p>
        </p:txBody>
      </p:sp>
      <p:sp>
        <p:nvSpPr>
          <p:cNvPr id="6" name="稻壳儿搜索【幻雨工作室】__2">
            <a:extLst>
              <a:ext uri="{FF2B5EF4-FFF2-40B4-BE49-F238E27FC236}">
                <a16:creationId xmlns:a16="http://schemas.microsoft.com/office/drawing/2014/main" id="{579731AE-6C87-46B5-BAC3-570262B42B03}"/>
              </a:ext>
            </a:extLst>
          </p:cNvPr>
          <p:cNvSpPr txBox="1">
            <a:spLocks noChangeArrowheads="1"/>
          </p:cNvSpPr>
          <p:nvPr/>
        </p:nvSpPr>
        <p:spPr bwMode="auto">
          <a:xfrm>
            <a:off x="1250428" y="408204"/>
            <a:ext cx="2909448" cy="646331"/>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algn="r"/>
            <a:r>
              <a:rPr lang="en-US" altLang="zh-CN" sz="3600" b="1" dirty="0" smtClean="0">
                <a:solidFill>
                  <a:schemeClr val="tx1">
                    <a:lumMod val="75000"/>
                    <a:lumOff val="25000"/>
                  </a:schemeClr>
                </a:solidFill>
                <a:latin typeface="+mn-ea"/>
              </a:rPr>
              <a:t>Background</a:t>
            </a:r>
            <a:endParaRPr lang="en-US" altLang="zh-CN" sz="3600" b="1" dirty="0">
              <a:solidFill>
                <a:schemeClr val="tx1">
                  <a:lumMod val="75000"/>
                  <a:lumOff val="25000"/>
                </a:schemeClr>
              </a:solidFill>
              <a:latin typeface="+mn-ea"/>
            </a:endParaRPr>
          </a:p>
        </p:txBody>
      </p:sp>
    </p:spTree>
    <p:extLst>
      <p:ext uri="{BB962C8B-B14F-4D97-AF65-F5344CB8AC3E}">
        <p14:creationId xmlns:p14="http://schemas.microsoft.com/office/powerpoint/2010/main" val="2483698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a:extLst>
              <a:ext uri="{FF2B5EF4-FFF2-40B4-BE49-F238E27FC236}">
                <a16:creationId xmlns:a16="http://schemas.microsoft.com/office/drawing/2014/main" id="{ABF39EAE-0917-4057-A33E-A08D04843F00}"/>
              </a:ext>
            </a:extLst>
          </p:cNvPr>
          <p:cNvSpPr/>
          <p:nvPr/>
        </p:nvSpPr>
        <p:spPr>
          <a:xfrm>
            <a:off x="281353" y="1558362"/>
            <a:ext cx="6440994" cy="3374504"/>
          </a:xfrm>
          <a:prstGeom prst="roundRect">
            <a:avLst/>
          </a:prstGeom>
          <a:gradFill flip="none" rotWithShape="1">
            <a:gsLst>
              <a:gs pos="0">
                <a:schemeClr val="accent1">
                  <a:lumMod val="20000"/>
                  <a:lumOff val="80000"/>
                </a:schemeClr>
              </a:gs>
              <a:gs pos="30000">
                <a:schemeClr val="accent1">
                  <a:lumMod val="0"/>
                  <a:lumOff val="100000"/>
                </a:schemeClr>
              </a:gs>
              <a:gs pos="70000">
                <a:schemeClr val="accent1">
                  <a:lumMod val="0"/>
                  <a:lumOff val="100000"/>
                </a:schemeClr>
              </a:gs>
              <a:gs pos="95000">
                <a:schemeClr val="accent1">
                  <a:lumMod val="20000"/>
                  <a:lumOff val="80000"/>
                </a:schemeClr>
              </a:gs>
            </a:gsLst>
            <a:lin ang="13500000" scaled="1"/>
            <a:tileRect/>
          </a:gra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FA211DE9-AC3B-43C3-81DC-3A23B9EFA387}"/>
              </a:ext>
            </a:extLst>
          </p:cNvPr>
          <p:cNvSpPr/>
          <p:nvPr/>
        </p:nvSpPr>
        <p:spPr>
          <a:xfrm>
            <a:off x="1107616" y="1994219"/>
            <a:ext cx="5062071" cy="940465"/>
          </a:xfrm>
          <a:prstGeom prst="round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a:extLst>
              <a:ext uri="{FF2B5EF4-FFF2-40B4-BE49-F238E27FC236}">
                <a16:creationId xmlns:a16="http://schemas.microsoft.com/office/drawing/2014/main" id="{F0619DDD-4442-4675-9508-22C1F67475CC}"/>
              </a:ext>
            </a:extLst>
          </p:cNvPr>
          <p:cNvCxnSpPr>
            <a:cxnSpLocks/>
            <a:stCxn id="6" idx="1"/>
          </p:cNvCxnSpPr>
          <p:nvPr/>
        </p:nvCxnSpPr>
        <p:spPr>
          <a:xfrm flipH="1">
            <a:off x="934352" y="2464452"/>
            <a:ext cx="1732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15DB3B85-03F8-41CA-943D-519EB27B9DB4}"/>
              </a:ext>
            </a:extLst>
          </p:cNvPr>
          <p:cNvCxnSpPr>
            <a:cxnSpLocks/>
          </p:cNvCxnSpPr>
          <p:nvPr/>
        </p:nvCxnSpPr>
        <p:spPr>
          <a:xfrm>
            <a:off x="934351" y="2464451"/>
            <a:ext cx="0" cy="6336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7A56E3B2-DF24-47CF-B790-82E845016DAF}"/>
              </a:ext>
            </a:extLst>
          </p:cNvPr>
          <p:cNvCxnSpPr>
            <a:cxnSpLocks/>
          </p:cNvCxnSpPr>
          <p:nvPr/>
        </p:nvCxnSpPr>
        <p:spPr>
          <a:xfrm>
            <a:off x="934351" y="3098139"/>
            <a:ext cx="87469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573D62CF-9A39-4EB6-82E6-3F408974AEFA}"/>
              </a:ext>
            </a:extLst>
          </p:cNvPr>
          <p:cNvCxnSpPr>
            <a:cxnSpLocks/>
          </p:cNvCxnSpPr>
          <p:nvPr/>
        </p:nvCxnSpPr>
        <p:spPr>
          <a:xfrm flipH="1">
            <a:off x="1798654" y="3098139"/>
            <a:ext cx="10387" cy="7300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EB9785D7-FEF6-4A3C-B830-0535D31DCC76}"/>
              </a:ext>
            </a:extLst>
          </p:cNvPr>
          <p:cNvSpPr txBox="1"/>
          <p:nvPr/>
        </p:nvSpPr>
        <p:spPr>
          <a:xfrm>
            <a:off x="2989384" y="1589468"/>
            <a:ext cx="1024932" cy="369332"/>
          </a:xfrm>
          <a:prstGeom prst="rect">
            <a:avLst/>
          </a:prstGeom>
          <a:noFill/>
        </p:spPr>
        <p:txBody>
          <a:bodyPr wrap="square" rtlCol="0">
            <a:spAutoFit/>
          </a:bodyPr>
          <a:lstStyle/>
          <a:p>
            <a:pPr algn="ctr"/>
            <a:r>
              <a:rPr lang="en-US" altLang="zh-CN" dirty="0"/>
              <a:t>300K</a:t>
            </a:r>
            <a:endParaRPr lang="zh-CN" altLang="en-US" dirty="0"/>
          </a:p>
        </p:txBody>
      </p:sp>
      <p:sp>
        <p:nvSpPr>
          <p:cNvPr id="13" name="矩形: 圆角 12">
            <a:extLst>
              <a:ext uri="{FF2B5EF4-FFF2-40B4-BE49-F238E27FC236}">
                <a16:creationId xmlns:a16="http://schemas.microsoft.com/office/drawing/2014/main" id="{7DACE87C-4203-4DA4-8846-12FF07C28BA2}"/>
              </a:ext>
            </a:extLst>
          </p:cNvPr>
          <p:cNvSpPr/>
          <p:nvPr/>
        </p:nvSpPr>
        <p:spPr>
          <a:xfrm>
            <a:off x="1128426" y="3828222"/>
            <a:ext cx="1340455" cy="902007"/>
          </a:xfrm>
          <a:prstGeom prst="roundRect">
            <a:avLst/>
          </a:prstGeom>
          <a:solidFill>
            <a:srgbClr val="5B9BD5"/>
          </a:soli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4283B060-5EB6-4AC2-980D-037F10611AAC}"/>
              </a:ext>
            </a:extLst>
          </p:cNvPr>
          <p:cNvSpPr/>
          <p:nvPr/>
        </p:nvSpPr>
        <p:spPr>
          <a:xfrm>
            <a:off x="3406391" y="3828222"/>
            <a:ext cx="2291024" cy="902007"/>
          </a:xfrm>
          <a:prstGeom prst="roundRect">
            <a:avLst/>
          </a:prstGeom>
          <a:solidFill>
            <a:srgbClr val="5B9BD5"/>
          </a:soli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EB926252-DAE3-4506-803D-9FEBAE0404C5}"/>
              </a:ext>
            </a:extLst>
          </p:cNvPr>
          <p:cNvSpPr txBox="1"/>
          <p:nvPr/>
        </p:nvSpPr>
        <p:spPr>
          <a:xfrm>
            <a:off x="1331405" y="3828222"/>
            <a:ext cx="934496" cy="400110"/>
          </a:xfrm>
          <a:prstGeom prst="rect">
            <a:avLst/>
          </a:prstGeom>
          <a:noFill/>
        </p:spPr>
        <p:txBody>
          <a:bodyPr wrap="square" rtlCol="0">
            <a:spAutoFit/>
          </a:bodyPr>
          <a:lstStyle/>
          <a:p>
            <a:pPr algn="ctr"/>
            <a:r>
              <a:rPr lang="en-US" altLang="zh-CN" sz="1000" dirty="0">
                <a:solidFill>
                  <a:schemeClr val="bg1"/>
                </a:solidFill>
              </a:rPr>
              <a:t>Digital Signal Generation</a:t>
            </a:r>
            <a:endParaRPr lang="zh-CN" altLang="en-US" sz="1000" dirty="0">
              <a:solidFill>
                <a:schemeClr val="bg1"/>
              </a:solidFill>
            </a:endParaRPr>
          </a:p>
        </p:txBody>
      </p:sp>
      <p:sp>
        <p:nvSpPr>
          <p:cNvPr id="16" name="矩形 15">
            <a:extLst>
              <a:ext uri="{FF2B5EF4-FFF2-40B4-BE49-F238E27FC236}">
                <a16:creationId xmlns:a16="http://schemas.microsoft.com/office/drawing/2014/main" id="{D4179B1D-D4BB-4D29-9264-4109B2A056CB}"/>
              </a:ext>
            </a:extLst>
          </p:cNvPr>
          <p:cNvSpPr/>
          <p:nvPr/>
        </p:nvSpPr>
        <p:spPr>
          <a:xfrm>
            <a:off x="1886078" y="4311079"/>
            <a:ext cx="542611" cy="3315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NCO</a:t>
            </a:r>
            <a:endParaRPr lang="zh-CN" altLang="en-US" dirty="0"/>
          </a:p>
        </p:txBody>
      </p:sp>
      <p:sp>
        <p:nvSpPr>
          <p:cNvPr id="17" name="矩形 16">
            <a:extLst>
              <a:ext uri="{FF2B5EF4-FFF2-40B4-BE49-F238E27FC236}">
                <a16:creationId xmlns:a16="http://schemas.microsoft.com/office/drawing/2014/main" id="{01E33A37-3003-491C-A895-F573855A446B}"/>
              </a:ext>
            </a:extLst>
          </p:cNvPr>
          <p:cNvSpPr/>
          <p:nvPr/>
        </p:nvSpPr>
        <p:spPr>
          <a:xfrm>
            <a:off x="3469561" y="4303439"/>
            <a:ext cx="542611" cy="3315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DAC</a:t>
            </a:r>
            <a:endParaRPr lang="zh-CN" altLang="en-US" dirty="0"/>
          </a:p>
        </p:txBody>
      </p:sp>
      <p:sp>
        <p:nvSpPr>
          <p:cNvPr id="18" name="矩形 17">
            <a:extLst>
              <a:ext uri="{FF2B5EF4-FFF2-40B4-BE49-F238E27FC236}">
                <a16:creationId xmlns:a16="http://schemas.microsoft.com/office/drawing/2014/main" id="{E630A11F-15DE-4928-8C5C-E323978E0581}"/>
              </a:ext>
            </a:extLst>
          </p:cNvPr>
          <p:cNvSpPr/>
          <p:nvPr/>
        </p:nvSpPr>
        <p:spPr>
          <a:xfrm>
            <a:off x="4238577" y="4298513"/>
            <a:ext cx="542611" cy="3315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Filter</a:t>
            </a:r>
            <a:endParaRPr lang="zh-CN" altLang="en-US" dirty="0"/>
          </a:p>
        </p:txBody>
      </p:sp>
      <p:sp>
        <p:nvSpPr>
          <p:cNvPr id="19" name="矩形 18">
            <a:extLst>
              <a:ext uri="{FF2B5EF4-FFF2-40B4-BE49-F238E27FC236}">
                <a16:creationId xmlns:a16="http://schemas.microsoft.com/office/drawing/2014/main" id="{A0F29C2D-FBCB-4E68-9E93-FC27FFBA9A52}"/>
              </a:ext>
            </a:extLst>
          </p:cNvPr>
          <p:cNvSpPr/>
          <p:nvPr/>
        </p:nvSpPr>
        <p:spPr>
          <a:xfrm>
            <a:off x="5000425" y="4311079"/>
            <a:ext cx="542611" cy="3315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VGA</a:t>
            </a:r>
            <a:endParaRPr lang="zh-CN" altLang="en-US" dirty="0"/>
          </a:p>
        </p:txBody>
      </p:sp>
      <p:cxnSp>
        <p:nvCxnSpPr>
          <p:cNvPr id="20" name="直接箭头连接符 19">
            <a:extLst>
              <a:ext uri="{FF2B5EF4-FFF2-40B4-BE49-F238E27FC236}">
                <a16:creationId xmlns:a16="http://schemas.microsoft.com/office/drawing/2014/main" id="{1FCBF001-8277-41F3-B3A4-5A9EC935CF6C}"/>
              </a:ext>
            </a:extLst>
          </p:cNvPr>
          <p:cNvCxnSpPr>
            <a:cxnSpLocks/>
            <a:stCxn id="13" idx="3"/>
            <a:endCxn id="14" idx="1"/>
          </p:cNvCxnSpPr>
          <p:nvPr/>
        </p:nvCxnSpPr>
        <p:spPr>
          <a:xfrm>
            <a:off x="2468881" y="4279226"/>
            <a:ext cx="9375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B4CDC2EC-348A-46E3-8C99-8F474E9BAA65}"/>
              </a:ext>
            </a:extLst>
          </p:cNvPr>
          <p:cNvSpPr txBox="1"/>
          <p:nvPr/>
        </p:nvSpPr>
        <p:spPr>
          <a:xfrm>
            <a:off x="3848518" y="3854207"/>
            <a:ext cx="1406770" cy="430887"/>
          </a:xfrm>
          <a:prstGeom prst="rect">
            <a:avLst/>
          </a:prstGeom>
          <a:noFill/>
        </p:spPr>
        <p:txBody>
          <a:bodyPr wrap="square" rtlCol="0">
            <a:spAutoFit/>
          </a:bodyPr>
          <a:lstStyle/>
          <a:p>
            <a:pPr algn="ctr"/>
            <a:r>
              <a:rPr lang="en-US" altLang="zh-CN" sz="1050" dirty="0">
                <a:solidFill>
                  <a:schemeClr val="bg1"/>
                </a:solidFill>
              </a:rPr>
              <a:t>Single-sideband Transmitter</a:t>
            </a:r>
            <a:endParaRPr lang="zh-CN" altLang="en-US" sz="1050" dirty="0">
              <a:solidFill>
                <a:schemeClr val="bg1"/>
              </a:solidFill>
            </a:endParaRPr>
          </a:p>
        </p:txBody>
      </p:sp>
      <p:sp>
        <p:nvSpPr>
          <p:cNvPr id="26" name="矩形: 圆角 25">
            <a:extLst>
              <a:ext uri="{FF2B5EF4-FFF2-40B4-BE49-F238E27FC236}">
                <a16:creationId xmlns:a16="http://schemas.microsoft.com/office/drawing/2014/main" id="{D32A8386-EF6F-4432-A564-0150065CA680}"/>
              </a:ext>
            </a:extLst>
          </p:cNvPr>
          <p:cNvSpPr/>
          <p:nvPr/>
        </p:nvSpPr>
        <p:spPr>
          <a:xfrm>
            <a:off x="3606486" y="5490235"/>
            <a:ext cx="1873173" cy="1157621"/>
          </a:xfrm>
          <a:prstGeom prst="roundRect">
            <a:avLst/>
          </a:prstGeom>
          <a:gradFill flip="none" rotWithShape="1">
            <a:gsLst>
              <a:gs pos="0">
                <a:schemeClr val="accent1">
                  <a:lumMod val="20000"/>
                  <a:lumOff val="80000"/>
                </a:schemeClr>
              </a:gs>
              <a:gs pos="30000">
                <a:schemeClr val="accent1">
                  <a:lumMod val="0"/>
                  <a:lumOff val="100000"/>
                </a:schemeClr>
              </a:gs>
              <a:gs pos="70000">
                <a:schemeClr val="accent1">
                  <a:lumMod val="0"/>
                  <a:lumOff val="100000"/>
                </a:schemeClr>
              </a:gs>
              <a:gs pos="95000">
                <a:schemeClr val="accent1">
                  <a:lumMod val="20000"/>
                  <a:lumOff val="80000"/>
                </a:schemeClr>
              </a:gs>
            </a:gsLst>
            <a:lin ang="13500000" scaled="1"/>
            <a:tileRect/>
          </a:gra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1122ED58-4D1C-476D-BE2F-B02062B4BFD7}"/>
              </a:ext>
            </a:extLst>
          </p:cNvPr>
          <p:cNvSpPr txBox="1"/>
          <p:nvPr/>
        </p:nvSpPr>
        <p:spPr>
          <a:xfrm>
            <a:off x="4038941" y="5490235"/>
            <a:ext cx="1024932" cy="369332"/>
          </a:xfrm>
          <a:prstGeom prst="rect">
            <a:avLst/>
          </a:prstGeom>
          <a:noFill/>
        </p:spPr>
        <p:txBody>
          <a:bodyPr wrap="square" rtlCol="0">
            <a:spAutoFit/>
          </a:bodyPr>
          <a:lstStyle/>
          <a:p>
            <a:pPr algn="ctr"/>
            <a:r>
              <a:rPr lang="en-US" altLang="zh-CN" dirty="0"/>
              <a:t>0.02K</a:t>
            </a:r>
            <a:endParaRPr lang="zh-CN" altLang="en-US" dirty="0"/>
          </a:p>
        </p:txBody>
      </p:sp>
      <p:sp>
        <p:nvSpPr>
          <p:cNvPr id="32" name="矩形: 圆角 31">
            <a:extLst>
              <a:ext uri="{FF2B5EF4-FFF2-40B4-BE49-F238E27FC236}">
                <a16:creationId xmlns:a16="http://schemas.microsoft.com/office/drawing/2014/main" id="{27FF2FA7-13DD-432F-BE4A-D6E08059E7AA}"/>
              </a:ext>
            </a:extLst>
          </p:cNvPr>
          <p:cNvSpPr/>
          <p:nvPr/>
        </p:nvSpPr>
        <p:spPr>
          <a:xfrm>
            <a:off x="4086230" y="5906525"/>
            <a:ext cx="986708" cy="663967"/>
          </a:xfrm>
          <a:prstGeom prst="roundRect">
            <a:avLst/>
          </a:prstGeom>
          <a:solidFill>
            <a:srgbClr val="5B9BD5"/>
          </a:soli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A8AC1091-E56B-4D18-8D4B-7011DD7B2A1F}"/>
              </a:ext>
            </a:extLst>
          </p:cNvPr>
          <p:cNvSpPr txBox="1"/>
          <p:nvPr/>
        </p:nvSpPr>
        <p:spPr>
          <a:xfrm>
            <a:off x="4223464" y="5924715"/>
            <a:ext cx="840409" cy="574324"/>
          </a:xfrm>
          <a:prstGeom prst="rect">
            <a:avLst/>
          </a:prstGeom>
          <a:noFill/>
        </p:spPr>
        <p:txBody>
          <a:bodyPr wrap="square" rtlCol="0">
            <a:spAutoFit/>
          </a:bodyPr>
          <a:lstStyle/>
          <a:p>
            <a:pPr>
              <a:lnSpc>
                <a:spcPct val="150000"/>
              </a:lnSpc>
            </a:pPr>
            <a:r>
              <a:rPr lang="en-US" altLang="zh-CN" sz="1100" dirty="0">
                <a:solidFill>
                  <a:schemeClr val="bg1"/>
                </a:solidFill>
              </a:rPr>
              <a:t>Quantum Processor</a:t>
            </a:r>
            <a:endParaRPr lang="zh-CN" altLang="en-US" sz="1100" dirty="0">
              <a:solidFill>
                <a:schemeClr val="bg1"/>
              </a:solidFill>
            </a:endParaRPr>
          </a:p>
        </p:txBody>
      </p:sp>
      <p:sp>
        <p:nvSpPr>
          <p:cNvPr id="46" name="矩形 45">
            <a:extLst>
              <a:ext uri="{FF2B5EF4-FFF2-40B4-BE49-F238E27FC236}">
                <a16:creationId xmlns:a16="http://schemas.microsoft.com/office/drawing/2014/main" id="{669C8F8C-31D7-4B58-BEAC-0C3A38512897}"/>
              </a:ext>
            </a:extLst>
          </p:cNvPr>
          <p:cNvSpPr/>
          <p:nvPr/>
        </p:nvSpPr>
        <p:spPr>
          <a:xfrm>
            <a:off x="1322409" y="5124027"/>
            <a:ext cx="542611" cy="3315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Filter</a:t>
            </a:r>
            <a:endParaRPr lang="zh-CN" altLang="en-US" dirty="0"/>
          </a:p>
        </p:txBody>
      </p:sp>
      <p:sp>
        <p:nvSpPr>
          <p:cNvPr id="47" name="矩形 46">
            <a:extLst>
              <a:ext uri="{FF2B5EF4-FFF2-40B4-BE49-F238E27FC236}">
                <a16:creationId xmlns:a16="http://schemas.microsoft.com/office/drawing/2014/main" id="{FC2597BD-3CF9-4DA7-8D95-FB6A8A28E4E3}"/>
              </a:ext>
            </a:extLst>
          </p:cNvPr>
          <p:cNvSpPr/>
          <p:nvPr/>
        </p:nvSpPr>
        <p:spPr>
          <a:xfrm>
            <a:off x="1331405" y="5849932"/>
            <a:ext cx="542611" cy="3315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Filter</a:t>
            </a:r>
            <a:endParaRPr lang="zh-CN" altLang="en-US" dirty="0"/>
          </a:p>
        </p:txBody>
      </p:sp>
      <p:cxnSp>
        <p:nvCxnSpPr>
          <p:cNvPr id="52" name="直接连接符 51">
            <a:extLst>
              <a:ext uri="{FF2B5EF4-FFF2-40B4-BE49-F238E27FC236}">
                <a16:creationId xmlns:a16="http://schemas.microsoft.com/office/drawing/2014/main" id="{960E20A3-8E7F-4416-B17D-BAAB4083A86B}"/>
              </a:ext>
            </a:extLst>
          </p:cNvPr>
          <p:cNvCxnSpPr>
            <a:stCxn id="14" idx="2"/>
          </p:cNvCxnSpPr>
          <p:nvPr/>
        </p:nvCxnSpPr>
        <p:spPr>
          <a:xfrm flipH="1">
            <a:off x="4551407" y="4730229"/>
            <a:ext cx="496" cy="559596"/>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3846B0C5-1427-4545-8C7E-F7AEEDB5E204}"/>
              </a:ext>
            </a:extLst>
          </p:cNvPr>
          <p:cNvCxnSpPr>
            <a:endCxn id="46" idx="3"/>
          </p:cNvCxnSpPr>
          <p:nvPr/>
        </p:nvCxnSpPr>
        <p:spPr>
          <a:xfrm flipH="1">
            <a:off x="1865020" y="5289825"/>
            <a:ext cx="268638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D87A8F89-246C-4F6F-AF26-FAB5B1ECE04F}"/>
              </a:ext>
            </a:extLst>
          </p:cNvPr>
          <p:cNvCxnSpPr>
            <a:stCxn id="46" idx="2"/>
            <a:endCxn id="47" idx="0"/>
          </p:cNvCxnSpPr>
          <p:nvPr/>
        </p:nvCxnSpPr>
        <p:spPr>
          <a:xfrm>
            <a:off x="1593715" y="5455623"/>
            <a:ext cx="8996" cy="3943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BF1A6DDF-5755-4D91-9D8D-69A5486BF6FA}"/>
              </a:ext>
            </a:extLst>
          </p:cNvPr>
          <p:cNvCxnSpPr>
            <a:stCxn id="47" idx="3"/>
          </p:cNvCxnSpPr>
          <p:nvPr/>
        </p:nvCxnSpPr>
        <p:spPr>
          <a:xfrm>
            <a:off x="1874016" y="6015730"/>
            <a:ext cx="173247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文本框 61">
            <a:extLst>
              <a:ext uri="{FF2B5EF4-FFF2-40B4-BE49-F238E27FC236}">
                <a16:creationId xmlns:a16="http://schemas.microsoft.com/office/drawing/2014/main" id="{D2757AE5-470E-48E8-A578-88D038E328F6}"/>
              </a:ext>
            </a:extLst>
          </p:cNvPr>
          <p:cNvSpPr txBox="1"/>
          <p:nvPr/>
        </p:nvSpPr>
        <p:spPr>
          <a:xfrm>
            <a:off x="2967915" y="2100105"/>
            <a:ext cx="1341473" cy="369332"/>
          </a:xfrm>
          <a:prstGeom prst="rect">
            <a:avLst/>
          </a:prstGeom>
          <a:noFill/>
        </p:spPr>
        <p:txBody>
          <a:bodyPr wrap="square" rtlCol="0">
            <a:spAutoFit/>
          </a:bodyPr>
          <a:lstStyle/>
          <a:p>
            <a:pPr algn="ctr"/>
            <a:r>
              <a:rPr lang="en-US" altLang="zh-CN" dirty="0">
                <a:solidFill>
                  <a:schemeClr val="bg1"/>
                </a:solidFill>
              </a:rPr>
              <a:t>instruction</a:t>
            </a:r>
            <a:endParaRPr lang="zh-CN" altLang="en-US" dirty="0">
              <a:solidFill>
                <a:schemeClr val="bg1"/>
              </a:solidFill>
            </a:endParaRPr>
          </a:p>
        </p:txBody>
      </p:sp>
      <p:sp>
        <p:nvSpPr>
          <p:cNvPr id="64" name="箭头: 右 63">
            <a:extLst>
              <a:ext uri="{FF2B5EF4-FFF2-40B4-BE49-F238E27FC236}">
                <a16:creationId xmlns:a16="http://schemas.microsoft.com/office/drawing/2014/main" id="{2864B340-94A7-4FD7-98B9-15DFCAF97EB4}"/>
              </a:ext>
            </a:extLst>
          </p:cNvPr>
          <p:cNvSpPr/>
          <p:nvPr/>
        </p:nvSpPr>
        <p:spPr>
          <a:xfrm>
            <a:off x="6787113" y="3245614"/>
            <a:ext cx="1526660" cy="352086"/>
          </a:xfrm>
          <a:prstGeom prst="rightArrow">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稻壳儿搜索【幻雨工作室】__1">
            <a:extLst>
              <a:ext uri="{FF2B5EF4-FFF2-40B4-BE49-F238E27FC236}">
                <a16:creationId xmlns:a16="http://schemas.microsoft.com/office/drawing/2014/main" id="{D9FE0944-3B00-40DF-AA91-60AEB7C9E722}"/>
              </a:ext>
            </a:extLst>
          </p:cNvPr>
          <p:cNvSpPr>
            <a:spLocks noChangeArrowheads="1"/>
          </p:cNvSpPr>
          <p:nvPr/>
        </p:nvSpPr>
        <p:spPr bwMode="auto">
          <a:xfrm>
            <a:off x="382815" y="334907"/>
            <a:ext cx="841148" cy="838935"/>
          </a:xfrm>
          <a:prstGeom prst="ellipse">
            <a:avLst/>
          </a:prstGeom>
          <a:solidFill>
            <a:schemeClr val="accent1"/>
          </a:solidFill>
          <a:ln w="76200">
            <a:noFill/>
          </a:ln>
        </p:spPr>
        <p:txBody>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lnSpc>
                <a:spcPct val="120000"/>
              </a:lnSpc>
            </a:pPr>
            <a:r>
              <a:rPr lang="en-US" altLang="zh-CN" sz="2800" b="1">
                <a:solidFill>
                  <a:schemeClr val="bg1"/>
                </a:solidFill>
                <a:ea typeface="微软雅黑" panose="020B0503020204020204" pitchFamily="34" charset="-122"/>
                <a:cs typeface="Arial" panose="020B0604020202020204" pitchFamily="34" charset="0"/>
              </a:rPr>
              <a:t>01</a:t>
            </a:r>
            <a:endParaRPr lang="zh-CN" altLang="en-US" sz="2800" b="1" dirty="0">
              <a:solidFill>
                <a:schemeClr val="bg1"/>
              </a:solidFill>
              <a:ea typeface="微软雅黑" panose="020B0503020204020204" pitchFamily="34" charset="-122"/>
              <a:cs typeface="Arial" panose="020B0604020202020204" pitchFamily="34" charset="0"/>
            </a:endParaRPr>
          </a:p>
        </p:txBody>
      </p:sp>
      <p:sp>
        <p:nvSpPr>
          <p:cNvPr id="69" name="稻壳儿搜索【幻雨工作室】__2">
            <a:extLst>
              <a:ext uri="{FF2B5EF4-FFF2-40B4-BE49-F238E27FC236}">
                <a16:creationId xmlns:a16="http://schemas.microsoft.com/office/drawing/2014/main" id="{086D702B-2401-44B9-B91D-B73182798FF2}"/>
              </a:ext>
            </a:extLst>
          </p:cNvPr>
          <p:cNvSpPr/>
          <p:nvPr/>
        </p:nvSpPr>
        <p:spPr>
          <a:xfrm>
            <a:off x="209550" y="171450"/>
            <a:ext cx="11772900" cy="6515100"/>
          </a:xfrm>
          <a:prstGeom prst="roundRect">
            <a:avLst>
              <a:gd name="adj" fmla="val 2827"/>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稻壳儿搜索【幻雨工作室】__2">
            <a:extLst>
              <a:ext uri="{FF2B5EF4-FFF2-40B4-BE49-F238E27FC236}">
                <a16:creationId xmlns:a16="http://schemas.microsoft.com/office/drawing/2014/main" id="{579731AE-6C87-46B5-BAC3-570262B42B03}"/>
              </a:ext>
            </a:extLst>
          </p:cNvPr>
          <p:cNvSpPr txBox="1">
            <a:spLocks noChangeArrowheads="1"/>
          </p:cNvSpPr>
          <p:nvPr/>
        </p:nvSpPr>
        <p:spPr bwMode="auto">
          <a:xfrm>
            <a:off x="1250428" y="408204"/>
            <a:ext cx="2909448" cy="646331"/>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algn="r"/>
            <a:r>
              <a:rPr lang="en-US" altLang="zh-CN" sz="3600" b="1" dirty="0" smtClean="0">
                <a:solidFill>
                  <a:schemeClr val="tx1">
                    <a:lumMod val="75000"/>
                    <a:lumOff val="25000"/>
                  </a:schemeClr>
                </a:solidFill>
                <a:latin typeface="+mn-ea"/>
              </a:rPr>
              <a:t>Background</a:t>
            </a:r>
            <a:endParaRPr lang="en-US" altLang="zh-CN" sz="3600" b="1" dirty="0">
              <a:solidFill>
                <a:schemeClr val="tx1">
                  <a:lumMod val="75000"/>
                  <a:lumOff val="25000"/>
                </a:schemeClr>
              </a:solidFill>
              <a:latin typeface="+mn-ea"/>
            </a:endParaRPr>
          </a:p>
        </p:txBody>
      </p:sp>
    </p:spTree>
    <p:extLst>
      <p:ext uri="{BB962C8B-B14F-4D97-AF65-F5344CB8AC3E}">
        <p14:creationId xmlns:p14="http://schemas.microsoft.com/office/powerpoint/2010/main" val="3390502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稻壳儿搜索【幻雨工作室】__1">
            <a:extLst>
              <a:ext uri="{FF2B5EF4-FFF2-40B4-BE49-F238E27FC236}">
                <a16:creationId xmlns:a16="http://schemas.microsoft.com/office/drawing/2014/main" id="{8CE98E44-6239-4130-BF5E-E392F22F7BE1}"/>
              </a:ext>
            </a:extLst>
          </p:cNvPr>
          <p:cNvSpPr>
            <a:spLocks noChangeArrowheads="1"/>
          </p:cNvSpPr>
          <p:nvPr/>
        </p:nvSpPr>
        <p:spPr bwMode="auto">
          <a:xfrm>
            <a:off x="382815" y="334907"/>
            <a:ext cx="841148" cy="838935"/>
          </a:xfrm>
          <a:prstGeom prst="ellipse">
            <a:avLst/>
          </a:prstGeom>
          <a:solidFill>
            <a:schemeClr val="accent1"/>
          </a:solidFill>
          <a:ln w="76200">
            <a:noFill/>
          </a:ln>
        </p:spPr>
        <p:txBody>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lnSpc>
                <a:spcPct val="120000"/>
              </a:lnSpc>
            </a:pPr>
            <a:r>
              <a:rPr lang="en-US" altLang="zh-CN" sz="2800" b="1" dirty="0">
                <a:solidFill>
                  <a:schemeClr val="bg1"/>
                </a:solidFill>
                <a:ea typeface="微软雅黑" panose="020B0503020204020204" pitchFamily="34" charset="-122"/>
                <a:cs typeface="Arial" panose="020B0604020202020204" pitchFamily="34" charset="0"/>
              </a:rPr>
              <a:t>01</a:t>
            </a:r>
            <a:endParaRPr lang="zh-CN" altLang="en-US" sz="2800" b="1" dirty="0">
              <a:solidFill>
                <a:schemeClr val="bg1"/>
              </a:solidFill>
              <a:ea typeface="微软雅黑" panose="020B0503020204020204" pitchFamily="34" charset="-122"/>
              <a:cs typeface="Arial" panose="020B0604020202020204" pitchFamily="34" charset="0"/>
            </a:endParaRPr>
          </a:p>
        </p:txBody>
      </p:sp>
      <p:sp>
        <p:nvSpPr>
          <p:cNvPr id="7" name="稻壳儿搜索【幻雨工作室】__9">
            <a:extLst>
              <a:ext uri="{FF2B5EF4-FFF2-40B4-BE49-F238E27FC236}">
                <a16:creationId xmlns:a16="http://schemas.microsoft.com/office/drawing/2014/main" id="{0AC3ABD3-164E-4C80-87BC-212918E633A1}"/>
              </a:ext>
            </a:extLst>
          </p:cNvPr>
          <p:cNvSpPr/>
          <p:nvPr/>
        </p:nvSpPr>
        <p:spPr>
          <a:xfrm>
            <a:off x="382815" y="2341558"/>
            <a:ext cx="4416012" cy="615040"/>
          </a:xfrm>
          <a:prstGeom prst="rect">
            <a:avLst/>
          </a:prstGeom>
        </p:spPr>
        <p:txBody>
          <a:bodyPr wrap="square">
            <a:spAutoFit/>
          </a:bodyPr>
          <a:lstStyle/>
          <a:p>
            <a:pPr>
              <a:lnSpc>
                <a:spcPct val="200000"/>
              </a:lnSpc>
            </a:pPr>
            <a:r>
              <a:rPr lang="en-US" altLang="zh-CN" sz="2000" dirty="0" smtClean="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3 point</a:t>
            </a:r>
            <a:r>
              <a:rPr lang="zh-CN" altLang="en-US" sz="2000" dirty="0" smtClean="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 </a:t>
            </a:r>
            <a:endParaRPr lang="en-US" altLang="zh-CN" dirty="0">
              <a:latin typeface="微软雅黑" panose="020B0503020204020204" pitchFamily="34" charset="-122"/>
              <a:ea typeface="微软雅黑" panose="020B0503020204020204" pitchFamily="34" charset="-122"/>
            </a:endParaRPr>
          </a:p>
        </p:txBody>
      </p:sp>
      <p:grpSp>
        <p:nvGrpSpPr>
          <p:cNvPr id="5" name="组合 4">
            <a:extLst>
              <a:ext uri="{FF2B5EF4-FFF2-40B4-BE49-F238E27FC236}">
                <a16:creationId xmlns:a16="http://schemas.microsoft.com/office/drawing/2014/main" id="{5EC51B16-5864-4120-A949-B4ED1DACE5BF}"/>
              </a:ext>
            </a:extLst>
          </p:cNvPr>
          <p:cNvGrpSpPr/>
          <p:nvPr/>
        </p:nvGrpSpPr>
        <p:grpSpPr>
          <a:xfrm>
            <a:off x="4254705" y="3208720"/>
            <a:ext cx="3960000" cy="2447280"/>
            <a:chOff x="210002" y="3056797"/>
            <a:chExt cx="3960000" cy="2447280"/>
          </a:xfrm>
        </p:grpSpPr>
        <p:sp>
          <p:nvSpPr>
            <p:cNvPr id="8" name="矩形: 圆角 2">
              <a:extLst>
                <a:ext uri="{FF2B5EF4-FFF2-40B4-BE49-F238E27FC236}">
                  <a16:creationId xmlns:a16="http://schemas.microsoft.com/office/drawing/2014/main" id="{D2BA7ACC-C3DD-4A53-87AB-ABF28FD620BA}"/>
                </a:ext>
              </a:extLst>
            </p:cNvPr>
            <p:cNvSpPr>
              <a:spLocks noChangeAspect="1"/>
            </p:cNvSpPr>
            <p:nvPr/>
          </p:nvSpPr>
          <p:spPr>
            <a:xfrm>
              <a:off x="210002" y="3056797"/>
              <a:ext cx="3960000" cy="2447280"/>
            </a:xfrm>
            <a:prstGeom prst="roundRect">
              <a:avLst/>
            </a:prstGeom>
            <a:gradFill>
              <a:gsLst>
                <a:gs pos="100000">
                  <a:schemeClr val="accent1">
                    <a:lumMod val="5000"/>
                    <a:lumOff val="95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noFill/>
              </a:endParaRPr>
            </a:p>
          </p:txBody>
        </p:sp>
        <p:sp>
          <p:nvSpPr>
            <p:cNvPr id="9" name="文本框 8">
              <a:extLst>
                <a:ext uri="{FF2B5EF4-FFF2-40B4-BE49-F238E27FC236}">
                  <a16:creationId xmlns:a16="http://schemas.microsoft.com/office/drawing/2014/main" id="{F38B2A53-336D-4C71-9A62-4A5D9DAEA49F}"/>
                </a:ext>
              </a:extLst>
            </p:cNvPr>
            <p:cNvSpPr txBox="1"/>
            <p:nvPr/>
          </p:nvSpPr>
          <p:spPr>
            <a:xfrm>
              <a:off x="390002" y="3124287"/>
              <a:ext cx="3600000" cy="126957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700" dirty="0">
                  <a:latin typeface="微软雅黑" panose="020B0503020204020204" pitchFamily="34" charset="-122"/>
                  <a:ea typeface="微软雅黑" panose="020B0503020204020204" pitchFamily="34" charset="-122"/>
                </a:rPr>
                <a:t>深低温条件下的逻辑门测试</a:t>
              </a:r>
              <a:endParaRPr lang="en-US" altLang="zh-CN" sz="1700" dirty="0">
                <a:latin typeface="微软雅黑" panose="020B0503020204020204" pitchFamily="34" charset="-122"/>
                <a:ea typeface="微软雅黑" panose="020B0503020204020204" pitchFamily="34" charset="-122"/>
              </a:endParaRPr>
            </a:p>
            <a:p>
              <a:pPr>
                <a:lnSpc>
                  <a:spcPct val="150000"/>
                </a:lnSpc>
              </a:pPr>
              <a:r>
                <a:rPr lang="en-US" altLang="zh-CN" sz="1700" kern="1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700" kern="100" dirty="0">
                  <a:latin typeface="微软雅黑" panose="020B0503020204020204" pitchFamily="34" charset="-122"/>
                  <a:ea typeface="微软雅黑" panose="020B0503020204020204" pitchFamily="34" charset="-122"/>
                  <a:cs typeface="Times New Roman" panose="02020603050405020304" pitchFamily="18" charset="0"/>
                </a:rPr>
                <a:t>逻辑门是量子控制电路的重要组成部分，</a:t>
              </a:r>
              <a:r>
                <a:rPr lang="zh-CN" altLang="en-US" sz="1700" kern="100" dirty="0" smtClean="0">
                  <a:latin typeface="微软雅黑" panose="020B0503020204020204" pitchFamily="34" charset="-122"/>
                  <a:ea typeface="微软雅黑" panose="020B0503020204020204" pitchFamily="34" charset="-122"/>
                  <a:cs typeface="Times New Roman" panose="02020603050405020304" pitchFamily="18" charset="0"/>
                </a:rPr>
                <a:t>对。</a:t>
              </a:r>
              <a:endParaRPr lang="zh-CN" altLang="en-US" sz="1600" dirty="0">
                <a:latin typeface="微软雅黑" panose="020B0503020204020204" pitchFamily="34" charset="-122"/>
                <a:ea typeface="微软雅黑" panose="020B0503020204020204" pitchFamily="34" charset="-122"/>
              </a:endParaRPr>
            </a:p>
          </p:txBody>
        </p:sp>
      </p:grpSp>
      <p:grpSp>
        <p:nvGrpSpPr>
          <p:cNvPr id="10" name="组合 9">
            <a:extLst>
              <a:ext uri="{FF2B5EF4-FFF2-40B4-BE49-F238E27FC236}">
                <a16:creationId xmlns:a16="http://schemas.microsoft.com/office/drawing/2014/main" id="{90435403-87EC-49EC-A704-E08C04FE6848}"/>
              </a:ext>
            </a:extLst>
          </p:cNvPr>
          <p:cNvGrpSpPr/>
          <p:nvPr/>
        </p:nvGrpSpPr>
        <p:grpSpPr>
          <a:xfrm>
            <a:off x="277410" y="3209197"/>
            <a:ext cx="3960000" cy="2447280"/>
            <a:chOff x="210002" y="3056797"/>
            <a:chExt cx="3960000" cy="2447280"/>
          </a:xfrm>
        </p:grpSpPr>
        <p:sp>
          <p:nvSpPr>
            <p:cNvPr id="11" name="矩形: 圆角 26">
              <a:extLst>
                <a:ext uri="{FF2B5EF4-FFF2-40B4-BE49-F238E27FC236}">
                  <a16:creationId xmlns:a16="http://schemas.microsoft.com/office/drawing/2014/main" id="{2CD9C4C2-077D-425D-9FF9-E01706D42DD8}"/>
                </a:ext>
              </a:extLst>
            </p:cNvPr>
            <p:cNvSpPr>
              <a:spLocks noChangeAspect="1"/>
            </p:cNvSpPr>
            <p:nvPr/>
          </p:nvSpPr>
          <p:spPr>
            <a:xfrm>
              <a:off x="210002" y="3056797"/>
              <a:ext cx="3960000" cy="2447280"/>
            </a:xfrm>
            <a:prstGeom prst="roundRect">
              <a:avLst/>
            </a:prstGeom>
            <a:gradFill>
              <a:gsLst>
                <a:gs pos="100000">
                  <a:schemeClr val="accent1">
                    <a:lumMod val="5000"/>
                    <a:lumOff val="95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noFill/>
              </a:endParaRPr>
            </a:p>
          </p:txBody>
        </p:sp>
        <p:sp>
          <p:nvSpPr>
            <p:cNvPr id="12" name="文本框 11">
              <a:extLst>
                <a:ext uri="{FF2B5EF4-FFF2-40B4-BE49-F238E27FC236}">
                  <a16:creationId xmlns:a16="http://schemas.microsoft.com/office/drawing/2014/main" id="{F4B7DCAC-3F8A-48C0-8797-90E9FE9241FE}"/>
                </a:ext>
              </a:extLst>
            </p:cNvPr>
            <p:cNvSpPr txBox="1"/>
            <p:nvPr/>
          </p:nvSpPr>
          <p:spPr>
            <a:xfrm>
              <a:off x="390002" y="3124287"/>
              <a:ext cx="3600000" cy="87716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700" dirty="0">
                  <a:latin typeface="微软雅黑" panose="020B0503020204020204" pitchFamily="34" charset="-122"/>
                  <a:ea typeface="微软雅黑" panose="020B0503020204020204" pitchFamily="34" charset="-122"/>
                </a:rPr>
                <a:t>深低温环境下的器件建模</a:t>
              </a:r>
              <a:endParaRPr lang="en-US" altLang="zh-CN" sz="1700" dirty="0">
                <a:latin typeface="微软雅黑" panose="020B0503020204020204" pitchFamily="34" charset="-122"/>
                <a:ea typeface="微软雅黑" panose="020B0503020204020204" pitchFamily="34" charset="-122"/>
              </a:endParaRPr>
            </a:p>
            <a:p>
              <a:pPr indent="87313">
                <a:lnSpc>
                  <a:spcPct val="150000"/>
                </a:lnSpc>
              </a:pPr>
              <a:r>
                <a:rPr lang="en-US" altLang="zh-CN" sz="1700" dirty="0">
                  <a:latin typeface="微软雅黑" panose="020B0503020204020204" pitchFamily="34" charset="-122"/>
                  <a:ea typeface="微软雅黑" panose="020B0503020204020204" pitchFamily="34" charset="-122"/>
                </a:rPr>
                <a:t>     </a:t>
              </a:r>
              <a:r>
                <a:rPr lang="en-US" altLang="zh-CN" sz="1600" dirty="0" smtClean="0">
                  <a:latin typeface="微软雅黑" panose="020B0503020204020204" pitchFamily="34" charset="-122"/>
                  <a:ea typeface="微软雅黑" panose="020B0503020204020204" pitchFamily="34" charset="-122"/>
                </a:rPr>
                <a:t>     </a:t>
              </a:r>
              <a:r>
                <a:rPr lang="en-US" altLang="zh-CN" sz="1600" dirty="0" err="1" smtClean="0">
                  <a:latin typeface="微软雅黑" panose="020B0503020204020204" pitchFamily="34" charset="-122"/>
                  <a:ea typeface="微软雅黑" panose="020B0503020204020204" pitchFamily="34" charset="-122"/>
                </a:rPr>
                <a:t>dwe</a:t>
              </a:r>
              <a:endParaRPr lang="zh-CN" altLang="en-US" sz="1600" dirty="0">
                <a:latin typeface="微软雅黑" panose="020B0503020204020204" pitchFamily="34" charset="-122"/>
                <a:ea typeface="微软雅黑" panose="020B0503020204020204" pitchFamily="34" charset="-122"/>
              </a:endParaRPr>
            </a:p>
          </p:txBody>
        </p:sp>
      </p:grpSp>
      <p:grpSp>
        <p:nvGrpSpPr>
          <p:cNvPr id="13" name="组合 12">
            <a:extLst>
              <a:ext uri="{FF2B5EF4-FFF2-40B4-BE49-F238E27FC236}">
                <a16:creationId xmlns:a16="http://schemas.microsoft.com/office/drawing/2014/main" id="{4FD54EEB-F83F-454C-9B7D-F76965807D74}"/>
              </a:ext>
            </a:extLst>
          </p:cNvPr>
          <p:cNvGrpSpPr/>
          <p:nvPr/>
        </p:nvGrpSpPr>
        <p:grpSpPr>
          <a:xfrm>
            <a:off x="8232000" y="3208243"/>
            <a:ext cx="3960000" cy="2447280"/>
            <a:chOff x="210002" y="3056797"/>
            <a:chExt cx="3960000" cy="2447280"/>
          </a:xfrm>
        </p:grpSpPr>
        <p:sp>
          <p:nvSpPr>
            <p:cNvPr id="14" name="矩形: 圆角 29">
              <a:extLst>
                <a:ext uri="{FF2B5EF4-FFF2-40B4-BE49-F238E27FC236}">
                  <a16:creationId xmlns:a16="http://schemas.microsoft.com/office/drawing/2014/main" id="{F8DF56FF-FC17-406B-814E-8FA5D75CD397}"/>
                </a:ext>
              </a:extLst>
            </p:cNvPr>
            <p:cNvSpPr>
              <a:spLocks noChangeAspect="1"/>
            </p:cNvSpPr>
            <p:nvPr/>
          </p:nvSpPr>
          <p:spPr>
            <a:xfrm>
              <a:off x="210002" y="3056797"/>
              <a:ext cx="3960000" cy="2447280"/>
            </a:xfrm>
            <a:prstGeom prst="roundRect">
              <a:avLst/>
            </a:prstGeom>
            <a:gradFill>
              <a:gsLst>
                <a:gs pos="100000">
                  <a:schemeClr val="accent1">
                    <a:lumMod val="5000"/>
                    <a:lumOff val="95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noFill/>
              </a:endParaRPr>
            </a:p>
          </p:txBody>
        </p:sp>
        <p:sp>
          <p:nvSpPr>
            <p:cNvPr id="15" name="文本框 14">
              <a:extLst>
                <a:ext uri="{FF2B5EF4-FFF2-40B4-BE49-F238E27FC236}">
                  <a16:creationId xmlns:a16="http://schemas.microsoft.com/office/drawing/2014/main" id="{85FE7533-5AF6-4CC4-81A6-F569482E6C98}"/>
                </a:ext>
              </a:extLst>
            </p:cNvPr>
            <p:cNvSpPr txBox="1"/>
            <p:nvPr/>
          </p:nvSpPr>
          <p:spPr>
            <a:xfrm>
              <a:off x="390002" y="3124287"/>
              <a:ext cx="3600000" cy="200817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700" dirty="0">
                  <a:latin typeface="微软雅黑" panose="020B0503020204020204" pitchFamily="34" charset="-122"/>
                  <a:ea typeface="微软雅黑" panose="020B0503020204020204" pitchFamily="34" charset="-122"/>
                </a:rPr>
                <a:t>对控制电路的基本单元进行仿真</a:t>
              </a:r>
              <a:endParaRPr lang="en-US" altLang="zh-CN" sz="1700" dirty="0">
                <a:latin typeface="微软雅黑" panose="020B0503020204020204" pitchFamily="34" charset="-122"/>
                <a:ea typeface="微软雅黑" panose="020B0503020204020204" pitchFamily="34" charset="-122"/>
              </a:endParaRPr>
            </a:p>
            <a:p>
              <a:pPr indent="87313">
                <a:lnSpc>
                  <a:spcPct val="150000"/>
                </a:lnSpc>
              </a:pPr>
              <a:r>
                <a:rPr lang="en-US" altLang="zh-CN" sz="17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700" dirty="0">
                  <a:effectLst/>
                  <a:latin typeface="微软雅黑" panose="020B0503020204020204" pitchFamily="34" charset="-122"/>
                  <a:ea typeface="微软雅黑" panose="020B0503020204020204" pitchFamily="34" charset="-122"/>
                  <a:cs typeface="Times New Roman" panose="02020603050405020304" pitchFamily="18" charset="0"/>
                </a:rPr>
                <a:t>根据参考文献，对量子控制电路模拟端的</a:t>
              </a:r>
              <a:r>
                <a:rPr lang="en-US" altLang="zh-CN" sz="1700" dirty="0">
                  <a:effectLst/>
                  <a:latin typeface="微软雅黑" panose="020B0503020204020204" pitchFamily="34" charset="-122"/>
                  <a:ea typeface="微软雅黑" panose="020B0503020204020204" pitchFamily="34" charset="-122"/>
                  <a:cs typeface="Times New Roman" panose="02020603050405020304" pitchFamily="18" charset="0"/>
                </a:rPr>
                <a:t>VGA</a:t>
              </a:r>
              <a:r>
                <a:rPr lang="zh-CN" altLang="en-US" sz="1700" dirty="0">
                  <a:effectLst/>
                  <a:latin typeface="微软雅黑" panose="020B0503020204020204" pitchFamily="34" charset="-122"/>
                  <a:ea typeface="微软雅黑" panose="020B0503020204020204" pitchFamily="34" charset="-122"/>
                  <a:cs typeface="Times New Roman" panose="02020603050405020304" pitchFamily="18" charset="0"/>
                </a:rPr>
                <a:t>，重建滤波器等元件进行建模与仿真，验证电路的有效性并尝试进行改进。</a:t>
              </a:r>
              <a:endParaRPr lang="zh-CN" altLang="en-US" sz="17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6" name="稻壳儿搜索【幻雨工作室】__2">
            <a:extLst>
              <a:ext uri="{FF2B5EF4-FFF2-40B4-BE49-F238E27FC236}">
                <a16:creationId xmlns:a16="http://schemas.microsoft.com/office/drawing/2014/main" id="{579731AE-6C87-46B5-BAC3-570262B42B03}"/>
              </a:ext>
            </a:extLst>
          </p:cNvPr>
          <p:cNvSpPr txBox="1">
            <a:spLocks noChangeArrowheads="1"/>
          </p:cNvSpPr>
          <p:nvPr/>
        </p:nvSpPr>
        <p:spPr bwMode="auto">
          <a:xfrm>
            <a:off x="1250428" y="408204"/>
            <a:ext cx="2909448" cy="646331"/>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algn="r"/>
            <a:r>
              <a:rPr lang="en-US" altLang="zh-CN" sz="3600" b="1" dirty="0" smtClean="0">
                <a:solidFill>
                  <a:schemeClr val="tx1">
                    <a:lumMod val="75000"/>
                    <a:lumOff val="25000"/>
                  </a:schemeClr>
                </a:solidFill>
                <a:latin typeface="+mn-ea"/>
              </a:rPr>
              <a:t>Background</a:t>
            </a:r>
            <a:endParaRPr lang="en-US" altLang="zh-CN" sz="3600" b="1" dirty="0">
              <a:solidFill>
                <a:schemeClr val="tx1">
                  <a:lumMod val="75000"/>
                  <a:lumOff val="25000"/>
                </a:schemeClr>
              </a:solidFill>
              <a:latin typeface="+mn-ea"/>
            </a:endParaRPr>
          </a:p>
        </p:txBody>
      </p:sp>
    </p:spTree>
    <p:custDataLst>
      <p:tags r:id="rId1"/>
    </p:custDataLst>
    <p:extLst>
      <p:ext uri="{BB962C8B-B14F-4D97-AF65-F5344CB8AC3E}">
        <p14:creationId xmlns:p14="http://schemas.microsoft.com/office/powerpoint/2010/main" val="820691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稻壳儿搜索【幻雨工作室】__1">
            <a:extLst>
              <a:ext uri="{FF2B5EF4-FFF2-40B4-BE49-F238E27FC236}">
                <a16:creationId xmlns:a16="http://schemas.microsoft.com/office/drawing/2014/main" id="{8CE98E44-6239-4130-BF5E-E392F22F7BE1}"/>
              </a:ext>
            </a:extLst>
          </p:cNvPr>
          <p:cNvSpPr>
            <a:spLocks noChangeArrowheads="1"/>
          </p:cNvSpPr>
          <p:nvPr/>
        </p:nvSpPr>
        <p:spPr bwMode="auto">
          <a:xfrm>
            <a:off x="382815" y="334907"/>
            <a:ext cx="841148" cy="838935"/>
          </a:xfrm>
          <a:prstGeom prst="ellipse">
            <a:avLst/>
          </a:prstGeom>
          <a:solidFill>
            <a:schemeClr val="accent1"/>
          </a:solidFill>
          <a:ln w="76200">
            <a:noFill/>
          </a:ln>
        </p:spPr>
        <p:txBody>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lnSpc>
                <a:spcPct val="120000"/>
              </a:lnSpc>
            </a:pPr>
            <a:r>
              <a:rPr lang="en-US" altLang="zh-CN" sz="2800" b="1" dirty="0">
                <a:solidFill>
                  <a:schemeClr val="bg1"/>
                </a:solidFill>
                <a:ea typeface="微软雅黑" panose="020B0503020204020204" pitchFamily="34" charset="-122"/>
                <a:cs typeface="Arial" panose="020B0604020202020204" pitchFamily="34" charset="0"/>
              </a:rPr>
              <a:t>01</a:t>
            </a:r>
            <a:endParaRPr lang="zh-CN" altLang="en-US" sz="2800" b="1" dirty="0">
              <a:solidFill>
                <a:schemeClr val="bg1"/>
              </a:solidFill>
              <a:ea typeface="微软雅黑" panose="020B0503020204020204" pitchFamily="34" charset="-122"/>
              <a:cs typeface="Arial" panose="020B0604020202020204" pitchFamily="34" charset="0"/>
            </a:endParaRPr>
          </a:p>
        </p:txBody>
      </p:sp>
      <p:sp>
        <p:nvSpPr>
          <p:cNvPr id="16" name="稻壳儿搜索【幻雨工作室】__2">
            <a:extLst>
              <a:ext uri="{FF2B5EF4-FFF2-40B4-BE49-F238E27FC236}">
                <a16:creationId xmlns:a16="http://schemas.microsoft.com/office/drawing/2014/main" id="{579731AE-6C87-46B5-BAC3-570262B42B03}"/>
              </a:ext>
            </a:extLst>
          </p:cNvPr>
          <p:cNvSpPr txBox="1">
            <a:spLocks noChangeArrowheads="1"/>
          </p:cNvSpPr>
          <p:nvPr/>
        </p:nvSpPr>
        <p:spPr bwMode="auto">
          <a:xfrm>
            <a:off x="1250428" y="408204"/>
            <a:ext cx="2909448" cy="646331"/>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algn="r"/>
            <a:r>
              <a:rPr lang="en-US" altLang="zh-CN" sz="3600" b="1" dirty="0" smtClean="0">
                <a:solidFill>
                  <a:schemeClr val="tx1">
                    <a:lumMod val="75000"/>
                    <a:lumOff val="25000"/>
                  </a:schemeClr>
                </a:solidFill>
                <a:latin typeface="+mn-ea"/>
              </a:rPr>
              <a:t>Background</a:t>
            </a:r>
            <a:endParaRPr lang="en-US" altLang="zh-CN" sz="3600" b="1" dirty="0">
              <a:solidFill>
                <a:schemeClr val="tx1">
                  <a:lumMod val="75000"/>
                  <a:lumOff val="25000"/>
                </a:schemeClr>
              </a:solidFill>
              <a:latin typeface="+mn-ea"/>
            </a:endParaRPr>
          </a:p>
        </p:txBody>
      </p:sp>
      <p:sp>
        <p:nvSpPr>
          <p:cNvPr id="17" name="矩形 16">
            <a:extLst>
              <a:ext uri="{FF2B5EF4-FFF2-40B4-BE49-F238E27FC236}">
                <a16:creationId xmlns:a16="http://schemas.microsoft.com/office/drawing/2014/main" id="{794ACEAF-B02E-4970-9F0B-E8539FFDB6C4}"/>
              </a:ext>
            </a:extLst>
          </p:cNvPr>
          <p:cNvSpPr/>
          <p:nvPr/>
        </p:nvSpPr>
        <p:spPr>
          <a:xfrm>
            <a:off x="3579368" y="2492441"/>
            <a:ext cx="7883967" cy="2186422"/>
          </a:xfrm>
          <a:prstGeom prst="rect">
            <a:avLst/>
          </a:prstGeom>
          <a:solidFill>
            <a:srgbClr val="A90B07">
              <a:alpha val="2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Object 8">
            <a:extLst>
              <a:ext uri="{FF2B5EF4-FFF2-40B4-BE49-F238E27FC236}">
                <a16:creationId xmlns:a16="http://schemas.microsoft.com/office/drawing/2014/main" id="{1C0A5B1B-A260-4A08-A540-67642623775F}"/>
              </a:ext>
            </a:extLst>
          </p:cNvPr>
          <p:cNvSpPr/>
          <p:nvPr/>
        </p:nvSpPr>
        <p:spPr>
          <a:xfrm>
            <a:off x="4108493" y="2676528"/>
            <a:ext cx="6457908" cy="320672"/>
          </a:xfrm>
          <a:prstGeom prst="rect">
            <a:avLst/>
          </a:prstGeom>
          <a:noFill/>
        </p:spPr>
        <p:txBody>
          <a:bodyPr wrap="square" lIns="0" tIns="0" rIns="0" bIns="0" rtlCol="0" anchor="t"/>
          <a:lstStyle/>
          <a:p>
            <a:pPr algn="l">
              <a:lnSpc>
                <a:spcPts val="2574"/>
              </a:lnSpc>
              <a:spcAft>
                <a:spcPts val="600"/>
              </a:spcAft>
              <a:buNone/>
            </a:pPr>
            <a:r>
              <a:rPr lang="en-US" sz="2100" dirty="0">
                <a:solidFill>
                  <a:srgbClr val="333333"/>
                </a:solidFill>
                <a:latin typeface="+mn-ea"/>
                <a:cs typeface="Times New Roman" panose="02020603050405020304" pitchFamily="18" charset="0"/>
              </a:rPr>
              <a:t>Define and implement synchronization among tasks</a:t>
            </a:r>
            <a:endParaRPr lang="en-US" dirty="0">
              <a:latin typeface="+mn-ea"/>
              <a:cs typeface="Times New Roman" panose="02020603050405020304" pitchFamily="18" charset="0"/>
            </a:endParaRPr>
          </a:p>
        </p:txBody>
      </p:sp>
      <p:sp>
        <p:nvSpPr>
          <p:cNvPr id="19" name="Object 11">
            <a:extLst>
              <a:ext uri="{FF2B5EF4-FFF2-40B4-BE49-F238E27FC236}">
                <a16:creationId xmlns:a16="http://schemas.microsoft.com/office/drawing/2014/main" id="{C23DC419-D5CF-4DF9-A720-D03979C3F313}"/>
              </a:ext>
            </a:extLst>
          </p:cNvPr>
          <p:cNvSpPr/>
          <p:nvPr/>
        </p:nvSpPr>
        <p:spPr>
          <a:xfrm>
            <a:off x="4108493" y="3585652"/>
            <a:ext cx="4028610" cy="340286"/>
          </a:xfrm>
          <a:prstGeom prst="rect">
            <a:avLst/>
          </a:prstGeom>
          <a:noFill/>
        </p:spPr>
        <p:txBody>
          <a:bodyPr wrap="square" lIns="0" tIns="0" rIns="0" bIns="0" rtlCol="0" anchor="t"/>
          <a:lstStyle/>
          <a:p>
            <a:pPr algn="l">
              <a:lnSpc>
                <a:spcPts val="2574"/>
              </a:lnSpc>
              <a:spcAft>
                <a:spcPts val="600"/>
              </a:spcAft>
              <a:buNone/>
            </a:pPr>
            <a:r>
              <a:rPr lang="en-US" sz="2100" dirty="0">
                <a:solidFill>
                  <a:srgbClr val="333333"/>
                </a:solidFill>
                <a:latin typeface="+mn-ea"/>
                <a:cs typeface="Times New Roman" panose="02020603050405020304" pitchFamily="18" charset="0"/>
              </a:rPr>
              <a:t>Compose parallel tasks</a:t>
            </a:r>
            <a:endParaRPr lang="en-US" dirty="0">
              <a:latin typeface="+mn-ea"/>
              <a:cs typeface="Times New Roman" panose="02020603050405020304" pitchFamily="18" charset="0"/>
            </a:endParaRPr>
          </a:p>
        </p:txBody>
      </p:sp>
      <p:sp>
        <p:nvSpPr>
          <p:cNvPr id="20" name="Object 13">
            <a:extLst>
              <a:ext uri="{FF2B5EF4-FFF2-40B4-BE49-F238E27FC236}">
                <a16:creationId xmlns:a16="http://schemas.microsoft.com/office/drawing/2014/main" id="{028C41EE-76C2-48CD-8AC3-7AD40013A8D2}"/>
              </a:ext>
            </a:extLst>
          </p:cNvPr>
          <p:cNvSpPr/>
          <p:nvPr/>
        </p:nvSpPr>
        <p:spPr>
          <a:xfrm>
            <a:off x="4108493" y="4170798"/>
            <a:ext cx="2990808" cy="343592"/>
          </a:xfrm>
          <a:prstGeom prst="rect">
            <a:avLst/>
          </a:prstGeom>
          <a:noFill/>
        </p:spPr>
        <p:txBody>
          <a:bodyPr wrap="square" lIns="0" tIns="0" rIns="0" bIns="0" rtlCol="0" anchor="t"/>
          <a:lstStyle/>
          <a:p>
            <a:pPr algn="l">
              <a:lnSpc>
                <a:spcPts val="2574"/>
              </a:lnSpc>
              <a:spcAft>
                <a:spcPts val="600"/>
              </a:spcAft>
              <a:buNone/>
            </a:pPr>
            <a:r>
              <a:rPr lang="en-US" sz="2100" dirty="0">
                <a:solidFill>
                  <a:srgbClr val="333333"/>
                </a:solidFill>
                <a:latin typeface="+mn-ea"/>
                <a:cs typeface="Times New Roman" panose="02020603050405020304" pitchFamily="18" charset="0"/>
              </a:rPr>
              <a:t>Recover from errors</a:t>
            </a:r>
            <a:endParaRPr lang="en-US" dirty="0">
              <a:latin typeface="+mn-ea"/>
              <a:cs typeface="Times New Roman" panose="02020603050405020304" pitchFamily="18" charset="0"/>
            </a:endParaRPr>
          </a:p>
        </p:txBody>
      </p:sp>
      <p:sp>
        <p:nvSpPr>
          <p:cNvPr id="21" name="Object 12">
            <a:extLst>
              <a:ext uri="{FF2B5EF4-FFF2-40B4-BE49-F238E27FC236}">
                <a16:creationId xmlns:a16="http://schemas.microsoft.com/office/drawing/2014/main" id="{E772384E-FC6D-448F-AA50-C28A32B601F8}"/>
              </a:ext>
            </a:extLst>
          </p:cNvPr>
          <p:cNvSpPr/>
          <p:nvPr/>
        </p:nvSpPr>
        <p:spPr>
          <a:xfrm>
            <a:off x="3801982" y="4283784"/>
            <a:ext cx="95988" cy="95988"/>
          </a:xfrm>
          <a:prstGeom prst="ellipse">
            <a:avLst/>
          </a:prstGeom>
          <a:solidFill>
            <a:schemeClr val="bg2">
              <a:lumMod val="25000"/>
            </a:schemeClr>
          </a:solidFill>
        </p:spPr>
      </p:sp>
      <p:sp>
        <p:nvSpPr>
          <p:cNvPr id="22" name="Object 12">
            <a:extLst>
              <a:ext uri="{FF2B5EF4-FFF2-40B4-BE49-F238E27FC236}">
                <a16:creationId xmlns:a16="http://schemas.microsoft.com/office/drawing/2014/main" id="{E772384E-FC6D-448F-AA50-C28A32B601F8}"/>
              </a:ext>
            </a:extLst>
          </p:cNvPr>
          <p:cNvSpPr/>
          <p:nvPr/>
        </p:nvSpPr>
        <p:spPr>
          <a:xfrm>
            <a:off x="3796528" y="3679865"/>
            <a:ext cx="95988" cy="95988"/>
          </a:xfrm>
          <a:prstGeom prst="ellipse">
            <a:avLst/>
          </a:prstGeom>
          <a:solidFill>
            <a:schemeClr val="bg2">
              <a:lumMod val="25000"/>
            </a:schemeClr>
          </a:solidFill>
        </p:spPr>
      </p:sp>
      <p:sp>
        <p:nvSpPr>
          <p:cNvPr id="23" name="Object 12">
            <a:extLst>
              <a:ext uri="{FF2B5EF4-FFF2-40B4-BE49-F238E27FC236}">
                <a16:creationId xmlns:a16="http://schemas.microsoft.com/office/drawing/2014/main" id="{E772384E-FC6D-448F-AA50-C28A32B601F8}"/>
              </a:ext>
            </a:extLst>
          </p:cNvPr>
          <p:cNvSpPr/>
          <p:nvPr/>
        </p:nvSpPr>
        <p:spPr>
          <a:xfrm>
            <a:off x="3801883" y="2782304"/>
            <a:ext cx="95988" cy="95988"/>
          </a:xfrm>
          <a:prstGeom prst="ellipse">
            <a:avLst/>
          </a:prstGeom>
          <a:solidFill>
            <a:schemeClr val="bg2">
              <a:lumMod val="25000"/>
            </a:schemeClr>
          </a:solidFill>
        </p:spPr>
      </p:sp>
      <p:sp>
        <p:nvSpPr>
          <p:cNvPr id="24" name="文本框 23">
            <a:extLst>
              <a:ext uri="{FF2B5EF4-FFF2-40B4-BE49-F238E27FC236}">
                <a16:creationId xmlns:a16="http://schemas.microsoft.com/office/drawing/2014/main" id="{F37F96A1-296E-49AE-A3E0-ED67D2B5358A}"/>
              </a:ext>
            </a:extLst>
          </p:cNvPr>
          <p:cNvSpPr txBox="1"/>
          <p:nvPr/>
        </p:nvSpPr>
        <p:spPr>
          <a:xfrm>
            <a:off x="8137102" y="4118020"/>
            <a:ext cx="3142197" cy="446276"/>
          </a:xfrm>
          <a:prstGeom prst="rect">
            <a:avLst/>
          </a:prstGeom>
          <a:noFill/>
        </p:spPr>
        <p:txBody>
          <a:bodyPr vert="horz" wrap="square" rtlCol="0">
            <a:spAutoFit/>
          </a:bodyPr>
          <a:lstStyle>
            <a:defPPr>
              <a:defRPr lang="zh-CN"/>
            </a:defPPr>
            <a:lvl1pPr>
              <a:defRPr sz="2000">
                <a:solidFill>
                  <a:schemeClr val="bg1"/>
                </a:solidFill>
                <a:latin typeface="Verdana" panose="020B0604030504040204" pitchFamily="34" charset="0"/>
                <a:ea typeface="Verdana" panose="020B0604030504040204" pitchFamily="34" charset="0"/>
              </a:defRPr>
            </a:lvl1pPr>
          </a:lstStyle>
          <a:p>
            <a:pPr algn="r"/>
            <a:r>
              <a:rPr lang="en-US" altLang="zh-CN" sz="2300" b="1" dirty="0">
                <a:solidFill>
                  <a:schemeClr val="tx1">
                    <a:lumMod val="75000"/>
                    <a:lumOff val="25000"/>
                  </a:schemeClr>
                </a:solidFill>
                <a:effectLst>
                  <a:outerShdw blurRad="38100" dist="38100" dir="2700000" algn="tl">
                    <a:srgbClr val="000000">
                      <a:alpha val="43137"/>
                    </a:srgbClr>
                  </a:outerShdw>
                </a:effectLst>
                <a:latin typeface="+mn-ea"/>
                <a:ea typeface="+mn-ea"/>
              </a:rPr>
              <a:t>Transactional Memory</a:t>
            </a:r>
          </a:p>
        </p:txBody>
      </p:sp>
    </p:spTree>
    <p:custDataLst>
      <p:tags r:id="rId1"/>
    </p:custDataLst>
    <p:extLst>
      <p:ext uri="{BB962C8B-B14F-4D97-AF65-F5344CB8AC3E}">
        <p14:creationId xmlns:p14="http://schemas.microsoft.com/office/powerpoint/2010/main" val="32435837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稻壳儿搜索【幻雨工作室】__1">
            <a:extLst>
              <a:ext uri="{FF2B5EF4-FFF2-40B4-BE49-F238E27FC236}">
                <a16:creationId xmlns:a16="http://schemas.microsoft.com/office/drawing/2014/main" id="{7D6BE628-9F1F-4A9E-9C43-710286B5DD1F}"/>
              </a:ext>
            </a:extLst>
          </p:cNvPr>
          <p:cNvSpPr>
            <a:spLocks noChangeArrowheads="1"/>
          </p:cNvSpPr>
          <p:nvPr/>
        </p:nvSpPr>
        <p:spPr bwMode="auto">
          <a:xfrm>
            <a:off x="382815" y="334907"/>
            <a:ext cx="841148" cy="838935"/>
          </a:xfrm>
          <a:prstGeom prst="ellipse">
            <a:avLst/>
          </a:prstGeom>
          <a:solidFill>
            <a:schemeClr val="accent1"/>
          </a:solidFill>
          <a:ln w="76200">
            <a:noFill/>
          </a:ln>
        </p:spPr>
        <p:txBody>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lnSpc>
                <a:spcPct val="120000"/>
              </a:lnSpc>
            </a:pPr>
            <a:r>
              <a:rPr lang="en-US" altLang="zh-CN" sz="2800" b="1" dirty="0">
                <a:solidFill>
                  <a:schemeClr val="bg1"/>
                </a:solidFill>
                <a:ea typeface="微软雅黑" panose="020B0503020204020204" pitchFamily="34" charset="-122"/>
                <a:cs typeface="Arial" panose="020B0604020202020204" pitchFamily="34" charset="0"/>
              </a:rPr>
              <a:t>02</a:t>
            </a:r>
            <a:endParaRPr lang="zh-CN" altLang="en-US" sz="2800" b="1" dirty="0">
              <a:solidFill>
                <a:schemeClr val="bg1"/>
              </a:solidFill>
              <a:ea typeface="微软雅黑" panose="020B0503020204020204" pitchFamily="34" charset="-122"/>
              <a:cs typeface="Arial" panose="020B0604020202020204" pitchFamily="34" charset="0"/>
            </a:endParaRPr>
          </a:p>
        </p:txBody>
      </p:sp>
      <p:sp>
        <p:nvSpPr>
          <p:cNvPr id="5" name="稻壳儿搜索【幻雨工作室】__2">
            <a:extLst>
              <a:ext uri="{FF2B5EF4-FFF2-40B4-BE49-F238E27FC236}">
                <a16:creationId xmlns:a16="http://schemas.microsoft.com/office/drawing/2014/main" id="{615DBE0D-2B10-4B13-81ED-94CE3AE1E6FB}"/>
              </a:ext>
            </a:extLst>
          </p:cNvPr>
          <p:cNvSpPr txBox="1">
            <a:spLocks noChangeArrowheads="1"/>
          </p:cNvSpPr>
          <p:nvPr/>
        </p:nvSpPr>
        <p:spPr bwMode="auto">
          <a:xfrm>
            <a:off x="1419721" y="431209"/>
            <a:ext cx="3845923" cy="1200329"/>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defTabSz="685800">
              <a:defRPr/>
            </a:pPr>
            <a:r>
              <a:rPr lang="en-US" altLang="zh-CN" sz="3600" dirty="0" smtClean="0">
                <a:solidFill>
                  <a:schemeClr val="accent1"/>
                </a:solidFill>
                <a:latin typeface="微软雅黑" panose="020B0503020204020204" pitchFamily="34" charset="-122"/>
                <a:ea typeface="微软雅黑" panose="020B0503020204020204" pitchFamily="34" charset="-122"/>
              </a:rPr>
              <a:t>Progress</a:t>
            </a:r>
            <a:endParaRPr lang="en-US" altLang="zh-CN" sz="3600" dirty="0">
              <a:solidFill>
                <a:schemeClr val="accent1"/>
              </a:solidFill>
              <a:latin typeface="微软雅黑" panose="020B0503020204020204" pitchFamily="34" charset="-122"/>
              <a:ea typeface="微软雅黑" panose="020B0503020204020204" pitchFamily="34" charset="-122"/>
            </a:endParaRPr>
          </a:p>
          <a:p>
            <a:pPr defTabSz="685800">
              <a:defRPr/>
            </a:pPr>
            <a:endParaRPr lang="en-US" altLang="zh-CN" sz="3600" dirty="0">
              <a:solidFill>
                <a:schemeClr val="accent1"/>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F87974EB-6AD8-48E0-BE7A-EEC0AECA39AA}"/>
              </a:ext>
            </a:extLst>
          </p:cNvPr>
          <p:cNvSpPr txBox="1"/>
          <p:nvPr/>
        </p:nvSpPr>
        <p:spPr>
          <a:xfrm>
            <a:off x="1520205" y="1200777"/>
            <a:ext cx="4469934" cy="371789"/>
          </a:xfrm>
          <a:prstGeom prst="rect">
            <a:avLst/>
          </a:prstGeom>
          <a:noFill/>
        </p:spPr>
        <p:txBody>
          <a:bodyPr wrap="square" rtlCol="0">
            <a:spAutoFit/>
          </a:bodyPr>
          <a:lstStyle/>
          <a:p>
            <a:r>
              <a:rPr lang="zh-CN" altLang="en-US" dirty="0"/>
              <a:t>深低温环境下的器件建模</a:t>
            </a:r>
            <a:r>
              <a:rPr lang="en-US" altLang="zh-CN" dirty="0"/>
              <a:t>——</a:t>
            </a:r>
            <a:r>
              <a:rPr lang="zh-CN" altLang="en-US" dirty="0"/>
              <a:t>电阻与电容</a:t>
            </a:r>
          </a:p>
        </p:txBody>
      </p:sp>
      <p:sp>
        <p:nvSpPr>
          <p:cNvPr id="13" name="文本框 12">
            <a:extLst>
              <a:ext uri="{FF2B5EF4-FFF2-40B4-BE49-F238E27FC236}">
                <a16:creationId xmlns:a16="http://schemas.microsoft.com/office/drawing/2014/main" id="{B1ACBC15-C489-4CC6-BFD3-904A4FA15C8F}"/>
              </a:ext>
            </a:extLst>
          </p:cNvPr>
          <p:cNvSpPr txBox="1"/>
          <p:nvPr/>
        </p:nvSpPr>
        <p:spPr>
          <a:xfrm>
            <a:off x="1223963" y="1766172"/>
            <a:ext cx="4230356" cy="369332"/>
          </a:xfrm>
          <a:prstGeom prst="rect">
            <a:avLst/>
          </a:prstGeom>
          <a:noFill/>
        </p:spPr>
        <p:txBody>
          <a:bodyPr wrap="square" rtlCol="0">
            <a:spAutoFit/>
          </a:bodyPr>
          <a:lstStyle/>
          <a:p>
            <a:pPr algn="ctr"/>
            <a:r>
              <a:rPr lang="zh-CN" altLang="en-US" dirty="0"/>
              <a:t>不同贴片电阻在低温下的测试结果</a:t>
            </a:r>
          </a:p>
        </p:txBody>
      </p:sp>
      <p:graphicFrame>
        <p:nvGraphicFramePr>
          <p:cNvPr id="2" name="表格 1"/>
          <p:cNvGraphicFramePr>
            <a:graphicFrameLocks noGrp="1"/>
          </p:cNvGraphicFramePr>
          <p:nvPr>
            <p:extLst>
              <p:ext uri="{D42A27DB-BD31-4B8C-83A1-F6EECF244321}">
                <p14:modId xmlns:p14="http://schemas.microsoft.com/office/powerpoint/2010/main" val="1340535604"/>
              </p:ext>
            </p:extLst>
          </p:nvPr>
        </p:nvGraphicFramePr>
        <p:xfrm>
          <a:off x="1495211" y="3914498"/>
          <a:ext cx="10039650" cy="2779916"/>
        </p:xfrm>
        <a:graphic>
          <a:graphicData uri="http://schemas.openxmlformats.org/drawingml/2006/table">
            <a:tbl>
              <a:tblPr firstRow="1" bandRow="1">
                <a:tableStyleId>{5C22544A-7EE6-4342-B048-85BDC9FD1C3A}</a:tableStyleId>
              </a:tblPr>
              <a:tblGrid>
                <a:gridCol w="2007930">
                  <a:extLst>
                    <a:ext uri="{9D8B030D-6E8A-4147-A177-3AD203B41FA5}">
                      <a16:colId xmlns:a16="http://schemas.microsoft.com/office/drawing/2014/main" val="1681100552"/>
                    </a:ext>
                  </a:extLst>
                </a:gridCol>
                <a:gridCol w="2007930">
                  <a:extLst>
                    <a:ext uri="{9D8B030D-6E8A-4147-A177-3AD203B41FA5}">
                      <a16:colId xmlns:a16="http://schemas.microsoft.com/office/drawing/2014/main" val="3642366207"/>
                    </a:ext>
                  </a:extLst>
                </a:gridCol>
                <a:gridCol w="2007930">
                  <a:extLst>
                    <a:ext uri="{9D8B030D-6E8A-4147-A177-3AD203B41FA5}">
                      <a16:colId xmlns:a16="http://schemas.microsoft.com/office/drawing/2014/main" val="3537762234"/>
                    </a:ext>
                  </a:extLst>
                </a:gridCol>
                <a:gridCol w="2007930">
                  <a:extLst>
                    <a:ext uri="{9D8B030D-6E8A-4147-A177-3AD203B41FA5}">
                      <a16:colId xmlns:a16="http://schemas.microsoft.com/office/drawing/2014/main" val="3550138294"/>
                    </a:ext>
                  </a:extLst>
                </a:gridCol>
                <a:gridCol w="2007930">
                  <a:extLst>
                    <a:ext uri="{9D8B030D-6E8A-4147-A177-3AD203B41FA5}">
                      <a16:colId xmlns:a16="http://schemas.microsoft.com/office/drawing/2014/main" val="1398931710"/>
                    </a:ext>
                  </a:extLst>
                </a:gridCol>
              </a:tblGrid>
              <a:tr h="694979">
                <a:tc>
                  <a:txBody>
                    <a:bodyPr/>
                    <a:lstStyle/>
                    <a:p>
                      <a:r>
                        <a:rPr lang="zh-CN" altLang="en-US" dirty="0" smtClean="0"/>
                        <a:t>电阻</a:t>
                      </a:r>
                      <a:endParaRPr lang="zh-CN" altLang="en-US" dirty="0"/>
                    </a:p>
                  </a:txBody>
                  <a:tcPr/>
                </a:tc>
                <a:tc>
                  <a:txBody>
                    <a:bodyPr/>
                    <a:lstStyle/>
                    <a:p>
                      <a:r>
                        <a:rPr lang="en-US" altLang="zh-CN" dirty="0" smtClean="0"/>
                        <a:t>4.2K</a:t>
                      </a:r>
                      <a:endParaRPr lang="zh-CN" altLang="en-US" dirty="0"/>
                    </a:p>
                  </a:txBody>
                  <a:tcPr/>
                </a:tc>
                <a:tc>
                  <a:txBody>
                    <a:bodyPr/>
                    <a:lstStyle/>
                    <a:p>
                      <a:r>
                        <a:rPr lang="en-US" altLang="zh-CN" dirty="0" smtClean="0"/>
                        <a:t>10K</a:t>
                      </a:r>
                      <a:endParaRPr lang="zh-CN" altLang="en-US" dirty="0"/>
                    </a:p>
                  </a:txBody>
                  <a:tcPr/>
                </a:tc>
                <a:tc>
                  <a:txBody>
                    <a:bodyPr/>
                    <a:lstStyle/>
                    <a:p>
                      <a:r>
                        <a:rPr lang="en-US" altLang="zh-CN" dirty="0" smtClean="0"/>
                        <a:t>100K</a:t>
                      </a:r>
                      <a:endParaRPr lang="zh-CN" altLang="en-US" dirty="0"/>
                    </a:p>
                  </a:txBody>
                  <a:tcPr/>
                </a:tc>
                <a:tc>
                  <a:txBody>
                    <a:bodyPr/>
                    <a:lstStyle/>
                    <a:p>
                      <a:r>
                        <a:rPr lang="en-US" altLang="zh-CN" dirty="0" smtClean="0"/>
                        <a:t>300K</a:t>
                      </a:r>
                      <a:endParaRPr lang="zh-CN" altLang="en-US" dirty="0"/>
                    </a:p>
                  </a:txBody>
                  <a:tcPr/>
                </a:tc>
                <a:extLst>
                  <a:ext uri="{0D108BD9-81ED-4DB2-BD59-A6C34878D82A}">
                    <a16:rowId xmlns:a16="http://schemas.microsoft.com/office/drawing/2014/main" val="291505970"/>
                  </a:ext>
                </a:extLst>
              </a:tr>
              <a:tr h="694979">
                <a:tc>
                  <a:txBody>
                    <a:bodyPr/>
                    <a:lstStyle/>
                    <a:p>
                      <a:r>
                        <a:rPr lang="en-US" altLang="zh-CN" dirty="0" smtClean="0"/>
                        <a:t>10MΩ</a:t>
                      </a:r>
                      <a:endParaRPr lang="zh-CN" altLang="en-US" dirty="0"/>
                    </a:p>
                  </a:txBody>
                  <a:tcPr/>
                </a:tc>
                <a:tc>
                  <a:txBody>
                    <a:bodyPr/>
                    <a:lstStyle/>
                    <a:p>
                      <a:r>
                        <a:rPr lang="en-US" altLang="zh-CN" dirty="0" smtClean="0"/>
                        <a:t>2.2x</a:t>
                      </a:r>
                      <a:endParaRPr lang="zh-CN" altLang="en-US" dirty="0"/>
                    </a:p>
                  </a:txBody>
                  <a:tcPr/>
                </a:tc>
                <a:tc>
                  <a:txBody>
                    <a:bodyPr/>
                    <a:lstStyle/>
                    <a:p>
                      <a:r>
                        <a:rPr lang="en-US" altLang="zh-CN" dirty="0" smtClean="0"/>
                        <a:t>1.5x</a:t>
                      </a:r>
                      <a:endParaRPr lang="zh-CN" altLang="en-US" dirty="0"/>
                    </a:p>
                  </a:txBody>
                  <a:tcPr/>
                </a:tc>
                <a:tc>
                  <a:txBody>
                    <a:bodyPr/>
                    <a:lstStyle/>
                    <a:p>
                      <a:r>
                        <a:rPr lang="en-US" altLang="zh-CN" dirty="0" smtClean="0"/>
                        <a:t>1.1x</a:t>
                      </a:r>
                      <a:endParaRPr lang="zh-CN" altLang="en-US" dirty="0"/>
                    </a:p>
                  </a:txBody>
                  <a:tcPr/>
                </a:tc>
                <a:tc>
                  <a:txBody>
                    <a:bodyPr/>
                    <a:lstStyle/>
                    <a:p>
                      <a:r>
                        <a:rPr lang="en-US" altLang="zh-CN" dirty="0" smtClean="0"/>
                        <a:t>1x</a:t>
                      </a:r>
                      <a:endParaRPr lang="zh-CN" altLang="en-US" dirty="0"/>
                    </a:p>
                  </a:txBody>
                  <a:tcPr/>
                </a:tc>
                <a:extLst>
                  <a:ext uri="{0D108BD9-81ED-4DB2-BD59-A6C34878D82A}">
                    <a16:rowId xmlns:a16="http://schemas.microsoft.com/office/drawing/2014/main" val="1013892375"/>
                  </a:ext>
                </a:extLst>
              </a:tr>
              <a:tr h="694979">
                <a:tc>
                  <a:txBody>
                    <a:bodyPr/>
                    <a:lstStyle/>
                    <a:p>
                      <a:r>
                        <a:rPr lang="en-US" altLang="zh-CN" dirty="0" smtClean="0"/>
                        <a:t>100kΩ</a:t>
                      </a:r>
                    </a:p>
                  </a:txBody>
                  <a:tcPr/>
                </a:tc>
                <a:tc>
                  <a:txBody>
                    <a:bodyPr/>
                    <a:lstStyle/>
                    <a:p>
                      <a:r>
                        <a:rPr lang="en-US" altLang="zh-CN" dirty="0" smtClean="0"/>
                        <a:t>2x</a:t>
                      </a:r>
                      <a:endParaRPr lang="zh-CN" altLang="en-US" dirty="0"/>
                    </a:p>
                  </a:txBody>
                  <a:tcPr/>
                </a:tc>
                <a:tc>
                  <a:txBody>
                    <a:bodyPr/>
                    <a:lstStyle/>
                    <a:p>
                      <a:r>
                        <a:rPr lang="en-US" altLang="zh-CN" dirty="0" smtClean="0"/>
                        <a:t>1.4x</a:t>
                      </a:r>
                    </a:p>
                  </a:txBody>
                  <a:tcPr/>
                </a:tc>
                <a:tc>
                  <a:txBody>
                    <a:bodyPr/>
                    <a:lstStyle/>
                    <a:p>
                      <a:r>
                        <a:rPr lang="en-US" altLang="zh-CN" dirty="0" smtClean="0"/>
                        <a:t>1.1x</a:t>
                      </a:r>
                    </a:p>
                  </a:txBody>
                  <a:tcPr/>
                </a:tc>
                <a:tc>
                  <a:txBody>
                    <a:bodyPr/>
                    <a:lstStyle/>
                    <a:p>
                      <a:r>
                        <a:rPr lang="en-US" altLang="zh-CN" dirty="0" smtClean="0"/>
                        <a:t>1x</a:t>
                      </a:r>
                      <a:endParaRPr lang="zh-CN" altLang="en-US" dirty="0"/>
                    </a:p>
                  </a:txBody>
                  <a:tcPr/>
                </a:tc>
                <a:extLst>
                  <a:ext uri="{0D108BD9-81ED-4DB2-BD59-A6C34878D82A}">
                    <a16:rowId xmlns:a16="http://schemas.microsoft.com/office/drawing/2014/main" val="227089218"/>
                  </a:ext>
                </a:extLst>
              </a:tr>
              <a:tr h="694979">
                <a:tc>
                  <a:txBody>
                    <a:bodyPr/>
                    <a:lstStyle/>
                    <a:p>
                      <a:r>
                        <a:rPr lang="en-US" altLang="zh-CN" dirty="0" smtClean="0"/>
                        <a:t>1k</a:t>
                      </a:r>
                      <a:endParaRPr lang="zh-CN" altLang="en-US" dirty="0"/>
                    </a:p>
                  </a:txBody>
                  <a:tcPr/>
                </a:tc>
                <a:tc>
                  <a:txBody>
                    <a:bodyPr/>
                    <a:lstStyle/>
                    <a:p>
                      <a:r>
                        <a:rPr lang="en-US" altLang="zh-CN" dirty="0" smtClean="0"/>
                        <a:t>1.2x</a:t>
                      </a:r>
                      <a:endParaRPr lang="zh-CN" altLang="en-US" dirty="0"/>
                    </a:p>
                  </a:txBody>
                  <a:tcPr/>
                </a:tc>
                <a:tc>
                  <a:txBody>
                    <a:bodyPr/>
                    <a:lstStyle/>
                    <a:p>
                      <a:r>
                        <a:rPr lang="en-US" altLang="zh-CN" dirty="0" smtClean="0"/>
                        <a:t>1.1x</a:t>
                      </a:r>
                    </a:p>
                  </a:txBody>
                  <a:tcPr/>
                </a:tc>
                <a:tc>
                  <a:txBody>
                    <a:bodyPr/>
                    <a:lstStyle/>
                    <a:p>
                      <a:r>
                        <a:rPr lang="en-US" altLang="zh-CN" dirty="0" smtClean="0"/>
                        <a:t>1.05x</a:t>
                      </a:r>
                      <a:endParaRPr lang="zh-CN" altLang="en-US" dirty="0"/>
                    </a:p>
                  </a:txBody>
                  <a:tcPr/>
                </a:tc>
                <a:tc>
                  <a:txBody>
                    <a:bodyPr/>
                    <a:lstStyle/>
                    <a:p>
                      <a:r>
                        <a:rPr lang="en-US" altLang="zh-CN" dirty="0" smtClean="0"/>
                        <a:t>1x</a:t>
                      </a:r>
                      <a:endParaRPr lang="zh-CN" altLang="en-US" dirty="0"/>
                    </a:p>
                  </a:txBody>
                  <a:tcPr/>
                </a:tc>
                <a:extLst>
                  <a:ext uri="{0D108BD9-81ED-4DB2-BD59-A6C34878D82A}">
                    <a16:rowId xmlns:a16="http://schemas.microsoft.com/office/drawing/2014/main" val="3105732728"/>
                  </a:ext>
                </a:extLst>
              </a:tr>
            </a:tbl>
          </a:graphicData>
        </a:graphic>
      </p:graphicFrame>
    </p:spTree>
    <p:extLst>
      <p:ext uri="{BB962C8B-B14F-4D97-AF65-F5344CB8AC3E}">
        <p14:creationId xmlns:p14="http://schemas.microsoft.com/office/powerpoint/2010/main" val="7557954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稻壳儿搜索【幻雨工作室】__1">
            <a:extLst>
              <a:ext uri="{FF2B5EF4-FFF2-40B4-BE49-F238E27FC236}">
                <a16:creationId xmlns:a16="http://schemas.microsoft.com/office/drawing/2014/main" id="{7D6BE628-9F1F-4A9E-9C43-710286B5DD1F}"/>
              </a:ext>
            </a:extLst>
          </p:cNvPr>
          <p:cNvSpPr>
            <a:spLocks noChangeArrowheads="1"/>
          </p:cNvSpPr>
          <p:nvPr/>
        </p:nvSpPr>
        <p:spPr bwMode="auto">
          <a:xfrm>
            <a:off x="382815" y="334907"/>
            <a:ext cx="841148" cy="838935"/>
          </a:xfrm>
          <a:prstGeom prst="ellipse">
            <a:avLst/>
          </a:prstGeom>
          <a:solidFill>
            <a:schemeClr val="accent1"/>
          </a:solidFill>
          <a:ln w="76200">
            <a:noFill/>
          </a:ln>
        </p:spPr>
        <p:txBody>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lnSpc>
                <a:spcPct val="120000"/>
              </a:lnSpc>
            </a:pPr>
            <a:r>
              <a:rPr lang="en-US" altLang="zh-CN" sz="2800" b="1" dirty="0">
                <a:solidFill>
                  <a:schemeClr val="bg1"/>
                </a:solidFill>
                <a:ea typeface="微软雅黑" panose="020B0503020204020204" pitchFamily="34" charset="-122"/>
                <a:cs typeface="Arial" panose="020B0604020202020204" pitchFamily="34" charset="0"/>
              </a:rPr>
              <a:t>02</a:t>
            </a:r>
            <a:endParaRPr lang="zh-CN" altLang="en-US" sz="2800" b="1" dirty="0">
              <a:solidFill>
                <a:schemeClr val="bg1"/>
              </a:solidFill>
              <a:ea typeface="微软雅黑" panose="020B0503020204020204" pitchFamily="34" charset="-122"/>
              <a:cs typeface="Arial" panose="020B0604020202020204" pitchFamily="34" charset="0"/>
            </a:endParaRPr>
          </a:p>
        </p:txBody>
      </p:sp>
      <p:sp>
        <p:nvSpPr>
          <p:cNvPr id="5" name="稻壳儿搜索【幻雨工作室】__2">
            <a:extLst>
              <a:ext uri="{FF2B5EF4-FFF2-40B4-BE49-F238E27FC236}">
                <a16:creationId xmlns:a16="http://schemas.microsoft.com/office/drawing/2014/main" id="{615DBE0D-2B10-4B13-81ED-94CE3AE1E6FB}"/>
              </a:ext>
            </a:extLst>
          </p:cNvPr>
          <p:cNvSpPr txBox="1">
            <a:spLocks noChangeArrowheads="1"/>
          </p:cNvSpPr>
          <p:nvPr/>
        </p:nvSpPr>
        <p:spPr bwMode="auto">
          <a:xfrm>
            <a:off x="1419721" y="431209"/>
            <a:ext cx="3845923" cy="1200329"/>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defTabSz="685800">
              <a:defRPr/>
            </a:pPr>
            <a:r>
              <a:rPr lang="en-US" altLang="zh-CN" sz="3600" dirty="0" smtClean="0">
                <a:solidFill>
                  <a:schemeClr val="accent1"/>
                </a:solidFill>
                <a:latin typeface="微软雅黑" panose="020B0503020204020204" pitchFamily="34" charset="-122"/>
                <a:ea typeface="微软雅黑" panose="020B0503020204020204" pitchFamily="34" charset="-122"/>
              </a:rPr>
              <a:t>Progress</a:t>
            </a:r>
            <a:endParaRPr lang="en-US" altLang="zh-CN" sz="3600" dirty="0">
              <a:solidFill>
                <a:schemeClr val="accent1"/>
              </a:solidFill>
              <a:latin typeface="微软雅黑" panose="020B0503020204020204" pitchFamily="34" charset="-122"/>
              <a:ea typeface="微软雅黑" panose="020B0503020204020204" pitchFamily="34" charset="-122"/>
            </a:endParaRPr>
          </a:p>
          <a:p>
            <a:pPr defTabSz="685800">
              <a:defRPr/>
            </a:pPr>
            <a:endParaRPr lang="en-US" altLang="zh-CN" sz="3600" dirty="0">
              <a:solidFill>
                <a:schemeClr val="accent1"/>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F87974EB-6AD8-48E0-BE7A-EEC0AECA39AA}"/>
              </a:ext>
            </a:extLst>
          </p:cNvPr>
          <p:cNvSpPr txBox="1"/>
          <p:nvPr/>
        </p:nvSpPr>
        <p:spPr>
          <a:xfrm>
            <a:off x="1520205" y="1200777"/>
            <a:ext cx="4469934" cy="371789"/>
          </a:xfrm>
          <a:prstGeom prst="rect">
            <a:avLst/>
          </a:prstGeom>
          <a:noFill/>
        </p:spPr>
        <p:txBody>
          <a:bodyPr wrap="square" rtlCol="0">
            <a:spAutoFit/>
          </a:bodyPr>
          <a:lstStyle/>
          <a:p>
            <a:r>
              <a:rPr lang="zh-CN" altLang="en-US" dirty="0"/>
              <a:t>深低温环境下的器件建模</a:t>
            </a:r>
            <a:r>
              <a:rPr lang="en-US" altLang="zh-CN" dirty="0"/>
              <a:t>——</a:t>
            </a:r>
            <a:r>
              <a:rPr lang="zh-CN" altLang="en-US" dirty="0"/>
              <a:t>电阻与电容</a:t>
            </a:r>
          </a:p>
        </p:txBody>
      </p:sp>
    </p:spTree>
    <p:extLst>
      <p:ext uri="{BB962C8B-B14F-4D97-AF65-F5344CB8AC3E}">
        <p14:creationId xmlns:p14="http://schemas.microsoft.com/office/powerpoint/2010/main" val="20451765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稻壳儿搜索【幻雨工作室】__1">
            <a:extLst>
              <a:ext uri="{FF2B5EF4-FFF2-40B4-BE49-F238E27FC236}">
                <a16:creationId xmlns:a16="http://schemas.microsoft.com/office/drawing/2014/main" id="{7D6BE628-9F1F-4A9E-9C43-710286B5DD1F}"/>
              </a:ext>
            </a:extLst>
          </p:cNvPr>
          <p:cNvSpPr>
            <a:spLocks noChangeArrowheads="1"/>
          </p:cNvSpPr>
          <p:nvPr/>
        </p:nvSpPr>
        <p:spPr bwMode="auto">
          <a:xfrm>
            <a:off x="382815" y="334907"/>
            <a:ext cx="841148" cy="838935"/>
          </a:xfrm>
          <a:prstGeom prst="ellipse">
            <a:avLst/>
          </a:prstGeom>
          <a:solidFill>
            <a:schemeClr val="accent1"/>
          </a:solidFill>
          <a:ln w="76200">
            <a:noFill/>
          </a:ln>
        </p:spPr>
        <p:txBody>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lnSpc>
                <a:spcPct val="120000"/>
              </a:lnSpc>
            </a:pPr>
            <a:r>
              <a:rPr lang="en-US" altLang="zh-CN" sz="2800" b="1" dirty="0">
                <a:solidFill>
                  <a:schemeClr val="bg1"/>
                </a:solidFill>
                <a:ea typeface="微软雅黑" panose="020B0503020204020204" pitchFamily="34" charset="-122"/>
                <a:cs typeface="Arial" panose="020B0604020202020204" pitchFamily="34" charset="0"/>
              </a:rPr>
              <a:t>02</a:t>
            </a:r>
            <a:endParaRPr lang="zh-CN" altLang="en-US" sz="2800" b="1" dirty="0">
              <a:solidFill>
                <a:schemeClr val="bg1"/>
              </a:solidFill>
              <a:ea typeface="微软雅黑" panose="020B0503020204020204" pitchFamily="34" charset="-122"/>
              <a:cs typeface="Arial" panose="020B0604020202020204" pitchFamily="34" charset="0"/>
            </a:endParaRPr>
          </a:p>
        </p:txBody>
      </p:sp>
      <p:sp>
        <p:nvSpPr>
          <p:cNvPr id="5" name="稻壳儿搜索【幻雨工作室】__2">
            <a:extLst>
              <a:ext uri="{FF2B5EF4-FFF2-40B4-BE49-F238E27FC236}">
                <a16:creationId xmlns:a16="http://schemas.microsoft.com/office/drawing/2014/main" id="{615DBE0D-2B10-4B13-81ED-94CE3AE1E6FB}"/>
              </a:ext>
            </a:extLst>
          </p:cNvPr>
          <p:cNvSpPr txBox="1">
            <a:spLocks noChangeArrowheads="1"/>
          </p:cNvSpPr>
          <p:nvPr/>
        </p:nvSpPr>
        <p:spPr bwMode="auto">
          <a:xfrm>
            <a:off x="1419721" y="431209"/>
            <a:ext cx="3845923" cy="1200329"/>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defTabSz="685800">
              <a:defRPr/>
            </a:pPr>
            <a:r>
              <a:rPr lang="en-US" altLang="zh-CN" sz="3600" dirty="0" smtClean="0">
                <a:solidFill>
                  <a:schemeClr val="accent1"/>
                </a:solidFill>
                <a:latin typeface="微软雅黑" panose="020B0503020204020204" pitchFamily="34" charset="-122"/>
                <a:ea typeface="微软雅黑" panose="020B0503020204020204" pitchFamily="34" charset="-122"/>
              </a:rPr>
              <a:t>Progress</a:t>
            </a:r>
            <a:endParaRPr lang="en-US" altLang="zh-CN" sz="3600" dirty="0">
              <a:solidFill>
                <a:schemeClr val="accent1"/>
              </a:solidFill>
              <a:latin typeface="微软雅黑" panose="020B0503020204020204" pitchFamily="34" charset="-122"/>
              <a:ea typeface="微软雅黑" panose="020B0503020204020204" pitchFamily="34" charset="-122"/>
            </a:endParaRPr>
          </a:p>
          <a:p>
            <a:pPr defTabSz="685800">
              <a:defRPr/>
            </a:pPr>
            <a:endParaRPr lang="en-US" altLang="zh-CN" sz="3600" dirty="0">
              <a:solidFill>
                <a:schemeClr val="accent1"/>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F87974EB-6AD8-48E0-BE7A-EEC0AECA39AA}"/>
              </a:ext>
            </a:extLst>
          </p:cNvPr>
          <p:cNvSpPr txBox="1"/>
          <p:nvPr/>
        </p:nvSpPr>
        <p:spPr>
          <a:xfrm>
            <a:off x="1520205" y="1200777"/>
            <a:ext cx="4469934" cy="371789"/>
          </a:xfrm>
          <a:prstGeom prst="rect">
            <a:avLst/>
          </a:prstGeom>
          <a:noFill/>
        </p:spPr>
        <p:txBody>
          <a:bodyPr wrap="square" rtlCol="0">
            <a:spAutoFit/>
          </a:bodyPr>
          <a:lstStyle/>
          <a:p>
            <a:r>
              <a:rPr lang="zh-CN" altLang="en-US" dirty="0"/>
              <a:t>深低温环境下的器件建模</a:t>
            </a:r>
            <a:r>
              <a:rPr lang="en-US" altLang="zh-CN" dirty="0"/>
              <a:t>——</a:t>
            </a:r>
            <a:r>
              <a:rPr lang="zh-CN" altLang="en-US" dirty="0"/>
              <a:t>电阻与电容</a:t>
            </a:r>
          </a:p>
        </p:txBody>
      </p:sp>
    </p:spTree>
    <p:extLst>
      <p:ext uri="{BB962C8B-B14F-4D97-AF65-F5344CB8AC3E}">
        <p14:creationId xmlns:p14="http://schemas.microsoft.com/office/powerpoint/2010/main" val="1392039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2">
            <a:extLst>
              <a:ext uri="{FF2B5EF4-FFF2-40B4-BE49-F238E27FC236}">
                <a16:creationId xmlns:a16="http://schemas.microsoft.com/office/drawing/2014/main" id="{9FADDAD8-BF65-426F-B904-8CA55252A7B8}"/>
              </a:ext>
            </a:extLst>
          </p:cNvPr>
          <p:cNvGraphicFramePr>
            <a:graphicFrameLocks noGrp="1"/>
          </p:cNvGraphicFramePr>
          <p:nvPr>
            <p:extLst>
              <p:ext uri="{D42A27DB-BD31-4B8C-83A1-F6EECF244321}">
                <p14:modId xmlns:p14="http://schemas.microsoft.com/office/powerpoint/2010/main" val="1421211924"/>
              </p:ext>
            </p:extLst>
          </p:nvPr>
        </p:nvGraphicFramePr>
        <p:xfrm>
          <a:off x="1028058" y="1965960"/>
          <a:ext cx="10135885" cy="4122151"/>
        </p:xfrm>
        <a:graphic>
          <a:graphicData uri="http://schemas.openxmlformats.org/drawingml/2006/table">
            <a:tbl>
              <a:tblPr firstRow="1" bandRow="1">
                <a:tableStyleId>{5C22544A-7EE6-4342-B048-85BDC9FD1C3A}</a:tableStyleId>
              </a:tblPr>
              <a:tblGrid>
                <a:gridCol w="2027177">
                  <a:extLst>
                    <a:ext uri="{9D8B030D-6E8A-4147-A177-3AD203B41FA5}">
                      <a16:colId xmlns:a16="http://schemas.microsoft.com/office/drawing/2014/main" val="243246760"/>
                    </a:ext>
                  </a:extLst>
                </a:gridCol>
                <a:gridCol w="2027177">
                  <a:extLst>
                    <a:ext uri="{9D8B030D-6E8A-4147-A177-3AD203B41FA5}">
                      <a16:colId xmlns:a16="http://schemas.microsoft.com/office/drawing/2014/main" val="999721987"/>
                    </a:ext>
                  </a:extLst>
                </a:gridCol>
                <a:gridCol w="2027177">
                  <a:extLst>
                    <a:ext uri="{9D8B030D-6E8A-4147-A177-3AD203B41FA5}">
                      <a16:colId xmlns:a16="http://schemas.microsoft.com/office/drawing/2014/main" val="453181334"/>
                    </a:ext>
                  </a:extLst>
                </a:gridCol>
                <a:gridCol w="2027177">
                  <a:extLst>
                    <a:ext uri="{9D8B030D-6E8A-4147-A177-3AD203B41FA5}">
                      <a16:colId xmlns:a16="http://schemas.microsoft.com/office/drawing/2014/main" val="193749824"/>
                    </a:ext>
                  </a:extLst>
                </a:gridCol>
                <a:gridCol w="2027177">
                  <a:extLst>
                    <a:ext uri="{9D8B030D-6E8A-4147-A177-3AD203B41FA5}">
                      <a16:colId xmlns:a16="http://schemas.microsoft.com/office/drawing/2014/main" val="2341411829"/>
                    </a:ext>
                  </a:extLst>
                </a:gridCol>
              </a:tblGrid>
              <a:tr h="374741">
                <a:tc>
                  <a:txBody>
                    <a:bodyPr/>
                    <a:lstStyle/>
                    <a:p>
                      <a:pPr algn="ctr"/>
                      <a:r>
                        <a:rPr lang="zh-CN" altLang="en-US" dirty="0"/>
                        <a:t>温度</a:t>
                      </a:r>
                    </a:p>
                  </a:txBody>
                  <a:tcPr/>
                </a:tc>
                <a:tc>
                  <a:txBody>
                    <a:bodyPr/>
                    <a:lstStyle/>
                    <a:p>
                      <a:pPr algn="ctr"/>
                      <a:r>
                        <a:rPr lang="en-US" altLang="zh-CN" dirty="0"/>
                        <a:t>300K</a:t>
                      </a:r>
                      <a:r>
                        <a:rPr lang="zh-CN" altLang="en-US" dirty="0"/>
                        <a:t>（</a:t>
                      </a:r>
                      <a:r>
                        <a:rPr lang="en-US" altLang="zh-CN" dirty="0"/>
                        <a:t>P</a:t>
                      </a:r>
                      <a:r>
                        <a:rPr lang="zh-CN" altLang="en-US" dirty="0"/>
                        <a:t>）</a:t>
                      </a:r>
                    </a:p>
                  </a:txBody>
                  <a:tcPr/>
                </a:tc>
                <a:tc>
                  <a:txBody>
                    <a:bodyPr/>
                    <a:lstStyle/>
                    <a:p>
                      <a:pPr algn="ctr"/>
                      <a:r>
                        <a:rPr lang="en-US" altLang="zh-CN" dirty="0"/>
                        <a:t>3.4K</a:t>
                      </a:r>
                      <a:r>
                        <a:rPr lang="zh-CN" altLang="en-US" dirty="0"/>
                        <a:t>（</a:t>
                      </a:r>
                      <a:r>
                        <a:rPr lang="en-US" altLang="zh-CN" dirty="0"/>
                        <a:t>P</a:t>
                      </a:r>
                      <a:r>
                        <a:rPr lang="zh-CN" altLang="en-US" dirty="0"/>
                        <a:t>）</a:t>
                      </a:r>
                    </a:p>
                  </a:txBody>
                  <a:tcPr/>
                </a:tc>
                <a:tc>
                  <a:txBody>
                    <a:bodyPr/>
                    <a:lstStyle/>
                    <a:p>
                      <a:pPr algn="ctr"/>
                      <a:r>
                        <a:rPr lang="en-US" altLang="zh-CN" dirty="0"/>
                        <a:t>300K</a:t>
                      </a:r>
                      <a:r>
                        <a:rPr lang="zh-CN" altLang="en-US" dirty="0"/>
                        <a:t>（</a:t>
                      </a:r>
                      <a:r>
                        <a:rPr lang="en-US" altLang="zh-CN" dirty="0"/>
                        <a:t>N</a:t>
                      </a:r>
                      <a:r>
                        <a:rPr lang="zh-CN" altLang="en-US" dirty="0"/>
                        <a:t>）</a:t>
                      </a:r>
                    </a:p>
                  </a:txBody>
                  <a:tcPr/>
                </a:tc>
                <a:tc>
                  <a:txBody>
                    <a:bodyPr/>
                    <a:lstStyle/>
                    <a:p>
                      <a:pPr algn="ctr"/>
                      <a:r>
                        <a:rPr lang="en-US" altLang="zh-CN" dirty="0"/>
                        <a:t>3.4K</a:t>
                      </a:r>
                      <a:r>
                        <a:rPr lang="zh-CN" altLang="en-US" dirty="0"/>
                        <a:t>（</a:t>
                      </a:r>
                      <a:r>
                        <a:rPr lang="en-US" altLang="zh-CN" dirty="0"/>
                        <a:t>N</a:t>
                      </a:r>
                      <a:r>
                        <a:rPr lang="zh-CN" altLang="en-US" dirty="0"/>
                        <a:t>）</a:t>
                      </a:r>
                    </a:p>
                  </a:txBody>
                  <a:tcPr/>
                </a:tc>
                <a:extLst>
                  <a:ext uri="{0D108BD9-81ED-4DB2-BD59-A6C34878D82A}">
                    <a16:rowId xmlns:a16="http://schemas.microsoft.com/office/drawing/2014/main" val="265715146"/>
                  </a:ext>
                </a:extLst>
              </a:tr>
              <a:tr h="374741">
                <a:tc>
                  <a:txBody>
                    <a:bodyPr/>
                    <a:lstStyle/>
                    <a:p>
                      <a:pPr algn="ctr"/>
                      <a:r>
                        <a:rPr lang="en-US" altLang="zh-CN" dirty="0"/>
                        <a:t>Vth0</a:t>
                      </a:r>
                      <a:endParaRPr lang="zh-CN" altLang="en-US" dirty="0"/>
                    </a:p>
                  </a:txBody>
                  <a:tcPr/>
                </a:tc>
                <a:tc>
                  <a:txBody>
                    <a:bodyPr/>
                    <a:lstStyle/>
                    <a:p>
                      <a:pPr algn="ctr"/>
                      <a:r>
                        <a:rPr lang="en-US" altLang="zh-CN" dirty="0"/>
                        <a:t>0.39</a:t>
                      </a:r>
                      <a:endParaRPr lang="zh-CN" altLang="en-US" dirty="0"/>
                    </a:p>
                  </a:txBody>
                  <a:tcPr/>
                </a:tc>
                <a:tc>
                  <a:txBody>
                    <a:bodyPr/>
                    <a:lstStyle/>
                    <a:p>
                      <a:pPr algn="ctr"/>
                      <a:r>
                        <a:rPr lang="en-US" altLang="zh-CN" dirty="0"/>
                        <a:t>0.296</a:t>
                      </a:r>
                      <a:endParaRPr lang="zh-CN" altLang="en-US" dirty="0"/>
                    </a:p>
                  </a:txBody>
                  <a:tcPr/>
                </a:tc>
                <a:tc>
                  <a:txBody>
                    <a:bodyPr/>
                    <a:lstStyle/>
                    <a:p>
                      <a:pPr algn="ctr"/>
                      <a:r>
                        <a:rPr lang="en-US" altLang="zh-CN" dirty="0"/>
                        <a:t>-0.607</a:t>
                      </a:r>
                      <a:endParaRPr lang="zh-CN" altLang="en-US" dirty="0"/>
                    </a:p>
                  </a:txBody>
                  <a:tcPr/>
                </a:tc>
                <a:tc>
                  <a:txBody>
                    <a:bodyPr/>
                    <a:lstStyle/>
                    <a:p>
                      <a:pPr algn="ctr"/>
                      <a:r>
                        <a:rPr lang="en-US" altLang="zh-CN" dirty="0"/>
                        <a:t>-0.4598</a:t>
                      </a:r>
                      <a:endParaRPr lang="zh-CN" altLang="en-US" dirty="0"/>
                    </a:p>
                  </a:txBody>
                  <a:tcPr/>
                </a:tc>
                <a:extLst>
                  <a:ext uri="{0D108BD9-81ED-4DB2-BD59-A6C34878D82A}">
                    <a16:rowId xmlns:a16="http://schemas.microsoft.com/office/drawing/2014/main" val="3272106707"/>
                  </a:ext>
                </a:extLst>
              </a:tr>
              <a:tr h="374741">
                <a:tc>
                  <a:txBody>
                    <a:bodyPr/>
                    <a:lstStyle/>
                    <a:p>
                      <a:pPr algn="ctr"/>
                      <a:r>
                        <a:rPr lang="en-US" altLang="zh-CN" dirty="0"/>
                        <a:t>K1</a:t>
                      </a:r>
                      <a:endParaRPr lang="zh-CN" altLang="en-US" dirty="0"/>
                    </a:p>
                  </a:txBody>
                  <a:tcPr/>
                </a:tc>
                <a:tc>
                  <a:txBody>
                    <a:bodyPr/>
                    <a:lstStyle/>
                    <a:p>
                      <a:pPr algn="ctr"/>
                      <a:r>
                        <a:rPr lang="en-US" altLang="zh-CN" dirty="0"/>
                        <a:t>0.680104</a:t>
                      </a:r>
                      <a:endParaRPr lang="zh-CN" altLang="en-US" dirty="0"/>
                    </a:p>
                  </a:txBody>
                  <a:tcPr/>
                </a:tc>
                <a:tc>
                  <a:txBody>
                    <a:bodyPr/>
                    <a:lstStyle/>
                    <a:p>
                      <a:pPr algn="ctr"/>
                      <a:r>
                        <a:rPr lang="en-US" altLang="zh-CN" dirty="0"/>
                        <a:t>0.6966</a:t>
                      </a:r>
                      <a:endParaRPr lang="zh-CN" altLang="en-US" dirty="0"/>
                    </a:p>
                  </a:txBody>
                  <a:tcPr/>
                </a:tc>
                <a:tc>
                  <a:txBody>
                    <a:bodyPr/>
                    <a:lstStyle/>
                    <a:p>
                      <a:pPr algn="ctr"/>
                      <a:r>
                        <a:rPr lang="en-US" altLang="zh-CN" dirty="0"/>
                        <a:t>0.87354</a:t>
                      </a:r>
                      <a:endParaRPr lang="zh-CN" altLang="en-US" dirty="0"/>
                    </a:p>
                  </a:txBody>
                  <a:tcPr/>
                </a:tc>
                <a:tc>
                  <a:txBody>
                    <a:bodyPr/>
                    <a:lstStyle/>
                    <a:p>
                      <a:pPr algn="ctr"/>
                      <a:r>
                        <a:rPr lang="en-US" altLang="zh-CN" dirty="0"/>
                        <a:t>0.8821</a:t>
                      </a:r>
                      <a:endParaRPr lang="zh-CN" altLang="en-US" dirty="0"/>
                    </a:p>
                  </a:txBody>
                  <a:tcPr/>
                </a:tc>
                <a:extLst>
                  <a:ext uri="{0D108BD9-81ED-4DB2-BD59-A6C34878D82A}">
                    <a16:rowId xmlns:a16="http://schemas.microsoft.com/office/drawing/2014/main" val="2883750814"/>
                  </a:ext>
                </a:extLst>
              </a:tr>
              <a:tr h="374741">
                <a:tc>
                  <a:txBody>
                    <a:bodyPr/>
                    <a:lstStyle/>
                    <a:p>
                      <a:pPr algn="ctr"/>
                      <a:r>
                        <a:rPr lang="en-US" altLang="zh-CN" dirty="0"/>
                        <a:t>K2</a:t>
                      </a:r>
                      <a:endParaRPr lang="zh-CN" altLang="en-US" dirty="0"/>
                    </a:p>
                  </a:txBody>
                  <a:tcPr/>
                </a:tc>
                <a:tc>
                  <a:txBody>
                    <a:bodyPr/>
                    <a:lstStyle/>
                    <a:p>
                      <a:pPr algn="ctr"/>
                      <a:r>
                        <a:rPr lang="en-US" altLang="zh-CN" dirty="0"/>
                        <a:t>-0.4998</a:t>
                      </a:r>
                      <a:endParaRPr lang="zh-CN" altLang="en-US" dirty="0"/>
                    </a:p>
                  </a:txBody>
                  <a:tcPr/>
                </a:tc>
                <a:tc>
                  <a:txBody>
                    <a:bodyPr/>
                    <a:lstStyle/>
                    <a:p>
                      <a:pPr algn="ctr"/>
                      <a:r>
                        <a:rPr lang="en-US" altLang="zh-CN" dirty="0"/>
                        <a:t>-0.00013</a:t>
                      </a:r>
                      <a:endParaRPr lang="zh-CN" altLang="en-US" dirty="0"/>
                    </a:p>
                  </a:txBody>
                  <a:tcPr/>
                </a:tc>
                <a:tc>
                  <a:txBody>
                    <a:bodyPr/>
                    <a:lstStyle/>
                    <a:p>
                      <a:pPr algn="ctr"/>
                      <a:r>
                        <a:rPr lang="en-US" altLang="zh-CN" dirty="0"/>
                        <a:t>-0.04666</a:t>
                      </a:r>
                      <a:endParaRPr lang="zh-CN" altLang="en-US" dirty="0"/>
                    </a:p>
                  </a:txBody>
                  <a:tcPr/>
                </a:tc>
                <a:tc>
                  <a:txBody>
                    <a:bodyPr/>
                    <a:lstStyle/>
                    <a:p>
                      <a:pPr algn="ctr"/>
                      <a:r>
                        <a:rPr lang="en-US" altLang="zh-CN" dirty="0"/>
                        <a:t>-0.0534</a:t>
                      </a:r>
                      <a:endParaRPr lang="zh-CN" altLang="en-US" dirty="0"/>
                    </a:p>
                  </a:txBody>
                  <a:tcPr/>
                </a:tc>
                <a:extLst>
                  <a:ext uri="{0D108BD9-81ED-4DB2-BD59-A6C34878D82A}">
                    <a16:rowId xmlns:a16="http://schemas.microsoft.com/office/drawing/2014/main" val="3901365730"/>
                  </a:ext>
                </a:extLst>
              </a:tr>
              <a:tr h="374741">
                <a:tc>
                  <a:txBody>
                    <a:bodyPr/>
                    <a:lstStyle/>
                    <a:p>
                      <a:pPr algn="ctr"/>
                      <a:r>
                        <a:rPr lang="en-US" altLang="zh-CN" dirty="0"/>
                        <a:t>u0</a:t>
                      </a:r>
                      <a:endParaRPr lang="zh-CN" altLang="en-US" dirty="0"/>
                    </a:p>
                  </a:txBody>
                  <a:tcPr/>
                </a:tc>
                <a:tc>
                  <a:txBody>
                    <a:bodyPr/>
                    <a:lstStyle/>
                    <a:p>
                      <a:pPr algn="ctr"/>
                      <a:r>
                        <a:rPr lang="en-US" altLang="zh-CN" dirty="0"/>
                        <a:t>340</a:t>
                      </a:r>
                      <a:endParaRPr lang="zh-CN" altLang="en-US" dirty="0"/>
                    </a:p>
                  </a:txBody>
                  <a:tcPr/>
                </a:tc>
                <a:tc>
                  <a:txBody>
                    <a:bodyPr/>
                    <a:lstStyle/>
                    <a:p>
                      <a:pPr algn="ctr"/>
                      <a:r>
                        <a:rPr lang="en-US" altLang="zh-CN" dirty="0"/>
                        <a:t>116.09</a:t>
                      </a:r>
                      <a:endParaRPr lang="zh-CN" altLang="en-US" dirty="0"/>
                    </a:p>
                  </a:txBody>
                  <a:tcPr/>
                </a:tc>
                <a:tc>
                  <a:txBody>
                    <a:bodyPr/>
                    <a:lstStyle/>
                    <a:p>
                      <a:pPr algn="ctr"/>
                      <a:r>
                        <a:rPr lang="en-US" altLang="zh-CN" dirty="0"/>
                        <a:t>0.0085</a:t>
                      </a:r>
                      <a:endParaRPr lang="zh-CN" altLang="en-US" dirty="0"/>
                    </a:p>
                  </a:txBody>
                  <a:tcPr/>
                </a:tc>
                <a:tc>
                  <a:txBody>
                    <a:bodyPr/>
                    <a:lstStyle/>
                    <a:p>
                      <a:pPr algn="ctr"/>
                      <a:r>
                        <a:rPr lang="en-US" altLang="zh-CN" dirty="0"/>
                        <a:t>0.000933</a:t>
                      </a:r>
                      <a:endParaRPr lang="zh-CN" altLang="en-US" dirty="0"/>
                    </a:p>
                  </a:txBody>
                  <a:tcPr/>
                </a:tc>
                <a:extLst>
                  <a:ext uri="{0D108BD9-81ED-4DB2-BD59-A6C34878D82A}">
                    <a16:rowId xmlns:a16="http://schemas.microsoft.com/office/drawing/2014/main" val="3262370481"/>
                  </a:ext>
                </a:extLst>
              </a:tr>
              <a:tr h="374741">
                <a:tc>
                  <a:txBody>
                    <a:bodyPr/>
                    <a:lstStyle/>
                    <a:p>
                      <a:pPr algn="ctr"/>
                      <a:r>
                        <a:rPr lang="en-US" altLang="zh-CN" dirty="0" err="1"/>
                        <a:t>ua</a:t>
                      </a:r>
                      <a:endParaRPr lang="zh-CN" altLang="en-US" dirty="0"/>
                    </a:p>
                  </a:txBody>
                  <a:tcPr/>
                </a:tc>
                <a:tc>
                  <a:txBody>
                    <a:bodyPr/>
                    <a:lstStyle/>
                    <a:p>
                      <a:pPr algn="ctr"/>
                      <a:r>
                        <a:rPr lang="en-US" altLang="zh-CN" dirty="0"/>
                        <a:t>-1E-09</a:t>
                      </a:r>
                      <a:endParaRPr lang="zh-CN" altLang="en-US" dirty="0"/>
                    </a:p>
                  </a:txBody>
                  <a:tcPr/>
                </a:tc>
                <a:tc>
                  <a:txBody>
                    <a:bodyPr/>
                    <a:lstStyle/>
                    <a:p>
                      <a:pPr algn="ctr"/>
                      <a:r>
                        <a:rPr lang="en-US" altLang="zh-CN" dirty="0"/>
                        <a:t>-4.5E-12</a:t>
                      </a:r>
                      <a:endParaRPr lang="zh-CN" altLang="en-US" dirty="0"/>
                    </a:p>
                  </a:txBody>
                  <a:tcPr/>
                </a:tc>
                <a:tc>
                  <a:txBody>
                    <a:bodyPr/>
                    <a:lstStyle/>
                    <a:p>
                      <a:pPr algn="ctr"/>
                      <a:r>
                        <a:rPr lang="en-US" altLang="zh-CN" dirty="0"/>
                        <a:t>2.5E-10</a:t>
                      </a:r>
                      <a:endParaRPr lang="zh-CN" altLang="en-US" dirty="0"/>
                    </a:p>
                  </a:txBody>
                  <a:tcPr/>
                </a:tc>
                <a:tc>
                  <a:txBody>
                    <a:bodyPr/>
                    <a:lstStyle/>
                    <a:p>
                      <a:pPr algn="ctr"/>
                      <a:r>
                        <a:rPr lang="en-US" altLang="zh-CN" dirty="0"/>
                        <a:t>3.52E-10</a:t>
                      </a:r>
                      <a:endParaRPr lang="zh-CN" altLang="en-US" dirty="0"/>
                    </a:p>
                  </a:txBody>
                  <a:tcPr/>
                </a:tc>
                <a:extLst>
                  <a:ext uri="{0D108BD9-81ED-4DB2-BD59-A6C34878D82A}">
                    <a16:rowId xmlns:a16="http://schemas.microsoft.com/office/drawing/2014/main" val="2029243105"/>
                  </a:ext>
                </a:extLst>
              </a:tr>
              <a:tr h="374741">
                <a:tc>
                  <a:txBody>
                    <a:bodyPr/>
                    <a:lstStyle/>
                    <a:p>
                      <a:pPr algn="ctr"/>
                      <a:r>
                        <a:rPr lang="en-US" altLang="zh-CN" dirty="0" err="1"/>
                        <a:t>ub</a:t>
                      </a:r>
                      <a:endParaRPr lang="zh-CN" altLang="en-US" dirty="0"/>
                    </a:p>
                  </a:txBody>
                  <a:tcPr/>
                </a:tc>
                <a:tc>
                  <a:txBody>
                    <a:bodyPr/>
                    <a:lstStyle/>
                    <a:p>
                      <a:pPr algn="ctr"/>
                      <a:r>
                        <a:rPr lang="en-US" altLang="zh-CN" dirty="0"/>
                        <a:t>0.236667</a:t>
                      </a:r>
                      <a:endParaRPr lang="zh-CN" altLang="en-US" dirty="0"/>
                    </a:p>
                  </a:txBody>
                  <a:tcPr/>
                </a:tc>
                <a:tc>
                  <a:txBody>
                    <a:bodyPr/>
                    <a:lstStyle/>
                    <a:p>
                      <a:pPr algn="ctr"/>
                      <a:r>
                        <a:rPr lang="en-US" altLang="zh-CN" dirty="0"/>
                        <a:t>6.46E-18</a:t>
                      </a:r>
                      <a:endParaRPr lang="zh-CN" altLang="en-US" dirty="0"/>
                    </a:p>
                  </a:txBody>
                  <a:tcPr/>
                </a:tc>
                <a:tc>
                  <a:txBody>
                    <a:bodyPr/>
                    <a:lstStyle/>
                    <a:p>
                      <a:pPr algn="ctr"/>
                      <a:r>
                        <a:rPr lang="en-US" altLang="zh-CN" dirty="0"/>
                        <a:t>9.29E-19</a:t>
                      </a:r>
                      <a:endParaRPr lang="zh-CN" altLang="en-US" dirty="0"/>
                    </a:p>
                  </a:txBody>
                  <a:tcPr/>
                </a:tc>
                <a:tc>
                  <a:txBody>
                    <a:bodyPr/>
                    <a:lstStyle/>
                    <a:p>
                      <a:pPr algn="ctr"/>
                      <a:r>
                        <a:rPr lang="en-US" altLang="zh-CN" dirty="0"/>
                        <a:t>8.37E-19</a:t>
                      </a:r>
                      <a:endParaRPr lang="zh-CN" altLang="en-US" dirty="0"/>
                    </a:p>
                  </a:txBody>
                  <a:tcPr/>
                </a:tc>
                <a:extLst>
                  <a:ext uri="{0D108BD9-81ED-4DB2-BD59-A6C34878D82A}">
                    <a16:rowId xmlns:a16="http://schemas.microsoft.com/office/drawing/2014/main" val="2984837264"/>
                  </a:ext>
                </a:extLst>
              </a:tr>
              <a:tr h="374741">
                <a:tc>
                  <a:txBody>
                    <a:bodyPr/>
                    <a:lstStyle/>
                    <a:p>
                      <a:pPr algn="ctr"/>
                      <a:r>
                        <a:rPr lang="en-US" altLang="zh-CN" dirty="0" err="1"/>
                        <a:t>uc</a:t>
                      </a:r>
                      <a:endParaRPr lang="zh-CN" altLang="en-US" dirty="0"/>
                    </a:p>
                  </a:txBody>
                  <a:tcPr/>
                </a:tc>
                <a:tc>
                  <a:txBody>
                    <a:bodyPr/>
                    <a:lstStyle/>
                    <a:p>
                      <a:pPr algn="ctr"/>
                      <a:r>
                        <a:rPr lang="en-US" altLang="zh-CN" dirty="0"/>
                        <a:t>1.2E-10</a:t>
                      </a:r>
                      <a:endParaRPr lang="zh-CN" altLang="en-US" dirty="0"/>
                    </a:p>
                  </a:txBody>
                  <a:tcPr/>
                </a:tc>
                <a:tc>
                  <a:txBody>
                    <a:bodyPr/>
                    <a:lstStyle/>
                    <a:p>
                      <a:pPr algn="ctr"/>
                      <a:r>
                        <a:rPr lang="en-US" altLang="zh-CN" dirty="0"/>
                        <a:t>3.33E-13</a:t>
                      </a:r>
                      <a:endParaRPr lang="zh-CN" altLang="en-US" dirty="0"/>
                    </a:p>
                  </a:txBody>
                  <a:tcPr/>
                </a:tc>
                <a:tc>
                  <a:txBody>
                    <a:bodyPr/>
                    <a:lstStyle/>
                    <a:p>
                      <a:pPr algn="ctr"/>
                      <a:r>
                        <a:rPr lang="en-US" altLang="zh-CN" dirty="0"/>
                        <a:t>-7.2E-11</a:t>
                      </a:r>
                      <a:endParaRPr lang="zh-CN" altLang="en-US" dirty="0"/>
                    </a:p>
                  </a:txBody>
                  <a:tcPr/>
                </a:tc>
                <a:tc>
                  <a:txBody>
                    <a:bodyPr/>
                    <a:lstStyle/>
                    <a:p>
                      <a:pPr algn="ctr"/>
                      <a:r>
                        <a:rPr lang="en-US" altLang="zh-CN" dirty="0"/>
                        <a:t>-1.7E-10</a:t>
                      </a:r>
                      <a:endParaRPr lang="zh-CN" altLang="en-US" dirty="0"/>
                    </a:p>
                  </a:txBody>
                  <a:tcPr/>
                </a:tc>
                <a:extLst>
                  <a:ext uri="{0D108BD9-81ED-4DB2-BD59-A6C34878D82A}">
                    <a16:rowId xmlns:a16="http://schemas.microsoft.com/office/drawing/2014/main" val="748680747"/>
                  </a:ext>
                </a:extLst>
              </a:tr>
              <a:tr h="374741">
                <a:tc>
                  <a:txBody>
                    <a:bodyPr/>
                    <a:lstStyle/>
                    <a:p>
                      <a:pPr algn="ctr"/>
                      <a:r>
                        <a:rPr lang="en-US" altLang="zh-CN" dirty="0"/>
                        <a:t>Dvt0</a:t>
                      </a:r>
                      <a:endParaRPr lang="zh-CN" altLang="en-US" dirty="0"/>
                    </a:p>
                  </a:txBody>
                  <a:tcPr/>
                </a:tc>
                <a:tc>
                  <a:txBody>
                    <a:bodyPr/>
                    <a:lstStyle/>
                    <a:p>
                      <a:pPr algn="ctr"/>
                      <a:r>
                        <a:rPr lang="en-US" altLang="zh-CN" dirty="0"/>
                        <a:t>1.3</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1.03</a:t>
                      </a:r>
                      <a:endParaRPr lang="zh-CN" altLang="en-US" dirty="0"/>
                    </a:p>
                  </a:txBody>
                  <a:tcPr/>
                </a:tc>
                <a:tc>
                  <a:txBody>
                    <a:bodyPr/>
                    <a:lstStyle/>
                    <a:p>
                      <a:pPr algn="ctr"/>
                      <a:r>
                        <a:rPr lang="en-US" altLang="zh-CN" dirty="0"/>
                        <a:t>4.5143</a:t>
                      </a:r>
                      <a:endParaRPr lang="zh-CN" altLang="en-US" dirty="0"/>
                    </a:p>
                  </a:txBody>
                  <a:tcPr/>
                </a:tc>
                <a:extLst>
                  <a:ext uri="{0D108BD9-81ED-4DB2-BD59-A6C34878D82A}">
                    <a16:rowId xmlns:a16="http://schemas.microsoft.com/office/drawing/2014/main" val="604661294"/>
                  </a:ext>
                </a:extLst>
              </a:tr>
              <a:tr h="374741">
                <a:tc>
                  <a:txBody>
                    <a:bodyPr/>
                    <a:lstStyle/>
                    <a:p>
                      <a:pPr algn="ctr"/>
                      <a:r>
                        <a:rPr lang="en-US" altLang="zh-CN" dirty="0"/>
                        <a:t>Dvt1</a:t>
                      </a:r>
                      <a:endParaRPr lang="zh-CN" altLang="en-US" dirty="0"/>
                    </a:p>
                  </a:txBody>
                  <a:tcPr/>
                </a:tc>
                <a:tc>
                  <a:txBody>
                    <a:bodyPr/>
                    <a:lstStyle/>
                    <a:p>
                      <a:pPr algn="ctr"/>
                      <a:r>
                        <a:rPr lang="en-US" altLang="zh-CN" dirty="0"/>
                        <a:t>0.577164</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0.35</a:t>
                      </a:r>
                      <a:endParaRPr lang="zh-CN" altLang="en-US" dirty="0"/>
                    </a:p>
                  </a:txBody>
                  <a:tcPr/>
                </a:tc>
                <a:tc>
                  <a:txBody>
                    <a:bodyPr/>
                    <a:lstStyle/>
                    <a:p>
                      <a:pPr algn="ctr"/>
                      <a:r>
                        <a:rPr lang="en-US" altLang="zh-CN" dirty="0"/>
                        <a:t>0.14103</a:t>
                      </a:r>
                      <a:endParaRPr lang="zh-CN" altLang="en-US" dirty="0"/>
                    </a:p>
                  </a:txBody>
                  <a:tcPr/>
                </a:tc>
                <a:extLst>
                  <a:ext uri="{0D108BD9-81ED-4DB2-BD59-A6C34878D82A}">
                    <a16:rowId xmlns:a16="http://schemas.microsoft.com/office/drawing/2014/main" val="3469308846"/>
                  </a:ext>
                </a:extLst>
              </a:tr>
              <a:tr h="374741">
                <a:tc>
                  <a:txBody>
                    <a:bodyPr/>
                    <a:lstStyle/>
                    <a:p>
                      <a:pPr algn="ctr"/>
                      <a:r>
                        <a:rPr lang="en-US" altLang="zh-CN" dirty="0"/>
                        <a:t>Dvt2</a:t>
                      </a:r>
                      <a:endParaRPr lang="zh-CN" altLang="en-US" dirty="0"/>
                    </a:p>
                  </a:txBody>
                  <a:tcPr/>
                </a:tc>
                <a:tc>
                  <a:txBody>
                    <a:bodyPr/>
                    <a:lstStyle/>
                    <a:p>
                      <a:pPr algn="ctr"/>
                      <a:r>
                        <a:rPr lang="en-US" altLang="zh-CN" dirty="0"/>
                        <a:t>-0.17176</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0.052</a:t>
                      </a:r>
                      <a:endParaRPr lang="zh-CN" altLang="en-US" dirty="0"/>
                    </a:p>
                  </a:txBody>
                  <a:tcPr/>
                </a:tc>
                <a:tc>
                  <a:txBody>
                    <a:bodyPr/>
                    <a:lstStyle/>
                    <a:p>
                      <a:pPr algn="ctr"/>
                      <a:r>
                        <a:rPr lang="en-US" altLang="zh-CN" dirty="0"/>
                        <a:t>0.000861</a:t>
                      </a:r>
                      <a:endParaRPr lang="zh-CN" altLang="en-US" dirty="0"/>
                    </a:p>
                  </a:txBody>
                  <a:tcPr/>
                </a:tc>
                <a:extLst>
                  <a:ext uri="{0D108BD9-81ED-4DB2-BD59-A6C34878D82A}">
                    <a16:rowId xmlns:a16="http://schemas.microsoft.com/office/drawing/2014/main" val="1438502343"/>
                  </a:ext>
                </a:extLst>
              </a:tr>
            </a:tbl>
          </a:graphicData>
        </a:graphic>
      </p:graphicFrame>
      <p:sp>
        <p:nvSpPr>
          <p:cNvPr id="5" name="稻壳儿搜索【幻雨工作室】__1">
            <a:extLst>
              <a:ext uri="{FF2B5EF4-FFF2-40B4-BE49-F238E27FC236}">
                <a16:creationId xmlns:a16="http://schemas.microsoft.com/office/drawing/2014/main" id="{FDD227FC-0843-4438-A991-E897A722B419}"/>
              </a:ext>
            </a:extLst>
          </p:cNvPr>
          <p:cNvSpPr>
            <a:spLocks noChangeArrowheads="1"/>
          </p:cNvSpPr>
          <p:nvPr/>
        </p:nvSpPr>
        <p:spPr bwMode="auto">
          <a:xfrm>
            <a:off x="382815" y="334907"/>
            <a:ext cx="841148" cy="838935"/>
          </a:xfrm>
          <a:prstGeom prst="ellipse">
            <a:avLst/>
          </a:prstGeom>
          <a:solidFill>
            <a:schemeClr val="accent1"/>
          </a:solidFill>
          <a:ln w="76200">
            <a:noFill/>
          </a:ln>
        </p:spPr>
        <p:txBody>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lnSpc>
                <a:spcPct val="120000"/>
              </a:lnSpc>
            </a:pPr>
            <a:r>
              <a:rPr lang="en-US" altLang="zh-CN" sz="2800" b="1" dirty="0">
                <a:solidFill>
                  <a:schemeClr val="bg1"/>
                </a:solidFill>
                <a:ea typeface="微软雅黑" panose="020B0503020204020204" pitchFamily="34" charset="-122"/>
                <a:cs typeface="Arial" panose="020B0604020202020204" pitchFamily="34" charset="0"/>
              </a:rPr>
              <a:t>02</a:t>
            </a:r>
            <a:endParaRPr lang="zh-CN" altLang="en-US" sz="2800" b="1" dirty="0">
              <a:solidFill>
                <a:schemeClr val="bg1"/>
              </a:solidFill>
              <a:ea typeface="微软雅黑" panose="020B0503020204020204" pitchFamily="34" charset="-122"/>
              <a:cs typeface="Arial" panose="020B0604020202020204" pitchFamily="34" charset="0"/>
            </a:endParaRPr>
          </a:p>
        </p:txBody>
      </p:sp>
      <p:sp>
        <p:nvSpPr>
          <p:cNvPr id="6" name="稻壳儿搜索【幻雨工作室】__2">
            <a:extLst>
              <a:ext uri="{FF2B5EF4-FFF2-40B4-BE49-F238E27FC236}">
                <a16:creationId xmlns:a16="http://schemas.microsoft.com/office/drawing/2014/main" id="{8E4D56A9-4A39-401A-B6FD-35A09C089BA8}"/>
              </a:ext>
            </a:extLst>
          </p:cNvPr>
          <p:cNvSpPr txBox="1">
            <a:spLocks noChangeArrowheads="1"/>
          </p:cNvSpPr>
          <p:nvPr/>
        </p:nvSpPr>
        <p:spPr bwMode="auto">
          <a:xfrm>
            <a:off x="1419721" y="431209"/>
            <a:ext cx="3845923" cy="646331"/>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defTabSz="685800">
              <a:defRPr/>
            </a:pPr>
            <a:r>
              <a:rPr lang="zh-CN" altLang="en-US" sz="3600" dirty="0">
                <a:solidFill>
                  <a:schemeClr val="accent1"/>
                </a:solidFill>
                <a:latin typeface="微软雅黑" panose="020B0503020204020204" pitchFamily="34" charset="-122"/>
                <a:ea typeface="微软雅黑" panose="020B0503020204020204" pitchFamily="34" charset="-122"/>
              </a:rPr>
              <a:t>项目成果</a:t>
            </a:r>
            <a:endParaRPr lang="en-US" altLang="zh-CN" sz="3600" dirty="0">
              <a:solidFill>
                <a:schemeClr val="accent1"/>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1D208F4B-A6B6-49B1-8485-B8891EB8000E}"/>
              </a:ext>
            </a:extLst>
          </p:cNvPr>
          <p:cNvSpPr txBox="1"/>
          <p:nvPr/>
        </p:nvSpPr>
        <p:spPr>
          <a:xfrm>
            <a:off x="1520205" y="1200777"/>
            <a:ext cx="4469934" cy="371789"/>
          </a:xfrm>
          <a:prstGeom prst="rect">
            <a:avLst/>
          </a:prstGeom>
          <a:noFill/>
        </p:spPr>
        <p:txBody>
          <a:bodyPr wrap="square" rtlCol="0">
            <a:spAutoFit/>
          </a:bodyPr>
          <a:lstStyle/>
          <a:p>
            <a:r>
              <a:rPr lang="zh-CN" altLang="en-US" dirty="0"/>
              <a:t>深低温环境下的器件建模</a:t>
            </a:r>
            <a:r>
              <a:rPr lang="en-US" altLang="zh-CN" dirty="0"/>
              <a:t>——MOSFET</a:t>
            </a:r>
            <a:endParaRPr lang="zh-CN" altLang="en-US" dirty="0"/>
          </a:p>
        </p:txBody>
      </p:sp>
    </p:spTree>
    <p:extLst>
      <p:ext uri="{BB962C8B-B14F-4D97-AF65-F5344CB8AC3E}">
        <p14:creationId xmlns:p14="http://schemas.microsoft.com/office/powerpoint/2010/main" val="1261758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稻壳儿搜索【幻雨工作室】__1">
            <a:extLst>
              <a:ext uri="{FF2B5EF4-FFF2-40B4-BE49-F238E27FC236}">
                <a16:creationId xmlns:a16="http://schemas.microsoft.com/office/drawing/2014/main" id="{07377BB9-3962-4583-AE61-1CA463D48FA4}"/>
              </a:ext>
            </a:extLst>
          </p:cNvPr>
          <p:cNvSpPr>
            <a:spLocks noChangeArrowheads="1"/>
          </p:cNvSpPr>
          <p:nvPr/>
        </p:nvSpPr>
        <p:spPr bwMode="auto">
          <a:xfrm>
            <a:off x="382815" y="334907"/>
            <a:ext cx="841148" cy="838935"/>
          </a:xfrm>
          <a:prstGeom prst="ellipse">
            <a:avLst/>
          </a:prstGeom>
          <a:solidFill>
            <a:schemeClr val="accent1"/>
          </a:solidFill>
          <a:ln w="76200">
            <a:noFill/>
          </a:ln>
        </p:spPr>
        <p:txBody>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lnSpc>
                <a:spcPct val="120000"/>
              </a:lnSpc>
            </a:pPr>
            <a:r>
              <a:rPr lang="en-US" altLang="zh-CN" sz="2800" b="1" dirty="0">
                <a:solidFill>
                  <a:schemeClr val="bg1"/>
                </a:solidFill>
                <a:ea typeface="微软雅黑" panose="020B0503020204020204" pitchFamily="34" charset="-122"/>
                <a:cs typeface="Arial" panose="020B0604020202020204" pitchFamily="34" charset="0"/>
              </a:rPr>
              <a:t>02</a:t>
            </a:r>
            <a:endParaRPr lang="zh-CN" altLang="en-US" sz="2800" b="1" dirty="0">
              <a:solidFill>
                <a:schemeClr val="bg1"/>
              </a:solidFill>
              <a:ea typeface="微软雅黑" panose="020B0503020204020204" pitchFamily="34" charset="-122"/>
              <a:cs typeface="Arial" panose="020B0604020202020204" pitchFamily="34" charset="0"/>
            </a:endParaRPr>
          </a:p>
        </p:txBody>
      </p:sp>
      <p:sp>
        <p:nvSpPr>
          <p:cNvPr id="5" name="稻壳儿搜索【幻雨工作室】__2">
            <a:extLst>
              <a:ext uri="{FF2B5EF4-FFF2-40B4-BE49-F238E27FC236}">
                <a16:creationId xmlns:a16="http://schemas.microsoft.com/office/drawing/2014/main" id="{DCD3B75A-8136-4573-BD07-D53AEBA0793F}"/>
              </a:ext>
            </a:extLst>
          </p:cNvPr>
          <p:cNvSpPr txBox="1">
            <a:spLocks noChangeArrowheads="1"/>
          </p:cNvSpPr>
          <p:nvPr/>
        </p:nvSpPr>
        <p:spPr bwMode="auto">
          <a:xfrm>
            <a:off x="1419721" y="431209"/>
            <a:ext cx="3845923" cy="646331"/>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defTabSz="685800">
              <a:defRPr/>
            </a:pPr>
            <a:r>
              <a:rPr lang="zh-CN" altLang="en-US" sz="3600" dirty="0">
                <a:solidFill>
                  <a:schemeClr val="accent1"/>
                </a:solidFill>
                <a:latin typeface="微软雅黑" panose="020B0503020204020204" pitchFamily="34" charset="-122"/>
                <a:ea typeface="微软雅黑" panose="020B0503020204020204" pitchFamily="34" charset="-122"/>
              </a:rPr>
              <a:t>项目成果</a:t>
            </a:r>
            <a:endParaRPr lang="en-US" altLang="zh-CN" sz="3600" dirty="0">
              <a:solidFill>
                <a:schemeClr val="accent1"/>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FA414C11-C031-48BA-AE26-57FC3C13F6D0}"/>
              </a:ext>
            </a:extLst>
          </p:cNvPr>
          <p:cNvSpPr txBox="1"/>
          <p:nvPr/>
        </p:nvSpPr>
        <p:spPr>
          <a:xfrm>
            <a:off x="1520205" y="1200777"/>
            <a:ext cx="4469934" cy="371789"/>
          </a:xfrm>
          <a:prstGeom prst="rect">
            <a:avLst/>
          </a:prstGeom>
          <a:noFill/>
        </p:spPr>
        <p:txBody>
          <a:bodyPr wrap="square" rtlCol="0">
            <a:spAutoFit/>
          </a:bodyPr>
          <a:lstStyle/>
          <a:p>
            <a:r>
              <a:rPr lang="zh-CN" altLang="en-US" dirty="0"/>
              <a:t>深低温环境下的器件建模</a:t>
            </a:r>
            <a:r>
              <a:rPr lang="en-US" altLang="zh-CN" dirty="0"/>
              <a:t>——</a:t>
            </a:r>
            <a:r>
              <a:rPr lang="zh-CN" altLang="en-US" dirty="0"/>
              <a:t>结论</a:t>
            </a:r>
          </a:p>
        </p:txBody>
      </p:sp>
      <p:sp>
        <p:nvSpPr>
          <p:cNvPr id="7" name="文本框 6">
            <a:extLst>
              <a:ext uri="{FF2B5EF4-FFF2-40B4-BE49-F238E27FC236}">
                <a16:creationId xmlns:a16="http://schemas.microsoft.com/office/drawing/2014/main" id="{E7FA9513-5CEF-401B-8F24-0EF07C756B57}"/>
              </a:ext>
            </a:extLst>
          </p:cNvPr>
          <p:cNvSpPr txBox="1"/>
          <p:nvPr/>
        </p:nvSpPr>
        <p:spPr>
          <a:xfrm>
            <a:off x="1520204" y="2051481"/>
            <a:ext cx="4207355" cy="3416320"/>
          </a:xfrm>
          <a:prstGeom prst="rect">
            <a:avLst/>
          </a:prstGeom>
          <a:noFill/>
        </p:spPr>
        <p:txBody>
          <a:bodyPr wrap="square" rtlCol="0">
            <a:spAutoFit/>
          </a:bodyPr>
          <a:lstStyle/>
          <a:p>
            <a:pPr indent="457200"/>
            <a:r>
              <a:rPr lang="zh-CN" altLang="en-US" dirty="0"/>
              <a:t>电阻与电容的建模（回顾）：</a:t>
            </a:r>
            <a:endParaRPr lang="en-US" altLang="zh-CN" dirty="0"/>
          </a:p>
          <a:p>
            <a:pPr indent="457200"/>
            <a:r>
              <a:rPr lang="zh-CN" altLang="en-US" dirty="0"/>
              <a:t>对于</a:t>
            </a:r>
            <a:r>
              <a:rPr lang="en-US" altLang="zh-CN" dirty="0"/>
              <a:t>10k</a:t>
            </a:r>
            <a:r>
              <a:rPr lang="el-GR" altLang="zh-CN" dirty="0"/>
              <a:t>Ω</a:t>
            </a:r>
            <a:r>
              <a:rPr lang="zh-CN" altLang="en-US" dirty="0"/>
              <a:t>及以上的电阻，在</a:t>
            </a:r>
            <a:r>
              <a:rPr lang="en-US" altLang="zh-CN" dirty="0"/>
              <a:t>3K</a:t>
            </a:r>
            <a:r>
              <a:rPr lang="zh-CN" altLang="en-US" dirty="0"/>
              <a:t>环境下的阻值是常温环境下的两倍；</a:t>
            </a:r>
            <a:endParaRPr lang="en-US" altLang="zh-CN" dirty="0"/>
          </a:p>
          <a:p>
            <a:pPr indent="457200"/>
            <a:r>
              <a:rPr lang="zh-CN" altLang="en-US" dirty="0"/>
              <a:t>对于</a:t>
            </a:r>
            <a:r>
              <a:rPr lang="en-US" altLang="zh-CN" dirty="0"/>
              <a:t>10k</a:t>
            </a:r>
            <a:r>
              <a:rPr lang="el-GR" altLang="zh-CN" dirty="0"/>
              <a:t>Ω</a:t>
            </a:r>
            <a:r>
              <a:rPr lang="zh-CN" altLang="en-US" dirty="0"/>
              <a:t>及以下的电阻，在</a:t>
            </a:r>
            <a:r>
              <a:rPr lang="en-US" altLang="zh-CN" dirty="0"/>
              <a:t>3K</a:t>
            </a:r>
            <a:r>
              <a:rPr lang="zh-CN" altLang="en-US" dirty="0"/>
              <a:t>环境下的阻值是常温环境下的</a:t>
            </a:r>
            <a:r>
              <a:rPr lang="en-US" altLang="zh-CN" dirty="0"/>
              <a:t>1.2</a:t>
            </a:r>
            <a:r>
              <a:rPr lang="zh-CN" altLang="en-US" dirty="0"/>
              <a:t>倍；</a:t>
            </a:r>
            <a:endParaRPr lang="en-US" altLang="zh-CN" dirty="0"/>
          </a:p>
          <a:p>
            <a:pPr indent="457200"/>
            <a:r>
              <a:rPr lang="zh-CN" altLang="en-US" dirty="0"/>
              <a:t>当需要的电容比较小的时候，采用温度与频率特性都相对比较稳定的</a:t>
            </a:r>
            <a:r>
              <a:rPr lang="en-US" altLang="zh-CN" dirty="0"/>
              <a:t>NP0</a:t>
            </a:r>
            <a:r>
              <a:rPr lang="zh-CN" altLang="en-US" dirty="0"/>
              <a:t>电容；</a:t>
            </a:r>
            <a:endParaRPr lang="en-US" altLang="zh-CN" dirty="0"/>
          </a:p>
          <a:p>
            <a:pPr indent="457200"/>
            <a:r>
              <a:rPr lang="zh-CN" altLang="en-US" dirty="0"/>
              <a:t>当需要的电容比较大，</a:t>
            </a:r>
            <a:r>
              <a:rPr lang="en-US" altLang="zh-CN" dirty="0"/>
              <a:t>NP0</a:t>
            </a:r>
            <a:r>
              <a:rPr lang="zh-CN" altLang="en-US" dirty="0"/>
              <a:t>电容的制作工艺无法满足对所需电容的要求时，应当采用性能稍差的钽电容。</a:t>
            </a:r>
          </a:p>
          <a:p>
            <a:pPr indent="457200"/>
            <a:endParaRPr lang="zh-CN" altLang="en-US" dirty="0"/>
          </a:p>
        </p:txBody>
      </p:sp>
      <p:cxnSp>
        <p:nvCxnSpPr>
          <p:cNvPr id="9" name="直接连接符 8">
            <a:extLst>
              <a:ext uri="{FF2B5EF4-FFF2-40B4-BE49-F238E27FC236}">
                <a16:creationId xmlns:a16="http://schemas.microsoft.com/office/drawing/2014/main" id="{680924B1-615E-4EAD-AFBE-9525F6EA82D8}"/>
              </a:ext>
            </a:extLst>
          </p:cNvPr>
          <p:cNvCxnSpPr>
            <a:cxnSpLocks/>
          </p:cNvCxnSpPr>
          <p:nvPr/>
        </p:nvCxnSpPr>
        <p:spPr>
          <a:xfrm>
            <a:off x="6096000" y="2051481"/>
            <a:ext cx="0" cy="4007675"/>
          </a:xfrm>
          <a:prstGeom prst="line">
            <a:avLst/>
          </a:prstGeom>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AC6E878A-69D2-40C2-B663-788C96FFEF36}"/>
              </a:ext>
            </a:extLst>
          </p:cNvPr>
          <p:cNvSpPr txBox="1"/>
          <p:nvPr/>
        </p:nvSpPr>
        <p:spPr>
          <a:xfrm>
            <a:off x="6464442" y="2051481"/>
            <a:ext cx="4810362" cy="2585323"/>
          </a:xfrm>
          <a:prstGeom prst="rect">
            <a:avLst/>
          </a:prstGeom>
          <a:noFill/>
        </p:spPr>
        <p:txBody>
          <a:bodyPr wrap="square" rtlCol="0">
            <a:spAutoFit/>
          </a:bodyPr>
          <a:lstStyle/>
          <a:p>
            <a:pPr indent="457200"/>
            <a:r>
              <a:rPr lang="en-US" altLang="zh-CN" dirty="0"/>
              <a:t>MOSFET</a:t>
            </a:r>
            <a:r>
              <a:rPr lang="zh-CN" altLang="en-US" dirty="0"/>
              <a:t>晶体管的建模（回顾）：</a:t>
            </a:r>
            <a:endParaRPr lang="en-US" altLang="zh-CN" dirty="0"/>
          </a:p>
          <a:p>
            <a:pPr indent="457200"/>
            <a:r>
              <a:rPr lang="zh-CN" altLang="en-US" dirty="0"/>
              <a:t>采用比较精密的</a:t>
            </a:r>
            <a:r>
              <a:rPr lang="en-US" altLang="zh-CN" dirty="0"/>
              <a:t>BSIM3V3</a:t>
            </a:r>
            <a:r>
              <a:rPr lang="zh-CN" altLang="en-US" dirty="0"/>
              <a:t>模型，以深低温下</a:t>
            </a:r>
            <a:r>
              <a:rPr lang="en-US" altLang="zh-CN" dirty="0"/>
              <a:t>MOS</a:t>
            </a:r>
            <a:r>
              <a:rPr lang="zh-CN" altLang="en-US" dirty="0"/>
              <a:t>的</a:t>
            </a:r>
            <a:r>
              <a:rPr lang="en-US" altLang="zh-CN" dirty="0"/>
              <a:t>I-V</a:t>
            </a:r>
            <a:r>
              <a:rPr lang="zh-CN" altLang="en-US" dirty="0"/>
              <a:t>特性曲线为依据推导得到深低温下对应的模型参数。</a:t>
            </a:r>
            <a:endParaRPr lang="en-US" altLang="zh-CN" dirty="0"/>
          </a:p>
          <a:p>
            <a:pPr indent="457200"/>
            <a:r>
              <a:rPr lang="en-US" altLang="zh-CN" dirty="0"/>
              <a:t>BSIM3V3</a:t>
            </a:r>
            <a:r>
              <a:rPr lang="zh-CN" altLang="en-US" dirty="0"/>
              <a:t>模型共有</a:t>
            </a:r>
            <a:r>
              <a:rPr lang="en-US" altLang="zh-CN" dirty="0"/>
              <a:t>169</a:t>
            </a:r>
            <a:r>
              <a:rPr lang="zh-CN" altLang="en-US" dirty="0"/>
              <a:t>个参数，用来描述不同的物理行为，在修正模型的时候修改低温直接影响的物理行为对应的参数即可。</a:t>
            </a:r>
            <a:endParaRPr lang="en-US" altLang="zh-CN" dirty="0"/>
          </a:p>
          <a:p>
            <a:pPr indent="457200"/>
            <a:r>
              <a:rPr lang="zh-CN" altLang="en-US" dirty="0"/>
              <a:t>修改后的参数的模拟结果与仿真实际结果之间的均方根误差约为</a:t>
            </a:r>
            <a:r>
              <a:rPr lang="en-US" altLang="zh-CN" dirty="0"/>
              <a:t>6%</a:t>
            </a:r>
            <a:endParaRPr lang="zh-CN" altLang="en-US" dirty="0"/>
          </a:p>
        </p:txBody>
      </p:sp>
    </p:spTree>
    <p:extLst>
      <p:ext uri="{BB962C8B-B14F-4D97-AF65-F5344CB8AC3E}">
        <p14:creationId xmlns:p14="http://schemas.microsoft.com/office/powerpoint/2010/main" val="144498615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稻壳儿搜索【幻雨工作室】__1">
            <a:extLst>
              <a:ext uri="{FF2B5EF4-FFF2-40B4-BE49-F238E27FC236}">
                <a16:creationId xmlns:a16="http://schemas.microsoft.com/office/drawing/2014/main" id="{8CE98E44-6239-4130-BF5E-E392F22F7BE1}"/>
              </a:ext>
            </a:extLst>
          </p:cNvPr>
          <p:cNvSpPr>
            <a:spLocks noChangeArrowheads="1"/>
          </p:cNvSpPr>
          <p:nvPr/>
        </p:nvSpPr>
        <p:spPr bwMode="auto">
          <a:xfrm>
            <a:off x="382815" y="334907"/>
            <a:ext cx="841148" cy="838935"/>
          </a:xfrm>
          <a:prstGeom prst="ellipse">
            <a:avLst/>
          </a:prstGeom>
          <a:solidFill>
            <a:schemeClr val="accent1"/>
          </a:solidFill>
          <a:ln w="76200">
            <a:noFill/>
          </a:ln>
        </p:spPr>
        <p:txBody>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lnSpc>
                <a:spcPct val="120000"/>
              </a:lnSpc>
            </a:pPr>
            <a:r>
              <a:rPr lang="en-US" altLang="zh-CN" sz="2800" b="1" dirty="0">
                <a:solidFill>
                  <a:schemeClr val="bg1"/>
                </a:solidFill>
                <a:ea typeface="微软雅黑" panose="020B0503020204020204" pitchFamily="34" charset="-122"/>
                <a:cs typeface="Arial" panose="020B0604020202020204" pitchFamily="34" charset="0"/>
              </a:rPr>
              <a:t>02</a:t>
            </a:r>
            <a:endParaRPr lang="zh-CN" altLang="en-US" sz="2800" b="1" dirty="0">
              <a:solidFill>
                <a:schemeClr val="bg1"/>
              </a:solidFill>
              <a:ea typeface="微软雅黑" panose="020B0503020204020204" pitchFamily="34" charset="-122"/>
              <a:cs typeface="Arial" panose="020B0604020202020204" pitchFamily="34" charset="0"/>
            </a:endParaRPr>
          </a:p>
        </p:txBody>
      </p:sp>
      <p:sp>
        <p:nvSpPr>
          <p:cNvPr id="6" name="稻壳儿搜索【幻雨工作室】__2">
            <a:extLst>
              <a:ext uri="{FF2B5EF4-FFF2-40B4-BE49-F238E27FC236}">
                <a16:creationId xmlns:a16="http://schemas.microsoft.com/office/drawing/2014/main" id="{136A2E7B-4FD3-41DD-9FB8-3C8506EE5231}"/>
              </a:ext>
            </a:extLst>
          </p:cNvPr>
          <p:cNvSpPr txBox="1">
            <a:spLocks noChangeArrowheads="1"/>
          </p:cNvSpPr>
          <p:nvPr/>
        </p:nvSpPr>
        <p:spPr bwMode="auto">
          <a:xfrm>
            <a:off x="1419721" y="431209"/>
            <a:ext cx="3845923" cy="646331"/>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defTabSz="685800">
              <a:defRPr/>
            </a:pPr>
            <a:r>
              <a:rPr lang="zh-CN" altLang="en-US" sz="3600" dirty="0">
                <a:solidFill>
                  <a:schemeClr val="accent1"/>
                </a:solidFill>
                <a:latin typeface="微软雅黑" panose="020B0503020204020204" pitchFamily="34" charset="-122"/>
                <a:ea typeface="微软雅黑" panose="020B0503020204020204" pitchFamily="34" charset="-122"/>
              </a:rPr>
              <a:t>项目成果</a:t>
            </a:r>
            <a:endParaRPr lang="en-US" altLang="zh-CN" sz="3600" dirty="0">
              <a:solidFill>
                <a:schemeClr val="accent1"/>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B871D1CB-6C17-456B-9FBC-47250D06B238}"/>
              </a:ext>
            </a:extLst>
          </p:cNvPr>
          <p:cNvSpPr txBox="1"/>
          <p:nvPr/>
        </p:nvSpPr>
        <p:spPr>
          <a:xfrm>
            <a:off x="179621" y="1242301"/>
            <a:ext cx="3416061" cy="369332"/>
          </a:xfrm>
          <a:prstGeom prst="rect">
            <a:avLst/>
          </a:prstGeom>
          <a:noFill/>
        </p:spPr>
        <p:txBody>
          <a:bodyPr wrap="square" rtlCol="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dirty="0"/>
              <a:t>控制电路仿真</a:t>
            </a:r>
            <a:r>
              <a:rPr lang="en-US" altLang="zh-CN" dirty="0"/>
              <a:t>——</a:t>
            </a:r>
            <a:r>
              <a:rPr lang="zh-CN" altLang="en-US" dirty="0"/>
              <a:t>重建滤波器</a:t>
            </a:r>
          </a:p>
        </p:txBody>
      </p:sp>
      <p:sp>
        <p:nvSpPr>
          <p:cNvPr id="3" name="文本框 2">
            <a:extLst>
              <a:ext uri="{FF2B5EF4-FFF2-40B4-BE49-F238E27FC236}">
                <a16:creationId xmlns:a16="http://schemas.microsoft.com/office/drawing/2014/main" id="{E0F794D4-A0FF-48EF-8C83-653943015D81}"/>
              </a:ext>
            </a:extLst>
          </p:cNvPr>
          <p:cNvSpPr txBox="1"/>
          <p:nvPr/>
        </p:nvSpPr>
        <p:spPr>
          <a:xfrm>
            <a:off x="4122972" y="431209"/>
            <a:ext cx="8177841" cy="1200329"/>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设置基带信号摆幅，获得较低功耗。</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无源滤波器难以达到对于功耗，保真度以及功率的要求，除非使用一个非常大的电感，这在电路设计中是不现实的。</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因此需要一个跨导电容滤波器来实现电路设计。</a:t>
            </a:r>
            <a:endParaRPr lang="en-US" altLang="zh-CN"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graphicFrame>
            <p:nvGraphicFramePr>
              <p:cNvPr id="8" name="表格 8">
                <a:extLst>
                  <a:ext uri="{FF2B5EF4-FFF2-40B4-BE49-F238E27FC236}">
                    <a16:creationId xmlns:a16="http://schemas.microsoft.com/office/drawing/2014/main" id="{ECF3DE87-6AC3-4D7B-AAA0-F76214C575F2}"/>
                  </a:ext>
                </a:extLst>
              </p:cNvPr>
              <p:cNvGraphicFramePr>
                <a:graphicFrameLocks noGrp="1"/>
              </p:cNvGraphicFramePr>
              <p:nvPr>
                <p:extLst>
                  <p:ext uri="{D42A27DB-BD31-4B8C-83A1-F6EECF244321}">
                    <p14:modId xmlns:p14="http://schemas.microsoft.com/office/powerpoint/2010/main" val="491767166"/>
                  </p:ext>
                </p:extLst>
              </p:nvPr>
            </p:nvGraphicFramePr>
            <p:xfrm>
              <a:off x="5804033" y="3796863"/>
              <a:ext cx="6221390" cy="1910271"/>
            </p:xfrm>
            <a:graphic>
              <a:graphicData uri="http://schemas.openxmlformats.org/drawingml/2006/table">
                <a:tbl>
                  <a:tblPr firstRow="1" bandRow="1">
                    <a:tableStyleId>{5C22544A-7EE6-4342-B048-85BDC9FD1C3A}</a:tableStyleId>
                  </a:tblPr>
                  <a:tblGrid>
                    <a:gridCol w="3110695">
                      <a:extLst>
                        <a:ext uri="{9D8B030D-6E8A-4147-A177-3AD203B41FA5}">
                          <a16:colId xmlns:a16="http://schemas.microsoft.com/office/drawing/2014/main" val="2237347716"/>
                        </a:ext>
                      </a:extLst>
                    </a:gridCol>
                    <a:gridCol w="3110695">
                      <a:extLst>
                        <a:ext uri="{9D8B030D-6E8A-4147-A177-3AD203B41FA5}">
                          <a16:colId xmlns:a16="http://schemas.microsoft.com/office/drawing/2014/main" val="3257448182"/>
                        </a:ext>
                      </a:extLst>
                    </a:gridCol>
                  </a:tblGrid>
                  <a:tr h="370840">
                    <a:tc>
                      <a:txBody>
                        <a:bodyPr/>
                        <a:lstStyle/>
                        <a:p>
                          <a:pPr algn="ctr"/>
                          <a:endParaRPr lang="zh-CN" altLang="en-US" dirty="0"/>
                        </a:p>
                      </a:txBody>
                      <a:tcPr/>
                    </a:tc>
                    <a:tc>
                      <a:txBody>
                        <a:bodyPr/>
                        <a:lstStyle/>
                        <a:p>
                          <a:pPr algn="ctr"/>
                          <a:endParaRPr lang="zh-CN" altLang="en-US" dirty="0"/>
                        </a:p>
                      </a:txBody>
                      <a:tcPr/>
                    </a:tc>
                    <a:extLst>
                      <a:ext uri="{0D108BD9-81ED-4DB2-BD59-A6C34878D82A}">
                        <a16:rowId xmlns:a16="http://schemas.microsoft.com/office/drawing/2014/main" val="1439133613"/>
                      </a:ext>
                    </a:extLst>
                  </a:tr>
                  <a:tr h="370840">
                    <a:tc>
                      <a:txBody>
                        <a:bodyPr/>
                        <a:lstStyle/>
                        <a:p>
                          <a:pPr algn="ctr"/>
                          <a:r>
                            <a:rPr lang="en-US" altLang="zh-CN" dirty="0"/>
                            <a:t>Cut-off frequency</a:t>
                          </a:r>
                          <a:endParaRPr lang="zh-CN" altLang="en-US" dirty="0"/>
                        </a:p>
                      </a:txBody>
                      <a:tcPr/>
                    </a:tc>
                    <a:tc>
                      <a:txBody>
                        <a:bodyPr/>
                        <a:lstStyle/>
                        <a:p>
                          <a:pPr algn="ctr"/>
                          <a:r>
                            <a:rPr lang="en-US" altLang="zh-CN" dirty="0"/>
                            <a:t>1.8GHz</a:t>
                          </a:r>
                          <a:endParaRPr lang="zh-CN" altLang="en-US" dirty="0"/>
                        </a:p>
                      </a:txBody>
                      <a:tcPr/>
                    </a:tc>
                    <a:extLst>
                      <a:ext uri="{0D108BD9-81ED-4DB2-BD59-A6C34878D82A}">
                        <a16:rowId xmlns:a16="http://schemas.microsoft.com/office/drawing/2014/main" val="1798015263"/>
                      </a:ext>
                    </a:extLst>
                  </a:tr>
                  <a:tr h="1112520">
                    <a:tc>
                      <a:txBody>
                        <a:bodyPr/>
                        <a:lstStyle/>
                        <a:p>
                          <a:pPr algn="ctr"/>
                          <a:endParaRPr lang="en-US" altLang="zh-CN" dirty="0"/>
                        </a:p>
                        <a:p>
                          <a:pPr algn="ctr"/>
                          <a:r>
                            <a:rPr lang="en-US" altLang="zh-CN" dirty="0"/>
                            <a:t>Transfer function</a:t>
                          </a:r>
                          <a:endParaRPr lang="zh-CN" altLang="en-US" dirty="0"/>
                        </a:p>
                      </a:txBody>
                      <a:tcPr/>
                    </a:tc>
                    <a:tc>
                      <a:txBody>
                        <a:bodyPr/>
                        <a:lstStyle/>
                        <a:p>
                          <a:pPr algn="ctr"/>
                          <a:endParaRPr lang="en-US" altLang="zh-CN" dirty="0"/>
                        </a:p>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𝐻</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𝑠</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1+</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2</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𝑏</m:t>
                                            </m:r>
                                          </m:sub>
                                        </m:sSub>
                                      </m:num>
                                      <m:den>
                                        <m:r>
                                          <a:rPr lang="en-US" altLang="zh-CN" b="0" i="1" smtClean="0">
                                            <a:latin typeface="Cambria Math" panose="02040503050406030204" pitchFamily="18" charset="0"/>
                                          </a:rPr>
                                          <m:t>𝑔𝑚</m:t>
                                        </m:r>
                                      </m:den>
                                    </m:f>
                                    <m:r>
                                      <a:rPr lang="en-US" altLang="zh-CN" b="0" i="1" smtClean="0">
                                        <a:latin typeface="Cambria Math" panose="02040503050406030204" pitchFamily="18" charset="0"/>
                                      </a:rPr>
                                      <m:t>𝑠</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4</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m:rPr>
                                                <m:sty m:val="p"/>
                                              </m:rPr>
                                              <a:rPr lang="en-US" altLang="zh-CN" b="0" i="1" smtClean="0">
                                                <a:latin typeface="Cambria Math" panose="02040503050406030204" pitchFamily="18" charset="0"/>
                                              </a:rPr>
                                              <m:t>A</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𝑏</m:t>
                                            </m:r>
                                          </m:sub>
                                        </m:sSub>
                                      </m:num>
                                      <m:den>
                                        <m:r>
                                          <a:rPr lang="en-US" altLang="zh-CN" b="0" i="1" smtClean="0">
                                            <a:latin typeface="Cambria Math" panose="02040503050406030204" pitchFamily="18" charset="0"/>
                                          </a:rPr>
                                          <m:t>𝑔</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𝑚</m:t>
                                            </m:r>
                                          </m:e>
                                          <m:sup>
                                            <m:r>
                                              <a:rPr lang="en-US" altLang="zh-CN" b="0" i="1" smtClean="0">
                                                <a:latin typeface="Cambria Math" panose="02040503050406030204" pitchFamily="18" charset="0"/>
                                              </a:rPr>
                                              <m:t>2</m:t>
                                            </m:r>
                                          </m:sup>
                                        </m:sSup>
                                      </m:den>
                                    </m:f>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𝑠</m:t>
                                        </m:r>
                                      </m:e>
                                      <m:sup>
                                        <m:r>
                                          <a:rPr lang="en-US" altLang="zh-CN" b="0" i="1" smtClean="0">
                                            <a:latin typeface="Cambria Math" panose="02040503050406030204" pitchFamily="18" charset="0"/>
                                          </a:rPr>
                                          <m:t>2</m:t>
                                        </m:r>
                                      </m:sup>
                                    </m:sSup>
                                  </m:den>
                                </m:f>
                              </m:oMath>
                            </m:oMathPara>
                          </a14:m>
                          <a:endParaRPr lang="en-US" altLang="zh-CN" dirty="0"/>
                        </a:p>
                      </a:txBody>
                      <a:tcPr/>
                    </a:tc>
                    <a:extLst>
                      <a:ext uri="{0D108BD9-81ED-4DB2-BD59-A6C34878D82A}">
                        <a16:rowId xmlns:a16="http://schemas.microsoft.com/office/drawing/2014/main" val="2141347112"/>
                      </a:ext>
                    </a:extLst>
                  </a:tr>
                </a:tbl>
              </a:graphicData>
            </a:graphic>
          </p:graphicFrame>
        </mc:Choice>
        <mc:Fallback xmlns="">
          <p:graphicFrame>
            <p:nvGraphicFramePr>
              <p:cNvPr id="8" name="表格 8">
                <a:extLst>
                  <a:ext uri="{FF2B5EF4-FFF2-40B4-BE49-F238E27FC236}">
                    <a16:creationId xmlns:a16="http://schemas.microsoft.com/office/drawing/2014/main" id="{ECF3DE87-6AC3-4D7B-AAA0-F76214C575F2}"/>
                  </a:ext>
                </a:extLst>
              </p:cNvPr>
              <p:cNvGraphicFramePr>
                <a:graphicFrameLocks noGrp="1"/>
              </p:cNvGraphicFramePr>
              <p:nvPr>
                <p:extLst>
                  <p:ext uri="{D42A27DB-BD31-4B8C-83A1-F6EECF244321}">
                    <p14:modId xmlns:p14="http://schemas.microsoft.com/office/powerpoint/2010/main" val="491767166"/>
                  </p:ext>
                </p:extLst>
              </p:nvPr>
            </p:nvGraphicFramePr>
            <p:xfrm>
              <a:off x="5804033" y="3796863"/>
              <a:ext cx="6221390" cy="1910271"/>
            </p:xfrm>
            <a:graphic>
              <a:graphicData uri="http://schemas.openxmlformats.org/drawingml/2006/table">
                <a:tbl>
                  <a:tblPr firstRow="1" bandRow="1">
                    <a:tableStyleId>{5C22544A-7EE6-4342-B048-85BDC9FD1C3A}</a:tableStyleId>
                  </a:tblPr>
                  <a:tblGrid>
                    <a:gridCol w="3110695">
                      <a:extLst>
                        <a:ext uri="{9D8B030D-6E8A-4147-A177-3AD203B41FA5}">
                          <a16:colId xmlns:a16="http://schemas.microsoft.com/office/drawing/2014/main" val="2237347716"/>
                        </a:ext>
                      </a:extLst>
                    </a:gridCol>
                    <a:gridCol w="3110695">
                      <a:extLst>
                        <a:ext uri="{9D8B030D-6E8A-4147-A177-3AD203B41FA5}">
                          <a16:colId xmlns:a16="http://schemas.microsoft.com/office/drawing/2014/main" val="3257448182"/>
                        </a:ext>
                      </a:extLst>
                    </a:gridCol>
                  </a:tblGrid>
                  <a:tr h="370840">
                    <a:tc>
                      <a:txBody>
                        <a:bodyPr/>
                        <a:lstStyle/>
                        <a:p>
                          <a:pPr algn="ctr"/>
                          <a:endParaRPr lang="zh-CN" altLang="en-US" dirty="0"/>
                        </a:p>
                      </a:txBody>
                      <a:tcPr/>
                    </a:tc>
                    <a:tc>
                      <a:txBody>
                        <a:bodyPr/>
                        <a:lstStyle/>
                        <a:p>
                          <a:pPr algn="ctr"/>
                          <a:endParaRPr lang="zh-CN" altLang="en-US" dirty="0"/>
                        </a:p>
                      </a:txBody>
                      <a:tcPr/>
                    </a:tc>
                    <a:extLst>
                      <a:ext uri="{0D108BD9-81ED-4DB2-BD59-A6C34878D82A}">
                        <a16:rowId xmlns:a16="http://schemas.microsoft.com/office/drawing/2014/main" val="1439133613"/>
                      </a:ext>
                    </a:extLst>
                  </a:tr>
                  <a:tr h="370840">
                    <a:tc>
                      <a:txBody>
                        <a:bodyPr/>
                        <a:lstStyle/>
                        <a:p>
                          <a:pPr algn="ctr"/>
                          <a:r>
                            <a:rPr lang="en-US" altLang="zh-CN" dirty="0"/>
                            <a:t>Cut-off frequency</a:t>
                          </a:r>
                          <a:endParaRPr lang="zh-CN" altLang="en-US" dirty="0"/>
                        </a:p>
                      </a:txBody>
                      <a:tcPr/>
                    </a:tc>
                    <a:tc>
                      <a:txBody>
                        <a:bodyPr/>
                        <a:lstStyle/>
                        <a:p>
                          <a:pPr algn="ctr"/>
                          <a:r>
                            <a:rPr lang="en-US" altLang="zh-CN" dirty="0"/>
                            <a:t>1.8GHz</a:t>
                          </a:r>
                          <a:endParaRPr lang="zh-CN" altLang="en-US" dirty="0"/>
                        </a:p>
                      </a:txBody>
                      <a:tcPr/>
                    </a:tc>
                    <a:extLst>
                      <a:ext uri="{0D108BD9-81ED-4DB2-BD59-A6C34878D82A}">
                        <a16:rowId xmlns:a16="http://schemas.microsoft.com/office/drawing/2014/main" val="1798015263"/>
                      </a:ext>
                    </a:extLst>
                  </a:tr>
                  <a:tr h="1168591">
                    <a:tc>
                      <a:txBody>
                        <a:bodyPr/>
                        <a:lstStyle/>
                        <a:p>
                          <a:pPr algn="ctr"/>
                          <a:endParaRPr lang="en-US" altLang="zh-CN" dirty="0"/>
                        </a:p>
                        <a:p>
                          <a:pPr algn="ctr"/>
                          <a:r>
                            <a:rPr lang="en-US" altLang="zh-CN" dirty="0"/>
                            <a:t>Transfer </a:t>
                          </a:r>
                          <a:r>
                            <a:rPr lang="en-US" altLang="zh-CN" dirty="0" smtClean="0"/>
                            <a:t>function</a:t>
                          </a:r>
                          <a:endParaRPr lang="zh-CN" altLang="en-US" dirty="0"/>
                        </a:p>
                      </a:txBody>
                      <a:tcPr/>
                    </a:tc>
                    <a:tc>
                      <a:txBody>
                        <a:bodyPr/>
                        <a:lstStyle/>
                        <a:p>
                          <a:endParaRPr lang="zh-CN"/>
                        </a:p>
                      </a:txBody>
                      <a:tcPr>
                        <a:blipFill>
                          <a:blip r:embed="rId4"/>
                          <a:stretch>
                            <a:fillRect l="-100392" t="-63731" r="-784" b="-1036"/>
                          </a:stretch>
                        </a:blipFill>
                      </a:tcPr>
                    </a:tc>
                    <a:extLst>
                      <a:ext uri="{0D108BD9-81ED-4DB2-BD59-A6C34878D82A}">
                        <a16:rowId xmlns:a16="http://schemas.microsoft.com/office/drawing/2014/main" val="2141347112"/>
                      </a:ext>
                    </a:extLst>
                  </a:tr>
                </a:tbl>
              </a:graphicData>
            </a:graphic>
          </p:graphicFrame>
        </mc:Fallback>
      </mc:AlternateContent>
    </p:spTree>
    <p:custDataLst>
      <p:tags r:id="rId1"/>
    </p:custDataLst>
    <p:extLst>
      <p:ext uri="{BB962C8B-B14F-4D97-AF65-F5344CB8AC3E}">
        <p14:creationId xmlns:p14="http://schemas.microsoft.com/office/powerpoint/2010/main" val="25004717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稻壳儿搜索【幻雨工作室】__1">
            <a:extLst>
              <a:ext uri="{FF2B5EF4-FFF2-40B4-BE49-F238E27FC236}">
                <a16:creationId xmlns:a16="http://schemas.microsoft.com/office/drawing/2014/main" id="{8CE98E44-6239-4130-BF5E-E392F22F7BE1}"/>
              </a:ext>
            </a:extLst>
          </p:cNvPr>
          <p:cNvSpPr>
            <a:spLocks noChangeArrowheads="1"/>
          </p:cNvSpPr>
          <p:nvPr/>
        </p:nvSpPr>
        <p:spPr bwMode="auto">
          <a:xfrm>
            <a:off x="382815" y="334907"/>
            <a:ext cx="841148" cy="838935"/>
          </a:xfrm>
          <a:prstGeom prst="ellipse">
            <a:avLst/>
          </a:prstGeom>
          <a:solidFill>
            <a:schemeClr val="accent1"/>
          </a:solidFill>
          <a:ln w="76200">
            <a:noFill/>
          </a:ln>
        </p:spPr>
        <p:txBody>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lnSpc>
                <a:spcPct val="120000"/>
              </a:lnSpc>
            </a:pPr>
            <a:r>
              <a:rPr lang="en-US" altLang="zh-CN" sz="2800" b="1" dirty="0">
                <a:solidFill>
                  <a:schemeClr val="bg1"/>
                </a:solidFill>
                <a:ea typeface="微软雅黑" panose="020B0503020204020204" pitchFamily="34" charset="-122"/>
                <a:cs typeface="Arial" panose="020B0604020202020204" pitchFamily="34" charset="0"/>
              </a:rPr>
              <a:t>02</a:t>
            </a:r>
            <a:endParaRPr lang="zh-CN" altLang="en-US" sz="2800" b="1" dirty="0">
              <a:solidFill>
                <a:schemeClr val="bg1"/>
              </a:solidFill>
              <a:ea typeface="微软雅黑" panose="020B0503020204020204" pitchFamily="34" charset="-122"/>
              <a:cs typeface="Arial" panose="020B0604020202020204" pitchFamily="34" charset="0"/>
            </a:endParaRPr>
          </a:p>
        </p:txBody>
      </p:sp>
      <p:sp>
        <p:nvSpPr>
          <p:cNvPr id="6" name="稻壳儿搜索【幻雨工作室】__2">
            <a:extLst>
              <a:ext uri="{FF2B5EF4-FFF2-40B4-BE49-F238E27FC236}">
                <a16:creationId xmlns:a16="http://schemas.microsoft.com/office/drawing/2014/main" id="{136A2E7B-4FD3-41DD-9FB8-3C8506EE5231}"/>
              </a:ext>
            </a:extLst>
          </p:cNvPr>
          <p:cNvSpPr txBox="1">
            <a:spLocks noChangeArrowheads="1"/>
          </p:cNvSpPr>
          <p:nvPr/>
        </p:nvSpPr>
        <p:spPr bwMode="auto">
          <a:xfrm>
            <a:off x="1419721" y="431209"/>
            <a:ext cx="3845923" cy="646331"/>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defTabSz="685800">
              <a:defRPr/>
            </a:pPr>
            <a:r>
              <a:rPr lang="zh-CN" altLang="en-US" sz="3600" dirty="0">
                <a:solidFill>
                  <a:schemeClr val="accent1"/>
                </a:solidFill>
                <a:latin typeface="微软雅黑" panose="020B0503020204020204" pitchFamily="34" charset="-122"/>
                <a:ea typeface="微软雅黑" panose="020B0503020204020204" pitchFamily="34" charset="-122"/>
              </a:rPr>
              <a:t>项目成果</a:t>
            </a:r>
            <a:endParaRPr lang="en-US" altLang="zh-CN" sz="3600" dirty="0">
              <a:solidFill>
                <a:schemeClr val="accent1"/>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6C65126E-75F5-486D-9EAF-BE02E55895B3}"/>
              </a:ext>
            </a:extLst>
          </p:cNvPr>
          <p:cNvSpPr txBox="1"/>
          <p:nvPr/>
        </p:nvSpPr>
        <p:spPr>
          <a:xfrm>
            <a:off x="1419721" y="1173842"/>
            <a:ext cx="3845923" cy="64633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控制电路仿真</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可变增益放大器</a:t>
            </a:r>
            <a:endParaRPr lang="zh-CN" altLang="en-US" dirty="0"/>
          </a:p>
          <a:p>
            <a:endParaRPr lang="zh-CN" altLang="en-US" dirty="0">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C4509486-A019-4207-9CB7-1EDAD60F7EBC}"/>
              </a:ext>
            </a:extLst>
          </p:cNvPr>
          <p:cNvSpPr txBox="1"/>
          <p:nvPr/>
        </p:nvSpPr>
        <p:spPr>
          <a:xfrm>
            <a:off x="7240559" y="1955622"/>
            <a:ext cx="6228272" cy="2585323"/>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可调电流镜：</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四位可调谐增益，最大放大倍率</a:t>
            </a:r>
            <a:r>
              <a:rPr lang="en-US" altLang="zh-CN" dirty="0">
                <a:latin typeface="微软雅黑" panose="020B0503020204020204" pitchFamily="34" charset="-122"/>
                <a:ea typeface="微软雅黑" panose="020B0503020204020204" pitchFamily="34" charset="-122"/>
              </a:rPr>
              <a:t>15x</a:t>
            </a:r>
          </a:p>
          <a:p>
            <a:r>
              <a:rPr lang="zh-CN" altLang="en-US" dirty="0">
                <a:latin typeface="微软雅黑" panose="020B0503020204020204" pitchFamily="34" charset="-122"/>
                <a:ea typeface="微软雅黑" panose="020B0503020204020204" pitchFamily="34" charset="-122"/>
              </a:rPr>
              <a:t>由</a:t>
            </a:r>
            <a:r>
              <a:rPr lang="en-US" altLang="zh-CN" dirty="0">
                <a:latin typeface="微软雅黑" panose="020B0503020204020204" pitchFamily="34" charset="-122"/>
                <a:ea typeface="微软雅黑" panose="020B0503020204020204" pitchFamily="34" charset="-122"/>
              </a:rPr>
              <a:t>MOS</a:t>
            </a:r>
            <a:r>
              <a:rPr lang="zh-CN" altLang="en-US" dirty="0">
                <a:latin typeface="微软雅黑" panose="020B0503020204020204" pitchFamily="34" charset="-122"/>
                <a:ea typeface="微软雅黑" panose="020B0503020204020204" pitchFamily="34" charset="-122"/>
              </a:rPr>
              <a:t>管组成的电流镜为基本单元复制电流</a:t>
            </a:r>
          </a:p>
          <a:p>
            <a:endParaRPr lang="zh-CN" altLang="en-US"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改变</a:t>
            </a:r>
            <a:r>
              <a:rPr lang="en-US" altLang="zh-CN" dirty="0">
                <a:latin typeface="微软雅黑" panose="020B0503020204020204" pitchFamily="34" charset="-122"/>
                <a:ea typeface="微软雅黑" panose="020B0503020204020204" pitchFamily="34" charset="-122"/>
              </a:rPr>
              <a:t>MOS</a:t>
            </a:r>
            <a:r>
              <a:rPr lang="zh-CN" altLang="en-US" dirty="0">
                <a:latin typeface="微软雅黑" panose="020B0503020204020204" pitchFamily="34" charset="-122"/>
                <a:ea typeface="微软雅黑" panose="020B0503020204020204" pitchFamily="34" charset="-122"/>
              </a:rPr>
              <a:t>管尺寸以得到</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8</a:t>
            </a:r>
            <a:r>
              <a:rPr lang="zh-CN" altLang="en-US" dirty="0">
                <a:latin typeface="微软雅黑" panose="020B0503020204020204" pitchFamily="34" charset="-122"/>
                <a:ea typeface="微软雅黑" panose="020B0503020204020204" pitchFamily="34" charset="-122"/>
              </a:rPr>
              <a:t>倍放大电流</a:t>
            </a:r>
          </a:p>
          <a:p>
            <a:endParaRPr lang="zh-CN" altLang="en-US"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中间两排</a:t>
            </a:r>
            <a:r>
              <a:rPr lang="en-US" altLang="zh-CN" dirty="0">
                <a:latin typeface="微软雅黑" panose="020B0503020204020204" pitchFamily="34" charset="-122"/>
                <a:ea typeface="微软雅黑" panose="020B0503020204020204" pitchFamily="34" charset="-122"/>
              </a:rPr>
              <a:t>MOS</a:t>
            </a:r>
            <a:r>
              <a:rPr lang="zh-CN" altLang="en-US" dirty="0">
                <a:latin typeface="微软雅黑" panose="020B0503020204020204" pitchFamily="34" charset="-122"/>
                <a:ea typeface="微软雅黑" panose="020B0503020204020204" pitchFamily="34" charset="-122"/>
              </a:rPr>
              <a:t>管起到开关作用，改变增益</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14886777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稻壳儿搜索【幻雨工作室】__1">
            <a:extLst>
              <a:ext uri="{FF2B5EF4-FFF2-40B4-BE49-F238E27FC236}">
                <a16:creationId xmlns:a16="http://schemas.microsoft.com/office/drawing/2014/main" id="{8CE98E44-6239-4130-BF5E-E392F22F7BE1}"/>
              </a:ext>
            </a:extLst>
          </p:cNvPr>
          <p:cNvSpPr>
            <a:spLocks noChangeArrowheads="1"/>
          </p:cNvSpPr>
          <p:nvPr/>
        </p:nvSpPr>
        <p:spPr bwMode="auto">
          <a:xfrm>
            <a:off x="382815" y="334907"/>
            <a:ext cx="841148" cy="838935"/>
          </a:xfrm>
          <a:prstGeom prst="ellipse">
            <a:avLst/>
          </a:prstGeom>
          <a:solidFill>
            <a:schemeClr val="accent1"/>
          </a:solidFill>
          <a:ln w="76200">
            <a:noFill/>
          </a:ln>
        </p:spPr>
        <p:txBody>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lnSpc>
                <a:spcPct val="120000"/>
              </a:lnSpc>
            </a:pPr>
            <a:r>
              <a:rPr lang="en-US" altLang="zh-CN" sz="2800" b="1">
                <a:solidFill>
                  <a:schemeClr val="bg1"/>
                </a:solidFill>
                <a:ea typeface="微软雅黑" panose="020B0503020204020204" pitchFamily="34" charset="-122"/>
                <a:cs typeface="Arial" panose="020B0604020202020204" pitchFamily="34" charset="0"/>
              </a:rPr>
              <a:t>03</a:t>
            </a:r>
            <a:endParaRPr lang="zh-CN" altLang="en-US" sz="2800" b="1" dirty="0">
              <a:solidFill>
                <a:schemeClr val="bg1"/>
              </a:solidFill>
              <a:ea typeface="微软雅黑" panose="020B0503020204020204" pitchFamily="34" charset="-122"/>
              <a:cs typeface="Arial" panose="020B0604020202020204" pitchFamily="34" charset="0"/>
            </a:endParaRPr>
          </a:p>
        </p:txBody>
      </p:sp>
      <p:sp>
        <p:nvSpPr>
          <p:cNvPr id="6" name="稻壳儿搜索【幻雨工作室】__2">
            <a:extLst>
              <a:ext uri="{FF2B5EF4-FFF2-40B4-BE49-F238E27FC236}">
                <a16:creationId xmlns:a16="http://schemas.microsoft.com/office/drawing/2014/main" id="{136A2E7B-4FD3-41DD-9FB8-3C8506EE5231}"/>
              </a:ext>
            </a:extLst>
          </p:cNvPr>
          <p:cNvSpPr txBox="1">
            <a:spLocks noChangeArrowheads="1"/>
          </p:cNvSpPr>
          <p:nvPr/>
        </p:nvSpPr>
        <p:spPr bwMode="auto">
          <a:xfrm>
            <a:off x="1419721" y="431209"/>
            <a:ext cx="3845923" cy="646331"/>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typeface="华文细黑" panose="02010600040101010101" pitchFamily="2" charset="-122"/>
                <a:ea typeface="华文细黑" panose="02010600040101010101" pitchFamily="2" charset="-122"/>
              </a:defRPr>
            </a:lvl1pPr>
            <a:lvl2pPr marL="742950" indent="-285750">
              <a:defRPr sz="1300">
                <a:solidFill>
                  <a:schemeClr val="tx1"/>
                </a:solidFill>
                <a:latin typeface="华文细黑" panose="02010600040101010101" pitchFamily="2" charset="-122"/>
                <a:ea typeface="华文细黑" panose="02010600040101010101" pitchFamily="2" charset="-122"/>
              </a:defRPr>
            </a:lvl2pPr>
            <a:lvl3pPr marL="1143000" indent="-228600">
              <a:defRPr sz="1300">
                <a:solidFill>
                  <a:schemeClr val="tx1"/>
                </a:solidFill>
                <a:latin typeface="华文细黑" panose="02010600040101010101" pitchFamily="2" charset="-122"/>
                <a:ea typeface="华文细黑" panose="02010600040101010101" pitchFamily="2" charset="-122"/>
              </a:defRPr>
            </a:lvl3pPr>
            <a:lvl4pPr marL="1600200" indent="-228600">
              <a:defRPr sz="1300">
                <a:solidFill>
                  <a:schemeClr val="tx1"/>
                </a:solidFill>
                <a:latin typeface="华文细黑" panose="02010600040101010101" pitchFamily="2" charset="-122"/>
                <a:ea typeface="华文细黑" panose="02010600040101010101" pitchFamily="2" charset="-122"/>
              </a:defRPr>
            </a:lvl4pPr>
            <a:lvl5pPr marL="2057400" indent="-228600">
              <a:defRPr sz="1300">
                <a:solidFill>
                  <a:schemeClr val="tx1"/>
                </a:solidFill>
                <a:latin typeface="华文细黑" panose="02010600040101010101" pitchFamily="2" charset="-122"/>
                <a:ea typeface="华文细黑" panose="02010600040101010101" pitchFamily="2" charset="-122"/>
              </a:defRPr>
            </a:lvl5pPr>
            <a:lvl6pPr marL="25146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6pPr>
            <a:lvl7pPr marL="29718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7pPr>
            <a:lvl8pPr marL="34290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8pPr>
            <a:lvl9pPr marL="3886200" indent="-228600" defTabSz="683895" fontAlgn="base">
              <a:spcBef>
                <a:spcPct val="0"/>
              </a:spcBef>
              <a:spcAft>
                <a:spcPct val="0"/>
              </a:spcAft>
              <a:defRPr sz="1300">
                <a:solidFill>
                  <a:schemeClr val="tx1"/>
                </a:solidFill>
                <a:latin typeface="华文细黑" panose="02010600040101010101" pitchFamily="2" charset="-122"/>
                <a:ea typeface="华文细黑" panose="02010600040101010101" pitchFamily="2" charset="-122"/>
              </a:defRPr>
            </a:lvl9pPr>
          </a:lstStyle>
          <a:p>
            <a:pPr defTabSz="685800">
              <a:defRPr/>
            </a:pPr>
            <a:r>
              <a:rPr lang="zh-CN" altLang="en-US" sz="3600" dirty="0">
                <a:solidFill>
                  <a:schemeClr val="accent1"/>
                </a:solidFill>
                <a:latin typeface="微软雅黑" panose="020B0503020204020204" pitchFamily="34" charset="-122"/>
                <a:ea typeface="微软雅黑" panose="020B0503020204020204" pitchFamily="34" charset="-122"/>
              </a:rPr>
              <a:t>不足和欠缺</a:t>
            </a:r>
            <a:endParaRPr lang="en-US" altLang="zh-CN" sz="3600" dirty="0">
              <a:solidFill>
                <a:schemeClr val="accent1"/>
              </a:solidFill>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C4509486-A019-4207-9CB7-1EDAD60F7EBC}"/>
              </a:ext>
            </a:extLst>
          </p:cNvPr>
          <p:cNvSpPr txBox="1"/>
          <p:nvPr/>
        </p:nvSpPr>
        <p:spPr>
          <a:xfrm>
            <a:off x="1419721" y="1856768"/>
            <a:ext cx="6228272" cy="1938992"/>
          </a:xfrm>
          <a:prstGeom prst="rect">
            <a:avLst/>
          </a:prstGeom>
          <a:noFill/>
        </p:spPr>
        <p:txBody>
          <a:bodyPr wrap="square" rtlCol="0">
            <a:spAutoFit/>
          </a:bodyPr>
          <a:lstStyle/>
          <a:p>
            <a:r>
              <a:rPr lang="zh-CN" altLang="zh-CN" sz="2400" b="1" dirty="0" smtClean="0"/>
              <a:t>之前</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2266781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稻壳儿搜索【幻雨工作室】__1">
            <a:extLst>
              <a:ext uri="{FF2B5EF4-FFF2-40B4-BE49-F238E27FC236}">
                <a16:creationId xmlns:a16="http://schemas.microsoft.com/office/drawing/2014/main" id="{898EF5DD-752A-496C-861C-B924BC62481A}"/>
              </a:ext>
            </a:extLst>
          </p:cNvPr>
          <p:cNvSpPr/>
          <p:nvPr/>
        </p:nvSpPr>
        <p:spPr>
          <a:xfrm rot="5400000">
            <a:off x="10679989" y="3199681"/>
            <a:ext cx="2158998" cy="458639"/>
          </a:xfrm>
          <a:custGeom>
            <a:avLst/>
            <a:gdLst>
              <a:gd name="connsiteX0" fmla="*/ 0 w 2158998"/>
              <a:gd name="connsiteY0" fmla="*/ 6358 h 458639"/>
              <a:gd name="connsiteX1" fmla="*/ 641 w 2158998"/>
              <a:gd name="connsiteY1" fmla="*/ 0 h 458639"/>
              <a:gd name="connsiteX2" fmla="*/ 2158357 w 2158998"/>
              <a:gd name="connsiteY2" fmla="*/ 0 h 458639"/>
              <a:gd name="connsiteX3" fmla="*/ 2158998 w 2158998"/>
              <a:gd name="connsiteY3" fmla="*/ 6358 h 458639"/>
              <a:gd name="connsiteX4" fmla="*/ 1706717 w 2158998"/>
              <a:gd name="connsiteY4" fmla="*/ 458639 h 458639"/>
              <a:gd name="connsiteX5" fmla="*/ 452281 w 2158998"/>
              <a:gd name="connsiteY5" fmla="*/ 458639 h 458639"/>
              <a:gd name="connsiteX6" fmla="*/ 0 w 2158998"/>
              <a:gd name="connsiteY6" fmla="*/ 6358 h 458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8998" h="458639">
                <a:moveTo>
                  <a:pt x="0" y="6358"/>
                </a:moveTo>
                <a:lnTo>
                  <a:pt x="641" y="0"/>
                </a:lnTo>
                <a:lnTo>
                  <a:pt x="2158357" y="0"/>
                </a:lnTo>
                <a:lnTo>
                  <a:pt x="2158998" y="6358"/>
                </a:lnTo>
                <a:cubicBezTo>
                  <a:pt x="2158998" y="256146"/>
                  <a:pt x="1956505" y="458639"/>
                  <a:pt x="1706717" y="458639"/>
                </a:cubicBezTo>
                <a:lnTo>
                  <a:pt x="452281" y="458639"/>
                </a:lnTo>
                <a:cubicBezTo>
                  <a:pt x="202493" y="458639"/>
                  <a:pt x="0" y="256146"/>
                  <a:pt x="0" y="635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2" name="稻壳儿搜索【幻雨工作室】__2">
            <a:extLst>
              <a:ext uri="{FF2B5EF4-FFF2-40B4-BE49-F238E27FC236}">
                <a16:creationId xmlns:a16="http://schemas.microsoft.com/office/drawing/2014/main" id="{E70A919D-CA68-47FD-9834-FE9D8D357FE4}"/>
              </a:ext>
            </a:extLst>
          </p:cNvPr>
          <p:cNvSpPr txBox="1"/>
          <p:nvPr/>
        </p:nvSpPr>
        <p:spPr>
          <a:xfrm>
            <a:off x="2810628" y="4583458"/>
            <a:ext cx="6247303" cy="461665"/>
          </a:xfrm>
          <a:prstGeom prst="rect">
            <a:avLst/>
          </a:prstGeom>
          <a:noFill/>
        </p:spPr>
        <p:txBody>
          <a:bodyPr wrap="square" rtlCol="0">
            <a:spAutoFit/>
          </a:bodyPr>
          <a:lstStyle/>
          <a:p>
            <a:pPr algn="ctr"/>
            <a:r>
              <a:rPr lang="en-US" altLang="zh-CN" sz="2400" dirty="0" err="1" smtClean="0">
                <a:solidFill>
                  <a:schemeClr val="accent1"/>
                </a:solidFill>
                <a:latin typeface="微软雅黑" panose="020B0503020204020204" pitchFamily="34" charset="-122"/>
                <a:ea typeface="微软雅黑" panose="020B0503020204020204" pitchFamily="34" charset="-122"/>
                <a:sym typeface="+mn-ea"/>
              </a:rPr>
              <a:t>Juyi</a:t>
            </a:r>
            <a:r>
              <a:rPr lang="en-US" altLang="zh-CN" sz="2400" dirty="0" smtClean="0">
                <a:solidFill>
                  <a:schemeClr val="accent1"/>
                </a:solidFill>
                <a:latin typeface="微软雅黑" panose="020B0503020204020204" pitchFamily="34" charset="-122"/>
                <a:ea typeface="微软雅黑" panose="020B0503020204020204" pitchFamily="34" charset="-122"/>
                <a:sym typeface="+mn-ea"/>
              </a:rPr>
              <a:t> Lin</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7" name="稻壳儿搜索【幻雨工作室】__3">
            <a:extLst>
              <a:ext uri="{FF2B5EF4-FFF2-40B4-BE49-F238E27FC236}">
                <a16:creationId xmlns:a16="http://schemas.microsoft.com/office/drawing/2014/main" id="{0EBFEAA2-261B-46AA-9F3F-9AD6C2E14DD7}"/>
              </a:ext>
            </a:extLst>
          </p:cNvPr>
          <p:cNvSpPr/>
          <p:nvPr/>
        </p:nvSpPr>
        <p:spPr>
          <a:xfrm>
            <a:off x="209550" y="171450"/>
            <a:ext cx="11772900" cy="6515100"/>
          </a:xfrm>
          <a:prstGeom prst="roundRect">
            <a:avLst>
              <a:gd name="adj" fmla="val 2827"/>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稻壳儿搜索【幻雨工作室】__4">
            <a:extLst>
              <a:ext uri="{FF2B5EF4-FFF2-40B4-BE49-F238E27FC236}">
                <a16:creationId xmlns:a16="http://schemas.microsoft.com/office/drawing/2014/main" id="{2B9890A0-DC39-46BA-B6A8-8C7041112493}"/>
              </a:ext>
            </a:extLst>
          </p:cNvPr>
          <p:cNvSpPr/>
          <p:nvPr/>
        </p:nvSpPr>
        <p:spPr>
          <a:xfrm rot="16200000" flipH="1">
            <a:off x="-632609" y="3199683"/>
            <a:ext cx="2158998" cy="458639"/>
          </a:xfrm>
          <a:custGeom>
            <a:avLst/>
            <a:gdLst>
              <a:gd name="connsiteX0" fmla="*/ 0 w 2158998"/>
              <a:gd name="connsiteY0" fmla="*/ 6358 h 458639"/>
              <a:gd name="connsiteX1" fmla="*/ 641 w 2158998"/>
              <a:gd name="connsiteY1" fmla="*/ 0 h 458639"/>
              <a:gd name="connsiteX2" fmla="*/ 2158357 w 2158998"/>
              <a:gd name="connsiteY2" fmla="*/ 0 h 458639"/>
              <a:gd name="connsiteX3" fmla="*/ 2158998 w 2158998"/>
              <a:gd name="connsiteY3" fmla="*/ 6358 h 458639"/>
              <a:gd name="connsiteX4" fmla="*/ 1706717 w 2158998"/>
              <a:gd name="connsiteY4" fmla="*/ 458639 h 458639"/>
              <a:gd name="connsiteX5" fmla="*/ 452281 w 2158998"/>
              <a:gd name="connsiteY5" fmla="*/ 458639 h 458639"/>
              <a:gd name="connsiteX6" fmla="*/ 0 w 2158998"/>
              <a:gd name="connsiteY6" fmla="*/ 6358 h 458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8998" h="458639">
                <a:moveTo>
                  <a:pt x="0" y="6358"/>
                </a:moveTo>
                <a:lnTo>
                  <a:pt x="641" y="0"/>
                </a:lnTo>
                <a:lnTo>
                  <a:pt x="2158357" y="0"/>
                </a:lnTo>
                <a:lnTo>
                  <a:pt x="2158998" y="6358"/>
                </a:lnTo>
                <a:cubicBezTo>
                  <a:pt x="2158998" y="256146"/>
                  <a:pt x="1956505" y="458639"/>
                  <a:pt x="1706717" y="458639"/>
                </a:cubicBezTo>
                <a:lnTo>
                  <a:pt x="452281" y="458639"/>
                </a:lnTo>
                <a:cubicBezTo>
                  <a:pt x="202493" y="458639"/>
                  <a:pt x="0" y="256146"/>
                  <a:pt x="0" y="635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1" name="稻壳儿搜索【幻雨工作室】__5">
            <a:extLst>
              <a:ext uri="{FF2B5EF4-FFF2-40B4-BE49-F238E27FC236}">
                <a16:creationId xmlns:a16="http://schemas.microsoft.com/office/drawing/2014/main" id="{FC51F915-5A16-42F3-9122-590D528F4EB6}"/>
              </a:ext>
            </a:extLst>
          </p:cNvPr>
          <p:cNvSpPr txBox="1">
            <a:spLocks noChangeArrowheads="1"/>
          </p:cNvSpPr>
          <p:nvPr/>
        </p:nvSpPr>
        <p:spPr bwMode="auto">
          <a:xfrm>
            <a:off x="2420306" y="2678543"/>
            <a:ext cx="7351388" cy="64633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defPPr>
              <a:defRPr lang="zh-CN"/>
            </a:defPPr>
            <a:lvl1pPr algn="ctr">
              <a:defRPr sz="7200" b="1">
                <a:ln w="12700">
                  <a:noFill/>
                </a:ln>
                <a:gradFill flip="none" rotWithShape="1">
                  <a:gsLst>
                    <a:gs pos="0">
                      <a:srgbClr val="ECECEC">
                        <a:alpha val="0"/>
                      </a:srgbClr>
                    </a:gs>
                    <a:gs pos="21000">
                      <a:schemeClr val="bg1"/>
                    </a:gs>
                    <a:gs pos="100000">
                      <a:schemeClr val="bg1">
                        <a:alpha val="0"/>
                      </a:schemeClr>
                    </a:gs>
                    <a:gs pos="83000">
                      <a:schemeClr val="bg1">
                        <a:lumMod val="85000"/>
                      </a:schemeClr>
                    </a:gs>
                  </a:gsLst>
                  <a:lin ang="7800000" scaled="0"/>
                  <a:tileRect/>
                </a:gradFill>
                <a:latin typeface="微软雅黑" panose="020B0503020204020204" charset="-122"/>
                <a:ea typeface="微软雅黑" panose="020B0503020204020204" charset="-122"/>
              </a:defRPr>
            </a:lvl1pPr>
            <a:lvl2pPr>
              <a:defRPr/>
            </a:lvl2pPr>
            <a:lvl3pPr>
              <a:defRPr/>
            </a:lvl3pPr>
            <a:lvl4pPr>
              <a:defRPr/>
            </a:lvl4pPr>
            <a:lvl5pPr>
              <a:defRPr/>
            </a:lvl5pPr>
            <a:lvl6pPr>
              <a:defRPr/>
            </a:lvl6pPr>
            <a:lvl7pPr>
              <a:defRPr/>
            </a:lvl7pPr>
            <a:lvl8pPr>
              <a:defRPr/>
            </a:lvl8pPr>
            <a:lvl9pPr>
              <a:defRPr/>
            </a:lvl9pPr>
          </a:lstStyle>
          <a:p>
            <a:r>
              <a:rPr lang="en-US" altLang="zh-CN" sz="3600" spc="300" dirty="0" smtClean="0">
                <a:solidFill>
                  <a:schemeClr val="accent1"/>
                </a:solidFill>
              </a:rPr>
              <a:t>Thank you for listening!</a:t>
            </a:r>
            <a:endParaRPr lang="en-US" altLang="zh-CN" sz="3600" spc="300" dirty="0">
              <a:solidFill>
                <a:schemeClr val="accent1"/>
              </a:solidFill>
            </a:endParaRPr>
          </a:p>
        </p:txBody>
      </p:sp>
      <p:sp>
        <p:nvSpPr>
          <p:cNvPr id="4" name="稻壳儿搜索【幻雨工作室】__6">
            <a:extLst>
              <a:ext uri="{FF2B5EF4-FFF2-40B4-BE49-F238E27FC236}">
                <a16:creationId xmlns:a16="http://schemas.microsoft.com/office/drawing/2014/main" id="{8BEF275B-FDA0-4E34-8F0C-041596DF1EC7}"/>
              </a:ext>
            </a:extLst>
          </p:cNvPr>
          <p:cNvSpPr/>
          <p:nvPr/>
        </p:nvSpPr>
        <p:spPr>
          <a:xfrm>
            <a:off x="4505019" y="3888553"/>
            <a:ext cx="3949369" cy="338554"/>
          </a:xfrm>
          <a:prstGeom prst="rect">
            <a:avLst/>
          </a:prstGeom>
        </p:spPr>
        <p:txBody>
          <a:bodyPr wrap="square">
            <a:spAutoFit/>
          </a:bodyPr>
          <a:lstStyle/>
          <a:p>
            <a:r>
              <a:rPr lang="en-US" altLang="zh-CN" sz="1600" dirty="0" smtClean="0">
                <a:solidFill>
                  <a:schemeClr val="accent1"/>
                </a:solidFill>
                <a:latin typeface="Arial" panose="020B0604020202020204" pitchFamily="34" charset="0"/>
                <a:cs typeface="Arial" panose="020B0604020202020204" pitchFamily="34" charset="0"/>
              </a:rPr>
              <a:t>HKU Summer Research Presentation</a:t>
            </a:r>
            <a:endParaRPr lang="zh-CN" altLang="en-US" sz="1600" dirty="0">
              <a:solidFill>
                <a:schemeClr val="accent1"/>
              </a:solidFill>
              <a:latin typeface="Arial" panose="020B0604020202020204" pitchFamily="34" charset="0"/>
              <a:cs typeface="Arial" panose="020B0604020202020204" pitchFamily="34" charset="0"/>
            </a:endParaRPr>
          </a:p>
        </p:txBody>
      </p:sp>
      <p:cxnSp>
        <p:nvCxnSpPr>
          <p:cNvPr id="10" name="稻壳儿搜索【幻雨工作室】__7">
            <a:extLst>
              <a:ext uri="{FF2B5EF4-FFF2-40B4-BE49-F238E27FC236}">
                <a16:creationId xmlns:a16="http://schemas.microsoft.com/office/drawing/2014/main" id="{0E67287C-8A14-4847-AE6C-C390979DBCD6}"/>
              </a:ext>
            </a:extLst>
          </p:cNvPr>
          <p:cNvCxnSpPr>
            <a:cxnSpLocks/>
          </p:cNvCxnSpPr>
          <p:nvPr/>
        </p:nvCxnSpPr>
        <p:spPr>
          <a:xfrm>
            <a:off x="2619219" y="4283642"/>
            <a:ext cx="6944329" cy="0"/>
          </a:xfrm>
          <a:prstGeom prst="line">
            <a:avLst/>
          </a:prstGeom>
          <a:ln w="15240"/>
        </p:spPr>
        <p:style>
          <a:lnRef idx="1">
            <a:schemeClr val="accent1"/>
          </a:lnRef>
          <a:fillRef idx="0">
            <a:schemeClr val="accent1"/>
          </a:fillRef>
          <a:effectRef idx="0">
            <a:schemeClr val="accent1"/>
          </a:effectRef>
          <a:fontRef idx="minor">
            <a:schemeClr val="tx1"/>
          </a:fontRef>
        </p:style>
      </p:cxnSp>
      <p:cxnSp>
        <p:nvCxnSpPr>
          <p:cNvPr id="95" name="稻壳儿搜索【幻雨工作室】__8">
            <a:extLst>
              <a:ext uri="{FF2B5EF4-FFF2-40B4-BE49-F238E27FC236}">
                <a16:creationId xmlns:a16="http://schemas.microsoft.com/office/drawing/2014/main" id="{FCF1EA28-69AC-4A45-9986-43A5CD6E97C7}"/>
              </a:ext>
            </a:extLst>
          </p:cNvPr>
          <p:cNvCxnSpPr>
            <a:cxnSpLocks/>
          </p:cNvCxnSpPr>
          <p:nvPr/>
        </p:nvCxnSpPr>
        <p:spPr>
          <a:xfrm>
            <a:off x="2619219" y="2573176"/>
            <a:ext cx="6944329" cy="0"/>
          </a:xfrm>
          <a:prstGeom prst="line">
            <a:avLst/>
          </a:prstGeom>
          <a:ln w="15240"/>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676210" y="6082425"/>
            <a:ext cx="1332416" cy="369332"/>
          </a:xfrm>
          <a:prstGeom prst="rect">
            <a:avLst/>
          </a:prstGeom>
        </p:spPr>
        <p:txBody>
          <a:bodyPr wrap="none">
            <a:spAutoFit/>
          </a:bodyPr>
          <a:lstStyle/>
          <a:p>
            <a:r>
              <a:rPr lang="en-US" altLang="zh-CN" dirty="0" smtClean="0">
                <a:latin typeface="等线" panose="02010600030101010101" charset="-122"/>
                <a:ea typeface="等线" panose="02010600030101010101" charset="-122"/>
                <a:cs typeface="等线" panose="02010600030101010101" charset="-122"/>
                <a:sym typeface="+mn-ea"/>
              </a:rPr>
              <a:t>2021/08/30</a:t>
            </a:r>
            <a:endParaRPr lang="zh-CN" altLang="en-US" dirty="0">
              <a:latin typeface="等线" panose="02010600030101010101" charset="-122"/>
              <a:ea typeface="等线" panose="02010600030101010101" charset="-122"/>
              <a:cs typeface="等线" panose="02010600030101010101" charset="-122"/>
            </a:endParaRPr>
          </a:p>
        </p:txBody>
      </p:sp>
    </p:spTree>
    <p:custDataLst>
      <p:tags r:id="rId1"/>
    </p:custDataLst>
    <p:extLst>
      <p:ext uri="{BB962C8B-B14F-4D97-AF65-F5344CB8AC3E}">
        <p14:creationId xmlns:p14="http://schemas.microsoft.com/office/powerpoint/2010/main" val="367388806"/>
      </p:ext>
    </p:extLst>
  </p:cSld>
  <p:clrMapOvr>
    <a:masterClrMapping/>
  </p:clrMapOvr>
  <mc:AlternateContent xmlns:mc="http://schemas.openxmlformats.org/markup-compatibility/2006" xmlns:p14="http://schemas.microsoft.com/office/powerpoint/2010/main">
    <mc:Choice Requires="p14">
      <p:transition spd="slow" p14:dur="2000" advTm="12635"/>
    </mc:Choice>
    <mc:Fallback xmlns="">
      <p:transition spd="slow" advTm="12635"/>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__MICROSOFT_TRANSLATOR_CLM_PRESENTATIONINFO" val="{&quot;DocumentId&quot;:&quot;c1b08e468d422b427fb088d212321722&quot;,&quot;LanguageCode&quot;:&quot;zh-CN&quot;,&quot;SlideGuids&quot;:[&quot;9c3b7d8f-67d5-4996-b9cb-0c637bf93da7&quot;,&quot;b4a1607e-2f12-4603-b558-c6c056e53c9f&quot;,&quot;76df5fb5-a40e-48d4-b30a-36a6a3d62090&quot;,&quot;6d37170c-4f9c-4628-979b-aba1c0f85ea7&quot;,&quot;32179e31-e3ed-4d4b-89d5-ee8e215bb525&quot;,&quot;6b53a810-ceca-42d3-860b-fe36f939c2cd&quot;,&quot;fdedf59c-d0ec-42cc-b4bd-b1997501c777&quot;,&quot;3db3f99f-cd64-4ace-810c-e0709444e593&quot;,&quot;3108d546-faa8-4438-bad5-60d21fb4b0a8&quot;,&quot;32c0e8b7-34ee-40b5-92f5-23ff47772c52&quot;,&quot;83ecbbaf-2e58-4387-baa5-607a52756528&quot;,&quot;b65a5b5f-2dca-4a73-9bcc-c4fa55f9b4d0&quot;],&quot;TimeStamp&quot;:&quot;2020-12-09T15:44:53.5848555+08:00&quot;}"/>
</p:tagLst>
</file>

<file path=ppt/tags/tag2.xml><?xml version="1.0" encoding="utf-8"?>
<p:tagLst xmlns:a="http://schemas.openxmlformats.org/drawingml/2006/main" xmlns:r="http://schemas.openxmlformats.org/officeDocument/2006/relationships" xmlns:p="http://schemas.openxmlformats.org/presentationml/2006/main">
  <p:tag name="__MICROSOFT_TRANSLATOR_CLM_SLIDEINFO" val="{&quot;Guid&quot;:&quot;9c3b7d8f-67d5-4996-b9cb-0c637bf93da7&quot;,&quot;TimeStamp&quot;:&quot;2020-12-09T15:44:53.534971+08:00&quot;}"/>
</p:tagLst>
</file>

<file path=ppt/tags/tag3.xml><?xml version="1.0" encoding="utf-8"?>
<p:tagLst xmlns:a="http://schemas.openxmlformats.org/drawingml/2006/main" xmlns:r="http://schemas.openxmlformats.org/officeDocument/2006/relationships" xmlns:p="http://schemas.openxmlformats.org/presentationml/2006/main">
  <p:tag name="__MICROSOFT_TRANSLATOR_CLM_SLIDEINFO" val="{&quot;Guid&quot;:&quot;b4a1607e-2f12-4603-b558-c6c056e53c9f&quot;,&quot;TimeStamp&quot;:&quot;2020-12-09T15:44:53.5838328+08:00&quot;}"/>
</p:tagLst>
</file>

<file path=ppt/tags/tag4.xml><?xml version="1.0" encoding="utf-8"?>
<p:tagLst xmlns:a="http://schemas.openxmlformats.org/drawingml/2006/main" xmlns:r="http://schemas.openxmlformats.org/officeDocument/2006/relationships" xmlns:p="http://schemas.openxmlformats.org/presentationml/2006/main">
  <p:tag name="__MICROSOFT_TRANSLATOR_CLM_SLIDEINFO" val="{&quot;Guid&quot;:&quot;32179e31-e3ed-4d4b-89d5-ee8e215bb525&quot;,&quot;TimeStamp&quot;:&quot;2020-12-09T15:44:53.5838328+08:00&quot;}"/>
</p:tagLst>
</file>

<file path=ppt/tags/tag5.xml><?xml version="1.0" encoding="utf-8"?>
<p:tagLst xmlns:a="http://schemas.openxmlformats.org/drawingml/2006/main" xmlns:r="http://schemas.openxmlformats.org/officeDocument/2006/relationships" xmlns:p="http://schemas.openxmlformats.org/presentationml/2006/main">
  <p:tag name="__MICROSOFT_TRANSLATOR_CLM_SLIDEINFO" val="{&quot;Guid&quot;:&quot;32179e31-e3ed-4d4b-89d5-ee8e215bb525&quot;,&quot;TimeStamp&quot;:&quot;2020-12-09T15:44:53.5838328+08:00&quot;}"/>
</p:tagLst>
</file>

<file path=ppt/tags/tag6.xml><?xml version="1.0" encoding="utf-8"?>
<p:tagLst xmlns:a="http://schemas.openxmlformats.org/drawingml/2006/main" xmlns:r="http://schemas.openxmlformats.org/officeDocument/2006/relationships" xmlns:p="http://schemas.openxmlformats.org/presentationml/2006/main">
  <p:tag name="__MICROSOFT_TRANSLATOR_CLM_SLIDEINFO" val="{&quot;Guid&quot;:&quot;6b53a810-ceca-42d3-860b-fe36f939c2cd&quot;,&quot;TimeStamp&quot;:&quot;2020-12-09T15:44:53.5838328+08:00&quot;}"/>
</p:tagLst>
</file>

<file path=ppt/tags/tag7.xml><?xml version="1.0" encoding="utf-8"?>
<p:tagLst xmlns:a="http://schemas.openxmlformats.org/drawingml/2006/main" xmlns:r="http://schemas.openxmlformats.org/officeDocument/2006/relationships" xmlns:p="http://schemas.openxmlformats.org/presentationml/2006/main">
  <p:tag name="__MICROSOFT_TRANSLATOR_CLM_SLIDEINFO" val="{&quot;Guid&quot;:&quot;fdedf59c-d0ec-42cc-b4bd-b1997501c777&quot;,&quot;TimeStamp&quot;:&quot;2020-12-09T15:44:53.5838328+08:00&quot;}"/>
</p:tagLst>
</file>

<file path=ppt/tags/tag8.xml><?xml version="1.0" encoding="utf-8"?>
<p:tagLst xmlns:a="http://schemas.openxmlformats.org/drawingml/2006/main" xmlns:r="http://schemas.openxmlformats.org/officeDocument/2006/relationships" xmlns:p="http://schemas.openxmlformats.org/presentationml/2006/main">
  <p:tag name="__MICROSOFT_TRANSLATOR_CLM_SLIDEINFO" val="{&quot;Guid&quot;:&quot;83ecbbaf-2e58-4387-baa5-607a52756528&quot;,&quot;TimeStamp&quot;:&quot;2020-12-09T15:44:53.5848555+08:00&quot;}"/>
</p:tagLst>
</file>

<file path=ppt/tags/tag9.xml><?xml version="1.0" encoding="utf-8"?>
<p:tagLst xmlns:a="http://schemas.openxmlformats.org/drawingml/2006/main" xmlns:r="http://schemas.openxmlformats.org/officeDocument/2006/relationships" xmlns:p="http://schemas.openxmlformats.org/presentationml/2006/main">
  <p:tag name="__MICROSOFT_TRANSLATOR_CLM_SLIDEINFO" val="{&quot;Guid&quot;:&quot;9c3b7d8f-67d5-4996-b9cb-0c637bf93da7&quot;,&quot;TimeStamp&quot;:&quot;2020-12-09T15:44:53.534971+08:00&quot;}"/>
</p:tagLst>
</file>

<file path=ppt/theme/theme1.xml><?xml version="1.0" encoding="utf-8"?>
<a:theme xmlns:a="http://schemas.openxmlformats.org/drawingml/2006/main" name="Office 主题​​">
  <a:themeElements>
    <a:clrScheme name="蓝色毕业答辩">
      <a:dk1>
        <a:sysClr val="windowText" lastClr="000000"/>
      </a:dk1>
      <a:lt1>
        <a:sysClr val="window" lastClr="FFFFFF"/>
      </a:lt1>
      <a:dk2>
        <a:srgbClr val="44546A"/>
      </a:dk2>
      <a:lt2>
        <a:srgbClr val="E7E6E6"/>
      </a:lt2>
      <a:accent1>
        <a:srgbClr val="304270"/>
      </a:accent1>
      <a:accent2>
        <a:srgbClr val="304270"/>
      </a:accent2>
      <a:accent3>
        <a:srgbClr val="304270"/>
      </a:accent3>
      <a:accent4>
        <a:srgbClr val="304270"/>
      </a:accent4>
      <a:accent5>
        <a:srgbClr val="304270"/>
      </a:accent5>
      <a:accent6>
        <a:srgbClr val="304270"/>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3262</TotalTime>
  <Words>1049</Words>
  <Application>Microsoft Office PowerPoint</Application>
  <PresentationFormat>宽屏</PresentationFormat>
  <Paragraphs>203</Paragraphs>
  <Slides>17</Slides>
  <Notes>10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17</vt:i4>
      </vt:variant>
    </vt:vector>
  </HeadingPairs>
  <TitlesOfParts>
    <vt:vector size="25" baseType="lpstr">
      <vt:lpstr>等线</vt:lpstr>
      <vt:lpstr>等线 Light</vt:lpstr>
      <vt:lpstr>华文细黑</vt:lpstr>
      <vt:lpstr>微软雅黑</vt:lpstr>
      <vt:lpstr>Arial</vt:lpstr>
      <vt:lpstr>Cambria Math</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林炬乙</dc:creator>
  <cp:lastModifiedBy>luke</cp:lastModifiedBy>
  <cp:revision>354</cp:revision>
  <dcterms:created xsi:type="dcterms:W3CDTF">2019-05-16T14:39:19Z</dcterms:created>
  <dcterms:modified xsi:type="dcterms:W3CDTF">2021-08-22T02:50:13Z</dcterms:modified>
</cp:coreProperties>
</file>