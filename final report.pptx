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65" r:id="rId2"/>
    <p:sldId id="300" r:id="rId3"/>
    <p:sldId id="314" r:id="rId4"/>
    <p:sldId id="302" r:id="rId5"/>
    <p:sldId id="291" r:id="rId6"/>
    <p:sldId id="278" r:id="rId7"/>
    <p:sldId id="310" r:id="rId8"/>
    <p:sldId id="313" r:id="rId9"/>
    <p:sldId id="285" r:id="rId10"/>
  </p:sldIdLst>
  <p:sldSz cx="12192000" cy="6858000"/>
  <p:notesSz cx="6858000" cy="9144000"/>
  <p:embeddedFontLst>
    <p:embeddedFont>
      <p:font typeface="Verdana" panose="020B0604030504040204" pitchFamily="34" charset="0"/>
      <p:regular r:id="rId12"/>
      <p:bold r:id="rId13"/>
      <p:italic r:id="rId14"/>
      <p:boldItalic r:id="rId15"/>
    </p:embeddedFont>
    <p:embeddedFont>
      <p:font typeface="等线" panose="02010600030101010101" pitchFamily="2" charset="-122"/>
      <p:regular r:id="rId16"/>
      <p:bold r:id="rId17"/>
    </p:embeddedFont>
    <p:embeddedFont>
      <p:font typeface="等线 Light" panose="02010600030101010101" pitchFamily="2" charset="-122"/>
      <p:regular r:id="rId1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90B07"/>
    <a:srgbClr val="A51A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5" autoAdjust="0"/>
    <p:restoredTop sz="87342" autoAdjust="0"/>
  </p:normalViewPr>
  <p:slideViewPr>
    <p:cSldViewPr snapToGrid="0">
      <p:cViewPr varScale="1">
        <p:scale>
          <a:sx n="76" d="100"/>
          <a:sy n="76" d="100"/>
        </p:scale>
        <p:origin x="10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48F77-FEAE-4282-A285-279375661706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3FA922-7152-4116-8B91-582AC3B594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4683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 theme of our project</a:t>
            </a:r>
            <a:r>
              <a:rPr lang="en-US" altLang="zh-CN" baseline="0" dirty="0" smtClean="0"/>
              <a:t> is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hierarchical reinforcement learning to jointly allocate GPU resources and place jobs.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5888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Firstly, I will quickly introduce my project background, which is mainly divided into </a:t>
            </a:r>
            <a:r>
              <a:rPr lang="en-US" altLang="zh-CN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part,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856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</a:t>
            </a:r>
            <a:endParaRPr lang="en-US" altLang="zh-CN" sz="1200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900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aseline="0" dirty="0" smtClean="0"/>
              <a:t>Transactional memory could recover from errors, rollback   , implement synchronization among tasks.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000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The </a:t>
            </a:r>
            <a:r>
              <a:rPr lang="en-US" altLang="zh-CN" smtClean="0"/>
              <a:t>previous </a:t>
            </a:r>
            <a:r>
              <a:rPr lang="en-US" altLang="zh-CN" smtClean="0"/>
              <a:t>methods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6063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Our</a:t>
            </a:r>
            <a:r>
              <a:rPr lang="en-US" altLang="zh-CN" baseline="0" dirty="0" smtClean="0"/>
              <a:t> method is g</a:t>
            </a:r>
            <a:r>
              <a:rPr lang="en-US" altLang="zh-CN" dirty="0" smtClean="0"/>
              <a:t>enerating log before eviction. Update cache immediately when store. Generating</a:t>
            </a:r>
            <a:r>
              <a:rPr lang="en-US" altLang="zh-CN" baseline="0" dirty="0" smtClean="0"/>
              <a:t> log when </a:t>
            </a:r>
            <a:r>
              <a:rPr lang="en-US" altLang="zh-CN" baseline="0" dirty="0" err="1" smtClean="0"/>
              <a:t>commiting</a:t>
            </a:r>
            <a:r>
              <a:rPr lang="en-US" altLang="zh-CN" baseline="0" dirty="0" smtClean="0"/>
              <a:t>, we use flush to evict cache line.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784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5640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I finished</a:t>
            </a:r>
            <a:r>
              <a:rPr lang="en-US" altLang="zh-CN" baseline="0" dirty="0" smtClean="0"/>
              <a:t> the experiment with gem5 framework</a:t>
            </a:r>
            <a:r>
              <a:rPr lang="zh-CN" altLang="en-US" dirty="0" smtClean="0"/>
              <a:t>， </a:t>
            </a:r>
            <a:r>
              <a:rPr lang="en-US" altLang="zh-CN" dirty="0" smtClean="0"/>
              <a:t>mainly</a:t>
            </a:r>
            <a:r>
              <a:rPr lang="en-US" altLang="zh-CN" baseline="0" dirty="0" smtClean="0"/>
              <a:t> c++. This is my learning notion and a piece of gem5. </a:t>
            </a:r>
            <a:endParaRPr lang="zh-CN" altLang="en-US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518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5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95DD6E-3A78-44BC-96DF-2C9B6F418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EF148C-B5D2-4D29-B591-978D18282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0A5E18-97F4-4A7F-8619-08A6A8D3B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178D58-E6DA-4AE5-8EF4-CB4A26C2C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A1F9C6-4519-46E6-AE1F-CF1D341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0389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BE47F7-A7D3-4A52-95FC-AE0A8C58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277812-284B-4ADC-9C97-2F0E8EE94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5BDB-AD7C-4B7D-AB73-70E35DD0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5B09E0-878E-4ECF-B80A-A1D9A9E8E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EFF445-A565-4676-A4AD-69BB70EF7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096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C54622-E3FA-4075-B1D9-EAEDCD14F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7EA876-CABC-4664-9842-5DD99087C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CBEC6F-36ED-452D-AB8E-47823A54A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9E0115-B22C-4531-B943-93CF91767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B82DDA-2C26-497B-958C-FD63890B3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243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A30E52-136E-4074-9B81-FB10F710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DA6F-1D30-478C-A28D-DDCCBF6D1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7D07F55-6107-4809-9FFA-96B8E96B6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BDBEC4-53C3-436D-883F-98DF1983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54DF4B9-F7CB-402D-86D0-E2175D398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2113B6-B4F8-44A8-8524-73CED99B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143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8ED98-E75B-4CFC-AFD0-D6A2BCAC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1212645-B4B4-4F77-8BA2-AD2F874C7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369539-0CA0-48AD-9FAD-AC7884E36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D63B44-2672-4E78-BAD3-59DA40D93F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871DF4-0DEC-4889-BC25-994626070D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01594D4-3B0E-4237-BC31-A94E2419E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33767C3-F050-40F4-9683-AF963A7F0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4061D7-DE68-411C-A936-FE98C8CD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7828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234BA1-5195-4444-BBAF-693B2F270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51BE3C6-C658-4CC1-8B61-BA59DDE9B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7E929F1-D548-4ED0-A4A8-A2FC869CA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EB9685-3E28-47F6-AA67-EE734EF13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067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6430065-14C9-40E4-B318-2390C562D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729125-C71F-4C68-988E-7FB43DD29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AAB65C-E388-4C2F-A6FF-B6DA8DA20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5110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E5A7C7-A41E-4034-BEC9-88744573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9C9A12-D9B2-47B1-8C1B-5932FCF40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D87728-3C4E-4DDC-ACD8-8D0E0FE52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AB63EF-DFA4-4269-B670-5B61315EB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9DA0B2-D195-492A-B629-FC7408CFD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E6217F-142E-41B3-A30D-0F4D44AC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596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0800B6-80FE-4C00-A03F-72EC0AB70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3E24C4E-3D15-4641-B454-45902DA097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F862D78-E8D9-4FF5-86EF-DEE607E21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503D0F-17F2-4CF3-8238-0C2A77DE1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8D1AA34-DC5F-446B-B93A-5176844F3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8DCB97-7BF8-42A0-AF64-D3B1CCBC6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165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BBBEA-014F-4CE9-966B-0B39BA0BA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B56C06B-64B0-4367-8F60-D81760763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30C73F-6F9A-4439-BAF9-AD3E090C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826B7-5B2D-42BA-B5DE-E3F1E2248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08BA0D-410D-401B-8384-4969340D9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62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7239111-F452-4962-8660-8A513F07F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DE43F7-CCEC-48A1-BC6D-4A6BA14CF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E3202-8C8E-45D6-B1E1-5276EBF41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517580-EC3B-4C08-8F47-375177624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2E838C-165B-4BD6-B3C2-EDF40925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055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9C8F9EC-EF06-4296-B5CF-D8F80DA55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ED7456-5EE5-4A8D-8511-6D883BC4E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116DC7-2945-4BD4-8175-346D26C90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E0284B-CCE2-43FC-8206-3767C80EA0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30731C-3700-470D-9476-E3CEAA8B0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412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9056B4-9143-4C87-8DC8-28E8796CF80C}"/>
              </a:ext>
            </a:extLst>
          </p:cNvPr>
          <p:cNvSpPr txBox="1"/>
          <p:nvPr/>
        </p:nvSpPr>
        <p:spPr>
          <a:xfrm>
            <a:off x="2888000" y="2355453"/>
            <a:ext cx="70218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spc="20" dirty="0">
                <a:latin typeface="Futura Md BT" panose="020B0602020204020303" pitchFamily="34" charset="0"/>
              </a:rPr>
              <a:t>Hierarchical Scheduler </a:t>
            </a:r>
            <a:endParaRPr lang="en-US" altLang="zh-CN" sz="4000" spc="20" dirty="0" smtClean="0">
              <a:latin typeface="Futura Md BT" panose="020B0602020204020303" pitchFamily="34" charset="0"/>
            </a:endParaRPr>
          </a:p>
          <a:p>
            <a:r>
              <a:rPr lang="en-US" altLang="zh-CN" sz="4000" spc="20" dirty="0" smtClean="0">
                <a:latin typeface="Futura Md BT" panose="020B0602020204020303" pitchFamily="34" charset="0"/>
              </a:rPr>
              <a:t>For </a:t>
            </a:r>
            <a:r>
              <a:rPr lang="en-US" altLang="zh-CN" sz="4000" spc="20" dirty="0">
                <a:latin typeface="Futura Md BT" panose="020B0602020204020303" pitchFamily="34" charset="0"/>
              </a:rPr>
              <a:t>Deep Learning Cluster</a:t>
            </a:r>
            <a:endParaRPr lang="en-US" altLang="zh-CN" sz="4000" spc="20" dirty="0">
              <a:latin typeface="Futura Md BT" panose="020B0602020204020303" pitchFamily="34" charset="0"/>
            </a:endParaRPr>
          </a:p>
          <a:p>
            <a:r>
              <a:rPr lang="en-US" altLang="zh-CN" sz="4000" spc="20" dirty="0">
                <a:latin typeface="Futura Md BT" panose="020B0602020204020303" pitchFamily="34" charset="0"/>
              </a:rPr>
              <a:t>Lin Juyi</a:t>
            </a:r>
          </a:p>
        </p:txBody>
      </p:sp>
    </p:spTree>
    <p:extLst>
      <p:ext uri="{BB962C8B-B14F-4D97-AF65-F5344CB8AC3E}">
        <p14:creationId xmlns:p14="http://schemas.microsoft.com/office/powerpoint/2010/main" val="235177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83870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Background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3112" y="2410980"/>
            <a:ext cx="78757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Resource allocation	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6" name="箭头: V 形 15">
            <a:extLst>
              <a:ext uri="{FF2B5EF4-FFF2-40B4-BE49-F238E27FC236}">
                <a16:creationId xmlns:a16="http://schemas.microsoft.com/office/drawing/2014/main" id="{AAA1CBB0-A8F6-45F1-BB63-88399FDD68DD}"/>
              </a:ext>
            </a:extLst>
          </p:cNvPr>
          <p:cNvSpPr/>
          <p:nvPr/>
        </p:nvSpPr>
        <p:spPr>
          <a:xfrm rot="5400000">
            <a:off x="1547134" y="2488752"/>
            <a:ext cx="710902" cy="302613"/>
          </a:xfrm>
          <a:prstGeom prst="chevron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箭头: V 形 16">
            <a:extLst>
              <a:ext uri="{FF2B5EF4-FFF2-40B4-BE49-F238E27FC236}">
                <a16:creationId xmlns:a16="http://schemas.microsoft.com/office/drawing/2014/main" id="{335C05C4-3643-4444-9C43-5CB6C4CC75FE}"/>
              </a:ext>
            </a:extLst>
          </p:cNvPr>
          <p:cNvSpPr/>
          <p:nvPr/>
        </p:nvSpPr>
        <p:spPr>
          <a:xfrm rot="5400000">
            <a:off x="1547134" y="3517717"/>
            <a:ext cx="710902" cy="302613"/>
          </a:xfrm>
          <a:prstGeom prst="chevron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3113" y="3438190"/>
            <a:ext cx="29616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Device placement	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箭头: V 形 16">
            <a:extLst>
              <a:ext uri="{FF2B5EF4-FFF2-40B4-BE49-F238E27FC236}">
                <a16:creationId xmlns:a16="http://schemas.microsoft.com/office/drawing/2014/main" id="{335C05C4-3643-4444-9C43-5CB6C4CC75FE}"/>
              </a:ext>
            </a:extLst>
          </p:cNvPr>
          <p:cNvSpPr/>
          <p:nvPr/>
        </p:nvSpPr>
        <p:spPr>
          <a:xfrm rot="5400000">
            <a:off x="1547134" y="4732839"/>
            <a:ext cx="710902" cy="302613"/>
          </a:xfrm>
          <a:prstGeom prst="chevron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3112" y="4653312"/>
            <a:ext cx="38760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Reinforcement learning	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070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407828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Transactional Memory</a:t>
            </a:r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3651292" y="4175238"/>
            <a:ext cx="8007308" cy="18770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lvl="0">
              <a:lnSpc>
                <a:spcPts val="2574"/>
              </a:lnSpc>
              <a:spcAft>
                <a:spcPts val="600"/>
              </a:spcAft>
            </a:pPr>
            <a:r>
              <a:rPr lang="en-US" altLang="zh-CN" sz="2400" dirty="0"/>
              <a:t>We use transaction memory to </a:t>
            </a:r>
            <a:r>
              <a:rPr lang="en-US" altLang="zh-CN" sz="2400" dirty="0" smtClean="0"/>
              <a:t>improve </a:t>
            </a:r>
            <a:r>
              <a:rPr lang="en-US" altLang="zh-CN" sz="2400" dirty="0"/>
              <a:t>the performance </a:t>
            </a:r>
            <a:r>
              <a:rPr lang="en-US" altLang="zh-CN" sz="2400" dirty="0" smtClean="0"/>
              <a:t>of parallel </a:t>
            </a:r>
            <a:r>
              <a:rPr lang="en-US" altLang="zh-CN" sz="2400" dirty="0"/>
              <a:t>programs, and ensure the efficiency </a:t>
            </a:r>
            <a:r>
              <a:rPr lang="en-US" altLang="zh-CN" sz="2400" dirty="0" smtClean="0"/>
              <a:t>of programming.</a:t>
            </a:r>
            <a:endParaRPr lang="en-US" sz="24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Parallel Programming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3651292" y="1506235"/>
            <a:ext cx="8403548" cy="22360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ts val="2574"/>
              </a:lnSpc>
              <a:spcAft>
                <a:spcPts val="600"/>
              </a:spcAft>
            </a:pPr>
            <a:r>
              <a:rPr lang="en-US" altLang="zh-CN" sz="2400" dirty="0"/>
              <a:t>Between concurrent tasks, writing the same variable requires a synchronization mechanism to ensure its coherence.  Some parallel programs use the lock or the semaphore mechanisms. But these mechanisms make parallel programs difficult to design, debug, and generally perform poorly. 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31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794ACEAF-B02E-4970-9F0B-E8539FFDB6C4}"/>
              </a:ext>
            </a:extLst>
          </p:cNvPr>
          <p:cNvSpPr/>
          <p:nvPr/>
        </p:nvSpPr>
        <p:spPr>
          <a:xfrm>
            <a:off x="3579368" y="2492441"/>
            <a:ext cx="7883967" cy="2186422"/>
          </a:xfrm>
          <a:prstGeom prst="rect">
            <a:avLst/>
          </a:prstGeom>
          <a:solidFill>
            <a:srgbClr val="A90B07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407828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Transactional Memory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D12867-8858-49EA-ABD5-45997A39490D}"/>
              </a:ext>
            </a:extLst>
          </p:cNvPr>
          <p:cNvSpPr txBox="1"/>
          <p:nvPr/>
        </p:nvSpPr>
        <p:spPr>
          <a:xfrm>
            <a:off x="1057959" y="1315422"/>
            <a:ext cx="63921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+mn-ea"/>
              </a:rPr>
              <a:t>TM</a:t>
            </a:r>
            <a:r>
              <a:rPr lang="zh-CN" altLang="en-US" sz="2000" dirty="0">
                <a:solidFill>
                  <a:schemeClr val="bg1"/>
                </a:solidFill>
                <a:latin typeface="+mn-ea"/>
              </a:rPr>
              <a:t>（</a:t>
            </a:r>
            <a:r>
              <a:rPr lang="en-US" altLang="zh-CN" sz="2000" dirty="0">
                <a:solidFill>
                  <a:schemeClr val="bg1"/>
                </a:solidFill>
                <a:latin typeface="+mn-ea"/>
              </a:rPr>
              <a:t>Transactional Memory</a:t>
            </a:r>
            <a:r>
              <a:rPr lang="zh-CN" altLang="en-US" sz="2000" dirty="0">
                <a:solidFill>
                  <a:schemeClr val="bg1"/>
                </a:solidFill>
                <a:latin typeface="+mn-ea"/>
              </a:rPr>
              <a:t>），事务内存。</a:t>
            </a:r>
            <a:endParaRPr lang="en-US" altLang="zh-CN" sz="2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B77BF248-BB09-498D-BE70-A201EF54E98A}"/>
              </a:ext>
            </a:extLst>
          </p:cNvPr>
          <p:cNvSpPr/>
          <p:nvPr/>
        </p:nvSpPr>
        <p:spPr>
          <a:xfrm>
            <a:off x="3801982" y="1617451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4108492" y="1506236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Find independent tasks in the algorithm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F1945473-B9A7-4245-B1C9-AD039389E6DB}"/>
              </a:ext>
            </a:extLst>
          </p:cNvPr>
          <p:cNvSpPr/>
          <p:nvPr/>
        </p:nvSpPr>
        <p:spPr>
          <a:xfrm>
            <a:off x="3801982" y="2207853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74A772-2D78-4ECC-B79D-77B015EEF9D2}"/>
              </a:ext>
            </a:extLst>
          </p:cNvPr>
          <p:cNvSpPr/>
          <p:nvPr/>
        </p:nvSpPr>
        <p:spPr>
          <a:xfrm>
            <a:off x="4108492" y="2091382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Map tasks to execution units (e.g. threads)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4" name="Object 7">
            <a:extLst>
              <a:ext uri="{FF2B5EF4-FFF2-40B4-BE49-F238E27FC236}">
                <a16:creationId xmlns:a16="http://schemas.microsoft.com/office/drawing/2014/main" id="{3B16B0E6-3436-4602-A78D-E714A9E644D9}"/>
              </a:ext>
            </a:extLst>
          </p:cNvPr>
          <p:cNvSpPr/>
          <p:nvPr/>
        </p:nvSpPr>
        <p:spPr>
          <a:xfrm>
            <a:off x="3801982" y="2788733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5" name="Object 8">
            <a:extLst>
              <a:ext uri="{FF2B5EF4-FFF2-40B4-BE49-F238E27FC236}">
                <a16:creationId xmlns:a16="http://schemas.microsoft.com/office/drawing/2014/main" id="{1C0A5B1B-A260-4A08-A540-67642623775F}"/>
              </a:ext>
            </a:extLst>
          </p:cNvPr>
          <p:cNvSpPr/>
          <p:nvPr/>
        </p:nvSpPr>
        <p:spPr>
          <a:xfrm>
            <a:off x="4108492" y="2676528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Define and implement synchronization among tasks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6" name="Object 9">
            <a:extLst>
              <a:ext uri="{FF2B5EF4-FFF2-40B4-BE49-F238E27FC236}">
                <a16:creationId xmlns:a16="http://schemas.microsoft.com/office/drawing/2014/main" id="{C4AF654A-17E0-448B-8F76-51F4680DCE5E}"/>
              </a:ext>
            </a:extLst>
          </p:cNvPr>
          <p:cNvSpPr/>
          <p:nvPr/>
        </p:nvSpPr>
        <p:spPr>
          <a:xfrm>
            <a:off x="4108492" y="3075926"/>
            <a:ext cx="7883967" cy="18778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1683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Avoid races and </a:t>
            </a:r>
            <a:r>
              <a:rPr lang="en-US" sz="2000" dirty="0" smtClean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deadlocks </a:t>
            </a:r>
            <a:r>
              <a:rPr lang="en-US" sz="2000" dirty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…</a:t>
            </a:r>
            <a:endParaRPr lang="en-US" sz="2000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7" name="Object 10">
            <a:extLst>
              <a:ext uri="{FF2B5EF4-FFF2-40B4-BE49-F238E27FC236}">
                <a16:creationId xmlns:a16="http://schemas.microsoft.com/office/drawing/2014/main" id="{167ACD06-A667-4E80-A432-E97B1A40DFE0}"/>
              </a:ext>
            </a:extLst>
          </p:cNvPr>
          <p:cNvSpPr/>
          <p:nvPr/>
        </p:nvSpPr>
        <p:spPr>
          <a:xfrm>
            <a:off x="3801982" y="370290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8" name="Object 11">
            <a:extLst>
              <a:ext uri="{FF2B5EF4-FFF2-40B4-BE49-F238E27FC236}">
                <a16:creationId xmlns:a16="http://schemas.microsoft.com/office/drawing/2014/main" id="{C23DC419-D5CF-4DF9-A720-D03979C3F313}"/>
              </a:ext>
            </a:extLst>
          </p:cNvPr>
          <p:cNvSpPr/>
          <p:nvPr/>
        </p:nvSpPr>
        <p:spPr>
          <a:xfrm>
            <a:off x="4108492" y="3585652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Compose parallel tasks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9" name="Object 12">
            <a:extLst>
              <a:ext uri="{FF2B5EF4-FFF2-40B4-BE49-F238E27FC236}">
                <a16:creationId xmlns:a16="http://schemas.microsoft.com/office/drawing/2014/main" id="{E772384E-FC6D-448F-AA50-C28A32B601F8}"/>
              </a:ext>
            </a:extLst>
          </p:cNvPr>
          <p:cNvSpPr/>
          <p:nvPr/>
        </p:nvSpPr>
        <p:spPr>
          <a:xfrm>
            <a:off x="3801982" y="428378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028C41EE-76C2-48CD-8AC3-7AD40013A8D2}"/>
              </a:ext>
            </a:extLst>
          </p:cNvPr>
          <p:cNvSpPr/>
          <p:nvPr/>
        </p:nvSpPr>
        <p:spPr>
          <a:xfrm>
            <a:off x="4108492" y="4170798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Recover from errors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1" name="Object 14">
            <a:extLst>
              <a:ext uri="{FF2B5EF4-FFF2-40B4-BE49-F238E27FC236}">
                <a16:creationId xmlns:a16="http://schemas.microsoft.com/office/drawing/2014/main" id="{20BBE43F-769A-446B-9309-5880778DEC86}"/>
              </a:ext>
            </a:extLst>
          </p:cNvPr>
          <p:cNvSpPr/>
          <p:nvPr/>
        </p:nvSpPr>
        <p:spPr>
          <a:xfrm>
            <a:off x="3801982" y="486466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2" name="Object 15">
            <a:extLst>
              <a:ext uri="{FF2B5EF4-FFF2-40B4-BE49-F238E27FC236}">
                <a16:creationId xmlns:a16="http://schemas.microsoft.com/office/drawing/2014/main" id="{AE409908-7E55-44F4-8F46-461B2B579DE4}"/>
              </a:ext>
            </a:extLst>
          </p:cNvPr>
          <p:cNvSpPr/>
          <p:nvPr/>
        </p:nvSpPr>
        <p:spPr>
          <a:xfrm>
            <a:off x="4108492" y="4755944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Ensure scalability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3" name="Object 16">
            <a:extLst>
              <a:ext uri="{FF2B5EF4-FFF2-40B4-BE49-F238E27FC236}">
                <a16:creationId xmlns:a16="http://schemas.microsoft.com/office/drawing/2014/main" id="{E5BA40AA-EBF5-4F8F-BB79-2895CA29D274}"/>
              </a:ext>
            </a:extLst>
          </p:cNvPr>
          <p:cNvSpPr/>
          <p:nvPr/>
        </p:nvSpPr>
        <p:spPr>
          <a:xfrm>
            <a:off x="3801982" y="5455066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4" name="Object 17">
            <a:extLst>
              <a:ext uri="{FF2B5EF4-FFF2-40B4-BE49-F238E27FC236}">
                <a16:creationId xmlns:a16="http://schemas.microsoft.com/office/drawing/2014/main" id="{0EAC0209-4746-4B93-B593-E85B026E399F}"/>
              </a:ext>
            </a:extLst>
          </p:cNvPr>
          <p:cNvSpPr/>
          <p:nvPr/>
        </p:nvSpPr>
        <p:spPr>
          <a:xfrm>
            <a:off x="4108492" y="5341090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Manage locality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5" name="Object 18">
            <a:extLst>
              <a:ext uri="{FF2B5EF4-FFF2-40B4-BE49-F238E27FC236}">
                <a16:creationId xmlns:a16="http://schemas.microsoft.com/office/drawing/2014/main" id="{5DEE7C80-A9CA-4BB4-A701-ED9FEA9DDF01}"/>
              </a:ext>
            </a:extLst>
          </p:cNvPr>
          <p:cNvSpPr/>
          <p:nvPr/>
        </p:nvSpPr>
        <p:spPr>
          <a:xfrm>
            <a:off x="3801982" y="6035946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6" name="Object 19">
            <a:extLst>
              <a:ext uri="{FF2B5EF4-FFF2-40B4-BE49-F238E27FC236}">
                <a16:creationId xmlns:a16="http://schemas.microsoft.com/office/drawing/2014/main" id="{5F646362-BB8B-4FF4-B320-B099E99EE82D}"/>
              </a:ext>
            </a:extLst>
          </p:cNvPr>
          <p:cNvSpPr/>
          <p:nvPr/>
        </p:nvSpPr>
        <p:spPr>
          <a:xfrm>
            <a:off x="4108492" y="5926236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...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660797" y="2908789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Parallel Programming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37F96A1-296E-49AE-A3E0-ED67D2B5358A}"/>
              </a:ext>
            </a:extLst>
          </p:cNvPr>
          <p:cNvSpPr txBox="1"/>
          <p:nvPr/>
        </p:nvSpPr>
        <p:spPr>
          <a:xfrm>
            <a:off x="8137102" y="4118020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Transactional Memory</a:t>
            </a:r>
          </a:p>
        </p:txBody>
      </p:sp>
    </p:spTree>
    <p:extLst>
      <p:ext uri="{BB962C8B-B14F-4D97-AF65-F5344CB8AC3E}">
        <p14:creationId xmlns:p14="http://schemas.microsoft.com/office/powerpoint/2010/main" val="4193396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83870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Limitation?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035" y="1008254"/>
            <a:ext cx="787579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kumimoji="0" lang="en-US" altLang="zh-CN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Logging</a:t>
            </a:r>
            <a:r>
              <a:rPr kumimoji="0" lang="zh-CN" altLang="en-US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 </a:t>
            </a:r>
            <a:r>
              <a:rPr kumimoji="0" lang="en-US" altLang="zh-CN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eagerness: </a:t>
            </a:r>
            <a:r>
              <a:rPr kumimoji="0" lang="en-US" altLang="zh-CN" sz="2200" i="0" u="none" strike="noStrike" cap="none" normalizeH="0" baseline="0" dirty="0" smtClean="0">
                <a:ln>
                  <a:noFill/>
                </a:ln>
                <a:solidFill>
                  <a:srgbClr val="333333"/>
                </a:solidFill>
                <a:latin typeface="+mn-ea"/>
                <a:cs typeface="Open Sans" panose="020B0606030504020204" pitchFamily="34" charset="0"/>
              </a:rPr>
              <a:t>coupling</a:t>
            </a:r>
            <a:r>
              <a:rPr kumimoji="0" lang="en-US" altLang="zh-CN" sz="2200" i="0" u="none" strike="noStrike" cap="none" normalizeH="0" dirty="0" smtClean="0">
                <a:ln>
                  <a:noFill/>
                </a:ln>
                <a:solidFill>
                  <a:srgbClr val="333333"/>
                </a:solidFill>
                <a:latin typeface="+mn-ea"/>
                <a:cs typeface="Open Sans" panose="020B0606030504020204" pitchFamily="34" charset="0"/>
              </a:rPr>
              <a:t> store and log</a:t>
            </a:r>
            <a:endParaRPr kumimoji="0" lang="en-US" altLang="zh-CN" sz="2200" i="0" u="none" strike="noStrike" cap="none" normalizeH="0" baseline="0" dirty="0">
              <a:ln>
                <a:noFill/>
              </a:ln>
              <a:solidFill>
                <a:srgbClr val="333333"/>
              </a:solidFill>
              <a:latin typeface="+mn-ea"/>
              <a:cs typeface="Open Sans" panose="020B0606030504020204" pitchFamily="34" charset="0"/>
            </a:endParaRPr>
          </a:p>
        </p:txBody>
      </p:sp>
      <p:pic>
        <p:nvPicPr>
          <p:cNvPr id="5" name="Object 3" descr="preencoded.png">
            <a:extLst>
              <a:ext uri="{FF2B5EF4-FFF2-40B4-BE49-F238E27FC236}">
                <a16:creationId xmlns:a16="http://schemas.microsoft.com/office/drawing/2014/main" id="{D3EA2C58-1178-47CD-8094-E80463BA9B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450" y="1648281"/>
            <a:ext cx="8726105" cy="464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01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96801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Lazy Logging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03B9C6E-556F-4015-ABB5-B25742A95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6" y="1353450"/>
            <a:ext cx="11706887" cy="489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9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96801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Lazy Logging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5BF3BD9-2B38-483A-B894-9522A01B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9160"/>
            <a:ext cx="12192000" cy="2869870"/>
          </a:xfrm>
          <a:prstGeom prst="rect">
            <a:avLst/>
          </a:prstGeom>
        </p:spPr>
      </p:pic>
      <p:sp>
        <p:nvSpPr>
          <p:cNvPr id="6" name="Object 4">
            <a:extLst>
              <a:ext uri="{FF2B5EF4-FFF2-40B4-BE49-F238E27FC236}">
                <a16:creationId xmlns:a16="http://schemas.microsoft.com/office/drawing/2014/main" id="{64FA0623-87F6-4AD4-B37D-A06771C7E5AA}"/>
              </a:ext>
            </a:extLst>
          </p:cNvPr>
          <p:cNvSpPr/>
          <p:nvPr/>
        </p:nvSpPr>
        <p:spPr>
          <a:xfrm>
            <a:off x="756035" y="1360788"/>
            <a:ext cx="6569104" cy="73034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r>
              <a:rPr 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Shortened </a:t>
            </a: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r>
              <a:rPr lang="en-US" sz="2600" dirty="0" smtClean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Inherent.</a:t>
            </a: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7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F2A4AB7-FA81-449E-AA6D-AAF757185399}"/>
              </a:ext>
            </a:extLst>
          </p:cNvPr>
          <p:cNvSpPr txBox="1"/>
          <p:nvPr/>
        </p:nvSpPr>
        <p:spPr>
          <a:xfrm>
            <a:off x="1171526" y="1065318"/>
            <a:ext cx="9746732" cy="221599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Design the </a:t>
            </a:r>
            <a:r>
              <a:rPr lang="en-US" altLang="zh-CN" sz="2300" b="1" dirty="0">
                <a:solidFill>
                  <a:srgbClr val="C00000"/>
                </a:solidFill>
                <a:latin typeface="+mn-lt"/>
              </a:rPr>
              <a:t>optimization method </a:t>
            </a: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and make a theoretical comparison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Learn </a:t>
            </a:r>
            <a:r>
              <a:rPr lang="en-US" altLang="zh-CN" sz="23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and </a:t>
            </a: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the </a:t>
            </a:r>
            <a:r>
              <a:rPr lang="en-US" altLang="zh-CN" sz="2300" b="1" dirty="0">
                <a:solidFill>
                  <a:srgbClr val="C00000"/>
                </a:solidFill>
                <a:latin typeface="+mn-lt"/>
              </a:rPr>
              <a:t>experiment </a:t>
            </a: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247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601039" y="4429364"/>
            <a:ext cx="6004311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1730807" y="3799134"/>
            <a:ext cx="3672465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Futura Md BT" panose="020B0602020204020303" pitchFamily="34" charset="0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42886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1626</TotalTime>
  <Words>280</Words>
  <Application>Microsoft Office PowerPoint</Application>
  <PresentationFormat>宽屏</PresentationFormat>
  <Paragraphs>57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Verdana</vt:lpstr>
      <vt:lpstr>Open Sans</vt:lpstr>
      <vt:lpstr>Futura Md BT</vt:lpstr>
      <vt:lpstr>等线</vt:lpstr>
      <vt:lpstr>Times New Roman</vt:lpstr>
      <vt:lpstr>Arial</vt:lpstr>
      <vt:lpstr>Wingdings</vt:lpstr>
      <vt:lpstr>等线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Yuan Tian</dc:creator>
  <cp:lastModifiedBy>luke</cp:lastModifiedBy>
  <cp:revision>115</cp:revision>
  <dcterms:created xsi:type="dcterms:W3CDTF">2020-03-24T14:02:17Z</dcterms:created>
  <dcterms:modified xsi:type="dcterms:W3CDTF">2021-08-21T15:17:58Z</dcterms:modified>
</cp:coreProperties>
</file>