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tags/tag1.xml" ContentType="application/vnd.openxmlformats-officedocument.presentationml.tags+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ags/tag2.xml" ContentType="application/vnd.openxmlformats-officedocument.presentationml.tags+xml"/>
  <Override PartName="/ppt/notesSlides/notesSlide1.xml" ContentType="application/vnd.openxmlformats-officedocument.presentationml.notesSlide+xml"/>
  <Override PartName="/ppt/tags/tag3.xml" ContentType="application/vnd.openxmlformats-officedocument.presentationml.tag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tags/tag4.xml" ContentType="application/vnd.openxmlformats-officedocument.presentationml.tags+xml"/>
  <Override PartName="/ppt/notesSlides/notesSlide8.xml" ContentType="application/vnd.openxmlformats-officedocument.presentationml.notesSlide+xml"/>
  <Override PartName="/ppt/tags/tag5.xml" ContentType="application/vnd.openxmlformats-officedocument.presentationml.tags+xml"/>
  <Override PartName="/ppt/notesSlides/notesSlide9.xml" ContentType="application/vnd.openxmlformats-officedocument.presentationml.notesSlide+xml"/>
  <Override PartName="/ppt/tags/tag6.xml" ContentType="application/vnd.openxmlformats-officedocument.presentationml.tags+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8" r:id="rId2"/>
    <p:sldId id="259" r:id="rId3"/>
    <p:sldId id="331" r:id="rId4"/>
    <p:sldId id="332" r:id="rId5"/>
    <p:sldId id="314" r:id="rId6"/>
    <p:sldId id="329" r:id="rId7"/>
    <p:sldId id="330" r:id="rId8"/>
    <p:sldId id="323" r:id="rId9"/>
    <p:sldId id="324" r:id="rId10"/>
    <p:sldId id="322" r:id="rId11"/>
    <p:sldId id="315" r:id="rId12"/>
    <p:sldId id="316" r:id="rId13"/>
    <p:sldId id="296" r:id="rId14"/>
    <p:sldId id="328" r:id="rId15"/>
  </p:sldIdLst>
  <p:sldSz cx="12192000" cy="6858000"/>
  <p:notesSz cx="6858000" cy="9144000"/>
  <p:custDataLst>
    <p:tags r:id="rId1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2" pos="6017" userDrawn="1">
          <p15:clr>
            <a:srgbClr val="A4A3A4"/>
          </p15:clr>
        </p15:guide>
        <p15:guide id="3" orient="horz" pos="1275" userDrawn="1">
          <p15:clr>
            <a:srgbClr val="A4A3A4"/>
          </p15:clr>
        </p15:guide>
        <p15:guide id="4" pos="3840" userDrawn="1">
          <p15:clr>
            <a:srgbClr val="A4A3A4"/>
          </p15:clr>
        </p15:guide>
        <p15:guide id="5" orient="horz" pos="584" userDrawn="1">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杨 智尧" initials="杨" lastIdx="1" clrIdx="0">
    <p:extLst>
      <p:ext uri="{19B8F6BF-5375-455C-9EA6-DF929625EA0E}">
        <p15:presenceInfo xmlns:p15="http://schemas.microsoft.com/office/powerpoint/2012/main" userId="b56bfcca133f64fe" providerId="Windows Liv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5B9BD5"/>
    <a:srgbClr val="0070C0"/>
    <a:srgbClr val="F4F6FB"/>
    <a:srgbClr val="F8FAFC"/>
    <a:srgbClr val="30427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2" autoAdjust="0"/>
    <p:restoredTop sz="88827" autoAdjust="0"/>
  </p:normalViewPr>
  <p:slideViewPr>
    <p:cSldViewPr snapToGrid="0">
      <p:cViewPr varScale="1">
        <p:scale>
          <a:sx n="66" d="100"/>
          <a:sy n="66" d="100"/>
        </p:scale>
        <p:origin x="644" y="32"/>
      </p:cViewPr>
      <p:guideLst>
        <p:guide pos="6017"/>
        <p:guide orient="horz" pos="1275"/>
        <p:guide pos="3840"/>
        <p:guide orient="horz" pos="584"/>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commentAuthors" Target="commentAuthors.xml"/><Relationship Id="rId3" Type="http://schemas.openxmlformats.org/officeDocument/2006/relationships/slide" Target="slides/slide2.xml"/><Relationship Id="rId21"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gs" Target="tags/tag1.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42A0892-48F5-400D-9A65-6168D6414168}" type="datetimeFigureOut">
              <a:rPr lang="zh-CN" altLang="en-US" smtClean="0"/>
              <a:t>2021/8/25</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C55E18-7BE2-43E3-B20E-3C330ADABFB0}" type="slidenum">
              <a:rPr lang="zh-CN" altLang="en-US" smtClean="0"/>
              <a:t>‹#›</a:t>
            </a:fld>
            <a:endParaRPr lang="zh-CN" altLang="en-US"/>
          </a:p>
        </p:txBody>
      </p:sp>
    </p:spTree>
    <p:extLst>
      <p:ext uri="{BB962C8B-B14F-4D97-AF65-F5344CB8AC3E}">
        <p14:creationId xmlns:p14="http://schemas.microsoft.com/office/powerpoint/2010/main" val="16080449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dirty="0" smtClean="0"/>
              <a:t>Good afternoon, professor! The theme of our project</a:t>
            </a:r>
            <a:r>
              <a:rPr lang="en-US" altLang="zh-CN" baseline="0" dirty="0" smtClean="0"/>
              <a:t> is </a:t>
            </a:r>
            <a:r>
              <a:rPr lang="en-US" altLang="zh-CN" sz="1200" b="0" i="0" kern="1200" dirty="0" smtClean="0">
                <a:solidFill>
                  <a:schemeClr val="tx1"/>
                </a:solidFill>
                <a:effectLst/>
                <a:latin typeface="+mn-lt"/>
                <a:ea typeface="+mn-ea"/>
                <a:cs typeface="+mn-cs"/>
              </a:rPr>
              <a:t>hierarchical reinforcement learning to jointly allocate GPU resources and place jobs. </a:t>
            </a:r>
            <a:endParaRPr lang="zh-CN" altLang="en-US" dirty="0" smtClean="0"/>
          </a:p>
          <a:p>
            <a:pPr marL="0" marR="0" indent="0" algn="l" defTabSz="914400" rtl="0" eaLnBrk="1" fontAlgn="auto" latinLnBrk="0" hangingPunct="1">
              <a:lnSpc>
                <a:spcPct val="100000"/>
              </a:lnSpc>
              <a:spcBef>
                <a:spcPts val="0"/>
              </a:spcBef>
              <a:spcAft>
                <a:spcPts val="0"/>
              </a:spcAft>
              <a:buClrTx/>
              <a:buSzTx/>
              <a:buFontTx/>
              <a:buNone/>
              <a:tabLst/>
              <a:defRPr/>
            </a:pPr>
            <a:endParaRPr lang="zh-CN" altLang="en-US" sz="1200" spc="300" dirty="0">
              <a:solidFill>
                <a:schemeClr val="accent1"/>
              </a:solidFill>
            </a:endParaRPr>
          </a:p>
          <a:p>
            <a:endParaRPr lang="zh-CN" altLang="en-US" dirty="0"/>
          </a:p>
        </p:txBody>
      </p:sp>
      <p:sp>
        <p:nvSpPr>
          <p:cNvPr id="4" name="灯片编号占位符 3"/>
          <p:cNvSpPr>
            <a:spLocks noGrp="1"/>
          </p:cNvSpPr>
          <p:nvPr>
            <p:ph type="sldNum" sz="quarter" idx="10"/>
          </p:nvPr>
        </p:nvSpPr>
        <p:spPr/>
        <p:txBody>
          <a:bodyPr/>
          <a:lstStyle/>
          <a:p>
            <a:fld id="{53C55E18-7BE2-43E3-B20E-3C330ADABFB0}" type="slidenum">
              <a:rPr lang="zh-CN" altLang="en-US" smtClean="0"/>
              <a:t>1</a:t>
            </a:fld>
            <a:endParaRPr lang="zh-CN" altLang="en-US"/>
          </a:p>
        </p:txBody>
      </p:sp>
    </p:spTree>
    <p:extLst>
      <p:ext uri="{BB962C8B-B14F-4D97-AF65-F5344CB8AC3E}">
        <p14:creationId xmlns:p14="http://schemas.microsoft.com/office/powerpoint/2010/main" val="305416425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dirty="0" smtClean="0"/>
              <a:t>First, before introducing the progress, let’s briefly review the background of the project, and then introduce the progress of the project and the shortcomings and deficiencies.</a:t>
            </a:r>
            <a:endParaRPr lang="zh-CN" altLang="en-US" dirty="0"/>
          </a:p>
        </p:txBody>
      </p:sp>
      <p:sp>
        <p:nvSpPr>
          <p:cNvPr id="4" name="灯片编号占位符 3"/>
          <p:cNvSpPr>
            <a:spLocks noGrp="1"/>
          </p:cNvSpPr>
          <p:nvPr>
            <p:ph type="sldNum" sz="quarter" idx="10"/>
          </p:nvPr>
        </p:nvSpPr>
        <p:spPr/>
        <p:txBody>
          <a:bodyPr/>
          <a:lstStyle/>
          <a:p>
            <a:fld id="{53C55E18-7BE2-43E3-B20E-3C330ADABFB0}" type="slidenum">
              <a:rPr lang="zh-CN" altLang="en-US" smtClean="0"/>
              <a:t>2</a:t>
            </a:fld>
            <a:endParaRPr lang="zh-CN" altLang="en-US"/>
          </a:p>
        </p:txBody>
      </p:sp>
    </p:spTree>
    <p:extLst>
      <p:ext uri="{BB962C8B-B14F-4D97-AF65-F5344CB8AC3E}">
        <p14:creationId xmlns:p14="http://schemas.microsoft.com/office/powerpoint/2010/main" val="12797076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smtClean="0">
                <a:latin typeface="+mn-ea"/>
                <a:cs typeface="Times New Roman" panose="02020603050405020304" pitchFamily="18" charset="0"/>
              </a:rPr>
              <a:t>Nowadays, leading IT companies operate ML clusters, where deep learning (DL) models are trained for providing various AI-driven services. Efficient resource scheduling is essential for maximal utilization of expensive DL clusters.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fld id="{313FA922-7152-4116-8B91-582AC3B594D0}" type="slidenum">
              <a:rPr lang="zh-CN" altLang="en-US" smtClean="0"/>
              <a:t>3</a:t>
            </a:fld>
            <a:endParaRPr lang="zh-CN" altLang="en-US"/>
          </a:p>
        </p:txBody>
      </p:sp>
    </p:spTree>
    <p:extLst>
      <p:ext uri="{BB962C8B-B14F-4D97-AF65-F5344CB8AC3E}">
        <p14:creationId xmlns:p14="http://schemas.microsoft.com/office/powerpoint/2010/main" val="85637588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smtClean="0">
                <a:latin typeface="+mn-ea"/>
                <a:cs typeface="Times New Roman" panose="02020603050405020304" pitchFamily="18" charset="0"/>
              </a:rPr>
              <a:t>Nowadays, leading IT companies operate ML clusters, where deep learning (DL) models are trained for providing various AI-driven services. Efficient resource scheduling is essential for maximal utilization of expensive DL clusters.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fld id="{313FA922-7152-4116-8B91-582AC3B594D0}" type="slidenum">
              <a:rPr lang="zh-CN" altLang="en-US" smtClean="0"/>
              <a:t>4</a:t>
            </a:fld>
            <a:endParaRPr lang="zh-CN" altLang="en-US"/>
          </a:p>
        </p:txBody>
      </p:sp>
    </p:spTree>
    <p:extLst>
      <p:ext uri="{BB962C8B-B14F-4D97-AF65-F5344CB8AC3E}">
        <p14:creationId xmlns:p14="http://schemas.microsoft.com/office/powerpoint/2010/main" val="70000316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dirty="0" smtClean="0">
                <a:latin typeface="+mn-ea"/>
                <a:cs typeface="Times New Roman" panose="02020603050405020304" pitchFamily="18" charset="0"/>
              </a:rPr>
              <a:t>Nowadays leading IT companies operate ML clusters, where deep learning (DL) models are trained for providing various AI-driven services. Efficient resource scheduling is essential for maximal utilization of expensive DL clusters. </a:t>
            </a:r>
          </a:p>
          <a:p>
            <a:endParaRPr lang="zh-CN" altLang="en-US" dirty="0"/>
          </a:p>
        </p:txBody>
      </p:sp>
      <p:sp>
        <p:nvSpPr>
          <p:cNvPr id="4" name="灯片编号占位符 3"/>
          <p:cNvSpPr>
            <a:spLocks noGrp="1"/>
          </p:cNvSpPr>
          <p:nvPr>
            <p:ph type="sldNum" sz="quarter" idx="10"/>
          </p:nvPr>
        </p:nvSpPr>
        <p:spPr/>
        <p:txBody>
          <a:bodyPr/>
          <a:lstStyle/>
          <a:p>
            <a:fld id="{53C55E18-7BE2-43E3-B20E-3C330ADABFB0}" type="slidenum">
              <a:rPr lang="zh-CN" altLang="en-US" smtClean="0"/>
              <a:t>5</a:t>
            </a:fld>
            <a:endParaRPr lang="zh-CN" altLang="en-US"/>
          </a:p>
        </p:txBody>
      </p:sp>
    </p:spTree>
    <p:extLst>
      <p:ext uri="{BB962C8B-B14F-4D97-AF65-F5344CB8AC3E}">
        <p14:creationId xmlns:p14="http://schemas.microsoft.com/office/powerpoint/2010/main" val="11488082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200" b="0" i="0" kern="1200" dirty="0" smtClean="0">
                <a:solidFill>
                  <a:schemeClr val="tx1"/>
                </a:solidFill>
                <a:effectLst/>
                <a:latin typeface="+mn-lt"/>
                <a:ea typeface="+mn-ea"/>
                <a:cs typeface="+mn-cs"/>
              </a:rPr>
              <a:t>Even though recent elastic schedulers can automatically select an appropriate amount of resources for each job, the problem is that the workers and PSs may well be distributed onto different physical servers, when they cannot be completely hosted on one server, or to maximize resource utilization on servers. However, even without over-subscription of resources, co-located ML jobs on the same server may interfere with each other negatively.</a:t>
            </a:r>
            <a:endParaRPr lang="zh-CN" altLang="en-US" dirty="0"/>
          </a:p>
        </p:txBody>
      </p:sp>
      <p:sp>
        <p:nvSpPr>
          <p:cNvPr id="4" name="灯片编号占位符 3"/>
          <p:cNvSpPr>
            <a:spLocks noGrp="1"/>
          </p:cNvSpPr>
          <p:nvPr>
            <p:ph type="sldNum" sz="quarter" idx="5"/>
          </p:nvPr>
        </p:nvSpPr>
        <p:spPr/>
        <p:txBody>
          <a:bodyPr/>
          <a:lstStyle/>
          <a:p>
            <a:fld id="{313FA922-7152-4116-8B91-582AC3B594D0}" type="slidenum">
              <a:rPr lang="zh-CN" altLang="en-US" smtClean="0"/>
              <a:t>6</a:t>
            </a:fld>
            <a:endParaRPr lang="zh-CN" altLang="en-US"/>
          </a:p>
        </p:txBody>
      </p:sp>
    </p:spTree>
    <p:extLst>
      <p:ext uri="{BB962C8B-B14F-4D97-AF65-F5344CB8AC3E}">
        <p14:creationId xmlns:p14="http://schemas.microsoft.com/office/powerpoint/2010/main" val="221705365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zh-CN" altLang="en-US" dirty="0"/>
          </a:p>
        </p:txBody>
      </p:sp>
      <p:sp>
        <p:nvSpPr>
          <p:cNvPr id="4" name="灯片编号占位符 3"/>
          <p:cNvSpPr>
            <a:spLocks noGrp="1"/>
          </p:cNvSpPr>
          <p:nvPr>
            <p:ph type="sldNum" sz="quarter" idx="5"/>
          </p:nvPr>
        </p:nvSpPr>
        <p:spPr/>
        <p:txBody>
          <a:bodyPr/>
          <a:lstStyle/>
          <a:p>
            <a:fld id="{313FA922-7152-4116-8B91-582AC3B594D0}" type="slidenum">
              <a:rPr lang="zh-CN" altLang="en-US" smtClean="0"/>
              <a:t>7</a:t>
            </a:fld>
            <a:endParaRPr lang="zh-CN" altLang="en-US"/>
          </a:p>
        </p:txBody>
      </p:sp>
    </p:spTree>
    <p:extLst>
      <p:ext uri="{BB962C8B-B14F-4D97-AF65-F5344CB8AC3E}">
        <p14:creationId xmlns:p14="http://schemas.microsoft.com/office/powerpoint/2010/main" val="3042303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en-US" altLang="zh-CN" sz="1200" dirty="0">
              <a:latin typeface="微软雅黑" panose="020B0503020204020204" pitchFamily="34" charset="-122"/>
              <a:ea typeface="微软雅黑" panose="020B0503020204020204" pitchFamily="34" charset="-122"/>
            </a:endParaRPr>
          </a:p>
          <a:p>
            <a:pPr marL="0" marR="0" indent="0" algn="l" defTabSz="914400" rtl="0" eaLnBrk="1" fontAlgn="auto" latinLnBrk="0" hangingPunct="1">
              <a:lnSpc>
                <a:spcPct val="100000"/>
              </a:lnSpc>
              <a:spcBef>
                <a:spcPts val="0"/>
              </a:spcBef>
              <a:spcAft>
                <a:spcPts val="0"/>
              </a:spcAft>
              <a:buClrTx/>
              <a:buSzTx/>
              <a:buFontTx/>
              <a:buNone/>
              <a:tabLst/>
              <a:defRPr/>
            </a:pPr>
            <a:endParaRPr lang="en-US" altLang="zh-CN" dirty="0"/>
          </a:p>
        </p:txBody>
      </p:sp>
      <p:sp>
        <p:nvSpPr>
          <p:cNvPr id="4" name="灯片编号占位符 3"/>
          <p:cNvSpPr>
            <a:spLocks noGrp="1"/>
          </p:cNvSpPr>
          <p:nvPr>
            <p:ph type="sldNum" sz="quarter" idx="10"/>
          </p:nvPr>
        </p:nvSpPr>
        <p:spPr/>
        <p:txBody>
          <a:bodyPr/>
          <a:lstStyle/>
          <a:p>
            <a:fld id="{53C55E18-7BE2-43E3-B20E-3C330ADABFB0}" type="slidenum">
              <a:rPr lang="zh-CN" altLang="en-US" smtClean="0"/>
              <a:t>11</a:t>
            </a:fld>
            <a:endParaRPr lang="zh-CN" altLang="en-US"/>
          </a:p>
        </p:txBody>
      </p:sp>
    </p:spTree>
    <p:extLst>
      <p:ext uri="{BB962C8B-B14F-4D97-AF65-F5344CB8AC3E}">
        <p14:creationId xmlns:p14="http://schemas.microsoft.com/office/powerpoint/2010/main" val="233838294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zh-CN" altLang="en-US" dirty="0"/>
              <a:t>实现完整的优化方案并进行实验，之后</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sym typeface="+mn-lt"/>
              </a:rPr>
              <a:t>对建立的电路模型进行优化，</a:t>
            </a:r>
            <a:r>
              <a:rPr lang="zh-CN" altLang="zh-CN" sz="1200" kern="100" dirty="0">
                <a:latin typeface="微软雅黑" panose="020B0503020204020204" pitchFamily="34" charset="-122"/>
                <a:ea typeface="微软雅黑" panose="020B0503020204020204" pitchFamily="34" charset="-122"/>
                <a:cs typeface="Times New Roman" panose="02020603050405020304" pitchFamily="18" charset="0"/>
              </a:rPr>
              <a:t>开始论文介绍部分与原理部分撰写</a:t>
            </a:r>
            <a:r>
              <a:rPr lang="en-US" altLang="zh-CN" sz="1200" kern="100" dirty="0">
                <a:latin typeface="微软雅黑" panose="020B0503020204020204" pitchFamily="34" charset="-122"/>
                <a:ea typeface="微软雅黑" panose="020B0503020204020204" pitchFamily="34" charset="-122"/>
                <a:cs typeface="Times New Roman" panose="02020603050405020304" pitchFamily="18" charset="0"/>
              </a:rPr>
              <a:t>,</a:t>
            </a:r>
            <a:r>
              <a:rPr lang="zh-CN" altLang="en-US" sz="1200" kern="100" dirty="0">
                <a:latin typeface="微软雅黑" panose="020B0503020204020204" pitchFamily="34" charset="-122"/>
                <a:ea typeface="微软雅黑" panose="020B0503020204020204" pitchFamily="34" charset="-122"/>
                <a:cs typeface="Times New Roman" panose="02020603050405020304" pitchFamily="18" charset="0"/>
              </a:rPr>
              <a:t>再</a:t>
            </a:r>
            <a:r>
              <a:rPr lang="zh-CN" altLang="en-US" sz="1200" dirty="0">
                <a:solidFill>
                  <a:schemeClr val="tx1">
                    <a:lumMod val="85000"/>
                    <a:lumOff val="15000"/>
                  </a:schemeClr>
                </a:solidFill>
                <a:latin typeface="微软雅黑" panose="020B0503020204020204" pitchFamily="34" charset="-122"/>
                <a:ea typeface="微软雅黑" panose="020B0503020204020204" pitchFamily="34" charset="-122"/>
                <a:cs typeface="+mn-ea"/>
                <a:sym typeface="+mn-lt"/>
              </a:rPr>
              <a:t>对仿真过程中得到的数据进行整理与总结</a:t>
            </a:r>
            <a:endParaRPr lang="zh-CN" altLang="en-US" dirty="0"/>
          </a:p>
        </p:txBody>
      </p:sp>
      <p:sp>
        <p:nvSpPr>
          <p:cNvPr id="4" name="灯片编号占位符 3"/>
          <p:cNvSpPr>
            <a:spLocks noGrp="1"/>
          </p:cNvSpPr>
          <p:nvPr>
            <p:ph type="sldNum" sz="quarter" idx="5"/>
          </p:nvPr>
        </p:nvSpPr>
        <p:spPr/>
        <p:txBody>
          <a:bodyPr/>
          <a:lstStyle/>
          <a:p>
            <a:fld id="{53C55E18-7BE2-43E3-B20E-3C330ADABFB0}" type="slidenum">
              <a:rPr lang="zh-CN" altLang="en-US" smtClean="0"/>
              <a:t>13</a:t>
            </a:fld>
            <a:endParaRPr lang="zh-CN" altLang="en-US"/>
          </a:p>
        </p:txBody>
      </p:sp>
    </p:spTree>
    <p:extLst>
      <p:ext uri="{BB962C8B-B14F-4D97-AF65-F5344CB8AC3E}">
        <p14:creationId xmlns:p14="http://schemas.microsoft.com/office/powerpoint/2010/main" val="36328631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zh-CN" sz="1200" spc="300" dirty="0" smtClean="0">
                <a:solidFill>
                  <a:schemeClr val="accent1"/>
                </a:solidFill>
              </a:rPr>
              <a:t>That’s all, thank you</a:t>
            </a:r>
            <a:r>
              <a:rPr lang="en-US" altLang="zh-CN" sz="1200" spc="300" baseline="0" dirty="0" smtClean="0">
                <a:solidFill>
                  <a:schemeClr val="accent1"/>
                </a:solidFill>
              </a:rPr>
              <a:t> for listening!</a:t>
            </a:r>
            <a:endParaRPr lang="zh-CN" altLang="en-US" sz="1200" spc="300" dirty="0">
              <a:solidFill>
                <a:schemeClr val="accent1"/>
              </a:solidFill>
            </a:endParaRPr>
          </a:p>
          <a:p>
            <a:endParaRPr lang="zh-CN" altLang="en-US" dirty="0"/>
          </a:p>
        </p:txBody>
      </p:sp>
      <p:sp>
        <p:nvSpPr>
          <p:cNvPr id="4" name="灯片编号占位符 3"/>
          <p:cNvSpPr>
            <a:spLocks noGrp="1"/>
          </p:cNvSpPr>
          <p:nvPr>
            <p:ph type="sldNum" sz="quarter" idx="10"/>
          </p:nvPr>
        </p:nvSpPr>
        <p:spPr/>
        <p:txBody>
          <a:bodyPr/>
          <a:lstStyle/>
          <a:p>
            <a:fld id="{53C55E18-7BE2-43E3-B20E-3C330ADABFB0}" type="slidenum">
              <a:rPr lang="zh-CN" altLang="en-US" smtClean="0"/>
              <a:t>14</a:t>
            </a:fld>
            <a:endParaRPr lang="zh-CN" altLang="en-US"/>
          </a:p>
        </p:txBody>
      </p:sp>
    </p:spTree>
    <p:extLst>
      <p:ext uri="{BB962C8B-B14F-4D97-AF65-F5344CB8AC3E}">
        <p14:creationId xmlns:p14="http://schemas.microsoft.com/office/powerpoint/2010/main" val="294432444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CB97D71-3412-49FC-AB3A-B09437959428}"/>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0BECEA9F-D75C-418A-A150-85D0BAA51D5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A7B66BA2-584E-471F-B4FA-48F4E6324851}"/>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5" name="页脚占位符 4">
            <a:extLst>
              <a:ext uri="{FF2B5EF4-FFF2-40B4-BE49-F238E27FC236}">
                <a16:creationId xmlns:a16="http://schemas.microsoft.com/office/drawing/2014/main" id="{4320C978-AA1B-41A3-A1B6-E98898CAC95D}"/>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24F8B3D4-061A-401A-B160-905091506623}"/>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1308433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1A1871-31C2-4C5D-BE4D-B9F60B74469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BFC75462-EF10-48BA-B7A5-198A50309F78}"/>
              </a:ext>
            </a:extLst>
          </p:cNvPr>
          <p:cNvSpPr>
            <a:spLocks noGrp="1"/>
          </p:cNvSpPr>
          <p:nvPr>
            <p:ph idx="1"/>
          </p:nvPr>
        </p:nvSpPr>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528B04FD-D904-4A15-ABF9-ECACEB16CC36}"/>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5" name="页脚占位符 4">
            <a:extLst>
              <a:ext uri="{FF2B5EF4-FFF2-40B4-BE49-F238E27FC236}">
                <a16:creationId xmlns:a16="http://schemas.microsoft.com/office/drawing/2014/main" id="{2DEB889A-2284-4BF6-8D49-4A4281482D97}"/>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73942C13-BDF2-4EF3-9C34-D09BA9E10CA8}"/>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35143921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A0C2DD-0E62-42C3-B299-8086286AD226}"/>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DC76FA0C-1F2E-4A08-9884-5638A6D2CDDF}"/>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编辑母版文本样式</a:t>
            </a:r>
          </a:p>
        </p:txBody>
      </p:sp>
      <p:sp>
        <p:nvSpPr>
          <p:cNvPr id="4" name="日期占位符 3">
            <a:extLst>
              <a:ext uri="{FF2B5EF4-FFF2-40B4-BE49-F238E27FC236}">
                <a16:creationId xmlns:a16="http://schemas.microsoft.com/office/drawing/2014/main" id="{87CC6BBD-81F2-46BE-9F46-71267F88AA12}"/>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5" name="页脚占位符 4">
            <a:extLst>
              <a:ext uri="{FF2B5EF4-FFF2-40B4-BE49-F238E27FC236}">
                <a16:creationId xmlns:a16="http://schemas.microsoft.com/office/drawing/2014/main" id="{4269961E-6066-46C2-9130-1C3513F0B73A}"/>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1796815-3529-4CC8-9AF5-A6DCA991229C}"/>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39234366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6B360F-B09F-4AEB-8D9D-A03724018DD1}"/>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A2FE71CA-F1AC-41B4-97C8-20B4248019FB}"/>
              </a:ext>
            </a:extLst>
          </p:cNvPr>
          <p:cNvSpPr>
            <a:spLocks noGrp="1"/>
          </p:cNvSpPr>
          <p:nvPr>
            <p:ph sz="half" idx="1"/>
          </p:nvPr>
        </p:nvSpPr>
        <p:spPr>
          <a:xfrm>
            <a:off x="838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内容占位符 3">
            <a:extLst>
              <a:ext uri="{FF2B5EF4-FFF2-40B4-BE49-F238E27FC236}">
                <a16:creationId xmlns:a16="http://schemas.microsoft.com/office/drawing/2014/main" id="{06BD0DB5-EEF4-4B62-AA9C-A227E8155E7E}"/>
              </a:ext>
            </a:extLst>
          </p:cNvPr>
          <p:cNvSpPr>
            <a:spLocks noGrp="1"/>
          </p:cNvSpPr>
          <p:nvPr>
            <p:ph sz="half" idx="2"/>
          </p:nvPr>
        </p:nvSpPr>
        <p:spPr>
          <a:xfrm>
            <a:off x="6172200" y="1825625"/>
            <a:ext cx="5181600" cy="435133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日期占位符 4">
            <a:extLst>
              <a:ext uri="{FF2B5EF4-FFF2-40B4-BE49-F238E27FC236}">
                <a16:creationId xmlns:a16="http://schemas.microsoft.com/office/drawing/2014/main" id="{144430A6-5FEC-430E-B30A-5AD2C35CD1A6}"/>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6" name="页脚占位符 5">
            <a:extLst>
              <a:ext uri="{FF2B5EF4-FFF2-40B4-BE49-F238E27FC236}">
                <a16:creationId xmlns:a16="http://schemas.microsoft.com/office/drawing/2014/main" id="{2A4074A9-204C-485F-8A60-347B2E351AE2}"/>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AD85F218-DBB8-42A8-A542-7231A970C815}"/>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364527466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EC47078-6F23-45C2-B1BD-6B5095A602BB}"/>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484C4473-BF91-4CC3-BFC0-CD21EE7C043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4" name="内容占位符 3">
            <a:extLst>
              <a:ext uri="{FF2B5EF4-FFF2-40B4-BE49-F238E27FC236}">
                <a16:creationId xmlns:a16="http://schemas.microsoft.com/office/drawing/2014/main" id="{E540F2BA-42FF-4E06-B247-F4081CA71C2D}"/>
              </a:ext>
            </a:extLst>
          </p:cNvPr>
          <p:cNvSpPr>
            <a:spLocks noGrp="1"/>
          </p:cNvSpPr>
          <p:nvPr>
            <p:ph sz="half" idx="2"/>
          </p:nvPr>
        </p:nvSpPr>
        <p:spPr>
          <a:xfrm>
            <a:off x="839788" y="2505075"/>
            <a:ext cx="5157787"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5" name="文本占位符 4">
            <a:extLst>
              <a:ext uri="{FF2B5EF4-FFF2-40B4-BE49-F238E27FC236}">
                <a16:creationId xmlns:a16="http://schemas.microsoft.com/office/drawing/2014/main" id="{54DBEA62-C161-4028-A381-A6B5BD2C135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编辑母版文本样式</a:t>
            </a:r>
          </a:p>
        </p:txBody>
      </p:sp>
      <p:sp>
        <p:nvSpPr>
          <p:cNvPr id="6" name="内容占位符 5">
            <a:extLst>
              <a:ext uri="{FF2B5EF4-FFF2-40B4-BE49-F238E27FC236}">
                <a16:creationId xmlns:a16="http://schemas.microsoft.com/office/drawing/2014/main" id="{D767D8E3-50A5-44CC-90F6-BE04EB1AB487}"/>
              </a:ext>
            </a:extLst>
          </p:cNvPr>
          <p:cNvSpPr>
            <a:spLocks noGrp="1"/>
          </p:cNvSpPr>
          <p:nvPr>
            <p:ph sz="quarter" idx="4"/>
          </p:nvPr>
        </p:nvSpPr>
        <p:spPr>
          <a:xfrm>
            <a:off x="6172200" y="2505075"/>
            <a:ext cx="5183188" cy="3684588"/>
          </a:xfrm>
        </p:spPr>
        <p:txBody>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7" name="日期占位符 6">
            <a:extLst>
              <a:ext uri="{FF2B5EF4-FFF2-40B4-BE49-F238E27FC236}">
                <a16:creationId xmlns:a16="http://schemas.microsoft.com/office/drawing/2014/main" id="{7BE39A16-1D08-4710-A71C-EE91D03F5C15}"/>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8" name="页脚占位符 7">
            <a:extLst>
              <a:ext uri="{FF2B5EF4-FFF2-40B4-BE49-F238E27FC236}">
                <a16:creationId xmlns:a16="http://schemas.microsoft.com/office/drawing/2014/main" id="{DB9242FC-9CAB-4B5F-A7A5-CEB1D9DF62FE}"/>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71CA6FE1-8ED6-4591-9C37-A30F3247ECEC}"/>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42208544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882C06-44E9-4B85-A782-BB8CEF8928C2}"/>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BC6D7B99-D94A-49E5-A066-1859398E9E31}"/>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4" name="页脚占位符 3">
            <a:extLst>
              <a:ext uri="{FF2B5EF4-FFF2-40B4-BE49-F238E27FC236}">
                <a16:creationId xmlns:a16="http://schemas.microsoft.com/office/drawing/2014/main" id="{B48F5559-5C49-4CCD-ADDF-5BD1333A362D}"/>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90D14802-6233-4703-B355-0555AB4ABBD7}"/>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28387087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9B8DFD89-7571-422B-A8ED-F4B1FA5835EC}"/>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3" name="页脚占位符 2">
            <a:extLst>
              <a:ext uri="{FF2B5EF4-FFF2-40B4-BE49-F238E27FC236}">
                <a16:creationId xmlns:a16="http://schemas.microsoft.com/office/drawing/2014/main" id="{36C81FB9-1313-44C0-838B-C9CE63D2116F}"/>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6BD96345-807B-47A6-805D-A8F4ED61440D}"/>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4576579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393E11B-37BA-406F-BF21-C6D3290FBE88}"/>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E08AF67E-79EE-425C-BFE6-4F699C90DFA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文本占位符 3">
            <a:extLst>
              <a:ext uri="{FF2B5EF4-FFF2-40B4-BE49-F238E27FC236}">
                <a16:creationId xmlns:a16="http://schemas.microsoft.com/office/drawing/2014/main" id="{653BB85C-C165-4429-B0A2-50E424FE3C7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317EE054-6F97-493E-8A56-3ACFD63F0B8A}"/>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6" name="页脚占位符 5">
            <a:extLst>
              <a:ext uri="{FF2B5EF4-FFF2-40B4-BE49-F238E27FC236}">
                <a16:creationId xmlns:a16="http://schemas.microsoft.com/office/drawing/2014/main" id="{9183DBEB-BC03-46C5-BD8E-B226CC2697E3}"/>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94FC9193-D822-487D-9082-67C670232597}"/>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272271703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CF4283C-9AFF-446E-95DD-F63435972EF7}"/>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E165B3D3-8929-4BC0-B8BE-8D61138CBD5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3255F133-A3AC-4274-A518-6BFFA09B89F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编辑母版文本样式</a:t>
            </a:r>
          </a:p>
        </p:txBody>
      </p:sp>
      <p:sp>
        <p:nvSpPr>
          <p:cNvPr id="5" name="日期占位符 4">
            <a:extLst>
              <a:ext uri="{FF2B5EF4-FFF2-40B4-BE49-F238E27FC236}">
                <a16:creationId xmlns:a16="http://schemas.microsoft.com/office/drawing/2014/main" id="{565DC452-5DAA-41FF-A893-08AFD9C0EA85}"/>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6" name="页脚占位符 5">
            <a:extLst>
              <a:ext uri="{FF2B5EF4-FFF2-40B4-BE49-F238E27FC236}">
                <a16:creationId xmlns:a16="http://schemas.microsoft.com/office/drawing/2014/main" id="{30EB5E31-E28C-4540-BE3A-D58EF0C2747C}"/>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E12A650A-66CF-400D-804F-9175B2565562}"/>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165636975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D82E4CD-BBE7-4B44-B72B-0A263637A0EF}"/>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E341A351-E9A1-4364-90E0-36AEEB30F5E3}"/>
              </a:ext>
            </a:extLst>
          </p:cNvPr>
          <p:cNvSpPr>
            <a:spLocks noGrp="1"/>
          </p:cNvSpPr>
          <p:nvPr>
            <p:ph type="body" orient="vert" idx="1"/>
          </p:nvPr>
        </p:nvSpPr>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42A6F19E-E700-4D16-A2D2-9A6C2AAD2FD3}"/>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5" name="页脚占位符 4">
            <a:extLst>
              <a:ext uri="{FF2B5EF4-FFF2-40B4-BE49-F238E27FC236}">
                <a16:creationId xmlns:a16="http://schemas.microsoft.com/office/drawing/2014/main" id="{4BDDCE25-80B8-4B82-9245-8B453244668E}"/>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C95DF695-1B1C-46BC-BC21-B9D66DEE56E9}"/>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40373857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B895EE86-4371-4751-8C6A-CDA4060E6203}"/>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A8502817-C4FB-48AB-89ED-0AE9C86C72D2}"/>
              </a:ext>
            </a:extLst>
          </p:cNvPr>
          <p:cNvSpPr>
            <a:spLocks noGrp="1"/>
          </p:cNvSpPr>
          <p:nvPr>
            <p:ph type="body" orient="vert" idx="1"/>
          </p:nvPr>
        </p:nvSpPr>
        <p:spPr>
          <a:xfrm>
            <a:off x="838200" y="365125"/>
            <a:ext cx="7734300" cy="5811838"/>
          </a:xfrm>
        </p:spPr>
        <p:txBody>
          <a:bodyPr vert="eaVert"/>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B4411B06-5488-4B43-968C-F90D6FCC68F3}"/>
              </a:ext>
            </a:extLst>
          </p:cNvPr>
          <p:cNvSpPr>
            <a:spLocks noGrp="1"/>
          </p:cNvSpPr>
          <p:nvPr>
            <p:ph type="dt" sz="half" idx="10"/>
          </p:nvPr>
        </p:nvSpPr>
        <p:spPr/>
        <p:txBody>
          <a:bodyPr/>
          <a:lstStyle/>
          <a:p>
            <a:fld id="{E650F6C9-59DB-45A4-B5F3-4BA38C0FBD5F}" type="datetimeFigureOut">
              <a:rPr lang="zh-CN" altLang="en-US" smtClean="0"/>
              <a:t>2021/8/25</a:t>
            </a:fld>
            <a:endParaRPr lang="zh-CN" altLang="en-US"/>
          </a:p>
        </p:txBody>
      </p:sp>
      <p:sp>
        <p:nvSpPr>
          <p:cNvPr id="5" name="页脚占位符 4">
            <a:extLst>
              <a:ext uri="{FF2B5EF4-FFF2-40B4-BE49-F238E27FC236}">
                <a16:creationId xmlns:a16="http://schemas.microsoft.com/office/drawing/2014/main" id="{221FC875-5F0B-4DB3-9C69-4BA4E12E69E9}"/>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027861CE-CF8D-43AF-A550-FC8ECEA972F3}"/>
              </a:ext>
            </a:extLst>
          </p:cNvPr>
          <p:cNvSpPr>
            <a:spLocks noGrp="1"/>
          </p:cNvSpPr>
          <p:nvPr>
            <p:ph type="sldNum" sz="quarter" idx="12"/>
          </p:nvPr>
        </p:nvSpPr>
        <p:spPr/>
        <p:txBody>
          <a:body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398192961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E6653704-19FB-4C37-B629-6EECA881D89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2E9623F6-53F0-466F-BD13-FEEC10C07C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4" name="日期占位符 3">
            <a:extLst>
              <a:ext uri="{FF2B5EF4-FFF2-40B4-BE49-F238E27FC236}">
                <a16:creationId xmlns:a16="http://schemas.microsoft.com/office/drawing/2014/main" id="{47CD720E-065A-48AB-8FD3-242CD357D37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650F6C9-59DB-45A4-B5F3-4BA38C0FBD5F}" type="datetimeFigureOut">
              <a:rPr lang="zh-CN" altLang="en-US" smtClean="0"/>
              <a:t>2021/8/25</a:t>
            </a:fld>
            <a:endParaRPr lang="zh-CN" altLang="en-US"/>
          </a:p>
        </p:txBody>
      </p:sp>
      <p:sp>
        <p:nvSpPr>
          <p:cNvPr id="5" name="页脚占位符 4">
            <a:extLst>
              <a:ext uri="{FF2B5EF4-FFF2-40B4-BE49-F238E27FC236}">
                <a16:creationId xmlns:a16="http://schemas.microsoft.com/office/drawing/2014/main" id="{6BD05687-D96F-4DE9-A3DE-36A6F4D0151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3BAD56E9-2906-4BD1-9954-385F55D2784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A3342FE-1BF8-4D8F-9E56-10AC0B9381C0}" type="slidenum">
              <a:rPr lang="zh-CN" altLang="en-US" smtClean="0"/>
              <a:t>‹#›</a:t>
            </a:fld>
            <a:endParaRPr lang="zh-CN" altLang="en-US"/>
          </a:p>
        </p:txBody>
      </p:sp>
    </p:spTree>
    <p:extLst>
      <p:ext uri="{BB962C8B-B14F-4D97-AF65-F5344CB8AC3E}">
        <p14:creationId xmlns:p14="http://schemas.microsoft.com/office/powerpoint/2010/main" val="28191355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notesSlide" Target="../notesSlides/notesSlide1.xml"/><Relationship Id="rId2" Type="http://schemas.openxmlformats.org/officeDocument/2006/relationships/slideLayout" Target="../slideLayouts/slideLayout1.xml"/><Relationship Id="rId1" Type="http://schemas.openxmlformats.org/officeDocument/2006/relationships/tags" Target="../tags/tag2.xml"/></Relationships>
</file>

<file path=ppt/slides/_rels/slide2.xml.rels><?xml version="1.0" encoding="UTF-8" standalone="yes"?>
<Relationships xmlns="http://schemas.openxmlformats.org/package/2006/relationships"><Relationship Id="rId3" Type="http://schemas.openxmlformats.org/officeDocument/2006/relationships/notesSlide" Target="../notesSlides/notesSlide2.xml"/><Relationship Id="rId2" Type="http://schemas.openxmlformats.org/officeDocument/2006/relationships/slideLayout" Target="../slideLayouts/slideLayout1.xml"/><Relationship Id="rId1" Type="http://schemas.openxmlformats.org/officeDocument/2006/relationships/tags" Target="../tags/tag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notesSlide" Target="../notesSlides/notesSlide8.xml"/><Relationship Id="rId2" Type="http://schemas.openxmlformats.org/officeDocument/2006/relationships/slideLayout" Target="../slideLayouts/slideLayout2.xml"/><Relationship Id="rId1" Type="http://schemas.openxmlformats.org/officeDocument/2006/relationships/tags" Target="../tags/tag4.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notesSlide" Target="../notesSlides/notesSlide9.xml"/><Relationship Id="rId2" Type="http://schemas.openxmlformats.org/officeDocument/2006/relationships/slideLayout" Target="../slideLayouts/slideLayout2.xml"/><Relationship Id="rId1" Type="http://schemas.openxmlformats.org/officeDocument/2006/relationships/tags" Target="../tags/tag5.xml"/></Relationships>
</file>

<file path=ppt/slides/_rels/slide14.xml.rels><?xml version="1.0" encoding="UTF-8" standalone="yes"?>
<Relationships xmlns="http://schemas.openxmlformats.org/package/2006/relationships"><Relationship Id="rId3" Type="http://schemas.openxmlformats.org/officeDocument/2006/relationships/notesSlide" Target="../notesSlides/notesSlide10.xml"/><Relationship Id="rId2" Type="http://schemas.openxmlformats.org/officeDocument/2006/relationships/slideLayout" Target="../slideLayouts/slideLayout1.xml"/><Relationship Id="rId1" Type="http://schemas.openxmlformats.org/officeDocument/2006/relationships/tags" Target="../tags/tag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稻壳儿搜索【幻雨工作室】__1">
            <a:extLst>
              <a:ext uri="{FF2B5EF4-FFF2-40B4-BE49-F238E27FC236}">
                <a16:creationId xmlns:a16="http://schemas.microsoft.com/office/drawing/2014/main" id="{898EF5DD-752A-496C-861C-B924BC62481A}"/>
              </a:ext>
            </a:extLst>
          </p:cNvPr>
          <p:cNvSpPr/>
          <p:nvPr/>
        </p:nvSpPr>
        <p:spPr>
          <a:xfrm rot="5400000">
            <a:off x="10679989" y="3199681"/>
            <a:ext cx="2158998" cy="458639"/>
          </a:xfrm>
          <a:custGeom>
            <a:avLst/>
            <a:gdLst>
              <a:gd name="connsiteX0" fmla="*/ 0 w 2158998"/>
              <a:gd name="connsiteY0" fmla="*/ 6358 h 458639"/>
              <a:gd name="connsiteX1" fmla="*/ 641 w 2158998"/>
              <a:gd name="connsiteY1" fmla="*/ 0 h 458639"/>
              <a:gd name="connsiteX2" fmla="*/ 2158357 w 2158998"/>
              <a:gd name="connsiteY2" fmla="*/ 0 h 458639"/>
              <a:gd name="connsiteX3" fmla="*/ 2158998 w 2158998"/>
              <a:gd name="connsiteY3" fmla="*/ 6358 h 458639"/>
              <a:gd name="connsiteX4" fmla="*/ 1706717 w 2158998"/>
              <a:gd name="connsiteY4" fmla="*/ 458639 h 458639"/>
              <a:gd name="connsiteX5" fmla="*/ 452281 w 2158998"/>
              <a:gd name="connsiteY5" fmla="*/ 458639 h 458639"/>
              <a:gd name="connsiteX6" fmla="*/ 0 w 2158998"/>
              <a:gd name="connsiteY6" fmla="*/ 6358 h 4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58998" h="458639">
                <a:moveTo>
                  <a:pt x="0" y="6358"/>
                </a:moveTo>
                <a:lnTo>
                  <a:pt x="641" y="0"/>
                </a:lnTo>
                <a:lnTo>
                  <a:pt x="2158357" y="0"/>
                </a:lnTo>
                <a:lnTo>
                  <a:pt x="2158998" y="6358"/>
                </a:lnTo>
                <a:cubicBezTo>
                  <a:pt x="2158998" y="256146"/>
                  <a:pt x="1956505" y="458639"/>
                  <a:pt x="1706717" y="458639"/>
                </a:cubicBezTo>
                <a:lnTo>
                  <a:pt x="452281" y="458639"/>
                </a:lnTo>
                <a:cubicBezTo>
                  <a:pt x="202493" y="458639"/>
                  <a:pt x="0" y="256146"/>
                  <a:pt x="0" y="6358"/>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panose="020F0502020204030204"/>
              <a:ea typeface="等线" panose="02010600030101010101" pitchFamily="2" charset="-122"/>
              <a:cs typeface="+mn-cs"/>
            </a:endParaRPr>
          </a:p>
        </p:txBody>
      </p:sp>
      <p:sp>
        <p:nvSpPr>
          <p:cNvPr id="82" name="稻壳儿搜索【幻雨工作室】__2">
            <a:extLst>
              <a:ext uri="{FF2B5EF4-FFF2-40B4-BE49-F238E27FC236}">
                <a16:creationId xmlns:a16="http://schemas.microsoft.com/office/drawing/2014/main" id="{E70A919D-CA68-47FD-9834-FE9D8D357FE4}"/>
              </a:ext>
            </a:extLst>
          </p:cNvPr>
          <p:cNvSpPr txBox="1"/>
          <p:nvPr/>
        </p:nvSpPr>
        <p:spPr>
          <a:xfrm>
            <a:off x="2810628" y="4583458"/>
            <a:ext cx="6247303" cy="461665"/>
          </a:xfrm>
          <a:prstGeom prst="rect">
            <a:avLst/>
          </a:prstGeom>
          <a:noFill/>
        </p:spPr>
        <p:txBody>
          <a:bodyPr wrap="square" rtlCol="0">
            <a:spAutoFit/>
          </a:bodyPr>
          <a:lstStyle/>
          <a:p>
            <a:pPr algn="ctr"/>
            <a:r>
              <a:rPr lang="en-US" altLang="zh-CN" sz="2400" dirty="0" err="1" smtClean="0">
                <a:solidFill>
                  <a:schemeClr val="accent1"/>
                </a:solidFill>
                <a:latin typeface="微软雅黑" panose="020B0503020204020204" pitchFamily="34" charset="-122"/>
                <a:ea typeface="微软雅黑" panose="020B0503020204020204" pitchFamily="34" charset="-122"/>
                <a:sym typeface="+mn-ea"/>
              </a:rPr>
              <a:t>Juyi</a:t>
            </a:r>
            <a:r>
              <a:rPr lang="en-US" altLang="zh-CN" sz="2400" dirty="0" smtClean="0">
                <a:solidFill>
                  <a:schemeClr val="accent1"/>
                </a:solidFill>
                <a:latin typeface="微软雅黑" panose="020B0503020204020204" pitchFamily="34" charset="-122"/>
                <a:ea typeface="微软雅黑" panose="020B0503020204020204" pitchFamily="34" charset="-122"/>
                <a:sym typeface="+mn-ea"/>
              </a:rPr>
              <a:t> Lin</a:t>
            </a:r>
            <a:endParaRPr lang="zh-CN" altLang="en-US" sz="2400" dirty="0">
              <a:solidFill>
                <a:schemeClr val="accent1"/>
              </a:solidFill>
              <a:latin typeface="微软雅黑" panose="020B0503020204020204" pitchFamily="34" charset="-122"/>
              <a:ea typeface="微软雅黑" panose="020B0503020204020204" pitchFamily="34" charset="-122"/>
            </a:endParaRPr>
          </a:p>
        </p:txBody>
      </p:sp>
      <p:sp>
        <p:nvSpPr>
          <p:cNvPr id="7" name="稻壳儿搜索【幻雨工作室】__3">
            <a:extLst>
              <a:ext uri="{FF2B5EF4-FFF2-40B4-BE49-F238E27FC236}">
                <a16:creationId xmlns:a16="http://schemas.microsoft.com/office/drawing/2014/main" id="{0EBFEAA2-261B-46AA-9F3F-9AD6C2E14DD7}"/>
              </a:ext>
            </a:extLst>
          </p:cNvPr>
          <p:cNvSpPr/>
          <p:nvPr/>
        </p:nvSpPr>
        <p:spPr>
          <a:xfrm>
            <a:off x="209550" y="171450"/>
            <a:ext cx="11772900" cy="6515100"/>
          </a:xfrm>
          <a:prstGeom prst="roundRect">
            <a:avLst>
              <a:gd name="adj" fmla="val 2827"/>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稻壳儿搜索【幻雨工作室】__4">
            <a:extLst>
              <a:ext uri="{FF2B5EF4-FFF2-40B4-BE49-F238E27FC236}">
                <a16:creationId xmlns:a16="http://schemas.microsoft.com/office/drawing/2014/main" id="{2B9890A0-DC39-46BA-B6A8-8C7041112493}"/>
              </a:ext>
            </a:extLst>
          </p:cNvPr>
          <p:cNvSpPr/>
          <p:nvPr/>
        </p:nvSpPr>
        <p:spPr>
          <a:xfrm rot="16200000" flipH="1">
            <a:off x="-632609" y="3199683"/>
            <a:ext cx="2158998" cy="458639"/>
          </a:xfrm>
          <a:custGeom>
            <a:avLst/>
            <a:gdLst>
              <a:gd name="connsiteX0" fmla="*/ 0 w 2158998"/>
              <a:gd name="connsiteY0" fmla="*/ 6358 h 458639"/>
              <a:gd name="connsiteX1" fmla="*/ 641 w 2158998"/>
              <a:gd name="connsiteY1" fmla="*/ 0 h 458639"/>
              <a:gd name="connsiteX2" fmla="*/ 2158357 w 2158998"/>
              <a:gd name="connsiteY2" fmla="*/ 0 h 458639"/>
              <a:gd name="connsiteX3" fmla="*/ 2158998 w 2158998"/>
              <a:gd name="connsiteY3" fmla="*/ 6358 h 458639"/>
              <a:gd name="connsiteX4" fmla="*/ 1706717 w 2158998"/>
              <a:gd name="connsiteY4" fmla="*/ 458639 h 458639"/>
              <a:gd name="connsiteX5" fmla="*/ 452281 w 2158998"/>
              <a:gd name="connsiteY5" fmla="*/ 458639 h 458639"/>
              <a:gd name="connsiteX6" fmla="*/ 0 w 2158998"/>
              <a:gd name="connsiteY6" fmla="*/ 6358 h 4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58998" h="458639">
                <a:moveTo>
                  <a:pt x="0" y="6358"/>
                </a:moveTo>
                <a:lnTo>
                  <a:pt x="641" y="0"/>
                </a:lnTo>
                <a:lnTo>
                  <a:pt x="2158357" y="0"/>
                </a:lnTo>
                <a:lnTo>
                  <a:pt x="2158998" y="6358"/>
                </a:lnTo>
                <a:cubicBezTo>
                  <a:pt x="2158998" y="256146"/>
                  <a:pt x="1956505" y="458639"/>
                  <a:pt x="1706717" y="458639"/>
                </a:cubicBezTo>
                <a:lnTo>
                  <a:pt x="452281" y="458639"/>
                </a:lnTo>
                <a:cubicBezTo>
                  <a:pt x="202493" y="458639"/>
                  <a:pt x="0" y="256146"/>
                  <a:pt x="0" y="6358"/>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panose="020F0502020204030204"/>
              <a:ea typeface="等线" panose="02010600030101010101" pitchFamily="2" charset="-122"/>
              <a:cs typeface="+mn-cs"/>
            </a:endParaRPr>
          </a:p>
        </p:txBody>
      </p:sp>
      <p:sp>
        <p:nvSpPr>
          <p:cNvPr id="81" name="稻壳儿搜索【幻雨工作室】__5">
            <a:extLst>
              <a:ext uri="{FF2B5EF4-FFF2-40B4-BE49-F238E27FC236}">
                <a16:creationId xmlns:a16="http://schemas.microsoft.com/office/drawing/2014/main" id="{FC51F915-5A16-42F3-9122-590D528F4EB6}"/>
              </a:ext>
            </a:extLst>
          </p:cNvPr>
          <p:cNvSpPr txBox="1">
            <a:spLocks noChangeArrowheads="1"/>
          </p:cNvSpPr>
          <p:nvPr/>
        </p:nvSpPr>
        <p:spPr bwMode="auto">
          <a:xfrm>
            <a:off x="2420306" y="2678543"/>
            <a:ext cx="7351388" cy="1200329"/>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rtlCol="0">
            <a:spAutoFit/>
          </a:bodyPr>
          <a:lstStyle>
            <a:defPPr>
              <a:defRPr lang="zh-CN"/>
            </a:defPPr>
            <a:lvl1pPr algn="ctr">
              <a:defRPr sz="7200" b="1">
                <a:ln w="12700">
                  <a:noFill/>
                </a:ln>
                <a:gradFill flip="none" rotWithShape="1">
                  <a:gsLst>
                    <a:gs pos="0">
                      <a:srgbClr val="ECECEC">
                        <a:alpha val="0"/>
                      </a:srgbClr>
                    </a:gs>
                    <a:gs pos="21000">
                      <a:schemeClr val="bg1"/>
                    </a:gs>
                    <a:gs pos="100000">
                      <a:schemeClr val="bg1">
                        <a:alpha val="0"/>
                      </a:schemeClr>
                    </a:gs>
                    <a:gs pos="83000">
                      <a:schemeClr val="bg1">
                        <a:lumMod val="85000"/>
                      </a:schemeClr>
                    </a:gs>
                  </a:gsLst>
                  <a:lin ang="7800000" scaled="0"/>
                  <a:tileRect/>
                </a:gradFill>
                <a:latin typeface="微软雅黑" panose="020B0503020204020204" charset="-122"/>
                <a:ea typeface="微软雅黑" panose="020B0503020204020204" charset="-122"/>
              </a:defRPr>
            </a:lvl1pPr>
            <a:lvl2pPr>
              <a:defRPr/>
            </a:lvl2pPr>
            <a:lvl3pPr>
              <a:defRPr/>
            </a:lvl3pPr>
            <a:lvl4pPr>
              <a:defRPr/>
            </a:lvl4pPr>
            <a:lvl5pPr>
              <a:defRPr/>
            </a:lvl5pPr>
            <a:lvl6pPr>
              <a:defRPr/>
            </a:lvl6pPr>
            <a:lvl7pPr>
              <a:defRPr/>
            </a:lvl7pPr>
            <a:lvl8pPr>
              <a:defRPr/>
            </a:lvl8pPr>
            <a:lvl9pPr>
              <a:defRPr/>
            </a:lvl9pPr>
          </a:lstStyle>
          <a:p>
            <a:r>
              <a:rPr lang="en-US" altLang="zh-CN" sz="3600" spc="300" dirty="0" smtClean="0">
                <a:solidFill>
                  <a:schemeClr val="accent1"/>
                </a:solidFill>
              </a:rPr>
              <a:t>Hierarchical </a:t>
            </a:r>
            <a:r>
              <a:rPr lang="en-US" altLang="zh-CN" sz="3600" spc="300" dirty="0">
                <a:solidFill>
                  <a:schemeClr val="accent1"/>
                </a:solidFill>
              </a:rPr>
              <a:t>Scheduler </a:t>
            </a:r>
          </a:p>
          <a:p>
            <a:r>
              <a:rPr lang="en-US" altLang="zh-CN" sz="3600" spc="300" dirty="0">
                <a:solidFill>
                  <a:schemeClr val="accent1"/>
                </a:solidFill>
              </a:rPr>
              <a:t>For Deep Learning Cluster</a:t>
            </a:r>
          </a:p>
        </p:txBody>
      </p:sp>
      <p:sp>
        <p:nvSpPr>
          <p:cNvPr id="4" name="稻壳儿搜索【幻雨工作室】__6">
            <a:extLst>
              <a:ext uri="{FF2B5EF4-FFF2-40B4-BE49-F238E27FC236}">
                <a16:creationId xmlns:a16="http://schemas.microsoft.com/office/drawing/2014/main" id="{8BEF275B-FDA0-4E34-8F0C-041596DF1EC7}"/>
              </a:ext>
            </a:extLst>
          </p:cNvPr>
          <p:cNvSpPr/>
          <p:nvPr/>
        </p:nvSpPr>
        <p:spPr>
          <a:xfrm>
            <a:off x="4505019" y="3888553"/>
            <a:ext cx="3949369" cy="338554"/>
          </a:xfrm>
          <a:prstGeom prst="rect">
            <a:avLst/>
          </a:prstGeom>
        </p:spPr>
        <p:txBody>
          <a:bodyPr wrap="square">
            <a:spAutoFit/>
          </a:bodyPr>
          <a:lstStyle/>
          <a:p>
            <a:r>
              <a:rPr lang="en-US" altLang="zh-CN" sz="1600" dirty="0" smtClean="0">
                <a:solidFill>
                  <a:schemeClr val="accent1"/>
                </a:solidFill>
                <a:latin typeface="Arial" panose="020B0604020202020204" pitchFamily="34" charset="0"/>
                <a:cs typeface="Arial" panose="020B0604020202020204" pitchFamily="34" charset="0"/>
              </a:rPr>
              <a:t>HKU Summer Research Presentation</a:t>
            </a:r>
            <a:endParaRPr lang="zh-CN" altLang="en-US" sz="1600" dirty="0">
              <a:solidFill>
                <a:schemeClr val="accent1"/>
              </a:solidFill>
              <a:latin typeface="Arial" panose="020B0604020202020204" pitchFamily="34" charset="0"/>
              <a:cs typeface="Arial" panose="020B0604020202020204" pitchFamily="34" charset="0"/>
            </a:endParaRPr>
          </a:p>
        </p:txBody>
      </p:sp>
      <p:cxnSp>
        <p:nvCxnSpPr>
          <p:cNvPr id="10" name="稻壳儿搜索【幻雨工作室】__7">
            <a:extLst>
              <a:ext uri="{FF2B5EF4-FFF2-40B4-BE49-F238E27FC236}">
                <a16:creationId xmlns:a16="http://schemas.microsoft.com/office/drawing/2014/main" id="{0E67287C-8A14-4847-AE6C-C390979DBCD6}"/>
              </a:ext>
            </a:extLst>
          </p:cNvPr>
          <p:cNvCxnSpPr>
            <a:cxnSpLocks/>
          </p:cNvCxnSpPr>
          <p:nvPr/>
        </p:nvCxnSpPr>
        <p:spPr>
          <a:xfrm>
            <a:off x="2619219" y="4283642"/>
            <a:ext cx="6944329" cy="0"/>
          </a:xfrm>
          <a:prstGeom prst="line">
            <a:avLst/>
          </a:prstGeom>
          <a:ln w="15240"/>
        </p:spPr>
        <p:style>
          <a:lnRef idx="1">
            <a:schemeClr val="accent1"/>
          </a:lnRef>
          <a:fillRef idx="0">
            <a:schemeClr val="accent1"/>
          </a:fillRef>
          <a:effectRef idx="0">
            <a:schemeClr val="accent1"/>
          </a:effectRef>
          <a:fontRef idx="minor">
            <a:schemeClr val="tx1"/>
          </a:fontRef>
        </p:style>
      </p:cxnSp>
      <p:cxnSp>
        <p:nvCxnSpPr>
          <p:cNvPr id="95" name="稻壳儿搜索【幻雨工作室】__8">
            <a:extLst>
              <a:ext uri="{FF2B5EF4-FFF2-40B4-BE49-F238E27FC236}">
                <a16:creationId xmlns:a16="http://schemas.microsoft.com/office/drawing/2014/main" id="{FCF1EA28-69AC-4A45-9986-43A5CD6E97C7}"/>
              </a:ext>
            </a:extLst>
          </p:cNvPr>
          <p:cNvCxnSpPr>
            <a:cxnSpLocks/>
          </p:cNvCxnSpPr>
          <p:nvPr/>
        </p:nvCxnSpPr>
        <p:spPr>
          <a:xfrm>
            <a:off x="2619219" y="2573176"/>
            <a:ext cx="6944329" cy="0"/>
          </a:xfrm>
          <a:prstGeom prst="line">
            <a:avLst/>
          </a:prstGeom>
          <a:ln w="15240"/>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76210" y="6082425"/>
            <a:ext cx="1332416" cy="369332"/>
          </a:xfrm>
          <a:prstGeom prst="rect">
            <a:avLst/>
          </a:prstGeom>
        </p:spPr>
        <p:txBody>
          <a:bodyPr wrap="none">
            <a:spAutoFit/>
          </a:bodyPr>
          <a:lstStyle/>
          <a:p>
            <a:r>
              <a:rPr lang="en-US" altLang="zh-CN" dirty="0" smtClean="0">
                <a:latin typeface="等线" panose="02010600030101010101" charset="-122"/>
                <a:ea typeface="等线" panose="02010600030101010101" charset="-122"/>
                <a:cs typeface="等线" panose="02010600030101010101" charset="-122"/>
                <a:sym typeface="+mn-ea"/>
              </a:rPr>
              <a:t>2021/08/30</a:t>
            </a:r>
            <a:endParaRPr lang="zh-CN" altLang="en-US" dirty="0">
              <a:latin typeface="等线" panose="02010600030101010101" charset="-122"/>
              <a:ea typeface="等线" panose="02010600030101010101" charset="-122"/>
              <a:cs typeface="等线" panose="02010600030101010101" charset="-122"/>
            </a:endParaRPr>
          </a:p>
        </p:txBody>
      </p:sp>
    </p:spTree>
    <p:custDataLst>
      <p:tags r:id="rId1"/>
    </p:custDataLst>
    <p:extLst>
      <p:ext uri="{BB962C8B-B14F-4D97-AF65-F5344CB8AC3E}">
        <p14:creationId xmlns:p14="http://schemas.microsoft.com/office/powerpoint/2010/main" val="645985308"/>
      </p:ext>
    </p:extLst>
  </p:cSld>
  <p:clrMapOvr>
    <a:masterClrMapping/>
  </p:clrMapOvr>
  <mc:AlternateContent xmlns:mc="http://schemas.openxmlformats.org/markup-compatibility/2006" xmlns:p14="http://schemas.microsoft.com/office/powerpoint/2010/main">
    <mc:Choice Requires="p14">
      <p:transition spd="slow" p14:dur="2000" advTm="12635"/>
    </mc:Choice>
    <mc:Fallback xmlns="">
      <p:transition spd="slow" advTm="12635"/>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稻壳儿搜索【幻雨工作室】__1">
            <a:extLst>
              <a:ext uri="{FF2B5EF4-FFF2-40B4-BE49-F238E27FC236}">
                <a16:creationId xmlns:a16="http://schemas.microsoft.com/office/drawing/2014/main" id="{898EF5DD-752A-496C-861C-B924BC62481A}"/>
              </a:ext>
            </a:extLst>
          </p:cNvPr>
          <p:cNvSpPr/>
          <p:nvPr/>
        </p:nvSpPr>
        <p:spPr>
          <a:xfrm rot="5400000">
            <a:off x="10679989" y="3199681"/>
            <a:ext cx="2158998" cy="458639"/>
          </a:xfrm>
          <a:custGeom>
            <a:avLst/>
            <a:gdLst>
              <a:gd name="connsiteX0" fmla="*/ 0 w 2158998"/>
              <a:gd name="connsiteY0" fmla="*/ 6358 h 458639"/>
              <a:gd name="connsiteX1" fmla="*/ 641 w 2158998"/>
              <a:gd name="connsiteY1" fmla="*/ 0 h 458639"/>
              <a:gd name="connsiteX2" fmla="*/ 2158357 w 2158998"/>
              <a:gd name="connsiteY2" fmla="*/ 0 h 458639"/>
              <a:gd name="connsiteX3" fmla="*/ 2158998 w 2158998"/>
              <a:gd name="connsiteY3" fmla="*/ 6358 h 458639"/>
              <a:gd name="connsiteX4" fmla="*/ 1706717 w 2158998"/>
              <a:gd name="connsiteY4" fmla="*/ 458639 h 458639"/>
              <a:gd name="connsiteX5" fmla="*/ 452281 w 2158998"/>
              <a:gd name="connsiteY5" fmla="*/ 458639 h 458639"/>
              <a:gd name="connsiteX6" fmla="*/ 0 w 2158998"/>
              <a:gd name="connsiteY6" fmla="*/ 6358 h 4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58998" h="458639">
                <a:moveTo>
                  <a:pt x="0" y="6358"/>
                </a:moveTo>
                <a:lnTo>
                  <a:pt x="641" y="0"/>
                </a:lnTo>
                <a:lnTo>
                  <a:pt x="2158357" y="0"/>
                </a:lnTo>
                <a:lnTo>
                  <a:pt x="2158998" y="6358"/>
                </a:lnTo>
                <a:cubicBezTo>
                  <a:pt x="2158998" y="256146"/>
                  <a:pt x="1956505" y="458639"/>
                  <a:pt x="1706717" y="458639"/>
                </a:cubicBezTo>
                <a:lnTo>
                  <a:pt x="452281" y="458639"/>
                </a:lnTo>
                <a:cubicBezTo>
                  <a:pt x="202493" y="458639"/>
                  <a:pt x="0" y="256146"/>
                  <a:pt x="0" y="6358"/>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panose="020F0502020204030204"/>
              <a:ea typeface="等线" panose="02010600030101010101" pitchFamily="2" charset="-122"/>
              <a:cs typeface="+mn-cs"/>
            </a:endParaRPr>
          </a:p>
        </p:txBody>
      </p:sp>
      <p:sp>
        <p:nvSpPr>
          <p:cNvPr id="7" name="稻壳儿搜索【幻雨工作室】__2">
            <a:extLst>
              <a:ext uri="{FF2B5EF4-FFF2-40B4-BE49-F238E27FC236}">
                <a16:creationId xmlns:a16="http://schemas.microsoft.com/office/drawing/2014/main" id="{0EBFEAA2-261B-46AA-9F3F-9AD6C2E14DD7}"/>
              </a:ext>
            </a:extLst>
          </p:cNvPr>
          <p:cNvSpPr/>
          <p:nvPr/>
        </p:nvSpPr>
        <p:spPr>
          <a:xfrm>
            <a:off x="209550" y="171450"/>
            <a:ext cx="11772900" cy="6515100"/>
          </a:xfrm>
          <a:prstGeom prst="roundRect">
            <a:avLst>
              <a:gd name="adj" fmla="val 2827"/>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稻壳儿搜索【幻雨工作室】__3">
            <a:extLst>
              <a:ext uri="{FF2B5EF4-FFF2-40B4-BE49-F238E27FC236}">
                <a16:creationId xmlns:a16="http://schemas.microsoft.com/office/drawing/2014/main" id="{2B9890A0-DC39-46BA-B6A8-8C7041112493}"/>
              </a:ext>
            </a:extLst>
          </p:cNvPr>
          <p:cNvSpPr/>
          <p:nvPr/>
        </p:nvSpPr>
        <p:spPr>
          <a:xfrm rot="16200000" flipH="1">
            <a:off x="-632609" y="3199683"/>
            <a:ext cx="2158998" cy="458639"/>
          </a:xfrm>
          <a:custGeom>
            <a:avLst/>
            <a:gdLst>
              <a:gd name="connsiteX0" fmla="*/ 0 w 2158998"/>
              <a:gd name="connsiteY0" fmla="*/ 6358 h 458639"/>
              <a:gd name="connsiteX1" fmla="*/ 641 w 2158998"/>
              <a:gd name="connsiteY1" fmla="*/ 0 h 458639"/>
              <a:gd name="connsiteX2" fmla="*/ 2158357 w 2158998"/>
              <a:gd name="connsiteY2" fmla="*/ 0 h 458639"/>
              <a:gd name="connsiteX3" fmla="*/ 2158998 w 2158998"/>
              <a:gd name="connsiteY3" fmla="*/ 6358 h 458639"/>
              <a:gd name="connsiteX4" fmla="*/ 1706717 w 2158998"/>
              <a:gd name="connsiteY4" fmla="*/ 458639 h 458639"/>
              <a:gd name="connsiteX5" fmla="*/ 452281 w 2158998"/>
              <a:gd name="connsiteY5" fmla="*/ 458639 h 458639"/>
              <a:gd name="connsiteX6" fmla="*/ 0 w 2158998"/>
              <a:gd name="connsiteY6" fmla="*/ 6358 h 4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58998" h="458639">
                <a:moveTo>
                  <a:pt x="0" y="6358"/>
                </a:moveTo>
                <a:lnTo>
                  <a:pt x="641" y="0"/>
                </a:lnTo>
                <a:lnTo>
                  <a:pt x="2158357" y="0"/>
                </a:lnTo>
                <a:lnTo>
                  <a:pt x="2158998" y="6358"/>
                </a:lnTo>
                <a:cubicBezTo>
                  <a:pt x="2158998" y="256146"/>
                  <a:pt x="1956505" y="458639"/>
                  <a:pt x="1706717" y="458639"/>
                </a:cubicBezTo>
                <a:lnTo>
                  <a:pt x="452281" y="458639"/>
                </a:lnTo>
                <a:cubicBezTo>
                  <a:pt x="202493" y="458639"/>
                  <a:pt x="0" y="256146"/>
                  <a:pt x="0" y="6358"/>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panose="020F0502020204030204"/>
              <a:ea typeface="等线" panose="02010600030101010101" pitchFamily="2" charset="-122"/>
              <a:cs typeface="+mn-cs"/>
            </a:endParaRPr>
          </a:p>
        </p:txBody>
      </p:sp>
      <p:sp>
        <p:nvSpPr>
          <p:cNvPr id="69" name="稻壳儿搜索【幻雨工作室】__5">
            <a:extLst>
              <a:ext uri="{FF2B5EF4-FFF2-40B4-BE49-F238E27FC236}">
                <a16:creationId xmlns:a16="http://schemas.microsoft.com/office/drawing/2014/main" id="{92F68D92-1087-4DA9-BE0B-8C113C415C0D}"/>
              </a:ext>
            </a:extLst>
          </p:cNvPr>
          <p:cNvSpPr/>
          <p:nvPr/>
        </p:nvSpPr>
        <p:spPr>
          <a:xfrm>
            <a:off x="2223051" y="2799716"/>
            <a:ext cx="1213172" cy="1226099"/>
          </a:xfrm>
          <a:prstGeom prst="ellipse">
            <a:avLst/>
          </a:prstGeom>
          <a:solidFill>
            <a:schemeClr val="accent1"/>
          </a:solidFill>
          <a:ln w="25400">
            <a:noFill/>
          </a:ln>
          <a:effectLst>
            <a:outerShdw blurRad="571500" dist="482600" dir="7500000" sx="68000" sy="68000" algn="ctr" rotWithShape="0">
              <a:srgbClr val="000000">
                <a:alpha val="1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b="1" dirty="0">
                <a:solidFill>
                  <a:schemeClr val="bg1"/>
                </a:solidFill>
                <a:latin typeface="Arial" panose="020B0604020202020204" pitchFamily="34" charset="0"/>
                <a:cs typeface="Arial" panose="020B0604020202020204" pitchFamily="34" charset="0"/>
              </a:rPr>
              <a:t>01</a:t>
            </a:r>
            <a:endParaRPr lang="zh-CN" altLang="en-US" sz="3600" b="1" dirty="0">
              <a:solidFill>
                <a:schemeClr val="bg1"/>
              </a:solidFill>
              <a:latin typeface="Arial" panose="020B0604020202020204" pitchFamily="34" charset="0"/>
              <a:cs typeface="Arial" panose="020B0604020202020204" pitchFamily="34" charset="0"/>
            </a:endParaRPr>
          </a:p>
        </p:txBody>
      </p:sp>
      <p:sp>
        <p:nvSpPr>
          <p:cNvPr id="70" name="稻壳儿搜索【幻雨工作室】__6">
            <a:extLst>
              <a:ext uri="{FF2B5EF4-FFF2-40B4-BE49-F238E27FC236}">
                <a16:creationId xmlns:a16="http://schemas.microsoft.com/office/drawing/2014/main" id="{37CD99D6-8B12-4DDE-AFF2-ED4593DD50AA}"/>
              </a:ext>
            </a:extLst>
          </p:cNvPr>
          <p:cNvSpPr/>
          <p:nvPr/>
        </p:nvSpPr>
        <p:spPr>
          <a:xfrm>
            <a:off x="5076083" y="2815950"/>
            <a:ext cx="1213172" cy="1226099"/>
          </a:xfrm>
          <a:prstGeom prst="ellipse">
            <a:avLst/>
          </a:prstGeom>
          <a:solidFill>
            <a:schemeClr val="accent1"/>
          </a:solidFill>
          <a:ln w="25400">
            <a:noFill/>
          </a:ln>
          <a:effectLst>
            <a:outerShdw blurRad="571500" dist="482600" dir="7500000" sx="68000" sy="68000" algn="ctr" rotWithShape="0">
              <a:srgbClr val="000000">
                <a:alpha val="1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b="1" dirty="0">
                <a:solidFill>
                  <a:schemeClr val="bg1"/>
                </a:solidFill>
                <a:latin typeface="Arial" panose="020B0604020202020204" pitchFamily="34" charset="0"/>
                <a:cs typeface="Arial" panose="020B0604020202020204" pitchFamily="34" charset="0"/>
              </a:rPr>
              <a:t>02</a:t>
            </a:r>
            <a:endParaRPr lang="zh-CN" altLang="en-US" sz="3600" b="1" dirty="0">
              <a:solidFill>
                <a:schemeClr val="bg1"/>
              </a:solidFill>
              <a:latin typeface="Arial" panose="020B0604020202020204" pitchFamily="34" charset="0"/>
              <a:cs typeface="Arial" panose="020B0604020202020204" pitchFamily="34" charset="0"/>
            </a:endParaRPr>
          </a:p>
        </p:txBody>
      </p:sp>
      <p:sp>
        <p:nvSpPr>
          <p:cNvPr id="72" name="稻壳儿搜索【幻雨工作室】__8">
            <a:extLst>
              <a:ext uri="{FF2B5EF4-FFF2-40B4-BE49-F238E27FC236}">
                <a16:creationId xmlns:a16="http://schemas.microsoft.com/office/drawing/2014/main" id="{F227342D-C1A8-471D-8F4B-A2E37231ABC2}"/>
              </a:ext>
            </a:extLst>
          </p:cNvPr>
          <p:cNvSpPr/>
          <p:nvPr/>
        </p:nvSpPr>
        <p:spPr>
          <a:xfrm>
            <a:off x="7929115" y="2815950"/>
            <a:ext cx="1213172" cy="1226099"/>
          </a:xfrm>
          <a:prstGeom prst="ellipse">
            <a:avLst/>
          </a:prstGeom>
          <a:solidFill>
            <a:schemeClr val="accent1"/>
          </a:solidFill>
          <a:ln w="25400">
            <a:noFill/>
          </a:ln>
          <a:effectLst>
            <a:outerShdw blurRad="571500" dist="482600" dir="7500000" sx="68000" sy="68000" algn="ctr" rotWithShape="0">
              <a:srgbClr val="000000">
                <a:alpha val="13000"/>
              </a:srgb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3600" b="1" dirty="0">
                <a:solidFill>
                  <a:schemeClr val="bg1"/>
                </a:solidFill>
                <a:latin typeface="Arial" panose="020B0604020202020204" pitchFamily="34" charset="0"/>
                <a:cs typeface="Arial" panose="020B0604020202020204" pitchFamily="34" charset="0"/>
              </a:rPr>
              <a:t>03</a:t>
            </a:r>
            <a:endParaRPr lang="zh-CN" altLang="en-US" sz="3600" b="1" dirty="0">
              <a:solidFill>
                <a:schemeClr val="bg1"/>
              </a:solidFill>
              <a:latin typeface="Arial" panose="020B0604020202020204" pitchFamily="34" charset="0"/>
              <a:cs typeface="Arial" panose="020B0604020202020204" pitchFamily="34" charset="0"/>
            </a:endParaRPr>
          </a:p>
        </p:txBody>
      </p:sp>
      <p:sp>
        <p:nvSpPr>
          <p:cNvPr id="73" name="稻壳儿搜索【幻雨工作室】__9">
            <a:extLst>
              <a:ext uri="{FF2B5EF4-FFF2-40B4-BE49-F238E27FC236}">
                <a16:creationId xmlns:a16="http://schemas.microsoft.com/office/drawing/2014/main" id="{DDF992BB-257C-4045-B409-41CF5DE46465}"/>
              </a:ext>
            </a:extLst>
          </p:cNvPr>
          <p:cNvSpPr txBox="1">
            <a:spLocks noChangeArrowheads="1"/>
          </p:cNvSpPr>
          <p:nvPr/>
        </p:nvSpPr>
        <p:spPr bwMode="auto">
          <a:xfrm>
            <a:off x="1477193" y="4276795"/>
            <a:ext cx="2825469" cy="683264"/>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lvl1pPr>
              <a:defRPr sz="1300">
                <a:solidFill>
                  <a:schemeClr val="tx1"/>
                </a:solidFill>
                <a:latin typeface="华文细黑" panose="02010600040101010101" pitchFamily="2" charset="-122"/>
                <a:ea typeface="华文细黑" panose="02010600040101010101" pitchFamily="2" charset="-122"/>
              </a:defRPr>
            </a:lvl1pPr>
            <a:lvl2pPr marL="742950" indent="-285750">
              <a:defRPr sz="1300">
                <a:solidFill>
                  <a:schemeClr val="tx1"/>
                </a:solidFill>
                <a:latin typeface="华文细黑" panose="02010600040101010101" pitchFamily="2" charset="-122"/>
                <a:ea typeface="华文细黑" panose="02010600040101010101" pitchFamily="2" charset="-122"/>
              </a:defRPr>
            </a:lvl2pPr>
            <a:lvl3pPr marL="1143000" indent="-228600">
              <a:defRPr sz="1300">
                <a:solidFill>
                  <a:schemeClr val="tx1"/>
                </a:solidFill>
                <a:latin typeface="华文细黑" panose="02010600040101010101" pitchFamily="2" charset="-122"/>
                <a:ea typeface="华文细黑" panose="02010600040101010101" pitchFamily="2" charset="-122"/>
              </a:defRPr>
            </a:lvl3pPr>
            <a:lvl4pPr marL="1600200" indent="-228600">
              <a:defRPr sz="1300">
                <a:solidFill>
                  <a:schemeClr val="tx1"/>
                </a:solidFill>
                <a:latin typeface="华文细黑" panose="02010600040101010101" pitchFamily="2" charset="-122"/>
                <a:ea typeface="华文细黑" panose="02010600040101010101" pitchFamily="2" charset="-122"/>
              </a:defRPr>
            </a:lvl4pPr>
            <a:lvl5pPr marL="2057400" indent="-228600">
              <a:defRPr sz="1300">
                <a:solidFill>
                  <a:schemeClr val="tx1"/>
                </a:solidFill>
                <a:latin typeface="华文细黑" panose="02010600040101010101" pitchFamily="2" charset="-122"/>
                <a:ea typeface="华文细黑" panose="02010600040101010101" pitchFamily="2" charset="-122"/>
              </a:defRPr>
            </a:lvl5pPr>
            <a:lvl6pPr marL="25146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6pPr>
            <a:lvl7pPr marL="29718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7pPr>
            <a:lvl8pPr marL="34290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8pPr>
            <a:lvl9pPr marL="38862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9pPr>
          </a:lstStyle>
          <a:p>
            <a:pPr algn="ctr" defTabSz="685800">
              <a:lnSpc>
                <a:spcPct val="120000"/>
              </a:lnSpc>
              <a:defRPr/>
            </a:pPr>
            <a:r>
              <a:rPr lang="en-US" altLang="zh-CN" sz="3200" dirty="0" smtClean="0">
                <a:solidFill>
                  <a:schemeClr val="accent1"/>
                </a:solidFill>
                <a:latin typeface="微软雅黑" panose="020B0503020204020204" pitchFamily="34" charset="-122"/>
                <a:ea typeface="微软雅黑" panose="020B0503020204020204" pitchFamily="34" charset="-122"/>
              </a:rPr>
              <a:t>Background</a:t>
            </a:r>
            <a:endParaRPr lang="en-US" altLang="zh-CN" sz="3200" dirty="0">
              <a:solidFill>
                <a:schemeClr val="accent1"/>
              </a:solidFill>
              <a:latin typeface="微软雅黑" panose="020B0503020204020204" pitchFamily="34" charset="-122"/>
              <a:ea typeface="微软雅黑" panose="020B0503020204020204" pitchFamily="34" charset="-122"/>
            </a:endParaRPr>
          </a:p>
        </p:txBody>
      </p:sp>
      <p:sp>
        <p:nvSpPr>
          <p:cNvPr id="74" name="稻壳儿搜索【幻雨工作室】__10">
            <a:extLst>
              <a:ext uri="{FF2B5EF4-FFF2-40B4-BE49-F238E27FC236}">
                <a16:creationId xmlns:a16="http://schemas.microsoft.com/office/drawing/2014/main" id="{220DDF6A-2E37-47CC-8689-24F0FBB85995}"/>
              </a:ext>
            </a:extLst>
          </p:cNvPr>
          <p:cNvSpPr txBox="1">
            <a:spLocks noChangeArrowheads="1"/>
          </p:cNvSpPr>
          <p:nvPr/>
        </p:nvSpPr>
        <p:spPr bwMode="auto">
          <a:xfrm>
            <a:off x="4508473" y="4267988"/>
            <a:ext cx="2217011" cy="633187"/>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lvl1pPr>
              <a:defRPr sz="1300">
                <a:solidFill>
                  <a:schemeClr val="tx1"/>
                </a:solidFill>
                <a:latin typeface="华文细黑" panose="02010600040101010101" pitchFamily="2" charset="-122"/>
                <a:ea typeface="华文细黑" panose="02010600040101010101" pitchFamily="2" charset="-122"/>
              </a:defRPr>
            </a:lvl1pPr>
            <a:lvl2pPr marL="742950" indent="-285750">
              <a:defRPr sz="1300">
                <a:solidFill>
                  <a:schemeClr val="tx1"/>
                </a:solidFill>
                <a:latin typeface="华文细黑" panose="02010600040101010101" pitchFamily="2" charset="-122"/>
                <a:ea typeface="华文细黑" panose="02010600040101010101" pitchFamily="2" charset="-122"/>
              </a:defRPr>
            </a:lvl2pPr>
            <a:lvl3pPr marL="1143000" indent="-228600">
              <a:defRPr sz="1300">
                <a:solidFill>
                  <a:schemeClr val="tx1"/>
                </a:solidFill>
                <a:latin typeface="华文细黑" panose="02010600040101010101" pitchFamily="2" charset="-122"/>
                <a:ea typeface="华文细黑" panose="02010600040101010101" pitchFamily="2" charset="-122"/>
              </a:defRPr>
            </a:lvl3pPr>
            <a:lvl4pPr marL="1600200" indent="-228600">
              <a:defRPr sz="1300">
                <a:solidFill>
                  <a:schemeClr val="tx1"/>
                </a:solidFill>
                <a:latin typeface="华文细黑" panose="02010600040101010101" pitchFamily="2" charset="-122"/>
                <a:ea typeface="华文细黑" panose="02010600040101010101" pitchFamily="2" charset="-122"/>
              </a:defRPr>
            </a:lvl4pPr>
            <a:lvl5pPr marL="2057400" indent="-228600">
              <a:defRPr sz="1300">
                <a:solidFill>
                  <a:schemeClr val="tx1"/>
                </a:solidFill>
                <a:latin typeface="华文细黑" panose="02010600040101010101" pitchFamily="2" charset="-122"/>
                <a:ea typeface="华文细黑" panose="02010600040101010101" pitchFamily="2" charset="-122"/>
              </a:defRPr>
            </a:lvl5pPr>
            <a:lvl6pPr marL="25146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6pPr>
            <a:lvl7pPr marL="29718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7pPr>
            <a:lvl8pPr marL="34290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8pPr>
            <a:lvl9pPr marL="38862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9pPr>
          </a:lstStyle>
          <a:p>
            <a:pPr algn="ctr" defTabSz="685800">
              <a:lnSpc>
                <a:spcPct val="120000"/>
              </a:lnSpc>
              <a:defRPr/>
            </a:pPr>
            <a:r>
              <a:rPr lang="en-US" altLang="zh-CN" sz="3200" dirty="0" smtClean="0">
                <a:solidFill>
                  <a:schemeClr val="accent1"/>
                </a:solidFill>
                <a:latin typeface="微软雅黑" panose="020B0503020204020204" pitchFamily="34" charset="-122"/>
                <a:ea typeface="微软雅黑" panose="020B0503020204020204" pitchFamily="34" charset="-122"/>
              </a:rPr>
              <a:t>Progress</a:t>
            </a:r>
            <a:endParaRPr lang="en-US" altLang="zh-CN" sz="3200" dirty="0">
              <a:solidFill>
                <a:schemeClr val="accent1"/>
              </a:solidFill>
              <a:latin typeface="微软雅黑" panose="020B0503020204020204" pitchFamily="34" charset="-122"/>
              <a:ea typeface="微软雅黑" panose="020B0503020204020204" pitchFamily="34" charset="-122"/>
            </a:endParaRPr>
          </a:p>
        </p:txBody>
      </p:sp>
      <p:cxnSp>
        <p:nvCxnSpPr>
          <p:cNvPr id="3" name="稻壳儿搜索【幻雨工作室】__13">
            <a:extLst>
              <a:ext uri="{FF2B5EF4-FFF2-40B4-BE49-F238E27FC236}">
                <a16:creationId xmlns:a16="http://schemas.microsoft.com/office/drawing/2014/main" id="{5C439B9F-E652-4578-8FB7-D526292967C3}"/>
              </a:ext>
            </a:extLst>
          </p:cNvPr>
          <p:cNvCxnSpPr>
            <a:cxnSpLocks/>
          </p:cNvCxnSpPr>
          <p:nvPr/>
        </p:nvCxnSpPr>
        <p:spPr>
          <a:xfrm>
            <a:off x="4546600" y="1798223"/>
            <a:ext cx="3187700"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稻壳儿搜索【幻雨工作室】__10">
            <a:extLst>
              <a:ext uri="{FF2B5EF4-FFF2-40B4-BE49-F238E27FC236}">
                <a16:creationId xmlns:a16="http://schemas.microsoft.com/office/drawing/2014/main" id="{220DDF6A-2E37-47CC-8689-24F0FBB85995}"/>
              </a:ext>
            </a:extLst>
          </p:cNvPr>
          <p:cNvSpPr txBox="1">
            <a:spLocks noChangeArrowheads="1"/>
          </p:cNvSpPr>
          <p:nvPr/>
        </p:nvSpPr>
        <p:spPr bwMode="auto">
          <a:xfrm>
            <a:off x="7295815" y="4276795"/>
            <a:ext cx="2608039" cy="633187"/>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lvl1pPr>
              <a:defRPr sz="1300">
                <a:solidFill>
                  <a:schemeClr val="tx1"/>
                </a:solidFill>
                <a:latin typeface="华文细黑" panose="02010600040101010101" pitchFamily="2" charset="-122"/>
                <a:ea typeface="华文细黑" panose="02010600040101010101" pitchFamily="2" charset="-122"/>
              </a:defRPr>
            </a:lvl1pPr>
            <a:lvl2pPr marL="742950" indent="-285750">
              <a:defRPr sz="1300">
                <a:solidFill>
                  <a:schemeClr val="tx1"/>
                </a:solidFill>
                <a:latin typeface="华文细黑" panose="02010600040101010101" pitchFamily="2" charset="-122"/>
                <a:ea typeface="华文细黑" panose="02010600040101010101" pitchFamily="2" charset="-122"/>
              </a:defRPr>
            </a:lvl2pPr>
            <a:lvl3pPr marL="1143000" indent="-228600">
              <a:defRPr sz="1300">
                <a:solidFill>
                  <a:schemeClr val="tx1"/>
                </a:solidFill>
                <a:latin typeface="华文细黑" panose="02010600040101010101" pitchFamily="2" charset="-122"/>
                <a:ea typeface="华文细黑" panose="02010600040101010101" pitchFamily="2" charset="-122"/>
              </a:defRPr>
            </a:lvl3pPr>
            <a:lvl4pPr marL="1600200" indent="-228600">
              <a:defRPr sz="1300">
                <a:solidFill>
                  <a:schemeClr val="tx1"/>
                </a:solidFill>
                <a:latin typeface="华文细黑" panose="02010600040101010101" pitchFamily="2" charset="-122"/>
                <a:ea typeface="华文细黑" panose="02010600040101010101" pitchFamily="2" charset="-122"/>
              </a:defRPr>
            </a:lvl4pPr>
            <a:lvl5pPr marL="2057400" indent="-228600">
              <a:defRPr sz="1300">
                <a:solidFill>
                  <a:schemeClr val="tx1"/>
                </a:solidFill>
                <a:latin typeface="华文细黑" panose="02010600040101010101" pitchFamily="2" charset="-122"/>
                <a:ea typeface="华文细黑" panose="02010600040101010101" pitchFamily="2" charset="-122"/>
              </a:defRPr>
            </a:lvl5pPr>
            <a:lvl6pPr marL="25146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6pPr>
            <a:lvl7pPr marL="29718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7pPr>
            <a:lvl8pPr marL="34290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8pPr>
            <a:lvl9pPr marL="38862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9pPr>
          </a:lstStyle>
          <a:p>
            <a:pPr algn="ctr" defTabSz="685800">
              <a:lnSpc>
                <a:spcPct val="120000"/>
              </a:lnSpc>
              <a:defRPr/>
            </a:pPr>
            <a:r>
              <a:rPr lang="en-US" altLang="zh-CN" sz="3200" dirty="0" smtClean="0">
                <a:solidFill>
                  <a:schemeClr val="accent1"/>
                </a:solidFill>
                <a:latin typeface="微软雅黑" panose="020B0503020204020204" pitchFamily="34" charset="-122"/>
                <a:ea typeface="微软雅黑" panose="020B0503020204020204" pitchFamily="34" charset="-122"/>
              </a:rPr>
              <a:t>Future Work</a:t>
            </a:r>
            <a:endParaRPr lang="en-US" altLang="zh-CN" sz="3200" dirty="0">
              <a:solidFill>
                <a:schemeClr val="accent1"/>
              </a:solidFill>
              <a:latin typeface="微软雅黑" panose="020B0503020204020204" pitchFamily="34" charset="-122"/>
              <a:ea typeface="微软雅黑" panose="020B0503020204020204" pitchFamily="34" charset="-122"/>
            </a:endParaRPr>
          </a:p>
        </p:txBody>
      </p:sp>
    </p:spTree>
    <p:custDataLst>
      <p:tags r:id="rId1"/>
    </p:custDataLst>
    <p:extLst>
      <p:ext uri="{BB962C8B-B14F-4D97-AF65-F5344CB8AC3E}">
        <p14:creationId xmlns:p14="http://schemas.microsoft.com/office/powerpoint/2010/main" val="2361165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73"/>
                                        </p:tgtEl>
                                        <p:attrNameLst>
                                          <p:attrName>style.visibility</p:attrName>
                                        </p:attrNameLst>
                                      </p:cBhvr>
                                      <p:to>
                                        <p:strVal val="visible"/>
                                      </p:to>
                                    </p:set>
                                    <p:anim calcmode="lin" valueType="num">
                                      <p:cBhvr additive="base">
                                        <p:cTn id="7" dur="500" fill="hold"/>
                                        <p:tgtEl>
                                          <p:spTgt spid="73"/>
                                        </p:tgtEl>
                                        <p:attrNameLst>
                                          <p:attrName>ppt_x</p:attrName>
                                        </p:attrNameLst>
                                      </p:cBhvr>
                                      <p:tavLst>
                                        <p:tav tm="0">
                                          <p:val>
                                            <p:strVal val="#ppt_x"/>
                                          </p:val>
                                        </p:tav>
                                        <p:tav tm="100000">
                                          <p:val>
                                            <p:strVal val="#ppt_x"/>
                                          </p:val>
                                        </p:tav>
                                      </p:tavLst>
                                    </p:anim>
                                    <p:anim calcmode="lin" valueType="num">
                                      <p:cBhvr additive="base">
                                        <p:cTn id="8" dur="500" fill="hold"/>
                                        <p:tgtEl>
                                          <p:spTgt spid="73"/>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74"/>
                                        </p:tgtEl>
                                        <p:attrNameLst>
                                          <p:attrName>style.visibility</p:attrName>
                                        </p:attrNameLst>
                                      </p:cBhvr>
                                      <p:to>
                                        <p:strVal val="visible"/>
                                      </p:to>
                                    </p:set>
                                    <p:anim calcmode="lin" valueType="num">
                                      <p:cBhvr additive="base">
                                        <p:cTn id="13" dur="500" fill="hold"/>
                                        <p:tgtEl>
                                          <p:spTgt spid="74"/>
                                        </p:tgtEl>
                                        <p:attrNameLst>
                                          <p:attrName>ppt_x</p:attrName>
                                        </p:attrNameLst>
                                      </p:cBhvr>
                                      <p:tavLst>
                                        <p:tav tm="0">
                                          <p:val>
                                            <p:strVal val="#ppt_x"/>
                                          </p:val>
                                        </p:tav>
                                        <p:tav tm="100000">
                                          <p:val>
                                            <p:strVal val="#ppt_x"/>
                                          </p:val>
                                        </p:tav>
                                      </p:tavLst>
                                    </p:anim>
                                    <p:anim calcmode="lin" valueType="num">
                                      <p:cBhvr additive="base">
                                        <p:cTn id="14" dur="500" fill="hold"/>
                                        <p:tgtEl>
                                          <p:spTgt spid="74"/>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14"/>
                                        </p:tgtEl>
                                        <p:attrNameLst>
                                          <p:attrName>style.visibility</p:attrName>
                                        </p:attrNameLst>
                                      </p:cBhvr>
                                      <p:to>
                                        <p:strVal val="visible"/>
                                      </p:to>
                                    </p:set>
                                    <p:anim calcmode="lin" valueType="num">
                                      <p:cBhvr additive="base">
                                        <p:cTn id="19" dur="500" fill="hold"/>
                                        <p:tgtEl>
                                          <p:spTgt spid="14"/>
                                        </p:tgtEl>
                                        <p:attrNameLst>
                                          <p:attrName>ppt_x</p:attrName>
                                        </p:attrNameLst>
                                      </p:cBhvr>
                                      <p:tavLst>
                                        <p:tav tm="0">
                                          <p:val>
                                            <p:strVal val="#ppt_x"/>
                                          </p:val>
                                        </p:tav>
                                        <p:tav tm="100000">
                                          <p:val>
                                            <p:strVal val="#ppt_x"/>
                                          </p:val>
                                        </p:tav>
                                      </p:tavLst>
                                    </p:anim>
                                    <p:anim calcmode="lin" valueType="num">
                                      <p:cBhvr additive="base">
                                        <p:cTn id="20"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3" grpId="0"/>
      <p:bldP spid="74" grpId="0"/>
      <p:bldP spid="14"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4"/>
          <p:cNvSpPr/>
          <p:nvPr/>
        </p:nvSpPr>
        <p:spPr>
          <a:xfrm>
            <a:off x="7035800" y="2095500"/>
            <a:ext cx="4330700" cy="4381500"/>
          </a:xfrm>
          <a:prstGeom prst="rect">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zh-CN" altLang="en-US" dirty="0"/>
          </a:p>
        </p:txBody>
      </p:sp>
      <p:sp>
        <p:nvSpPr>
          <p:cNvPr id="18" name="矩形 17">
            <a:extLst>
              <a:ext uri="{FF2B5EF4-FFF2-40B4-BE49-F238E27FC236}">
                <a16:creationId xmlns:a16="http://schemas.microsoft.com/office/drawing/2014/main" id="{87F7609B-44D8-4A6F-85A8-FC5A2D0C942D}"/>
              </a:ext>
            </a:extLst>
          </p:cNvPr>
          <p:cNvSpPr/>
          <p:nvPr/>
        </p:nvSpPr>
        <p:spPr>
          <a:xfrm>
            <a:off x="-83801" y="668559"/>
            <a:ext cx="4078285" cy="45719"/>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a:extLst>
              <a:ext uri="{FF2B5EF4-FFF2-40B4-BE49-F238E27FC236}">
                <a16:creationId xmlns:a16="http://schemas.microsoft.com/office/drawing/2014/main" id="{E4B5C20D-4A12-483C-8756-87F0BD864146}"/>
              </a:ext>
            </a:extLst>
          </p:cNvPr>
          <p:cNvSpPr txBox="1"/>
          <p:nvPr/>
        </p:nvSpPr>
        <p:spPr>
          <a:xfrm>
            <a:off x="756035" y="249977"/>
            <a:ext cx="3142197" cy="800219"/>
          </a:xfrm>
          <a:prstGeom prst="rect">
            <a:avLst/>
          </a:prstGeom>
          <a:noFill/>
        </p:spPr>
        <p:txBody>
          <a:bodyPr vert="horz" wrap="square" rtlCol="0">
            <a:spAutoFit/>
          </a:bodyPr>
          <a:lstStyle>
            <a:defPPr>
              <a:defRPr lang="zh-CN"/>
            </a:defPPr>
            <a:lvl1pPr>
              <a:defRPr sz="2000">
                <a:solidFill>
                  <a:schemeClr val="bg1"/>
                </a:solidFill>
                <a:latin typeface="Verdana" panose="020B0604030504040204" pitchFamily="34" charset="0"/>
                <a:ea typeface="Verdana" panose="020B0604030504040204" pitchFamily="34" charset="0"/>
              </a:defRPr>
            </a:lvl1pPr>
          </a:lstStyle>
          <a:p>
            <a:pPr algn="r"/>
            <a:r>
              <a:rPr lang="en-US" altLang="zh-CN" sz="2300" b="1" dirty="0" smtClean="0">
                <a:solidFill>
                  <a:schemeClr val="tx1">
                    <a:lumMod val="75000"/>
                    <a:lumOff val="25000"/>
                  </a:schemeClr>
                </a:solidFill>
                <a:latin typeface="+mn-ea"/>
                <a:ea typeface="+mn-ea"/>
              </a:rPr>
              <a:t>DL Clusters </a:t>
            </a:r>
            <a:r>
              <a:rPr lang="en-US" altLang="zh-CN" sz="2300" b="1" dirty="0">
                <a:solidFill>
                  <a:schemeClr val="tx1">
                    <a:lumMod val="75000"/>
                    <a:lumOff val="25000"/>
                  </a:schemeClr>
                </a:solidFill>
                <a:latin typeface="+mn-ea"/>
                <a:ea typeface="+mn-ea"/>
              </a:rPr>
              <a:t>Scheduler</a:t>
            </a:r>
          </a:p>
          <a:p>
            <a:pPr algn="r"/>
            <a:endParaRPr lang="en-US" altLang="zh-CN" sz="2300" b="1" dirty="0">
              <a:solidFill>
                <a:schemeClr val="tx1">
                  <a:lumMod val="75000"/>
                  <a:lumOff val="25000"/>
                </a:schemeClr>
              </a:solidFill>
              <a:latin typeface="+mn-ea"/>
              <a:ea typeface="+mn-ea"/>
            </a:endParaRPr>
          </a:p>
        </p:txBody>
      </p:sp>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10500" y="3364626"/>
            <a:ext cx="1155700" cy="1155700"/>
          </a:xfrm>
          <a:prstGeom prst="rect">
            <a:avLst/>
          </a:prstGeom>
        </p:spPr>
      </p:pic>
      <p:pic>
        <p:nvPicPr>
          <p:cNvPr id="2" name="图片 1"/>
          <p:cNvPicPr>
            <a:picLocks noChangeAspect="1"/>
          </p:cNvPicPr>
          <p:nvPr/>
        </p:nvPicPr>
        <p:blipFill>
          <a:blip r:embed="rId4"/>
          <a:stretch>
            <a:fillRect/>
          </a:stretch>
        </p:blipFill>
        <p:spPr>
          <a:xfrm>
            <a:off x="1432599" y="3639423"/>
            <a:ext cx="1082001" cy="976153"/>
          </a:xfrm>
          <a:prstGeom prst="rect">
            <a:avLst/>
          </a:prstGeom>
        </p:spPr>
      </p:pic>
      <p:sp>
        <p:nvSpPr>
          <p:cNvPr id="3" name="右箭头 2"/>
          <p:cNvSpPr/>
          <p:nvPr/>
        </p:nvSpPr>
        <p:spPr>
          <a:xfrm>
            <a:off x="3179544" y="3448050"/>
            <a:ext cx="3556000" cy="135890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p:cNvSpPr txBox="1"/>
          <p:nvPr/>
        </p:nvSpPr>
        <p:spPr>
          <a:xfrm>
            <a:off x="3480650" y="3917950"/>
            <a:ext cx="2864887" cy="369332"/>
          </a:xfrm>
          <a:prstGeom prst="rect">
            <a:avLst/>
          </a:prstGeom>
          <a:noFill/>
        </p:spPr>
        <p:txBody>
          <a:bodyPr wrap="none" rtlCol="0">
            <a:spAutoFit/>
          </a:bodyPr>
          <a:lstStyle/>
          <a:p>
            <a:r>
              <a:rPr lang="en-US" altLang="zh-CN" dirty="0" smtClean="0">
                <a:solidFill>
                  <a:schemeClr val="bg1"/>
                </a:solidFill>
              </a:rPr>
              <a:t>Submit # GPU to scheduler</a:t>
            </a:r>
            <a:endParaRPr lang="zh-CN" altLang="en-US" dirty="0">
              <a:solidFill>
                <a:schemeClr val="bg1"/>
              </a:solidFill>
            </a:endParaRPr>
          </a:p>
        </p:txBody>
      </p:sp>
      <p:pic>
        <p:nvPicPr>
          <p:cNvPr id="14" name="图片 1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810500" y="4738131"/>
            <a:ext cx="1155700" cy="1155700"/>
          </a:xfrm>
          <a:prstGeom prst="rect">
            <a:avLst/>
          </a:prstGeom>
        </p:spPr>
      </p:pic>
      <p:pic>
        <p:nvPicPr>
          <p:cNvPr id="17" name="图片 1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36100" y="4738131"/>
            <a:ext cx="1155700" cy="1155700"/>
          </a:xfrm>
          <a:prstGeom prst="rect">
            <a:avLst/>
          </a:prstGeom>
        </p:spPr>
      </p:pic>
      <p:pic>
        <p:nvPicPr>
          <p:cNvPr id="19" name="图片 1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436100" y="3364626"/>
            <a:ext cx="1155700" cy="1155700"/>
          </a:xfrm>
          <a:prstGeom prst="rect">
            <a:avLst/>
          </a:prstGeom>
        </p:spPr>
      </p:pic>
      <p:sp>
        <p:nvSpPr>
          <p:cNvPr id="6" name="文本框 5"/>
          <p:cNvSpPr txBox="1"/>
          <p:nvPr/>
        </p:nvSpPr>
        <p:spPr>
          <a:xfrm>
            <a:off x="7230052" y="2183344"/>
            <a:ext cx="2489784" cy="461665"/>
          </a:xfrm>
          <a:prstGeom prst="rect">
            <a:avLst/>
          </a:prstGeom>
          <a:noFill/>
        </p:spPr>
        <p:txBody>
          <a:bodyPr wrap="none" rtlCol="0">
            <a:spAutoFit/>
          </a:bodyPr>
          <a:lstStyle/>
          <a:p>
            <a:r>
              <a:rPr lang="en-US" altLang="zh-CN" sz="2400" dirty="0" smtClean="0"/>
              <a:t>Cluster Scheduler</a:t>
            </a:r>
            <a:endParaRPr lang="zh-CN" altLang="en-US" sz="2400" dirty="0"/>
          </a:p>
        </p:txBody>
      </p:sp>
      <p:sp>
        <p:nvSpPr>
          <p:cNvPr id="8" name="椭圆形标注 7"/>
          <p:cNvSpPr/>
          <p:nvPr/>
        </p:nvSpPr>
        <p:spPr>
          <a:xfrm>
            <a:off x="2374900" y="1612900"/>
            <a:ext cx="2850816" cy="1097492"/>
          </a:xfrm>
          <a:prstGeom prst="wedgeEllipseCallout">
            <a:avLst>
              <a:gd name="adj1" fmla="val -52121"/>
              <a:gd name="adj2" fmla="val 129875"/>
            </a:avLst>
          </a:prstGeom>
        </p:spPr>
        <p:style>
          <a:lnRef idx="2">
            <a:schemeClr val="accent6"/>
          </a:lnRef>
          <a:fillRef idx="1">
            <a:schemeClr val="lt1"/>
          </a:fillRef>
          <a:effectRef idx="0">
            <a:schemeClr val="accent6"/>
          </a:effectRef>
          <a:fontRef idx="minor">
            <a:schemeClr val="dk1"/>
          </a:fontRef>
        </p:style>
        <p:txBody>
          <a:bodyPr rtlCol="0" anchor="ctr"/>
          <a:lstStyle/>
          <a:p>
            <a:pPr algn="ctr"/>
            <a:endParaRPr lang="zh-CN" altLang="en-US"/>
          </a:p>
        </p:txBody>
      </p:sp>
      <p:sp>
        <p:nvSpPr>
          <p:cNvPr id="13" name="文本框 12"/>
          <p:cNvSpPr txBox="1"/>
          <p:nvPr/>
        </p:nvSpPr>
        <p:spPr>
          <a:xfrm>
            <a:off x="2653340" y="1930813"/>
            <a:ext cx="2489784" cy="461665"/>
          </a:xfrm>
          <a:prstGeom prst="rect">
            <a:avLst/>
          </a:prstGeom>
          <a:noFill/>
        </p:spPr>
        <p:txBody>
          <a:bodyPr wrap="none" rtlCol="0">
            <a:spAutoFit/>
          </a:bodyPr>
          <a:lstStyle/>
          <a:p>
            <a:r>
              <a:rPr lang="en-US" altLang="zh-CN" sz="2400" dirty="0" smtClean="0"/>
              <a:t>How many GPU?</a:t>
            </a:r>
            <a:endParaRPr lang="zh-CN" altLang="en-US" sz="2400" dirty="0"/>
          </a:p>
        </p:txBody>
      </p:sp>
    </p:spTree>
    <p:extLst>
      <p:ext uri="{BB962C8B-B14F-4D97-AF65-F5344CB8AC3E}">
        <p14:creationId xmlns:p14="http://schemas.microsoft.com/office/powerpoint/2010/main" val="3921542819"/>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a:extLst>
              <a:ext uri="{FF2B5EF4-FFF2-40B4-BE49-F238E27FC236}">
                <a16:creationId xmlns:a16="http://schemas.microsoft.com/office/drawing/2014/main" id="{87F7609B-44D8-4A6F-85A8-FC5A2D0C942D}"/>
              </a:ext>
            </a:extLst>
          </p:cNvPr>
          <p:cNvSpPr/>
          <p:nvPr/>
        </p:nvSpPr>
        <p:spPr>
          <a:xfrm>
            <a:off x="-83801" y="668559"/>
            <a:ext cx="4078285" cy="45719"/>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a:extLst>
              <a:ext uri="{FF2B5EF4-FFF2-40B4-BE49-F238E27FC236}">
                <a16:creationId xmlns:a16="http://schemas.microsoft.com/office/drawing/2014/main" id="{E4B5C20D-4A12-483C-8756-87F0BD864146}"/>
              </a:ext>
            </a:extLst>
          </p:cNvPr>
          <p:cNvSpPr txBox="1"/>
          <p:nvPr/>
        </p:nvSpPr>
        <p:spPr>
          <a:xfrm>
            <a:off x="756035" y="249977"/>
            <a:ext cx="3142197" cy="800219"/>
          </a:xfrm>
          <a:prstGeom prst="rect">
            <a:avLst/>
          </a:prstGeom>
          <a:noFill/>
        </p:spPr>
        <p:txBody>
          <a:bodyPr vert="horz" wrap="square" rtlCol="0">
            <a:spAutoFit/>
          </a:bodyPr>
          <a:lstStyle>
            <a:defPPr>
              <a:defRPr lang="zh-CN"/>
            </a:defPPr>
            <a:lvl1pPr>
              <a:defRPr sz="2000">
                <a:solidFill>
                  <a:schemeClr val="bg1"/>
                </a:solidFill>
                <a:latin typeface="Verdana" panose="020B0604030504040204" pitchFamily="34" charset="0"/>
                <a:ea typeface="Verdana" panose="020B0604030504040204" pitchFamily="34" charset="0"/>
              </a:defRPr>
            </a:lvl1pPr>
          </a:lstStyle>
          <a:p>
            <a:pPr algn="r"/>
            <a:r>
              <a:rPr lang="en-US" altLang="zh-CN" sz="2300" b="1" dirty="0" smtClean="0">
                <a:solidFill>
                  <a:schemeClr val="tx1">
                    <a:lumMod val="75000"/>
                    <a:lumOff val="25000"/>
                  </a:schemeClr>
                </a:solidFill>
                <a:latin typeface="+mn-ea"/>
                <a:ea typeface="+mn-ea"/>
              </a:rPr>
              <a:t>DL Clusters </a:t>
            </a:r>
            <a:r>
              <a:rPr lang="en-US" altLang="zh-CN" sz="2300" b="1" dirty="0">
                <a:solidFill>
                  <a:schemeClr val="tx1">
                    <a:lumMod val="75000"/>
                    <a:lumOff val="25000"/>
                  </a:schemeClr>
                </a:solidFill>
                <a:latin typeface="+mn-ea"/>
                <a:ea typeface="+mn-ea"/>
              </a:rPr>
              <a:t>Scheduler</a:t>
            </a:r>
          </a:p>
          <a:p>
            <a:pPr algn="r"/>
            <a:endParaRPr lang="en-US" altLang="zh-CN" sz="2300" b="1" dirty="0">
              <a:solidFill>
                <a:schemeClr val="tx1">
                  <a:lumMod val="75000"/>
                  <a:lumOff val="25000"/>
                </a:schemeClr>
              </a:solidFill>
              <a:latin typeface="+mn-ea"/>
              <a:ea typeface="+mn-ea"/>
            </a:endParaRPr>
          </a:p>
        </p:txBody>
      </p:sp>
      <p:sp>
        <p:nvSpPr>
          <p:cNvPr id="3" name="右箭头 2"/>
          <p:cNvSpPr/>
          <p:nvPr/>
        </p:nvSpPr>
        <p:spPr>
          <a:xfrm>
            <a:off x="3739749" y="2091442"/>
            <a:ext cx="2815692" cy="8487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 name="文本框 5"/>
          <p:cNvSpPr txBox="1"/>
          <p:nvPr/>
        </p:nvSpPr>
        <p:spPr>
          <a:xfrm>
            <a:off x="6994729" y="2264820"/>
            <a:ext cx="3558988" cy="461665"/>
          </a:xfrm>
          <a:prstGeom prst="rect">
            <a:avLst/>
          </a:prstGeom>
          <a:noFill/>
        </p:spPr>
        <p:txBody>
          <a:bodyPr wrap="none" rtlCol="0">
            <a:spAutoFit/>
          </a:bodyPr>
          <a:lstStyle/>
          <a:p>
            <a:r>
              <a:rPr lang="en-US" altLang="zh-CN" sz="2400" dirty="0"/>
              <a:t>inefficient resource usage</a:t>
            </a:r>
            <a:endParaRPr lang="zh-CN" altLang="en-US" sz="2400" dirty="0"/>
          </a:p>
        </p:txBody>
      </p:sp>
      <p:sp>
        <p:nvSpPr>
          <p:cNvPr id="13" name="文本框 12"/>
          <p:cNvSpPr txBox="1"/>
          <p:nvPr/>
        </p:nvSpPr>
        <p:spPr>
          <a:xfrm>
            <a:off x="1147269" y="2183343"/>
            <a:ext cx="2241319" cy="461665"/>
          </a:xfrm>
          <a:prstGeom prst="rect">
            <a:avLst/>
          </a:prstGeom>
          <a:noFill/>
        </p:spPr>
        <p:txBody>
          <a:bodyPr wrap="none" rtlCol="0">
            <a:spAutoFit/>
          </a:bodyPr>
          <a:lstStyle/>
          <a:p>
            <a:r>
              <a:rPr lang="en-US" altLang="zh-CN" sz="2400" dirty="0"/>
              <a:t>too many GPUs</a:t>
            </a:r>
            <a:endParaRPr lang="zh-CN" altLang="en-US" sz="2400" dirty="0"/>
          </a:p>
        </p:txBody>
      </p:sp>
      <p:sp>
        <p:nvSpPr>
          <p:cNvPr id="15" name="右箭头 14"/>
          <p:cNvSpPr/>
          <p:nvPr/>
        </p:nvSpPr>
        <p:spPr>
          <a:xfrm>
            <a:off x="3739749" y="4073349"/>
            <a:ext cx="2815692" cy="84876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文本框 15"/>
          <p:cNvSpPr txBox="1"/>
          <p:nvPr/>
        </p:nvSpPr>
        <p:spPr>
          <a:xfrm>
            <a:off x="6994729" y="4246727"/>
            <a:ext cx="3558988" cy="461665"/>
          </a:xfrm>
          <a:prstGeom prst="rect">
            <a:avLst/>
          </a:prstGeom>
          <a:noFill/>
        </p:spPr>
        <p:txBody>
          <a:bodyPr wrap="none" rtlCol="0">
            <a:spAutoFit/>
          </a:bodyPr>
          <a:lstStyle/>
          <a:p>
            <a:r>
              <a:rPr lang="en-US" altLang="zh-CN" sz="2400" dirty="0"/>
              <a:t>inefficient resource usage</a:t>
            </a:r>
            <a:endParaRPr lang="zh-CN" altLang="en-US" sz="2400" dirty="0"/>
          </a:p>
        </p:txBody>
      </p:sp>
      <p:sp>
        <p:nvSpPr>
          <p:cNvPr id="20" name="文本框 19"/>
          <p:cNvSpPr txBox="1"/>
          <p:nvPr/>
        </p:nvSpPr>
        <p:spPr>
          <a:xfrm>
            <a:off x="1147269" y="4165250"/>
            <a:ext cx="2047355" cy="461665"/>
          </a:xfrm>
          <a:prstGeom prst="rect">
            <a:avLst/>
          </a:prstGeom>
          <a:noFill/>
        </p:spPr>
        <p:txBody>
          <a:bodyPr wrap="none" rtlCol="0">
            <a:spAutoFit/>
          </a:bodyPr>
          <a:lstStyle/>
          <a:p>
            <a:r>
              <a:rPr lang="en-US" altLang="zh-CN" sz="2400" dirty="0"/>
              <a:t>too few</a:t>
            </a:r>
            <a:r>
              <a:rPr lang="en-US" altLang="zh-CN" sz="2400" dirty="0" smtClean="0"/>
              <a:t> </a:t>
            </a:r>
            <a:r>
              <a:rPr lang="en-US" altLang="zh-CN" sz="2400" dirty="0"/>
              <a:t>GPUs</a:t>
            </a:r>
            <a:endParaRPr lang="zh-CN" altLang="en-US" sz="2400" dirty="0"/>
          </a:p>
        </p:txBody>
      </p:sp>
    </p:spTree>
    <p:extLst>
      <p:ext uri="{BB962C8B-B14F-4D97-AF65-F5344CB8AC3E}">
        <p14:creationId xmlns:p14="http://schemas.microsoft.com/office/powerpoint/2010/main" val="1570704121"/>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稻壳儿搜索【幻雨工作室】__1">
            <a:extLst>
              <a:ext uri="{FF2B5EF4-FFF2-40B4-BE49-F238E27FC236}">
                <a16:creationId xmlns:a16="http://schemas.microsoft.com/office/drawing/2014/main" id="{D9FE0944-3B00-40DF-AA91-60AEB7C9E722}"/>
              </a:ext>
            </a:extLst>
          </p:cNvPr>
          <p:cNvSpPr>
            <a:spLocks noChangeArrowheads="1"/>
          </p:cNvSpPr>
          <p:nvPr/>
        </p:nvSpPr>
        <p:spPr bwMode="auto">
          <a:xfrm>
            <a:off x="382815" y="334907"/>
            <a:ext cx="841148" cy="838935"/>
          </a:xfrm>
          <a:prstGeom prst="ellipse">
            <a:avLst/>
          </a:prstGeom>
          <a:solidFill>
            <a:schemeClr val="accent1"/>
          </a:solidFill>
          <a:ln w="76200">
            <a:noFill/>
          </a:ln>
        </p:spPr>
        <p:txBody>
          <a:bodyPr/>
          <a:lstStyle>
            <a:defPPr>
              <a:defRPr lang="zh-CN"/>
            </a:defPPr>
            <a:lvl1pPr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ctr">
              <a:lnSpc>
                <a:spcPct val="120000"/>
              </a:lnSpc>
            </a:pPr>
            <a:r>
              <a:rPr lang="en-US" altLang="zh-CN" sz="2800" b="1">
                <a:solidFill>
                  <a:schemeClr val="bg1"/>
                </a:solidFill>
                <a:ea typeface="微软雅黑" panose="020B0503020204020204" pitchFamily="34" charset="-122"/>
                <a:cs typeface="Arial" panose="020B0604020202020204" pitchFamily="34" charset="0"/>
              </a:rPr>
              <a:t>01</a:t>
            </a:r>
            <a:endParaRPr lang="zh-CN" altLang="en-US" sz="2800" b="1" dirty="0">
              <a:solidFill>
                <a:schemeClr val="bg1"/>
              </a:solidFill>
              <a:ea typeface="微软雅黑" panose="020B0503020204020204" pitchFamily="34" charset="-122"/>
              <a:cs typeface="Arial" panose="020B0604020202020204" pitchFamily="34" charset="0"/>
            </a:endParaRPr>
          </a:p>
        </p:txBody>
      </p:sp>
      <p:sp>
        <p:nvSpPr>
          <p:cNvPr id="68" name="稻壳儿搜索【幻雨工作室】__2">
            <a:extLst>
              <a:ext uri="{FF2B5EF4-FFF2-40B4-BE49-F238E27FC236}">
                <a16:creationId xmlns:a16="http://schemas.microsoft.com/office/drawing/2014/main" id="{579731AE-6C87-46B5-BAC3-570262B42B03}"/>
              </a:ext>
            </a:extLst>
          </p:cNvPr>
          <p:cNvSpPr txBox="1">
            <a:spLocks noChangeArrowheads="1"/>
          </p:cNvSpPr>
          <p:nvPr/>
        </p:nvSpPr>
        <p:spPr bwMode="auto">
          <a:xfrm>
            <a:off x="1250428" y="408204"/>
            <a:ext cx="2909448" cy="646331"/>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lvl1pPr>
              <a:defRPr sz="1300">
                <a:solidFill>
                  <a:schemeClr val="tx1"/>
                </a:solidFill>
                <a:latin typeface="华文细黑" panose="02010600040101010101" pitchFamily="2" charset="-122"/>
                <a:ea typeface="华文细黑" panose="02010600040101010101" pitchFamily="2" charset="-122"/>
              </a:defRPr>
            </a:lvl1pPr>
            <a:lvl2pPr marL="742950" indent="-285750">
              <a:defRPr sz="1300">
                <a:solidFill>
                  <a:schemeClr val="tx1"/>
                </a:solidFill>
                <a:latin typeface="华文细黑" panose="02010600040101010101" pitchFamily="2" charset="-122"/>
                <a:ea typeface="华文细黑" panose="02010600040101010101" pitchFamily="2" charset="-122"/>
              </a:defRPr>
            </a:lvl2pPr>
            <a:lvl3pPr marL="1143000" indent="-228600">
              <a:defRPr sz="1300">
                <a:solidFill>
                  <a:schemeClr val="tx1"/>
                </a:solidFill>
                <a:latin typeface="华文细黑" panose="02010600040101010101" pitchFamily="2" charset="-122"/>
                <a:ea typeface="华文细黑" panose="02010600040101010101" pitchFamily="2" charset="-122"/>
              </a:defRPr>
            </a:lvl3pPr>
            <a:lvl4pPr marL="1600200" indent="-228600">
              <a:defRPr sz="1300">
                <a:solidFill>
                  <a:schemeClr val="tx1"/>
                </a:solidFill>
                <a:latin typeface="华文细黑" panose="02010600040101010101" pitchFamily="2" charset="-122"/>
                <a:ea typeface="华文细黑" panose="02010600040101010101" pitchFamily="2" charset="-122"/>
              </a:defRPr>
            </a:lvl4pPr>
            <a:lvl5pPr marL="2057400" indent="-228600">
              <a:defRPr sz="1300">
                <a:solidFill>
                  <a:schemeClr val="tx1"/>
                </a:solidFill>
                <a:latin typeface="华文细黑" panose="02010600040101010101" pitchFamily="2" charset="-122"/>
                <a:ea typeface="华文细黑" panose="02010600040101010101" pitchFamily="2" charset="-122"/>
              </a:defRPr>
            </a:lvl5pPr>
            <a:lvl6pPr marL="25146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6pPr>
            <a:lvl7pPr marL="29718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7pPr>
            <a:lvl8pPr marL="34290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8pPr>
            <a:lvl9pPr marL="38862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9pPr>
          </a:lstStyle>
          <a:p>
            <a:pPr algn="r"/>
            <a:r>
              <a:rPr lang="en-US" altLang="zh-CN" sz="3600" b="1" dirty="0" smtClean="0">
                <a:solidFill>
                  <a:schemeClr val="tx1">
                    <a:lumMod val="75000"/>
                    <a:lumOff val="25000"/>
                  </a:schemeClr>
                </a:solidFill>
                <a:latin typeface="+mn-ea"/>
              </a:rPr>
              <a:t>Background</a:t>
            </a:r>
            <a:endParaRPr lang="en-US" altLang="zh-CN" sz="3600" b="1" dirty="0">
              <a:solidFill>
                <a:schemeClr val="tx1">
                  <a:lumMod val="75000"/>
                  <a:lumOff val="25000"/>
                </a:schemeClr>
              </a:solidFill>
              <a:latin typeface="+mn-ea"/>
            </a:endParaRPr>
          </a:p>
        </p:txBody>
      </p:sp>
      <p:sp>
        <p:nvSpPr>
          <p:cNvPr id="69" name="稻壳儿搜索【幻雨工作室】__2">
            <a:extLst>
              <a:ext uri="{FF2B5EF4-FFF2-40B4-BE49-F238E27FC236}">
                <a16:creationId xmlns:a16="http://schemas.microsoft.com/office/drawing/2014/main" id="{086D702B-2401-44B9-B91D-B73182798FF2}"/>
              </a:ext>
            </a:extLst>
          </p:cNvPr>
          <p:cNvSpPr/>
          <p:nvPr/>
        </p:nvSpPr>
        <p:spPr>
          <a:xfrm>
            <a:off x="209550" y="171450"/>
            <a:ext cx="11772900" cy="6515100"/>
          </a:xfrm>
          <a:prstGeom prst="roundRect">
            <a:avLst>
              <a:gd name="adj" fmla="val 2827"/>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 name="文本框 5">
            <a:extLst>
              <a:ext uri="{FF2B5EF4-FFF2-40B4-BE49-F238E27FC236}">
                <a16:creationId xmlns:a16="http://schemas.microsoft.com/office/drawing/2014/main" id="{F2780D51-B0AF-4922-85EE-8A372E9AC621}"/>
              </a:ext>
            </a:extLst>
          </p:cNvPr>
          <p:cNvSpPr txBox="1"/>
          <p:nvPr/>
        </p:nvSpPr>
        <p:spPr>
          <a:xfrm>
            <a:off x="190550" y="993643"/>
            <a:ext cx="4273165" cy="861774"/>
          </a:xfrm>
          <a:prstGeom prst="rect">
            <a:avLst/>
          </a:prstGeom>
          <a:noFill/>
        </p:spPr>
        <p:txBody>
          <a:bodyPr wrap="square" rtlCol="0">
            <a:spAutoFit/>
          </a:bodyPr>
          <a:lstStyle/>
          <a:p>
            <a:pPr algn="ctr"/>
            <a:r>
              <a:rPr lang="en-US" altLang="zh-CN" sz="2500" b="1" dirty="0" smtClean="0">
                <a:solidFill>
                  <a:srgbClr val="C00000"/>
                </a:solidFill>
                <a:effectLst>
                  <a:outerShdw blurRad="38100" dist="38100" dir="2700000" algn="tl">
                    <a:srgbClr val="000000">
                      <a:alpha val="43137"/>
                    </a:srgbClr>
                  </a:outerShdw>
                </a:effectLst>
                <a:latin typeface="+mn-ea"/>
                <a:cs typeface="Times New Roman" panose="02020603050405020304" pitchFamily="18" charset="0"/>
              </a:rPr>
              <a:t>Parameters Server Architecture</a:t>
            </a:r>
            <a:endParaRPr kumimoji="1" lang="zh-CN" altLang="en-US" sz="2500" b="1" dirty="0">
              <a:solidFill>
                <a:srgbClr val="C00000"/>
              </a:solidFill>
              <a:effectLst>
                <a:outerShdw blurRad="38100" dist="38100" dir="2700000" algn="tl">
                  <a:srgbClr val="000000">
                    <a:alpha val="43137"/>
                  </a:srgbClr>
                </a:outerShdw>
              </a:effectLst>
              <a:latin typeface="+mn-ea"/>
            </a:endParaRPr>
          </a:p>
        </p:txBody>
      </p:sp>
      <p:pic>
        <p:nvPicPr>
          <p:cNvPr id="7" name="图片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048002" y="1801470"/>
            <a:ext cx="1155700" cy="1155700"/>
          </a:xfrm>
          <a:prstGeom prst="rect">
            <a:avLst/>
          </a:prstGeom>
        </p:spPr>
      </p:pic>
      <p:sp>
        <p:nvSpPr>
          <p:cNvPr id="8" name="文本框 7"/>
          <p:cNvSpPr txBox="1"/>
          <p:nvPr/>
        </p:nvSpPr>
        <p:spPr>
          <a:xfrm>
            <a:off x="3480650" y="3917950"/>
            <a:ext cx="2864887" cy="369332"/>
          </a:xfrm>
          <a:prstGeom prst="rect">
            <a:avLst/>
          </a:prstGeom>
          <a:noFill/>
        </p:spPr>
        <p:txBody>
          <a:bodyPr wrap="none" rtlCol="0">
            <a:spAutoFit/>
          </a:bodyPr>
          <a:lstStyle/>
          <a:p>
            <a:r>
              <a:rPr lang="en-US" altLang="zh-CN" dirty="0" smtClean="0">
                <a:solidFill>
                  <a:schemeClr val="bg1"/>
                </a:solidFill>
              </a:rPr>
              <a:t>Submit # GPU to scheduler</a:t>
            </a:r>
            <a:endParaRPr lang="zh-CN" altLang="en-US" dirty="0">
              <a:solidFill>
                <a:schemeClr val="bg1"/>
              </a:solidFill>
            </a:endParaRPr>
          </a:p>
        </p:txBody>
      </p:sp>
      <p:pic>
        <p:nvPicPr>
          <p:cNvPr id="9" name="图片 8"/>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997200" y="4532758"/>
            <a:ext cx="1155700" cy="1155700"/>
          </a:xfrm>
          <a:prstGeom prst="rect">
            <a:avLst/>
          </a:prstGeom>
        </p:spPr>
      </p:pic>
      <p:pic>
        <p:nvPicPr>
          <p:cNvPr id="10" name="图片 9"/>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39370" y="4532758"/>
            <a:ext cx="1155700" cy="1155700"/>
          </a:xfrm>
          <a:prstGeom prst="rect">
            <a:avLst/>
          </a:prstGeom>
        </p:spPr>
      </p:pic>
      <p:pic>
        <p:nvPicPr>
          <p:cNvPr id="11" name="图片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785100" y="1855417"/>
            <a:ext cx="1155700" cy="1155700"/>
          </a:xfrm>
          <a:prstGeom prst="rect">
            <a:avLst/>
          </a:prstGeom>
        </p:spPr>
      </p:pic>
      <p:cxnSp>
        <p:nvCxnSpPr>
          <p:cNvPr id="12" name="直接箭头连接符 11"/>
          <p:cNvCxnSpPr/>
          <p:nvPr/>
        </p:nvCxnSpPr>
        <p:spPr>
          <a:xfrm flipV="1">
            <a:off x="3393605" y="3011118"/>
            <a:ext cx="30367" cy="14676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 name="直接箭头连接符 12"/>
          <p:cNvCxnSpPr/>
          <p:nvPr/>
        </p:nvCxnSpPr>
        <p:spPr>
          <a:xfrm flipH="1" flipV="1">
            <a:off x="4152900" y="2765340"/>
            <a:ext cx="3753035" cy="171347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直接箭头连接符 13"/>
          <p:cNvCxnSpPr/>
          <p:nvPr/>
        </p:nvCxnSpPr>
        <p:spPr>
          <a:xfrm flipH="1" flipV="1">
            <a:off x="4308308" y="2235959"/>
            <a:ext cx="3527594" cy="2201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 name="文本框 14"/>
          <p:cNvSpPr txBox="1"/>
          <p:nvPr/>
        </p:nvSpPr>
        <p:spPr>
          <a:xfrm>
            <a:off x="5486890" y="1939155"/>
            <a:ext cx="1015021" cy="369332"/>
          </a:xfrm>
          <a:prstGeom prst="rect">
            <a:avLst/>
          </a:prstGeom>
          <a:noFill/>
        </p:spPr>
        <p:txBody>
          <a:bodyPr wrap="none" rtlCol="0">
            <a:spAutoFit/>
          </a:bodyPr>
          <a:lstStyle/>
          <a:p>
            <a:r>
              <a:rPr lang="en-US" altLang="zh-CN" dirty="0" smtClean="0"/>
              <a:t>gradient</a:t>
            </a:r>
            <a:endParaRPr lang="zh-CN" altLang="en-US" dirty="0"/>
          </a:p>
        </p:txBody>
      </p:sp>
      <p:sp>
        <p:nvSpPr>
          <p:cNvPr id="16" name="文本框 15"/>
          <p:cNvSpPr txBox="1"/>
          <p:nvPr/>
        </p:nvSpPr>
        <p:spPr>
          <a:xfrm>
            <a:off x="2176704" y="3911546"/>
            <a:ext cx="1015021" cy="369332"/>
          </a:xfrm>
          <a:prstGeom prst="rect">
            <a:avLst/>
          </a:prstGeom>
          <a:noFill/>
        </p:spPr>
        <p:txBody>
          <a:bodyPr wrap="none" rtlCol="0">
            <a:spAutoFit/>
          </a:bodyPr>
          <a:lstStyle/>
          <a:p>
            <a:r>
              <a:rPr lang="en-US" altLang="zh-CN" dirty="0" smtClean="0"/>
              <a:t>gradient</a:t>
            </a:r>
            <a:endParaRPr lang="zh-CN" altLang="en-US" dirty="0"/>
          </a:p>
        </p:txBody>
      </p:sp>
      <p:sp>
        <p:nvSpPr>
          <p:cNvPr id="17" name="文本框 16"/>
          <p:cNvSpPr txBox="1"/>
          <p:nvPr/>
        </p:nvSpPr>
        <p:spPr>
          <a:xfrm>
            <a:off x="6882156" y="3646452"/>
            <a:ext cx="1015021" cy="369332"/>
          </a:xfrm>
          <a:prstGeom prst="rect">
            <a:avLst/>
          </a:prstGeom>
          <a:noFill/>
        </p:spPr>
        <p:txBody>
          <a:bodyPr wrap="none" rtlCol="0">
            <a:spAutoFit/>
          </a:bodyPr>
          <a:lstStyle/>
          <a:p>
            <a:r>
              <a:rPr lang="en-US" altLang="zh-CN" dirty="0" smtClean="0"/>
              <a:t>gradient</a:t>
            </a:r>
            <a:endParaRPr lang="zh-CN" altLang="en-US" dirty="0"/>
          </a:p>
        </p:txBody>
      </p:sp>
      <p:cxnSp>
        <p:nvCxnSpPr>
          <p:cNvPr id="18" name="直接箭头连接符 17"/>
          <p:cNvCxnSpPr/>
          <p:nvPr/>
        </p:nvCxnSpPr>
        <p:spPr>
          <a:xfrm>
            <a:off x="3727596" y="3011117"/>
            <a:ext cx="13143" cy="14676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9" name="直接箭头连接符 18"/>
          <p:cNvCxnSpPr/>
          <p:nvPr/>
        </p:nvCxnSpPr>
        <p:spPr>
          <a:xfrm>
            <a:off x="4032065" y="2888152"/>
            <a:ext cx="3753035" cy="17473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文本框 19"/>
          <p:cNvSpPr txBox="1"/>
          <p:nvPr/>
        </p:nvSpPr>
        <p:spPr>
          <a:xfrm>
            <a:off x="5047954" y="3676402"/>
            <a:ext cx="1305165" cy="369332"/>
          </a:xfrm>
          <a:prstGeom prst="rect">
            <a:avLst/>
          </a:prstGeom>
          <a:noFill/>
        </p:spPr>
        <p:txBody>
          <a:bodyPr wrap="none" rtlCol="0">
            <a:spAutoFit/>
          </a:bodyPr>
          <a:lstStyle/>
          <a:p>
            <a:r>
              <a:rPr lang="en-US" altLang="zh-CN" dirty="0" smtClean="0"/>
              <a:t>parameters</a:t>
            </a:r>
            <a:endParaRPr lang="zh-CN" altLang="en-US" dirty="0"/>
          </a:p>
        </p:txBody>
      </p:sp>
      <p:cxnSp>
        <p:nvCxnSpPr>
          <p:cNvPr id="21" name="直接箭头连接符 20"/>
          <p:cNvCxnSpPr/>
          <p:nvPr/>
        </p:nvCxnSpPr>
        <p:spPr>
          <a:xfrm>
            <a:off x="4260380" y="2578782"/>
            <a:ext cx="3443241" cy="265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2" name="文本框 21"/>
          <p:cNvSpPr txBox="1"/>
          <p:nvPr/>
        </p:nvSpPr>
        <p:spPr>
          <a:xfrm>
            <a:off x="5047954" y="2584903"/>
            <a:ext cx="1305165" cy="369332"/>
          </a:xfrm>
          <a:prstGeom prst="rect">
            <a:avLst/>
          </a:prstGeom>
          <a:noFill/>
        </p:spPr>
        <p:txBody>
          <a:bodyPr wrap="none" rtlCol="0">
            <a:spAutoFit/>
          </a:bodyPr>
          <a:lstStyle/>
          <a:p>
            <a:r>
              <a:rPr lang="en-US" altLang="zh-CN" dirty="0" smtClean="0"/>
              <a:t>parameters</a:t>
            </a:r>
            <a:endParaRPr lang="zh-CN" altLang="en-US" dirty="0"/>
          </a:p>
        </p:txBody>
      </p:sp>
    </p:spTree>
    <p:extLst>
      <p:ext uri="{BB962C8B-B14F-4D97-AF65-F5344CB8AC3E}">
        <p14:creationId xmlns:p14="http://schemas.microsoft.com/office/powerpoint/2010/main" val="404785295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a:extLst>
              <a:ext uri="{FF2B5EF4-FFF2-40B4-BE49-F238E27FC236}">
                <a16:creationId xmlns:a16="http://schemas.microsoft.com/office/drawing/2014/main" id="{87F7609B-44D8-4A6F-85A8-FC5A2D0C942D}"/>
              </a:ext>
            </a:extLst>
          </p:cNvPr>
          <p:cNvSpPr/>
          <p:nvPr/>
        </p:nvSpPr>
        <p:spPr>
          <a:xfrm>
            <a:off x="-83801" y="668559"/>
            <a:ext cx="4078285" cy="45719"/>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a:extLst>
              <a:ext uri="{FF2B5EF4-FFF2-40B4-BE49-F238E27FC236}">
                <a16:creationId xmlns:a16="http://schemas.microsoft.com/office/drawing/2014/main" id="{E4B5C20D-4A12-483C-8756-87F0BD864146}"/>
              </a:ext>
            </a:extLst>
          </p:cNvPr>
          <p:cNvSpPr txBox="1"/>
          <p:nvPr/>
        </p:nvSpPr>
        <p:spPr>
          <a:xfrm>
            <a:off x="756035" y="249977"/>
            <a:ext cx="3142197" cy="800219"/>
          </a:xfrm>
          <a:prstGeom prst="rect">
            <a:avLst/>
          </a:prstGeom>
          <a:noFill/>
        </p:spPr>
        <p:txBody>
          <a:bodyPr vert="horz" wrap="square" rtlCol="0">
            <a:spAutoFit/>
          </a:bodyPr>
          <a:lstStyle>
            <a:defPPr>
              <a:defRPr lang="zh-CN"/>
            </a:defPPr>
            <a:lvl1pPr>
              <a:defRPr sz="2000">
                <a:solidFill>
                  <a:schemeClr val="bg1"/>
                </a:solidFill>
                <a:latin typeface="Verdana" panose="020B0604030504040204" pitchFamily="34" charset="0"/>
                <a:ea typeface="Verdana" panose="020B0604030504040204" pitchFamily="34" charset="0"/>
              </a:defRPr>
            </a:lvl1pPr>
          </a:lstStyle>
          <a:p>
            <a:pPr algn="r"/>
            <a:r>
              <a:rPr lang="en-US" altLang="zh-CN" sz="2300" b="1" dirty="0" smtClean="0">
                <a:solidFill>
                  <a:schemeClr val="tx1">
                    <a:lumMod val="75000"/>
                    <a:lumOff val="25000"/>
                  </a:schemeClr>
                </a:solidFill>
                <a:latin typeface="+mn-ea"/>
                <a:ea typeface="+mn-ea"/>
              </a:rPr>
              <a:t>DL Clusters </a:t>
            </a:r>
            <a:r>
              <a:rPr lang="en-US" altLang="zh-CN" sz="2300" b="1" dirty="0">
                <a:solidFill>
                  <a:schemeClr val="tx1">
                    <a:lumMod val="75000"/>
                    <a:lumOff val="25000"/>
                  </a:schemeClr>
                </a:solidFill>
                <a:latin typeface="+mn-ea"/>
                <a:ea typeface="+mn-ea"/>
              </a:rPr>
              <a:t>Scheduler</a:t>
            </a:r>
          </a:p>
          <a:p>
            <a:pPr algn="r"/>
            <a:endParaRPr lang="en-US" altLang="zh-CN" sz="2300" b="1" dirty="0">
              <a:solidFill>
                <a:schemeClr val="tx1">
                  <a:lumMod val="75000"/>
                  <a:lumOff val="25000"/>
                </a:schemeClr>
              </a:solidFill>
              <a:latin typeface="+mn-ea"/>
              <a:ea typeface="+mn-ea"/>
            </a:endParaRPr>
          </a:p>
        </p:txBody>
      </p:sp>
      <p:sp>
        <p:nvSpPr>
          <p:cNvPr id="37" name="文本框 36">
            <a:extLst>
              <a:ext uri="{FF2B5EF4-FFF2-40B4-BE49-F238E27FC236}">
                <a16:creationId xmlns:a16="http://schemas.microsoft.com/office/drawing/2014/main" id="{F2780D51-B0AF-4922-85EE-8A372E9AC621}"/>
              </a:ext>
            </a:extLst>
          </p:cNvPr>
          <p:cNvSpPr txBox="1"/>
          <p:nvPr/>
        </p:nvSpPr>
        <p:spPr>
          <a:xfrm>
            <a:off x="904637" y="1506236"/>
            <a:ext cx="2274907" cy="861774"/>
          </a:xfrm>
          <a:prstGeom prst="rect">
            <a:avLst/>
          </a:prstGeom>
          <a:noFill/>
        </p:spPr>
        <p:txBody>
          <a:bodyPr wrap="square" rtlCol="0">
            <a:spAutoFit/>
          </a:bodyPr>
          <a:lstStyle/>
          <a:p>
            <a:pPr algn="ctr"/>
            <a:r>
              <a:rPr lang="en-US" altLang="zh-CN" sz="2500" b="1" dirty="0" smtClean="0">
                <a:solidFill>
                  <a:srgbClr val="C00000"/>
                </a:solidFill>
                <a:effectLst>
                  <a:outerShdw blurRad="38100" dist="38100" dir="2700000" algn="tl">
                    <a:srgbClr val="000000">
                      <a:alpha val="43137"/>
                    </a:srgbClr>
                  </a:outerShdw>
                </a:effectLst>
                <a:latin typeface="+mn-ea"/>
                <a:cs typeface="Times New Roman" panose="02020603050405020304" pitchFamily="18" charset="0"/>
              </a:rPr>
              <a:t>Colocated jobs</a:t>
            </a:r>
            <a:endParaRPr kumimoji="1" lang="zh-CN" altLang="en-US" sz="2500" b="1" dirty="0">
              <a:solidFill>
                <a:srgbClr val="C00000"/>
              </a:solidFill>
              <a:effectLst>
                <a:outerShdw blurRad="38100" dist="38100" dir="2700000" algn="tl">
                  <a:srgbClr val="000000">
                    <a:alpha val="43137"/>
                  </a:srgbClr>
                </a:outerShdw>
              </a:effectLst>
              <a:latin typeface="+mn-ea"/>
            </a:endParaRPr>
          </a:p>
        </p:txBody>
      </p:sp>
      <p:sp>
        <p:nvSpPr>
          <p:cNvPr id="15" name="文本框 14"/>
          <p:cNvSpPr txBox="1"/>
          <p:nvPr/>
        </p:nvSpPr>
        <p:spPr>
          <a:xfrm>
            <a:off x="895479" y="2874291"/>
            <a:ext cx="2650084" cy="461665"/>
          </a:xfrm>
          <a:prstGeom prst="rect">
            <a:avLst/>
          </a:prstGeom>
          <a:noFill/>
        </p:spPr>
        <p:txBody>
          <a:bodyPr wrap="none" rtlCol="0">
            <a:spAutoFit/>
          </a:bodyPr>
          <a:lstStyle/>
          <a:p>
            <a:r>
              <a:rPr lang="en-US" altLang="zh-CN" sz="2400" dirty="0" smtClean="0"/>
              <a:t>CPU cache sharing</a:t>
            </a:r>
            <a:endParaRPr lang="zh-CN" altLang="en-US" sz="2400" dirty="0"/>
          </a:p>
        </p:txBody>
      </p:sp>
      <p:sp>
        <p:nvSpPr>
          <p:cNvPr id="26" name="矩形 25"/>
          <p:cNvSpPr/>
          <p:nvPr/>
        </p:nvSpPr>
        <p:spPr>
          <a:xfrm>
            <a:off x="4975262" y="3791366"/>
            <a:ext cx="803563" cy="3707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3" name="文本框 22"/>
          <p:cNvSpPr txBox="1"/>
          <p:nvPr/>
        </p:nvSpPr>
        <p:spPr>
          <a:xfrm>
            <a:off x="4975263" y="2663241"/>
            <a:ext cx="865673" cy="369332"/>
          </a:xfrm>
          <a:prstGeom prst="rect">
            <a:avLst/>
          </a:prstGeom>
          <a:noFill/>
        </p:spPr>
        <p:txBody>
          <a:bodyPr wrap="square" rtlCol="0">
            <a:spAutoFit/>
          </a:bodyPr>
          <a:lstStyle/>
          <a:p>
            <a:r>
              <a:rPr lang="en-US" altLang="zh-CN" dirty="0" smtClean="0"/>
              <a:t>Job1</a:t>
            </a:r>
            <a:endParaRPr lang="zh-CN" altLang="en-US" dirty="0"/>
          </a:p>
        </p:txBody>
      </p:sp>
      <p:sp>
        <p:nvSpPr>
          <p:cNvPr id="24" name="文本框 23"/>
          <p:cNvSpPr txBox="1"/>
          <p:nvPr/>
        </p:nvSpPr>
        <p:spPr>
          <a:xfrm>
            <a:off x="5994386" y="2663241"/>
            <a:ext cx="865673" cy="369332"/>
          </a:xfrm>
          <a:prstGeom prst="rect">
            <a:avLst/>
          </a:prstGeom>
          <a:noFill/>
        </p:spPr>
        <p:txBody>
          <a:bodyPr wrap="square" rtlCol="0">
            <a:spAutoFit/>
          </a:bodyPr>
          <a:lstStyle/>
          <a:p>
            <a:r>
              <a:rPr lang="en-US" altLang="zh-CN" dirty="0"/>
              <a:t>J</a:t>
            </a:r>
            <a:r>
              <a:rPr lang="en-US" altLang="zh-CN" dirty="0" smtClean="0"/>
              <a:t>ob2</a:t>
            </a:r>
            <a:endParaRPr lang="zh-CN" altLang="en-US" dirty="0"/>
          </a:p>
        </p:txBody>
      </p:sp>
      <p:sp>
        <p:nvSpPr>
          <p:cNvPr id="30" name="矩形 29"/>
          <p:cNvSpPr/>
          <p:nvPr/>
        </p:nvSpPr>
        <p:spPr>
          <a:xfrm>
            <a:off x="4975263" y="3075642"/>
            <a:ext cx="803563" cy="609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文本框 30"/>
          <p:cNvSpPr txBox="1"/>
          <p:nvPr/>
        </p:nvSpPr>
        <p:spPr>
          <a:xfrm>
            <a:off x="4975263" y="3152491"/>
            <a:ext cx="865673" cy="369332"/>
          </a:xfrm>
          <a:prstGeom prst="rect">
            <a:avLst/>
          </a:prstGeom>
          <a:noFill/>
        </p:spPr>
        <p:txBody>
          <a:bodyPr wrap="square" rtlCol="0">
            <a:spAutoFit/>
          </a:bodyPr>
          <a:lstStyle/>
          <a:p>
            <a:r>
              <a:rPr lang="en-US" altLang="zh-CN" dirty="0" smtClean="0">
                <a:solidFill>
                  <a:schemeClr val="bg1"/>
                </a:solidFill>
              </a:rPr>
              <a:t>core1</a:t>
            </a:r>
            <a:endParaRPr lang="zh-CN" altLang="en-US" dirty="0">
              <a:solidFill>
                <a:schemeClr val="bg1"/>
              </a:solidFill>
            </a:endParaRPr>
          </a:p>
        </p:txBody>
      </p:sp>
      <p:sp>
        <p:nvSpPr>
          <p:cNvPr id="32" name="矩形 31"/>
          <p:cNvSpPr/>
          <p:nvPr/>
        </p:nvSpPr>
        <p:spPr>
          <a:xfrm>
            <a:off x="5994386" y="3074441"/>
            <a:ext cx="803563" cy="609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3" name="文本框 32"/>
          <p:cNvSpPr txBox="1"/>
          <p:nvPr/>
        </p:nvSpPr>
        <p:spPr>
          <a:xfrm>
            <a:off x="5994386" y="3151290"/>
            <a:ext cx="865673" cy="369332"/>
          </a:xfrm>
          <a:prstGeom prst="rect">
            <a:avLst/>
          </a:prstGeom>
          <a:noFill/>
        </p:spPr>
        <p:txBody>
          <a:bodyPr wrap="square" rtlCol="0">
            <a:spAutoFit/>
          </a:bodyPr>
          <a:lstStyle/>
          <a:p>
            <a:r>
              <a:rPr lang="en-US" altLang="zh-CN" dirty="0" smtClean="0">
                <a:solidFill>
                  <a:schemeClr val="bg1"/>
                </a:solidFill>
              </a:rPr>
              <a:t>core2</a:t>
            </a:r>
            <a:endParaRPr lang="zh-CN" altLang="en-US" dirty="0">
              <a:solidFill>
                <a:schemeClr val="bg1"/>
              </a:solidFill>
            </a:endParaRPr>
          </a:p>
        </p:txBody>
      </p:sp>
      <p:sp>
        <p:nvSpPr>
          <p:cNvPr id="35" name="文本框 34"/>
          <p:cNvSpPr txBox="1"/>
          <p:nvPr/>
        </p:nvSpPr>
        <p:spPr>
          <a:xfrm>
            <a:off x="4886535" y="3769953"/>
            <a:ext cx="1118414" cy="369332"/>
          </a:xfrm>
          <a:prstGeom prst="rect">
            <a:avLst/>
          </a:prstGeom>
          <a:noFill/>
        </p:spPr>
        <p:txBody>
          <a:bodyPr wrap="square" rtlCol="0">
            <a:spAutoFit/>
          </a:bodyPr>
          <a:lstStyle/>
          <a:p>
            <a:r>
              <a:rPr lang="en-US" altLang="zh-CN" dirty="0" smtClean="0">
                <a:solidFill>
                  <a:schemeClr val="bg1"/>
                </a:solidFill>
              </a:rPr>
              <a:t>L1cache</a:t>
            </a:r>
          </a:p>
        </p:txBody>
      </p:sp>
      <p:sp>
        <p:nvSpPr>
          <p:cNvPr id="49" name="矩形 48"/>
          <p:cNvSpPr/>
          <p:nvPr/>
        </p:nvSpPr>
        <p:spPr>
          <a:xfrm>
            <a:off x="4975262" y="4876666"/>
            <a:ext cx="1818746" cy="5470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2" name="矩形 41"/>
          <p:cNvSpPr/>
          <p:nvPr/>
        </p:nvSpPr>
        <p:spPr>
          <a:xfrm>
            <a:off x="5990444" y="3816139"/>
            <a:ext cx="803563" cy="3367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3" name="文本框 42"/>
          <p:cNvSpPr txBox="1"/>
          <p:nvPr/>
        </p:nvSpPr>
        <p:spPr>
          <a:xfrm>
            <a:off x="5901717" y="3794726"/>
            <a:ext cx="1118414" cy="369332"/>
          </a:xfrm>
          <a:prstGeom prst="rect">
            <a:avLst/>
          </a:prstGeom>
          <a:noFill/>
        </p:spPr>
        <p:txBody>
          <a:bodyPr wrap="square" rtlCol="0">
            <a:spAutoFit/>
          </a:bodyPr>
          <a:lstStyle/>
          <a:p>
            <a:r>
              <a:rPr lang="en-US" altLang="zh-CN" dirty="0" smtClean="0">
                <a:solidFill>
                  <a:schemeClr val="bg1"/>
                </a:solidFill>
              </a:rPr>
              <a:t>L1cache</a:t>
            </a:r>
          </a:p>
        </p:txBody>
      </p:sp>
      <p:sp>
        <p:nvSpPr>
          <p:cNvPr id="44" name="矩形 43"/>
          <p:cNvSpPr/>
          <p:nvPr/>
        </p:nvSpPr>
        <p:spPr>
          <a:xfrm>
            <a:off x="4975670" y="4303297"/>
            <a:ext cx="803563" cy="3707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5" name="文本框 44"/>
          <p:cNvSpPr txBox="1"/>
          <p:nvPr/>
        </p:nvSpPr>
        <p:spPr>
          <a:xfrm>
            <a:off x="4901901" y="4280439"/>
            <a:ext cx="1118414" cy="369332"/>
          </a:xfrm>
          <a:prstGeom prst="rect">
            <a:avLst/>
          </a:prstGeom>
          <a:noFill/>
        </p:spPr>
        <p:txBody>
          <a:bodyPr wrap="square" rtlCol="0">
            <a:spAutoFit/>
          </a:bodyPr>
          <a:lstStyle/>
          <a:p>
            <a:r>
              <a:rPr lang="en-US" altLang="zh-CN" dirty="0" smtClean="0">
                <a:solidFill>
                  <a:schemeClr val="bg1"/>
                </a:solidFill>
              </a:rPr>
              <a:t>L2cache</a:t>
            </a:r>
          </a:p>
        </p:txBody>
      </p:sp>
      <p:sp>
        <p:nvSpPr>
          <p:cNvPr id="46" name="矩形 45"/>
          <p:cNvSpPr/>
          <p:nvPr/>
        </p:nvSpPr>
        <p:spPr>
          <a:xfrm>
            <a:off x="5990444" y="4339909"/>
            <a:ext cx="803563" cy="3367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7" name="文本框 46"/>
          <p:cNvSpPr txBox="1"/>
          <p:nvPr/>
        </p:nvSpPr>
        <p:spPr>
          <a:xfrm>
            <a:off x="5901717" y="4304742"/>
            <a:ext cx="1118414" cy="369332"/>
          </a:xfrm>
          <a:prstGeom prst="rect">
            <a:avLst/>
          </a:prstGeom>
          <a:noFill/>
        </p:spPr>
        <p:txBody>
          <a:bodyPr wrap="square" rtlCol="0">
            <a:spAutoFit/>
          </a:bodyPr>
          <a:lstStyle/>
          <a:p>
            <a:r>
              <a:rPr lang="en-US" altLang="zh-CN" dirty="0" smtClean="0">
                <a:solidFill>
                  <a:schemeClr val="bg1"/>
                </a:solidFill>
              </a:rPr>
              <a:t>L2cache</a:t>
            </a:r>
          </a:p>
        </p:txBody>
      </p:sp>
      <p:sp>
        <p:nvSpPr>
          <p:cNvPr id="48" name="文本框 47"/>
          <p:cNvSpPr txBox="1"/>
          <p:nvPr/>
        </p:nvSpPr>
        <p:spPr>
          <a:xfrm>
            <a:off x="5343566" y="4964214"/>
            <a:ext cx="994739" cy="369332"/>
          </a:xfrm>
          <a:prstGeom prst="rect">
            <a:avLst/>
          </a:prstGeom>
          <a:noFill/>
        </p:spPr>
        <p:txBody>
          <a:bodyPr wrap="square" rtlCol="0">
            <a:spAutoFit/>
          </a:bodyPr>
          <a:lstStyle/>
          <a:p>
            <a:r>
              <a:rPr lang="en-US" altLang="zh-CN" dirty="0" smtClean="0">
                <a:solidFill>
                  <a:schemeClr val="bg1"/>
                </a:solidFill>
              </a:rPr>
              <a:t>L3cache</a:t>
            </a:r>
          </a:p>
        </p:txBody>
      </p:sp>
    </p:spTree>
    <p:extLst>
      <p:ext uri="{BB962C8B-B14F-4D97-AF65-F5344CB8AC3E}">
        <p14:creationId xmlns:p14="http://schemas.microsoft.com/office/powerpoint/2010/main" val="2040073640"/>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矩形 17">
            <a:extLst>
              <a:ext uri="{FF2B5EF4-FFF2-40B4-BE49-F238E27FC236}">
                <a16:creationId xmlns:a16="http://schemas.microsoft.com/office/drawing/2014/main" id="{87F7609B-44D8-4A6F-85A8-FC5A2D0C942D}"/>
              </a:ext>
            </a:extLst>
          </p:cNvPr>
          <p:cNvSpPr/>
          <p:nvPr/>
        </p:nvSpPr>
        <p:spPr>
          <a:xfrm>
            <a:off x="-83801" y="668559"/>
            <a:ext cx="4078285" cy="45719"/>
          </a:xfrm>
          <a:prstGeom prst="rect">
            <a:avLst/>
          </a:prstGeom>
          <a:solidFill>
            <a:schemeClr val="tx1">
              <a:lumMod val="75000"/>
              <a:lumOff val="25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文本框 21">
            <a:extLst>
              <a:ext uri="{FF2B5EF4-FFF2-40B4-BE49-F238E27FC236}">
                <a16:creationId xmlns:a16="http://schemas.microsoft.com/office/drawing/2014/main" id="{E4B5C20D-4A12-483C-8756-87F0BD864146}"/>
              </a:ext>
            </a:extLst>
          </p:cNvPr>
          <p:cNvSpPr txBox="1"/>
          <p:nvPr/>
        </p:nvSpPr>
        <p:spPr>
          <a:xfrm>
            <a:off x="756035" y="249977"/>
            <a:ext cx="3142197" cy="800219"/>
          </a:xfrm>
          <a:prstGeom prst="rect">
            <a:avLst/>
          </a:prstGeom>
          <a:noFill/>
        </p:spPr>
        <p:txBody>
          <a:bodyPr vert="horz" wrap="square" rtlCol="0">
            <a:spAutoFit/>
          </a:bodyPr>
          <a:lstStyle>
            <a:defPPr>
              <a:defRPr lang="zh-CN"/>
            </a:defPPr>
            <a:lvl1pPr>
              <a:defRPr sz="2000">
                <a:solidFill>
                  <a:schemeClr val="bg1"/>
                </a:solidFill>
                <a:latin typeface="Verdana" panose="020B0604030504040204" pitchFamily="34" charset="0"/>
                <a:ea typeface="Verdana" panose="020B0604030504040204" pitchFamily="34" charset="0"/>
              </a:defRPr>
            </a:lvl1pPr>
          </a:lstStyle>
          <a:p>
            <a:pPr algn="r"/>
            <a:r>
              <a:rPr lang="en-US" altLang="zh-CN" sz="2300" b="1" dirty="0" smtClean="0">
                <a:solidFill>
                  <a:schemeClr val="tx1">
                    <a:lumMod val="75000"/>
                    <a:lumOff val="25000"/>
                  </a:schemeClr>
                </a:solidFill>
                <a:latin typeface="+mn-ea"/>
                <a:ea typeface="+mn-ea"/>
              </a:rPr>
              <a:t>DL Clusters </a:t>
            </a:r>
            <a:r>
              <a:rPr lang="en-US" altLang="zh-CN" sz="2300" b="1" dirty="0">
                <a:solidFill>
                  <a:schemeClr val="tx1">
                    <a:lumMod val="75000"/>
                    <a:lumOff val="25000"/>
                  </a:schemeClr>
                </a:solidFill>
                <a:latin typeface="+mn-ea"/>
                <a:ea typeface="+mn-ea"/>
              </a:rPr>
              <a:t>Scheduler</a:t>
            </a:r>
          </a:p>
          <a:p>
            <a:pPr algn="r"/>
            <a:endParaRPr lang="en-US" altLang="zh-CN" sz="2300" b="1" dirty="0">
              <a:solidFill>
                <a:schemeClr val="tx1">
                  <a:lumMod val="75000"/>
                  <a:lumOff val="25000"/>
                </a:schemeClr>
              </a:solidFill>
              <a:latin typeface="+mn-ea"/>
              <a:ea typeface="+mn-ea"/>
            </a:endParaRPr>
          </a:p>
        </p:txBody>
      </p:sp>
      <p:sp>
        <p:nvSpPr>
          <p:cNvPr id="37" name="文本框 36">
            <a:extLst>
              <a:ext uri="{FF2B5EF4-FFF2-40B4-BE49-F238E27FC236}">
                <a16:creationId xmlns:a16="http://schemas.microsoft.com/office/drawing/2014/main" id="{F2780D51-B0AF-4922-85EE-8A372E9AC621}"/>
              </a:ext>
            </a:extLst>
          </p:cNvPr>
          <p:cNvSpPr txBox="1"/>
          <p:nvPr/>
        </p:nvSpPr>
        <p:spPr>
          <a:xfrm>
            <a:off x="904637" y="1506236"/>
            <a:ext cx="2274907" cy="861774"/>
          </a:xfrm>
          <a:prstGeom prst="rect">
            <a:avLst/>
          </a:prstGeom>
          <a:noFill/>
        </p:spPr>
        <p:txBody>
          <a:bodyPr wrap="square" rtlCol="0">
            <a:spAutoFit/>
          </a:bodyPr>
          <a:lstStyle/>
          <a:p>
            <a:pPr algn="ctr"/>
            <a:r>
              <a:rPr lang="en-US" altLang="zh-CN" sz="2500" b="1" dirty="0" smtClean="0">
                <a:solidFill>
                  <a:srgbClr val="C00000"/>
                </a:solidFill>
                <a:effectLst>
                  <a:outerShdw blurRad="38100" dist="38100" dir="2700000" algn="tl">
                    <a:srgbClr val="000000">
                      <a:alpha val="43137"/>
                    </a:srgbClr>
                  </a:outerShdw>
                </a:effectLst>
                <a:latin typeface="+mn-ea"/>
                <a:cs typeface="Times New Roman" panose="02020603050405020304" pitchFamily="18" charset="0"/>
              </a:rPr>
              <a:t>Colocated jobs</a:t>
            </a:r>
            <a:endParaRPr kumimoji="1" lang="zh-CN" altLang="en-US" sz="2500" b="1" dirty="0">
              <a:solidFill>
                <a:srgbClr val="C00000"/>
              </a:solidFill>
              <a:effectLst>
                <a:outerShdw blurRad="38100" dist="38100" dir="2700000" algn="tl">
                  <a:srgbClr val="000000">
                    <a:alpha val="43137"/>
                  </a:srgbClr>
                </a:outerShdw>
              </a:effectLst>
              <a:latin typeface="+mn-ea"/>
            </a:endParaRPr>
          </a:p>
        </p:txBody>
      </p:sp>
      <p:sp>
        <p:nvSpPr>
          <p:cNvPr id="15" name="文本框 14"/>
          <p:cNvSpPr txBox="1"/>
          <p:nvPr/>
        </p:nvSpPr>
        <p:spPr>
          <a:xfrm>
            <a:off x="1188795" y="2752115"/>
            <a:ext cx="1787669" cy="461665"/>
          </a:xfrm>
          <a:prstGeom prst="rect">
            <a:avLst/>
          </a:prstGeom>
          <a:noFill/>
        </p:spPr>
        <p:txBody>
          <a:bodyPr wrap="none" rtlCol="0">
            <a:spAutoFit/>
          </a:bodyPr>
          <a:lstStyle/>
          <a:p>
            <a:r>
              <a:rPr lang="en-US" altLang="zh-CN" sz="2400" dirty="0" smtClean="0"/>
              <a:t>Disk sharing</a:t>
            </a:r>
            <a:endParaRPr lang="zh-CN" altLang="en-US" sz="2400" dirty="0"/>
          </a:p>
        </p:txBody>
      </p:sp>
      <p:sp>
        <p:nvSpPr>
          <p:cNvPr id="43" name="文本框 42"/>
          <p:cNvSpPr txBox="1"/>
          <p:nvPr/>
        </p:nvSpPr>
        <p:spPr>
          <a:xfrm>
            <a:off x="1398254" y="4355592"/>
            <a:ext cx="1118414" cy="369332"/>
          </a:xfrm>
          <a:prstGeom prst="rect">
            <a:avLst/>
          </a:prstGeom>
          <a:noFill/>
        </p:spPr>
        <p:txBody>
          <a:bodyPr wrap="square" rtlCol="0">
            <a:spAutoFit/>
          </a:bodyPr>
          <a:lstStyle/>
          <a:p>
            <a:r>
              <a:rPr lang="en-US" altLang="zh-CN" dirty="0" smtClean="0">
                <a:solidFill>
                  <a:schemeClr val="bg1"/>
                </a:solidFill>
              </a:rPr>
              <a:t>L1cache</a:t>
            </a:r>
          </a:p>
        </p:txBody>
      </p:sp>
      <p:sp>
        <p:nvSpPr>
          <p:cNvPr id="47" name="文本框 46"/>
          <p:cNvSpPr txBox="1"/>
          <p:nvPr/>
        </p:nvSpPr>
        <p:spPr>
          <a:xfrm>
            <a:off x="1398254" y="4865608"/>
            <a:ext cx="1118414" cy="369332"/>
          </a:xfrm>
          <a:prstGeom prst="rect">
            <a:avLst/>
          </a:prstGeom>
          <a:noFill/>
        </p:spPr>
        <p:txBody>
          <a:bodyPr wrap="square" rtlCol="0">
            <a:spAutoFit/>
          </a:bodyPr>
          <a:lstStyle/>
          <a:p>
            <a:r>
              <a:rPr lang="en-US" altLang="zh-CN" dirty="0" smtClean="0">
                <a:solidFill>
                  <a:schemeClr val="bg1"/>
                </a:solidFill>
              </a:rPr>
              <a:t>L2cache</a:t>
            </a:r>
          </a:p>
        </p:txBody>
      </p:sp>
      <p:sp>
        <p:nvSpPr>
          <p:cNvPr id="50" name="矩形 49"/>
          <p:cNvSpPr/>
          <p:nvPr/>
        </p:nvSpPr>
        <p:spPr>
          <a:xfrm>
            <a:off x="4417924" y="3834433"/>
            <a:ext cx="803563" cy="3707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1" name="文本框 50"/>
          <p:cNvSpPr txBox="1"/>
          <p:nvPr/>
        </p:nvSpPr>
        <p:spPr>
          <a:xfrm>
            <a:off x="4417925" y="2706308"/>
            <a:ext cx="865673" cy="369332"/>
          </a:xfrm>
          <a:prstGeom prst="rect">
            <a:avLst/>
          </a:prstGeom>
          <a:noFill/>
        </p:spPr>
        <p:txBody>
          <a:bodyPr wrap="square" rtlCol="0">
            <a:spAutoFit/>
          </a:bodyPr>
          <a:lstStyle/>
          <a:p>
            <a:r>
              <a:rPr lang="en-US" altLang="zh-CN" dirty="0" smtClean="0"/>
              <a:t>Job3</a:t>
            </a:r>
            <a:endParaRPr lang="zh-CN" altLang="en-US" dirty="0"/>
          </a:p>
        </p:txBody>
      </p:sp>
      <p:sp>
        <p:nvSpPr>
          <p:cNvPr id="52" name="文本框 51"/>
          <p:cNvSpPr txBox="1"/>
          <p:nvPr/>
        </p:nvSpPr>
        <p:spPr>
          <a:xfrm>
            <a:off x="5437048" y="2706308"/>
            <a:ext cx="865673" cy="369332"/>
          </a:xfrm>
          <a:prstGeom prst="rect">
            <a:avLst/>
          </a:prstGeom>
          <a:noFill/>
        </p:spPr>
        <p:txBody>
          <a:bodyPr wrap="square" rtlCol="0">
            <a:spAutoFit/>
          </a:bodyPr>
          <a:lstStyle/>
          <a:p>
            <a:r>
              <a:rPr lang="en-US" altLang="zh-CN" dirty="0" smtClean="0"/>
              <a:t>Job3</a:t>
            </a:r>
            <a:endParaRPr lang="zh-CN" altLang="en-US" dirty="0"/>
          </a:p>
        </p:txBody>
      </p:sp>
      <p:sp>
        <p:nvSpPr>
          <p:cNvPr id="53" name="矩形 52"/>
          <p:cNvSpPr/>
          <p:nvPr/>
        </p:nvSpPr>
        <p:spPr>
          <a:xfrm>
            <a:off x="4417925" y="3118709"/>
            <a:ext cx="803563" cy="609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4" name="文本框 53"/>
          <p:cNvSpPr txBox="1"/>
          <p:nvPr/>
        </p:nvSpPr>
        <p:spPr>
          <a:xfrm>
            <a:off x="4417925" y="3195558"/>
            <a:ext cx="865673" cy="369332"/>
          </a:xfrm>
          <a:prstGeom prst="rect">
            <a:avLst/>
          </a:prstGeom>
          <a:noFill/>
        </p:spPr>
        <p:txBody>
          <a:bodyPr wrap="square" rtlCol="0">
            <a:spAutoFit/>
          </a:bodyPr>
          <a:lstStyle/>
          <a:p>
            <a:r>
              <a:rPr lang="en-US" altLang="zh-CN" dirty="0" smtClean="0">
                <a:solidFill>
                  <a:schemeClr val="bg1"/>
                </a:solidFill>
              </a:rPr>
              <a:t>core1</a:t>
            </a:r>
            <a:endParaRPr lang="zh-CN" altLang="en-US" dirty="0">
              <a:solidFill>
                <a:schemeClr val="bg1"/>
              </a:solidFill>
            </a:endParaRPr>
          </a:p>
        </p:txBody>
      </p:sp>
      <p:sp>
        <p:nvSpPr>
          <p:cNvPr id="55" name="矩形 54"/>
          <p:cNvSpPr/>
          <p:nvPr/>
        </p:nvSpPr>
        <p:spPr>
          <a:xfrm>
            <a:off x="5437048" y="3117508"/>
            <a:ext cx="803563" cy="609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6" name="文本框 55"/>
          <p:cNvSpPr txBox="1"/>
          <p:nvPr/>
        </p:nvSpPr>
        <p:spPr>
          <a:xfrm>
            <a:off x="5437048" y="3194357"/>
            <a:ext cx="865673" cy="369332"/>
          </a:xfrm>
          <a:prstGeom prst="rect">
            <a:avLst/>
          </a:prstGeom>
          <a:noFill/>
        </p:spPr>
        <p:txBody>
          <a:bodyPr wrap="square" rtlCol="0">
            <a:spAutoFit/>
          </a:bodyPr>
          <a:lstStyle/>
          <a:p>
            <a:r>
              <a:rPr lang="en-US" altLang="zh-CN" dirty="0" smtClean="0">
                <a:solidFill>
                  <a:schemeClr val="bg1"/>
                </a:solidFill>
              </a:rPr>
              <a:t>core2</a:t>
            </a:r>
            <a:endParaRPr lang="zh-CN" altLang="en-US" dirty="0">
              <a:solidFill>
                <a:schemeClr val="bg1"/>
              </a:solidFill>
            </a:endParaRPr>
          </a:p>
        </p:txBody>
      </p:sp>
      <p:sp>
        <p:nvSpPr>
          <p:cNvPr id="57" name="文本框 56"/>
          <p:cNvSpPr txBox="1"/>
          <p:nvPr/>
        </p:nvSpPr>
        <p:spPr>
          <a:xfrm>
            <a:off x="4329197" y="3813020"/>
            <a:ext cx="1118414" cy="369332"/>
          </a:xfrm>
          <a:prstGeom prst="rect">
            <a:avLst/>
          </a:prstGeom>
          <a:noFill/>
        </p:spPr>
        <p:txBody>
          <a:bodyPr wrap="square" rtlCol="0">
            <a:spAutoFit/>
          </a:bodyPr>
          <a:lstStyle/>
          <a:p>
            <a:r>
              <a:rPr lang="en-US" altLang="zh-CN" dirty="0" smtClean="0">
                <a:solidFill>
                  <a:schemeClr val="bg1"/>
                </a:solidFill>
              </a:rPr>
              <a:t>L1cache</a:t>
            </a:r>
          </a:p>
        </p:txBody>
      </p:sp>
      <p:sp>
        <p:nvSpPr>
          <p:cNvPr id="58" name="矩形 57"/>
          <p:cNvSpPr/>
          <p:nvPr/>
        </p:nvSpPr>
        <p:spPr>
          <a:xfrm>
            <a:off x="4417924" y="4919733"/>
            <a:ext cx="1818746" cy="5470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59" name="矩形 58"/>
          <p:cNvSpPr/>
          <p:nvPr/>
        </p:nvSpPr>
        <p:spPr>
          <a:xfrm>
            <a:off x="5433106" y="3859206"/>
            <a:ext cx="803563" cy="3367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0" name="文本框 59"/>
          <p:cNvSpPr txBox="1"/>
          <p:nvPr/>
        </p:nvSpPr>
        <p:spPr>
          <a:xfrm>
            <a:off x="5344379" y="3837793"/>
            <a:ext cx="1118414" cy="369332"/>
          </a:xfrm>
          <a:prstGeom prst="rect">
            <a:avLst/>
          </a:prstGeom>
          <a:noFill/>
        </p:spPr>
        <p:txBody>
          <a:bodyPr wrap="square" rtlCol="0">
            <a:spAutoFit/>
          </a:bodyPr>
          <a:lstStyle/>
          <a:p>
            <a:r>
              <a:rPr lang="en-US" altLang="zh-CN" dirty="0" smtClean="0">
                <a:solidFill>
                  <a:schemeClr val="bg1"/>
                </a:solidFill>
              </a:rPr>
              <a:t>L1cache</a:t>
            </a:r>
          </a:p>
        </p:txBody>
      </p:sp>
      <p:sp>
        <p:nvSpPr>
          <p:cNvPr id="61" name="矩形 60"/>
          <p:cNvSpPr/>
          <p:nvPr/>
        </p:nvSpPr>
        <p:spPr>
          <a:xfrm>
            <a:off x="4418332" y="4346364"/>
            <a:ext cx="803563" cy="3707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2" name="文本框 61"/>
          <p:cNvSpPr txBox="1"/>
          <p:nvPr/>
        </p:nvSpPr>
        <p:spPr>
          <a:xfrm>
            <a:off x="4344563" y="4323506"/>
            <a:ext cx="1118414" cy="369332"/>
          </a:xfrm>
          <a:prstGeom prst="rect">
            <a:avLst/>
          </a:prstGeom>
          <a:noFill/>
        </p:spPr>
        <p:txBody>
          <a:bodyPr wrap="square" rtlCol="0">
            <a:spAutoFit/>
          </a:bodyPr>
          <a:lstStyle/>
          <a:p>
            <a:r>
              <a:rPr lang="en-US" altLang="zh-CN" dirty="0" smtClean="0">
                <a:solidFill>
                  <a:schemeClr val="bg1"/>
                </a:solidFill>
              </a:rPr>
              <a:t>L2cache</a:t>
            </a:r>
          </a:p>
        </p:txBody>
      </p:sp>
      <p:sp>
        <p:nvSpPr>
          <p:cNvPr id="63" name="矩形 62"/>
          <p:cNvSpPr/>
          <p:nvPr/>
        </p:nvSpPr>
        <p:spPr>
          <a:xfrm>
            <a:off x="5433106" y="4382976"/>
            <a:ext cx="803563" cy="3367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4" name="文本框 63"/>
          <p:cNvSpPr txBox="1"/>
          <p:nvPr/>
        </p:nvSpPr>
        <p:spPr>
          <a:xfrm>
            <a:off x="5344379" y="4347809"/>
            <a:ext cx="1118414" cy="369332"/>
          </a:xfrm>
          <a:prstGeom prst="rect">
            <a:avLst/>
          </a:prstGeom>
          <a:noFill/>
        </p:spPr>
        <p:txBody>
          <a:bodyPr wrap="square" rtlCol="0">
            <a:spAutoFit/>
          </a:bodyPr>
          <a:lstStyle/>
          <a:p>
            <a:r>
              <a:rPr lang="en-US" altLang="zh-CN" dirty="0" smtClean="0">
                <a:solidFill>
                  <a:schemeClr val="bg1"/>
                </a:solidFill>
              </a:rPr>
              <a:t>L2cache</a:t>
            </a:r>
          </a:p>
        </p:txBody>
      </p:sp>
      <p:sp>
        <p:nvSpPr>
          <p:cNvPr id="65" name="文本框 64"/>
          <p:cNvSpPr txBox="1"/>
          <p:nvPr/>
        </p:nvSpPr>
        <p:spPr>
          <a:xfrm>
            <a:off x="4786228" y="5007281"/>
            <a:ext cx="994739" cy="369332"/>
          </a:xfrm>
          <a:prstGeom prst="rect">
            <a:avLst/>
          </a:prstGeom>
          <a:noFill/>
        </p:spPr>
        <p:txBody>
          <a:bodyPr wrap="square" rtlCol="0">
            <a:spAutoFit/>
          </a:bodyPr>
          <a:lstStyle/>
          <a:p>
            <a:r>
              <a:rPr lang="en-US" altLang="zh-CN" dirty="0" smtClean="0">
                <a:solidFill>
                  <a:schemeClr val="bg1"/>
                </a:solidFill>
              </a:rPr>
              <a:t>L3cache</a:t>
            </a:r>
          </a:p>
        </p:txBody>
      </p:sp>
      <p:sp>
        <p:nvSpPr>
          <p:cNvPr id="66" name="矩形 65"/>
          <p:cNvSpPr/>
          <p:nvPr/>
        </p:nvSpPr>
        <p:spPr>
          <a:xfrm>
            <a:off x="4435005" y="5666805"/>
            <a:ext cx="4061265" cy="5470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7" name="文本框 66"/>
          <p:cNvSpPr txBox="1"/>
          <p:nvPr/>
        </p:nvSpPr>
        <p:spPr>
          <a:xfrm>
            <a:off x="6099093" y="5732627"/>
            <a:ext cx="1010141" cy="369332"/>
          </a:xfrm>
          <a:prstGeom prst="rect">
            <a:avLst/>
          </a:prstGeom>
          <a:noFill/>
        </p:spPr>
        <p:txBody>
          <a:bodyPr wrap="square" rtlCol="0">
            <a:spAutoFit/>
          </a:bodyPr>
          <a:lstStyle/>
          <a:p>
            <a:r>
              <a:rPr lang="en-US" altLang="zh-CN" dirty="0" smtClean="0">
                <a:solidFill>
                  <a:schemeClr val="bg1"/>
                </a:solidFill>
              </a:rPr>
              <a:t>Disk </a:t>
            </a:r>
          </a:p>
        </p:txBody>
      </p:sp>
      <p:sp>
        <p:nvSpPr>
          <p:cNvPr id="68" name="矩形 67"/>
          <p:cNvSpPr/>
          <p:nvPr/>
        </p:nvSpPr>
        <p:spPr>
          <a:xfrm>
            <a:off x="6677525" y="3799640"/>
            <a:ext cx="803563" cy="3707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69" name="矩形 68"/>
          <p:cNvSpPr/>
          <p:nvPr/>
        </p:nvSpPr>
        <p:spPr>
          <a:xfrm>
            <a:off x="6677526" y="3083916"/>
            <a:ext cx="803563" cy="609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0" name="文本框 69"/>
          <p:cNvSpPr txBox="1"/>
          <p:nvPr/>
        </p:nvSpPr>
        <p:spPr>
          <a:xfrm>
            <a:off x="6677526" y="3160765"/>
            <a:ext cx="865673" cy="369332"/>
          </a:xfrm>
          <a:prstGeom prst="rect">
            <a:avLst/>
          </a:prstGeom>
          <a:noFill/>
        </p:spPr>
        <p:txBody>
          <a:bodyPr wrap="square" rtlCol="0">
            <a:spAutoFit/>
          </a:bodyPr>
          <a:lstStyle/>
          <a:p>
            <a:r>
              <a:rPr lang="en-US" altLang="zh-CN" dirty="0" smtClean="0">
                <a:solidFill>
                  <a:schemeClr val="bg1"/>
                </a:solidFill>
              </a:rPr>
              <a:t>core3</a:t>
            </a:r>
            <a:endParaRPr lang="zh-CN" altLang="en-US" dirty="0">
              <a:solidFill>
                <a:schemeClr val="bg1"/>
              </a:solidFill>
            </a:endParaRPr>
          </a:p>
        </p:txBody>
      </p:sp>
      <p:sp>
        <p:nvSpPr>
          <p:cNvPr id="71" name="矩形 70"/>
          <p:cNvSpPr/>
          <p:nvPr/>
        </p:nvSpPr>
        <p:spPr>
          <a:xfrm>
            <a:off x="7696649" y="3082715"/>
            <a:ext cx="803563" cy="60916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2" name="文本框 71"/>
          <p:cNvSpPr txBox="1"/>
          <p:nvPr/>
        </p:nvSpPr>
        <p:spPr>
          <a:xfrm>
            <a:off x="7696649" y="3159564"/>
            <a:ext cx="865673" cy="369332"/>
          </a:xfrm>
          <a:prstGeom prst="rect">
            <a:avLst/>
          </a:prstGeom>
          <a:noFill/>
        </p:spPr>
        <p:txBody>
          <a:bodyPr wrap="square" rtlCol="0">
            <a:spAutoFit/>
          </a:bodyPr>
          <a:lstStyle/>
          <a:p>
            <a:r>
              <a:rPr lang="en-US" altLang="zh-CN" dirty="0" smtClean="0">
                <a:solidFill>
                  <a:schemeClr val="bg1"/>
                </a:solidFill>
              </a:rPr>
              <a:t>core4</a:t>
            </a:r>
            <a:endParaRPr lang="zh-CN" altLang="en-US" dirty="0">
              <a:solidFill>
                <a:schemeClr val="bg1"/>
              </a:solidFill>
            </a:endParaRPr>
          </a:p>
        </p:txBody>
      </p:sp>
      <p:sp>
        <p:nvSpPr>
          <p:cNvPr id="73" name="文本框 72"/>
          <p:cNvSpPr txBox="1"/>
          <p:nvPr/>
        </p:nvSpPr>
        <p:spPr>
          <a:xfrm>
            <a:off x="6588798" y="3778227"/>
            <a:ext cx="1118414" cy="369332"/>
          </a:xfrm>
          <a:prstGeom prst="rect">
            <a:avLst/>
          </a:prstGeom>
          <a:noFill/>
        </p:spPr>
        <p:txBody>
          <a:bodyPr wrap="square" rtlCol="0">
            <a:spAutoFit/>
          </a:bodyPr>
          <a:lstStyle/>
          <a:p>
            <a:r>
              <a:rPr lang="en-US" altLang="zh-CN" dirty="0" smtClean="0">
                <a:solidFill>
                  <a:schemeClr val="bg1"/>
                </a:solidFill>
              </a:rPr>
              <a:t>L1cache</a:t>
            </a:r>
          </a:p>
        </p:txBody>
      </p:sp>
      <p:sp>
        <p:nvSpPr>
          <p:cNvPr id="74" name="矩形 73"/>
          <p:cNvSpPr/>
          <p:nvPr/>
        </p:nvSpPr>
        <p:spPr>
          <a:xfrm>
            <a:off x="6677525" y="4884940"/>
            <a:ext cx="1818746" cy="54702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5" name="矩形 74"/>
          <p:cNvSpPr/>
          <p:nvPr/>
        </p:nvSpPr>
        <p:spPr>
          <a:xfrm>
            <a:off x="7692707" y="3824413"/>
            <a:ext cx="803563" cy="3367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6" name="文本框 75"/>
          <p:cNvSpPr txBox="1"/>
          <p:nvPr/>
        </p:nvSpPr>
        <p:spPr>
          <a:xfrm>
            <a:off x="7603980" y="3803000"/>
            <a:ext cx="1118414" cy="369332"/>
          </a:xfrm>
          <a:prstGeom prst="rect">
            <a:avLst/>
          </a:prstGeom>
          <a:noFill/>
        </p:spPr>
        <p:txBody>
          <a:bodyPr wrap="square" rtlCol="0">
            <a:spAutoFit/>
          </a:bodyPr>
          <a:lstStyle/>
          <a:p>
            <a:r>
              <a:rPr lang="en-US" altLang="zh-CN" dirty="0" smtClean="0">
                <a:solidFill>
                  <a:schemeClr val="bg1"/>
                </a:solidFill>
              </a:rPr>
              <a:t>L1cache</a:t>
            </a:r>
          </a:p>
        </p:txBody>
      </p:sp>
      <p:sp>
        <p:nvSpPr>
          <p:cNvPr id="77" name="矩形 76"/>
          <p:cNvSpPr/>
          <p:nvPr/>
        </p:nvSpPr>
        <p:spPr>
          <a:xfrm>
            <a:off x="6677933" y="4311571"/>
            <a:ext cx="803563" cy="3707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8" name="文本框 77"/>
          <p:cNvSpPr txBox="1"/>
          <p:nvPr/>
        </p:nvSpPr>
        <p:spPr>
          <a:xfrm>
            <a:off x="6604164" y="4288713"/>
            <a:ext cx="1118414" cy="369332"/>
          </a:xfrm>
          <a:prstGeom prst="rect">
            <a:avLst/>
          </a:prstGeom>
          <a:noFill/>
        </p:spPr>
        <p:txBody>
          <a:bodyPr wrap="square" rtlCol="0">
            <a:spAutoFit/>
          </a:bodyPr>
          <a:lstStyle/>
          <a:p>
            <a:r>
              <a:rPr lang="en-US" altLang="zh-CN" dirty="0" smtClean="0">
                <a:solidFill>
                  <a:schemeClr val="bg1"/>
                </a:solidFill>
              </a:rPr>
              <a:t>L2cache</a:t>
            </a:r>
          </a:p>
        </p:txBody>
      </p:sp>
      <p:sp>
        <p:nvSpPr>
          <p:cNvPr id="79" name="矩形 78"/>
          <p:cNvSpPr/>
          <p:nvPr/>
        </p:nvSpPr>
        <p:spPr>
          <a:xfrm>
            <a:off x="7692707" y="4348183"/>
            <a:ext cx="803563" cy="33670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80" name="文本框 79"/>
          <p:cNvSpPr txBox="1"/>
          <p:nvPr/>
        </p:nvSpPr>
        <p:spPr>
          <a:xfrm>
            <a:off x="7603980" y="4313016"/>
            <a:ext cx="1118414" cy="369332"/>
          </a:xfrm>
          <a:prstGeom prst="rect">
            <a:avLst/>
          </a:prstGeom>
          <a:noFill/>
        </p:spPr>
        <p:txBody>
          <a:bodyPr wrap="square" rtlCol="0">
            <a:spAutoFit/>
          </a:bodyPr>
          <a:lstStyle/>
          <a:p>
            <a:r>
              <a:rPr lang="en-US" altLang="zh-CN" dirty="0" smtClean="0">
                <a:solidFill>
                  <a:schemeClr val="bg1"/>
                </a:solidFill>
              </a:rPr>
              <a:t>L2cache</a:t>
            </a:r>
          </a:p>
        </p:txBody>
      </p:sp>
      <p:sp>
        <p:nvSpPr>
          <p:cNvPr id="81" name="文本框 80"/>
          <p:cNvSpPr txBox="1"/>
          <p:nvPr/>
        </p:nvSpPr>
        <p:spPr>
          <a:xfrm>
            <a:off x="7045829" y="4972488"/>
            <a:ext cx="994739" cy="369332"/>
          </a:xfrm>
          <a:prstGeom prst="rect">
            <a:avLst/>
          </a:prstGeom>
          <a:noFill/>
        </p:spPr>
        <p:txBody>
          <a:bodyPr wrap="square" rtlCol="0">
            <a:spAutoFit/>
          </a:bodyPr>
          <a:lstStyle/>
          <a:p>
            <a:r>
              <a:rPr lang="en-US" altLang="zh-CN" dirty="0" smtClean="0">
                <a:solidFill>
                  <a:schemeClr val="bg1"/>
                </a:solidFill>
              </a:rPr>
              <a:t>L3cache</a:t>
            </a:r>
          </a:p>
        </p:txBody>
      </p:sp>
      <p:sp>
        <p:nvSpPr>
          <p:cNvPr id="82" name="文本框 81"/>
          <p:cNvSpPr txBox="1"/>
          <p:nvPr/>
        </p:nvSpPr>
        <p:spPr>
          <a:xfrm>
            <a:off x="6730534" y="2683072"/>
            <a:ext cx="865673" cy="369332"/>
          </a:xfrm>
          <a:prstGeom prst="rect">
            <a:avLst/>
          </a:prstGeom>
          <a:noFill/>
        </p:spPr>
        <p:txBody>
          <a:bodyPr wrap="square" rtlCol="0">
            <a:spAutoFit/>
          </a:bodyPr>
          <a:lstStyle/>
          <a:p>
            <a:r>
              <a:rPr lang="en-US" altLang="zh-CN" dirty="0" smtClean="0"/>
              <a:t>Job4</a:t>
            </a:r>
            <a:endParaRPr lang="zh-CN" altLang="en-US" dirty="0"/>
          </a:p>
        </p:txBody>
      </p:sp>
      <p:sp>
        <p:nvSpPr>
          <p:cNvPr id="83" name="文本框 82"/>
          <p:cNvSpPr txBox="1"/>
          <p:nvPr/>
        </p:nvSpPr>
        <p:spPr>
          <a:xfrm>
            <a:off x="7730350" y="2668931"/>
            <a:ext cx="865673" cy="369332"/>
          </a:xfrm>
          <a:prstGeom prst="rect">
            <a:avLst/>
          </a:prstGeom>
          <a:noFill/>
        </p:spPr>
        <p:txBody>
          <a:bodyPr wrap="square" rtlCol="0">
            <a:spAutoFit/>
          </a:bodyPr>
          <a:lstStyle/>
          <a:p>
            <a:r>
              <a:rPr lang="en-US" altLang="zh-CN" dirty="0" smtClean="0"/>
              <a:t>Job4</a:t>
            </a:r>
            <a:endParaRPr lang="zh-CN" altLang="en-US" dirty="0"/>
          </a:p>
        </p:txBody>
      </p:sp>
    </p:spTree>
    <p:extLst>
      <p:ext uri="{BB962C8B-B14F-4D97-AF65-F5344CB8AC3E}">
        <p14:creationId xmlns:p14="http://schemas.microsoft.com/office/powerpoint/2010/main" val="2026246393"/>
      </p:ext>
    </p:extLst>
  </p:cSld>
  <p:clrMapOvr>
    <a:masterClrMapping/>
  </p:clrMapOvr>
  <mc:AlternateContent xmlns:mc="http://schemas.openxmlformats.org/markup-compatibility/2006" xmlns:p14="http://schemas.microsoft.com/office/powerpoint/2010/main">
    <mc:Choice Requires="p14">
      <p:transition p14:dur="100">
        <p:cut/>
      </p:transition>
    </mc:Choice>
    <mc:Fallback xmlns="">
      <p:transition>
        <p:cut/>
      </p:transition>
    </mc:Fallback>
  </mc:AlternateContent>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稻壳儿搜索【幻雨工作室】__1">
            <a:extLst>
              <a:ext uri="{FF2B5EF4-FFF2-40B4-BE49-F238E27FC236}">
                <a16:creationId xmlns:a16="http://schemas.microsoft.com/office/drawing/2014/main" id="{D9FE0944-3B00-40DF-AA91-60AEB7C9E722}"/>
              </a:ext>
            </a:extLst>
          </p:cNvPr>
          <p:cNvSpPr>
            <a:spLocks noChangeArrowheads="1"/>
          </p:cNvSpPr>
          <p:nvPr/>
        </p:nvSpPr>
        <p:spPr bwMode="auto">
          <a:xfrm>
            <a:off x="382815" y="334907"/>
            <a:ext cx="841148" cy="838935"/>
          </a:xfrm>
          <a:prstGeom prst="ellipse">
            <a:avLst/>
          </a:prstGeom>
          <a:solidFill>
            <a:schemeClr val="accent1"/>
          </a:solidFill>
          <a:ln w="76200">
            <a:noFill/>
          </a:ln>
        </p:spPr>
        <p:txBody>
          <a:bodyPr/>
          <a:lstStyle>
            <a:defPPr>
              <a:defRPr lang="zh-CN"/>
            </a:defPPr>
            <a:lvl1pPr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ctr">
              <a:lnSpc>
                <a:spcPct val="120000"/>
              </a:lnSpc>
            </a:pPr>
            <a:r>
              <a:rPr lang="en-US" altLang="zh-CN" sz="2800" b="1">
                <a:solidFill>
                  <a:schemeClr val="bg1"/>
                </a:solidFill>
                <a:ea typeface="微软雅黑" panose="020B0503020204020204" pitchFamily="34" charset="-122"/>
                <a:cs typeface="Arial" panose="020B0604020202020204" pitchFamily="34" charset="0"/>
              </a:rPr>
              <a:t>01</a:t>
            </a:r>
            <a:endParaRPr lang="zh-CN" altLang="en-US" sz="2800" b="1" dirty="0">
              <a:solidFill>
                <a:schemeClr val="bg1"/>
              </a:solidFill>
              <a:ea typeface="微软雅黑" panose="020B0503020204020204" pitchFamily="34" charset="-122"/>
              <a:cs typeface="Arial" panose="020B0604020202020204" pitchFamily="34" charset="0"/>
            </a:endParaRPr>
          </a:p>
        </p:txBody>
      </p:sp>
      <p:sp>
        <p:nvSpPr>
          <p:cNvPr id="69" name="稻壳儿搜索【幻雨工作室】__2">
            <a:extLst>
              <a:ext uri="{FF2B5EF4-FFF2-40B4-BE49-F238E27FC236}">
                <a16:creationId xmlns:a16="http://schemas.microsoft.com/office/drawing/2014/main" id="{086D702B-2401-44B9-B91D-B73182798FF2}"/>
              </a:ext>
            </a:extLst>
          </p:cNvPr>
          <p:cNvSpPr/>
          <p:nvPr/>
        </p:nvSpPr>
        <p:spPr>
          <a:xfrm>
            <a:off x="209550" y="171450"/>
            <a:ext cx="11772900" cy="6515100"/>
          </a:xfrm>
          <a:prstGeom prst="roundRect">
            <a:avLst>
              <a:gd name="adj" fmla="val 2827"/>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框 69">
            <a:extLst>
              <a:ext uri="{FF2B5EF4-FFF2-40B4-BE49-F238E27FC236}">
                <a16:creationId xmlns:a16="http://schemas.microsoft.com/office/drawing/2014/main" id="{E08B0BB9-7B3C-47D8-B9CE-1D1674EF963C}"/>
              </a:ext>
            </a:extLst>
          </p:cNvPr>
          <p:cNvSpPr txBox="1"/>
          <p:nvPr/>
        </p:nvSpPr>
        <p:spPr>
          <a:xfrm>
            <a:off x="1711126" y="2550274"/>
            <a:ext cx="7265449" cy="1759456"/>
          </a:xfrm>
          <a:prstGeom prst="rect">
            <a:avLst/>
          </a:prstGeom>
          <a:noFill/>
        </p:spPr>
        <p:txBody>
          <a:bodyPr wrap="square" rtlCol="0">
            <a:spAutoFit/>
          </a:bodyPr>
          <a:lstStyle/>
          <a:p>
            <a:pPr>
              <a:lnSpc>
                <a:spcPts val="2574"/>
              </a:lnSpc>
              <a:spcAft>
                <a:spcPts val="600"/>
              </a:spcAft>
            </a:pPr>
            <a:r>
              <a:rPr lang="en-US" altLang="zh-CN" dirty="0">
                <a:latin typeface="+mn-ea"/>
                <a:cs typeface="Times New Roman" panose="02020603050405020304" pitchFamily="18" charset="0"/>
              </a:rPr>
              <a:t>Most existing schedulers expect users to specify the number of resources for each job, often leading to inefficient resource use. Some recent schedulers choose job resources for users, but do so without awareness of how DL training can be re-optimized to better utilize the provided resources. </a:t>
            </a:r>
          </a:p>
        </p:txBody>
      </p:sp>
      <p:sp>
        <p:nvSpPr>
          <p:cNvPr id="6" name="稻壳儿搜索【幻雨工作室】__2">
            <a:extLst>
              <a:ext uri="{FF2B5EF4-FFF2-40B4-BE49-F238E27FC236}">
                <a16:creationId xmlns:a16="http://schemas.microsoft.com/office/drawing/2014/main" id="{579731AE-6C87-46B5-BAC3-570262B42B03}"/>
              </a:ext>
            </a:extLst>
          </p:cNvPr>
          <p:cNvSpPr txBox="1">
            <a:spLocks noChangeArrowheads="1"/>
          </p:cNvSpPr>
          <p:nvPr/>
        </p:nvSpPr>
        <p:spPr bwMode="auto">
          <a:xfrm>
            <a:off x="1250428" y="408204"/>
            <a:ext cx="2909448" cy="646331"/>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lvl1pPr>
              <a:defRPr sz="1300">
                <a:solidFill>
                  <a:schemeClr val="tx1"/>
                </a:solidFill>
                <a:latin typeface="华文细黑" panose="02010600040101010101" pitchFamily="2" charset="-122"/>
                <a:ea typeface="华文细黑" panose="02010600040101010101" pitchFamily="2" charset="-122"/>
              </a:defRPr>
            </a:lvl1pPr>
            <a:lvl2pPr marL="742950" indent="-285750">
              <a:defRPr sz="1300">
                <a:solidFill>
                  <a:schemeClr val="tx1"/>
                </a:solidFill>
                <a:latin typeface="华文细黑" panose="02010600040101010101" pitchFamily="2" charset="-122"/>
                <a:ea typeface="华文细黑" panose="02010600040101010101" pitchFamily="2" charset="-122"/>
              </a:defRPr>
            </a:lvl2pPr>
            <a:lvl3pPr marL="1143000" indent="-228600">
              <a:defRPr sz="1300">
                <a:solidFill>
                  <a:schemeClr val="tx1"/>
                </a:solidFill>
                <a:latin typeface="华文细黑" panose="02010600040101010101" pitchFamily="2" charset="-122"/>
                <a:ea typeface="华文细黑" panose="02010600040101010101" pitchFamily="2" charset="-122"/>
              </a:defRPr>
            </a:lvl3pPr>
            <a:lvl4pPr marL="1600200" indent="-228600">
              <a:defRPr sz="1300">
                <a:solidFill>
                  <a:schemeClr val="tx1"/>
                </a:solidFill>
                <a:latin typeface="华文细黑" panose="02010600040101010101" pitchFamily="2" charset="-122"/>
                <a:ea typeface="华文细黑" panose="02010600040101010101" pitchFamily="2" charset="-122"/>
              </a:defRPr>
            </a:lvl4pPr>
            <a:lvl5pPr marL="2057400" indent="-228600">
              <a:defRPr sz="1300">
                <a:solidFill>
                  <a:schemeClr val="tx1"/>
                </a:solidFill>
                <a:latin typeface="华文细黑" panose="02010600040101010101" pitchFamily="2" charset="-122"/>
                <a:ea typeface="华文细黑" panose="02010600040101010101" pitchFamily="2" charset="-122"/>
              </a:defRPr>
            </a:lvl5pPr>
            <a:lvl6pPr marL="25146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6pPr>
            <a:lvl7pPr marL="29718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7pPr>
            <a:lvl8pPr marL="34290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8pPr>
            <a:lvl9pPr marL="38862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9pPr>
          </a:lstStyle>
          <a:p>
            <a:pPr algn="r"/>
            <a:r>
              <a:rPr lang="en-US" altLang="zh-CN" sz="3600" b="1" dirty="0" smtClean="0">
                <a:solidFill>
                  <a:schemeClr val="tx1">
                    <a:lumMod val="75000"/>
                    <a:lumOff val="25000"/>
                  </a:schemeClr>
                </a:solidFill>
                <a:latin typeface="+mn-ea"/>
              </a:rPr>
              <a:t>Background</a:t>
            </a:r>
            <a:endParaRPr lang="en-US" altLang="zh-CN" sz="3600" b="1" dirty="0">
              <a:solidFill>
                <a:schemeClr val="tx1">
                  <a:lumMod val="75000"/>
                  <a:lumOff val="25000"/>
                </a:schemeClr>
              </a:solidFill>
              <a:latin typeface="+mn-ea"/>
            </a:endParaRPr>
          </a:p>
        </p:txBody>
      </p:sp>
    </p:spTree>
    <p:extLst>
      <p:ext uri="{BB962C8B-B14F-4D97-AF65-F5344CB8AC3E}">
        <p14:creationId xmlns:p14="http://schemas.microsoft.com/office/powerpoint/2010/main" val="197732432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 name="稻壳儿搜索【幻雨工作室】__1">
            <a:extLst>
              <a:ext uri="{FF2B5EF4-FFF2-40B4-BE49-F238E27FC236}">
                <a16:creationId xmlns:a16="http://schemas.microsoft.com/office/drawing/2014/main" id="{D9FE0944-3B00-40DF-AA91-60AEB7C9E722}"/>
              </a:ext>
            </a:extLst>
          </p:cNvPr>
          <p:cNvSpPr>
            <a:spLocks noChangeArrowheads="1"/>
          </p:cNvSpPr>
          <p:nvPr/>
        </p:nvSpPr>
        <p:spPr bwMode="auto">
          <a:xfrm>
            <a:off x="382815" y="334907"/>
            <a:ext cx="841148" cy="838935"/>
          </a:xfrm>
          <a:prstGeom prst="ellipse">
            <a:avLst/>
          </a:prstGeom>
          <a:solidFill>
            <a:schemeClr val="accent1"/>
          </a:solidFill>
          <a:ln w="76200">
            <a:noFill/>
          </a:ln>
        </p:spPr>
        <p:txBody>
          <a:bodyPr/>
          <a:lstStyle>
            <a:defPPr>
              <a:defRPr lang="zh-CN"/>
            </a:defPPr>
            <a:lvl1pPr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ctr">
              <a:lnSpc>
                <a:spcPct val="120000"/>
              </a:lnSpc>
            </a:pPr>
            <a:r>
              <a:rPr lang="en-US" altLang="zh-CN" sz="2800" b="1">
                <a:solidFill>
                  <a:schemeClr val="bg1"/>
                </a:solidFill>
                <a:ea typeface="微软雅黑" panose="020B0503020204020204" pitchFamily="34" charset="-122"/>
                <a:cs typeface="Arial" panose="020B0604020202020204" pitchFamily="34" charset="0"/>
              </a:rPr>
              <a:t>01</a:t>
            </a:r>
            <a:endParaRPr lang="zh-CN" altLang="en-US" sz="2800" b="1" dirty="0">
              <a:solidFill>
                <a:schemeClr val="bg1"/>
              </a:solidFill>
              <a:ea typeface="微软雅黑" panose="020B0503020204020204" pitchFamily="34" charset="-122"/>
              <a:cs typeface="Arial" panose="020B0604020202020204" pitchFamily="34" charset="0"/>
            </a:endParaRPr>
          </a:p>
        </p:txBody>
      </p:sp>
      <p:sp>
        <p:nvSpPr>
          <p:cNvPr id="69" name="稻壳儿搜索【幻雨工作室】__2">
            <a:extLst>
              <a:ext uri="{FF2B5EF4-FFF2-40B4-BE49-F238E27FC236}">
                <a16:creationId xmlns:a16="http://schemas.microsoft.com/office/drawing/2014/main" id="{086D702B-2401-44B9-B91D-B73182798FF2}"/>
              </a:ext>
            </a:extLst>
          </p:cNvPr>
          <p:cNvSpPr/>
          <p:nvPr/>
        </p:nvSpPr>
        <p:spPr>
          <a:xfrm>
            <a:off x="209550" y="171450"/>
            <a:ext cx="11772900" cy="6515100"/>
          </a:xfrm>
          <a:prstGeom prst="roundRect">
            <a:avLst>
              <a:gd name="adj" fmla="val 2827"/>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文本框 69">
            <a:extLst>
              <a:ext uri="{FF2B5EF4-FFF2-40B4-BE49-F238E27FC236}">
                <a16:creationId xmlns:a16="http://schemas.microsoft.com/office/drawing/2014/main" id="{E08B0BB9-7B3C-47D8-B9CE-1D1674EF963C}"/>
              </a:ext>
            </a:extLst>
          </p:cNvPr>
          <p:cNvSpPr txBox="1"/>
          <p:nvPr/>
        </p:nvSpPr>
        <p:spPr>
          <a:xfrm>
            <a:off x="1711126" y="2550274"/>
            <a:ext cx="7265449" cy="425758"/>
          </a:xfrm>
          <a:prstGeom prst="rect">
            <a:avLst/>
          </a:prstGeom>
          <a:noFill/>
        </p:spPr>
        <p:txBody>
          <a:bodyPr wrap="square" rtlCol="0">
            <a:spAutoFit/>
          </a:bodyPr>
          <a:lstStyle/>
          <a:p>
            <a:pPr>
              <a:lnSpc>
                <a:spcPts val="2574"/>
              </a:lnSpc>
              <a:spcAft>
                <a:spcPts val="600"/>
              </a:spcAft>
            </a:pPr>
            <a:r>
              <a:rPr lang="en-US" altLang="zh-CN" dirty="0">
                <a:latin typeface="+mn-ea"/>
                <a:cs typeface="Times New Roman" panose="02020603050405020304" pitchFamily="18" charset="0"/>
              </a:rPr>
              <a:t>Most existing schedulers expect users to specify the number </a:t>
            </a:r>
            <a:r>
              <a:rPr lang="en-US" altLang="zh-CN" dirty="0" smtClean="0">
                <a:latin typeface="+mn-ea"/>
                <a:cs typeface="Times New Roman" panose="02020603050405020304" pitchFamily="18" charset="0"/>
              </a:rPr>
              <a:t>of</a:t>
            </a:r>
            <a:endParaRPr lang="en-US" altLang="zh-CN" dirty="0">
              <a:latin typeface="+mn-ea"/>
              <a:cs typeface="Times New Roman" panose="02020603050405020304" pitchFamily="18" charset="0"/>
            </a:endParaRPr>
          </a:p>
        </p:txBody>
      </p:sp>
      <p:sp>
        <p:nvSpPr>
          <p:cNvPr id="6" name="稻壳儿搜索【幻雨工作室】__2">
            <a:extLst>
              <a:ext uri="{FF2B5EF4-FFF2-40B4-BE49-F238E27FC236}">
                <a16:creationId xmlns:a16="http://schemas.microsoft.com/office/drawing/2014/main" id="{579731AE-6C87-46B5-BAC3-570262B42B03}"/>
              </a:ext>
            </a:extLst>
          </p:cNvPr>
          <p:cNvSpPr txBox="1">
            <a:spLocks noChangeArrowheads="1"/>
          </p:cNvSpPr>
          <p:nvPr/>
        </p:nvSpPr>
        <p:spPr bwMode="auto">
          <a:xfrm>
            <a:off x="1250428" y="408204"/>
            <a:ext cx="2909448" cy="646331"/>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lvl1pPr>
              <a:defRPr sz="1300">
                <a:solidFill>
                  <a:schemeClr val="tx1"/>
                </a:solidFill>
                <a:latin typeface="华文细黑" panose="02010600040101010101" pitchFamily="2" charset="-122"/>
                <a:ea typeface="华文细黑" panose="02010600040101010101" pitchFamily="2" charset="-122"/>
              </a:defRPr>
            </a:lvl1pPr>
            <a:lvl2pPr marL="742950" indent="-285750">
              <a:defRPr sz="1300">
                <a:solidFill>
                  <a:schemeClr val="tx1"/>
                </a:solidFill>
                <a:latin typeface="华文细黑" panose="02010600040101010101" pitchFamily="2" charset="-122"/>
                <a:ea typeface="华文细黑" panose="02010600040101010101" pitchFamily="2" charset="-122"/>
              </a:defRPr>
            </a:lvl2pPr>
            <a:lvl3pPr marL="1143000" indent="-228600">
              <a:defRPr sz="1300">
                <a:solidFill>
                  <a:schemeClr val="tx1"/>
                </a:solidFill>
                <a:latin typeface="华文细黑" panose="02010600040101010101" pitchFamily="2" charset="-122"/>
                <a:ea typeface="华文细黑" panose="02010600040101010101" pitchFamily="2" charset="-122"/>
              </a:defRPr>
            </a:lvl3pPr>
            <a:lvl4pPr marL="1600200" indent="-228600">
              <a:defRPr sz="1300">
                <a:solidFill>
                  <a:schemeClr val="tx1"/>
                </a:solidFill>
                <a:latin typeface="华文细黑" panose="02010600040101010101" pitchFamily="2" charset="-122"/>
                <a:ea typeface="华文细黑" panose="02010600040101010101" pitchFamily="2" charset="-122"/>
              </a:defRPr>
            </a:lvl4pPr>
            <a:lvl5pPr marL="2057400" indent="-228600">
              <a:defRPr sz="1300">
                <a:solidFill>
                  <a:schemeClr val="tx1"/>
                </a:solidFill>
                <a:latin typeface="华文细黑" panose="02010600040101010101" pitchFamily="2" charset="-122"/>
                <a:ea typeface="华文细黑" panose="02010600040101010101" pitchFamily="2" charset="-122"/>
              </a:defRPr>
            </a:lvl5pPr>
            <a:lvl6pPr marL="25146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6pPr>
            <a:lvl7pPr marL="29718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7pPr>
            <a:lvl8pPr marL="34290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8pPr>
            <a:lvl9pPr marL="38862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9pPr>
          </a:lstStyle>
          <a:p>
            <a:pPr algn="r"/>
            <a:r>
              <a:rPr lang="en-US" altLang="zh-CN" sz="3600" b="1" dirty="0" smtClean="0">
                <a:solidFill>
                  <a:schemeClr val="tx1">
                    <a:lumMod val="75000"/>
                    <a:lumOff val="25000"/>
                  </a:schemeClr>
                </a:solidFill>
                <a:latin typeface="+mn-ea"/>
              </a:rPr>
              <a:t>Background</a:t>
            </a:r>
            <a:endParaRPr lang="en-US" altLang="zh-CN" sz="3600" b="1" dirty="0">
              <a:solidFill>
                <a:schemeClr val="tx1">
                  <a:lumMod val="75000"/>
                  <a:lumOff val="25000"/>
                </a:schemeClr>
              </a:solidFill>
              <a:latin typeface="+mn-ea"/>
            </a:endParaRPr>
          </a:p>
        </p:txBody>
      </p:sp>
    </p:spTree>
    <p:extLst>
      <p:ext uri="{BB962C8B-B14F-4D97-AF65-F5344CB8AC3E}">
        <p14:creationId xmlns:p14="http://schemas.microsoft.com/office/powerpoint/2010/main" val="248369862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ABF39EAE-0917-4057-A33E-A08D04843F00}"/>
              </a:ext>
            </a:extLst>
          </p:cNvPr>
          <p:cNvSpPr/>
          <p:nvPr/>
        </p:nvSpPr>
        <p:spPr>
          <a:xfrm>
            <a:off x="281353" y="1558362"/>
            <a:ext cx="6440994" cy="3374504"/>
          </a:xfrm>
          <a:prstGeom prst="roundRect">
            <a:avLst/>
          </a:prstGeom>
          <a:gradFill flip="none" rotWithShape="1">
            <a:gsLst>
              <a:gs pos="0">
                <a:schemeClr val="accent1">
                  <a:lumMod val="20000"/>
                  <a:lumOff val="80000"/>
                </a:schemeClr>
              </a:gs>
              <a:gs pos="30000">
                <a:schemeClr val="accent1">
                  <a:lumMod val="0"/>
                  <a:lumOff val="100000"/>
                </a:schemeClr>
              </a:gs>
              <a:gs pos="70000">
                <a:schemeClr val="accent1">
                  <a:lumMod val="0"/>
                  <a:lumOff val="100000"/>
                </a:schemeClr>
              </a:gs>
              <a:gs pos="95000">
                <a:schemeClr val="accent1">
                  <a:lumMod val="20000"/>
                  <a:lumOff val="80000"/>
                </a:schemeClr>
              </a:gs>
            </a:gsLst>
            <a:lin ang="13500000" scaled="1"/>
            <a:tileRect/>
          </a:gradFill>
        </p:spPr>
        <p:style>
          <a:lnRef idx="1">
            <a:schemeClr val="accent3"/>
          </a:lnRef>
          <a:fillRef idx="3">
            <a:schemeClr val="accent3"/>
          </a:fillRef>
          <a:effectRef idx="2">
            <a:schemeClr val="accent3"/>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FA211DE9-AC3B-43C3-81DC-3A23B9EFA387}"/>
              </a:ext>
            </a:extLst>
          </p:cNvPr>
          <p:cNvSpPr/>
          <p:nvPr/>
        </p:nvSpPr>
        <p:spPr>
          <a:xfrm>
            <a:off x="1107616" y="1994219"/>
            <a:ext cx="5062071" cy="940465"/>
          </a:xfrm>
          <a:prstGeom prst="roundRect">
            <a:avLst/>
          </a:prstGeom>
          <a:solidFill>
            <a:srgbClr val="5B9BD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cxnSp>
        <p:nvCxnSpPr>
          <p:cNvPr id="8" name="直接连接符 7">
            <a:extLst>
              <a:ext uri="{FF2B5EF4-FFF2-40B4-BE49-F238E27FC236}">
                <a16:creationId xmlns:a16="http://schemas.microsoft.com/office/drawing/2014/main" id="{F0619DDD-4442-4675-9508-22C1F67475CC}"/>
              </a:ext>
            </a:extLst>
          </p:cNvPr>
          <p:cNvCxnSpPr>
            <a:cxnSpLocks/>
            <a:stCxn id="6" idx="1"/>
          </p:cNvCxnSpPr>
          <p:nvPr/>
        </p:nvCxnSpPr>
        <p:spPr>
          <a:xfrm flipH="1">
            <a:off x="934352" y="2464452"/>
            <a:ext cx="173264"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9" name="直接连接符 8">
            <a:extLst>
              <a:ext uri="{FF2B5EF4-FFF2-40B4-BE49-F238E27FC236}">
                <a16:creationId xmlns:a16="http://schemas.microsoft.com/office/drawing/2014/main" id="{15DB3B85-03F8-41CA-943D-519EB27B9DB4}"/>
              </a:ext>
            </a:extLst>
          </p:cNvPr>
          <p:cNvCxnSpPr>
            <a:cxnSpLocks/>
          </p:cNvCxnSpPr>
          <p:nvPr/>
        </p:nvCxnSpPr>
        <p:spPr>
          <a:xfrm>
            <a:off x="934351" y="2464451"/>
            <a:ext cx="0" cy="633688"/>
          </a:xfrm>
          <a:prstGeom prst="line">
            <a:avLst/>
          </a:prstGeom>
        </p:spPr>
        <p:style>
          <a:lnRef idx="1">
            <a:schemeClr val="accent1"/>
          </a:lnRef>
          <a:fillRef idx="0">
            <a:schemeClr val="accent1"/>
          </a:fillRef>
          <a:effectRef idx="0">
            <a:schemeClr val="accent1"/>
          </a:effectRef>
          <a:fontRef idx="minor">
            <a:schemeClr val="tx1"/>
          </a:fontRef>
        </p:style>
      </p:cxnSp>
      <p:cxnSp>
        <p:nvCxnSpPr>
          <p:cNvPr id="10" name="直接连接符 9">
            <a:extLst>
              <a:ext uri="{FF2B5EF4-FFF2-40B4-BE49-F238E27FC236}">
                <a16:creationId xmlns:a16="http://schemas.microsoft.com/office/drawing/2014/main" id="{7A56E3B2-DF24-47CF-B790-82E845016DAF}"/>
              </a:ext>
            </a:extLst>
          </p:cNvPr>
          <p:cNvCxnSpPr>
            <a:cxnSpLocks/>
          </p:cNvCxnSpPr>
          <p:nvPr/>
        </p:nvCxnSpPr>
        <p:spPr>
          <a:xfrm>
            <a:off x="934351" y="3098139"/>
            <a:ext cx="874690" cy="0"/>
          </a:xfrm>
          <a:prstGeom prst="line">
            <a:avLst/>
          </a:prstGeom>
        </p:spPr>
        <p:style>
          <a:lnRef idx="1">
            <a:schemeClr val="accent1"/>
          </a:lnRef>
          <a:fillRef idx="0">
            <a:schemeClr val="accent1"/>
          </a:fillRef>
          <a:effectRef idx="0">
            <a:schemeClr val="accent1"/>
          </a:effectRef>
          <a:fontRef idx="minor">
            <a:schemeClr val="tx1"/>
          </a:fontRef>
        </p:style>
      </p:cxnSp>
      <p:cxnSp>
        <p:nvCxnSpPr>
          <p:cNvPr id="11" name="直接箭头连接符 10">
            <a:extLst>
              <a:ext uri="{FF2B5EF4-FFF2-40B4-BE49-F238E27FC236}">
                <a16:creationId xmlns:a16="http://schemas.microsoft.com/office/drawing/2014/main" id="{573D62CF-9A39-4EB6-82E6-3F408974AEFA}"/>
              </a:ext>
            </a:extLst>
          </p:cNvPr>
          <p:cNvCxnSpPr>
            <a:cxnSpLocks/>
          </p:cNvCxnSpPr>
          <p:nvPr/>
        </p:nvCxnSpPr>
        <p:spPr>
          <a:xfrm flipH="1">
            <a:off x="1798654" y="3098139"/>
            <a:ext cx="10387" cy="73008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EB9785D7-FEF6-4A3C-B830-0535D31DCC76}"/>
              </a:ext>
            </a:extLst>
          </p:cNvPr>
          <p:cNvSpPr txBox="1"/>
          <p:nvPr/>
        </p:nvSpPr>
        <p:spPr>
          <a:xfrm>
            <a:off x="2989384" y="1589468"/>
            <a:ext cx="1024932" cy="646331"/>
          </a:xfrm>
          <a:prstGeom prst="rect">
            <a:avLst/>
          </a:prstGeom>
          <a:noFill/>
        </p:spPr>
        <p:txBody>
          <a:bodyPr wrap="square" rtlCol="0">
            <a:spAutoFit/>
          </a:bodyPr>
          <a:lstStyle/>
          <a:p>
            <a:pPr algn="ctr"/>
            <a:r>
              <a:rPr lang="en-US" altLang="zh-CN" dirty="0"/>
              <a:t>scheduler</a:t>
            </a:r>
            <a:endParaRPr lang="zh-CN" altLang="en-US" dirty="0"/>
          </a:p>
        </p:txBody>
      </p:sp>
      <p:sp>
        <p:nvSpPr>
          <p:cNvPr id="13" name="矩形: 圆角 12">
            <a:extLst>
              <a:ext uri="{FF2B5EF4-FFF2-40B4-BE49-F238E27FC236}">
                <a16:creationId xmlns:a16="http://schemas.microsoft.com/office/drawing/2014/main" id="{7DACE87C-4203-4DA4-8846-12FF07C28BA2}"/>
              </a:ext>
            </a:extLst>
          </p:cNvPr>
          <p:cNvSpPr/>
          <p:nvPr/>
        </p:nvSpPr>
        <p:spPr>
          <a:xfrm>
            <a:off x="1128426" y="3828222"/>
            <a:ext cx="1340455" cy="902007"/>
          </a:xfrm>
          <a:prstGeom prst="roundRect">
            <a:avLst/>
          </a:prstGeom>
          <a:solidFill>
            <a:srgbClr val="5B9BD5"/>
          </a:solidFill>
        </p:spPr>
        <p:style>
          <a:lnRef idx="1">
            <a:schemeClr val="accent3"/>
          </a:lnRef>
          <a:fillRef idx="3">
            <a:schemeClr val="accent3"/>
          </a:fillRef>
          <a:effectRef idx="2">
            <a:schemeClr val="accent3"/>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283B060-5EB6-4AC2-980D-037F10611AAC}"/>
              </a:ext>
            </a:extLst>
          </p:cNvPr>
          <p:cNvSpPr/>
          <p:nvPr/>
        </p:nvSpPr>
        <p:spPr>
          <a:xfrm>
            <a:off x="3406391" y="3828222"/>
            <a:ext cx="2291024" cy="902007"/>
          </a:xfrm>
          <a:prstGeom prst="roundRect">
            <a:avLst/>
          </a:prstGeom>
          <a:solidFill>
            <a:srgbClr val="5B9BD5"/>
          </a:solidFill>
        </p:spPr>
        <p:style>
          <a:lnRef idx="1">
            <a:schemeClr val="accent3"/>
          </a:lnRef>
          <a:fillRef idx="3">
            <a:schemeClr val="accent3"/>
          </a:fillRef>
          <a:effectRef idx="2">
            <a:schemeClr val="accent3"/>
          </a:effectRef>
          <a:fontRef idx="minor">
            <a:schemeClr val="lt1"/>
          </a:fontRef>
        </p:style>
        <p:txBody>
          <a:bodyPr rtlCol="0" anchor="ctr"/>
          <a:lstStyle/>
          <a:p>
            <a:pPr algn="ctr"/>
            <a:endParaRPr lang="zh-CN" altLang="en-US"/>
          </a:p>
        </p:txBody>
      </p:sp>
      <p:sp>
        <p:nvSpPr>
          <p:cNvPr id="16" name="矩形 15">
            <a:extLst>
              <a:ext uri="{FF2B5EF4-FFF2-40B4-BE49-F238E27FC236}">
                <a16:creationId xmlns:a16="http://schemas.microsoft.com/office/drawing/2014/main" id="{D4179B1D-D4BB-4D29-9264-4109B2A056CB}"/>
              </a:ext>
            </a:extLst>
          </p:cNvPr>
          <p:cNvSpPr/>
          <p:nvPr/>
        </p:nvSpPr>
        <p:spPr>
          <a:xfrm>
            <a:off x="1886078" y="4311079"/>
            <a:ext cx="542611" cy="33159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a:t>agent</a:t>
            </a:r>
            <a:endParaRPr lang="zh-CN" altLang="en-US" dirty="0"/>
          </a:p>
        </p:txBody>
      </p:sp>
      <p:sp>
        <p:nvSpPr>
          <p:cNvPr id="17" name="矩形 16">
            <a:extLst>
              <a:ext uri="{FF2B5EF4-FFF2-40B4-BE49-F238E27FC236}">
                <a16:creationId xmlns:a16="http://schemas.microsoft.com/office/drawing/2014/main" id="{01E33A37-3003-491C-A895-F573855A446B}"/>
              </a:ext>
            </a:extLst>
          </p:cNvPr>
          <p:cNvSpPr/>
          <p:nvPr/>
        </p:nvSpPr>
        <p:spPr>
          <a:xfrm>
            <a:off x="3469561" y="4303439"/>
            <a:ext cx="542611" cy="33159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8" name="矩形 17">
            <a:extLst>
              <a:ext uri="{FF2B5EF4-FFF2-40B4-BE49-F238E27FC236}">
                <a16:creationId xmlns:a16="http://schemas.microsoft.com/office/drawing/2014/main" id="{E630A11F-15DE-4928-8C5C-E323978E0581}"/>
              </a:ext>
            </a:extLst>
          </p:cNvPr>
          <p:cNvSpPr/>
          <p:nvPr/>
        </p:nvSpPr>
        <p:spPr>
          <a:xfrm>
            <a:off x="4238577" y="4298513"/>
            <a:ext cx="542611" cy="33159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smtClean="0"/>
              <a:t>r</a:t>
            </a:r>
            <a:endParaRPr lang="zh-CN" altLang="en-US" dirty="0"/>
          </a:p>
        </p:txBody>
      </p:sp>
      <p:sp>
        <p:nvSpPr>
          <p:cNvPr id="19" name="矩形 18">
            <a:extLst>
              <a:ext uri="{FF2B5EF4-FFF2-40B4-BE49-F238E27FC236}">
                <a16:creationId xmlns:a16="http://schemas.microsoft.com/office/drawing/2014/main" id="{A0F29C2D-FBCB-4E68-9E93-FC27FFBA9A52}"/>
              </a:ext>
            </a:extLst>
          </p:cNvPr>
          <p:cNvSpPr/>
          <p:nvPr/>
        </p:nvSpPr>
        <p:spPr>
          <a:xfrm>
            <a:off x="5000425" y="4311079"/>
            <a:ext cx="542611" cy="33159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smtClean="0"/>
              <a:t>A</a:t>
            </a:r>
            <a:endParaRPr lang="zh-CN" altLang="en-US" dirty="0"/>
          </a:p>
        </p:txBody>
      </p:sp>
      <p:cxnSp>
        <p:nvCxnSpPr>
          <p:cNvPr id="20" name="直接箭头连接符 19">
            <a:extLst>
              <a:ext uri="{FF2B5EF4-FFF2-40B4-BE49-F238E27FC236}">
                <a16:creationId xmlns:a16="http://schemas.microsoft.com/office/drawing/2014/main" id="{1FCBF001-8277-41F3-B3A4-5A9EC935CF6C}"/>
              </a:ext>
            </a:extLst>
          </p:cNvPr>
          <p:cNvCxnSpPr>
            <a:cxnSpLocks/>
            <a:stCxn id="13" idx="3"/>
            <a:endCxn id="14" idx="1"/>
          </p:cNvCxnSpPr>
          <p:nvPr/>
        </p:nvCxnSpPr>
        <p:spPr>
          <a:xfrm>
            <a:off x="2468881" y="4279226"/>
            <a:ext cx="93751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矩形: 圆角 25">
            <a:extLst>
              <a:ext uri="{FF2B5EF4-FFF2-40B4-BE49-F238E27FC236}">
                <a16:creationId xmlns:a16="http://schemas.microsoft.com/office/drawing/2014/main" id="{D32A8386-EF6F-4432-A564-0150065CA680}"/>
              </a:ext>
            </a:extLst>
          </p:cNvPr>
          <p:cNvSpPr/>
          <p:nvPr/>
        </p:nvSpPr>
        <p:spPr>
          <a:xfrm>
            <a:off x="3606486" y="5490235"/>
            <a:ext cx="1873173" cy="1157621"/>
          </a:xfrm>
          <a:prstGeom prst="roundRect">
            <a:avLst/>
          </a:prstGeom>
          <a:gradFill flip="none" rotWithShape="1">
            <a:gsLst>
              <a:gs pos="0">
                <a:schemeClr val="accent1">
                  <a:lumMod val="20000"/>
                  <a:lumOff val="80000"/>
                </a:schemeClr>
              </a:gs>
              <a:gs pos="30000">
                <a:schemeClr val="accent1">
                  <a:lumMod val="0"/>
                  <a:lumOff val="100000"/>
                </a:schemeClr>
              </a:gs>
              <a:gs pos="70000">
                <a:schemeClr val="accent1">
                  <a:lumMod val="0"/>
                  <a:lumOff val="100000"/>
                </a:schemeClr>
              </a:gs>
              <a:gs pos="95000">
                <a:schemeClr val="accent1">
                  <a:lumMod val="20000"/>
                  <a:lumOff val="80000"/>
                </a:schemeClr>
              </a:gs>
            </a:gsLst>
            <a:lin ang="13500000" scaled="1"/>
            <a:tileRect/>
          </a:gradFill>
        </p:spPr>
        <p:style>
          <a:lnRef idx="1">
            <a:schemeClr val="accent3"/>
          </a:lnRef>
          <a:fillRef idx="3">
            <a:schemeClr val="accent3"/>
          </a:fillRef>
          <a:effectRef idx="2">
            <a:schemeClr val="accent3"/>
          </a:effectRef>
          <a:fontRef idx="minor">
            <a:schemeClr val="lt1"/>
          </a:fontRef>
        </p:style>
        <p:txBody>
          <a:bodyPr rtlCol="0" anchor="ctr"/>
          <a:lstStyle/>
          <a:p>
            <a:pPr algn="ctr"/>
            <a:endParaRPr lang="zh-CN" altLang="en-US"/>
          </a:p>
        </p:txBody>
      </p:sp>
      <p:sp>
        <p:nvSpPr>
          <p:cNvPr id="27" name="文本框 26">
            <a:extLst>
              <a:ext uri="{FF2B5EF4-FFF2-40B4-BE49-F238E27FC236}">
                <a16:creationId xmlns:a16="http://schemas.microsoft.com/office/drawing/2014/main" id="{1122ED58-4D1C-476D-BE2F-B02062B4BFD7}"/>
              </a:ext>
            </a:extLst>
          </p:cNvPr>
          <p:cNvSpPr txBox="1"/>
          <p:nvPr/>
        </p:nvSpPr>
        <p:spPr>
          <a:xfrm>
            <a:off x="4038941" y="5490235"/>
            <a:ext cx="1024932" cy="369332"/>
          </a:xfrm>
          <a:prstGeom prst="rect">
            <a:avLst/>
          </a:prstGeom>
          <a:noFill/>
        </p:spPr>
        <p:txBody>
          <a:bodyPr wrap="square" rtlCol="0">
            <a:spAutoFit/>
          </a:bodyPr>
          <a:lstStyle/>
          <a:p>
            <a:pPr algn="ctr"/>
            <a:r>
              <a:rPr lang="en-US" altLang="zh-CN" dirty="0" smtClean="0"/>
              <a:t>GPU</a:t>
            </a:r>
            <a:endParaRPr lang="zh-CN" altLang="en-US" dirty="0"/>
          </a:p>
        </p:txBody>
      </p:sp>
      <p:sp>
        <p:nvSpPr>
          <p:cNvPr id="32" name="矩形: 圆角 31">
            <a:extLst>
              <a:ext uri="{FF2B5EF4-FFF2-40B4-BE49-F238E27FC236}">
                <a16:creationId xmlns:a16="http://schemas.microsoft.com/office/drawing/2014/main" id="{27FF2FA7-13DD-432F-BE4A-D6E08059E7AA}"/>
              </a:ext>
            </a:extLst>
          </p:cNvPr>
          <p:cNvSpPr/>
          <p:nvPr/>
        </p:nvSpPr>
        <p:spPr>
          <a:xfrm>
            <a:off x="4086230" y="5906525"/>
            <a:ext cx="986708" cy="663967"/>
          </a:xfrm>
          <a:prstGeom prst="roundRect">
            <a:avLst/>
          </a:prstGeom>
          <a:solidFill>
            <a:srgbClr val="5B9BD5"/>
          </a:solidFill>
        </p:spPr>
        <p:style>
          <a:lnRef idx="1">
            <a:schemeClr val="accent3"/>
          </a:lnRef>
          <a:fillRef idx="3">
            <a:schemeClr val="accent3"/>
          </a:fillRef>
          <a:effectRef idx="2">
            <a:schemeClr val="accent3"/>
          </a:effectRef>
          <a:fontRef idx="minor">
            <a:schemeClr val="lt1"/>
          </a:fontRef>
        </p:style>
        <p:txBody>
          <a:bodyPr rtlCol="0" anchor="ctr"/>
          <a:lstStyle/>
          <a:p>
            <a:pPr algn="ctr"/>
            <a:endParaRPr lang="zh-CN" altLang="en-US"/>
          </a:p>
        </p:txBody>
      </p:sp>
      <p:sp>
        <p:nvSpPr>
          <p:cNvPr id="33" name="文本框 32">
            <a:extLst>
              <a:ext uri="{FF2B5EF4-FFF2-40B4-BE49-F238E27FC236}">
                <a16:creationId xmlns:a16="http://schemas.microsoft.com/office/drawing/2014/main" id="{A8AC1091-E56B-4D18-8D4B-7011DD7B2A1F}"/>
              </a:ext>
            </a:extLst>
          </p:cNvPr>
          <p:cNvSpPr txBox="1"/>
          <p:nvPr/>
        </p:nvSpPr>
        <p:spPr>
          <a:xfrm>
            <a:off x="4223464" y="5924715"/>
            <a:ext cx="840409" cy="320409"/>
          </a:xfrm>
          <a:prstGeom prst="rect">
            <a:avLst/>
          </a:prstGeom>
          <a:noFill/>
        </p:spPr>
        <p:txBody>
          <a:bodyPr wrap="square" rtlCol="0">
            <a:spAutoFit/>
          </a:bodyPr>
          <a:lstStyle/>
          <a:p>
            <a:pPr>
              <a:lnSpc>
                <a:spcPct val="150000"/>
              </a:lnSpc>
            </a:pPr>
            <a:r>
              <a:rPr lang="en-US" altLang="zh-CN" sz="1100" dirty="0" smtClean="0">
                <a:solidFill>
                  <a:schemeClr val="bg1"/>
                </a:solidFill>
              </a:rPr>
              <a:t>device</a:t>
            </a:r>
            <a:endParaRPr lang="zh-CN" altLang="en-US" sz="1100" dirty="0">
              <a:solidFill>
                <a:schemeClr val="bg1"/>
              </a:solidFill>
            </a:endParaRPr>
          </a:p>
        </p:txBody>
      </p:sp>
      <p:sp>
        <p:nvSpPr>
          <p:cNvPr id="46" name="矩形 45">
            <a:extLst>
              <a:ext uri="{FF2B5EF4-FFF2-40B4-BE49-F238E27FC236}">
                <a16:creationId xmlns:a16="http://schemas.microsoft.com/office/drawing/2014/main" id="{669C8F8C-31D7-4B58-BEAC-0C3A38512897}"/>
              </a:ext>
            </a:extLst>
          </p:cNvPr>
          <p:cNvSpPr/>
          <p:nvPr/>
        </p:nvSpPr>
        <p:spPr>
          <a:xfrm>
            <a:off x="1322409" y="5124027"/>
            <a:ext cx="542611" cy="33159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smtClean="0"/>
              <a:t>r</a:t>
            </a:r>
            <a:endParaRPr lang="zh-CN" altLang="en-US" dirty="0"/>
          </a:p>
        </p:txBody>
      </p:sp>
      <p:sp>
        <p:nvSpPr>
          <p:cNvPr id="47" name="矩形 46">
            <a:extLst>
              <a:ext uri="{FF2B5EF4-FFF2-40B4-BE49-F238E27FC236}">
                <a16:creationId xmlns:a16="http://schemas.microsoft.com/office/drawing/2014/main" id="{FC2597BD-3CF9-4DA7-8D95-FB6A8A28E4E3}"/>
              </a:ext>
            </a:extLst>
          </p:cNvPr>
          <p:cNvSpPr/>
          <p:nvPr/>
        </p:nvSpPr>
        <p:spPr>
          <a:xfrm>
            <a:off x="1331405" y="5849932"/>
            <a:ext cx="542611" cy="331596"/>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CN" sz="1200" dirty="0" err="1" smtClean="0"/>
              <a:t>er</a:t>
            </a:r>
            <a:endParaRPr lang="zh-CN" altLang="en-US" dirty="0"/>
          </a:p>
        </p:txBody>
      </p:sp>
      <p:cxnSp>
        <p:nvCxnSpPr>
          <p:cNvPr id="52" name="直接连接符 51">
            <a:extLst>
              <a:ext uri="{FF2B5EF4-FFF2-40B4-BE49-F238E27FC236}">
                <a16:creationId xmlns:a16="http://schemas.microsoft.com/office/drawing/2014/main" id="{960E20A3-8E7F-4416-B17D-BAAB4083A86B}"/>
              </a:ext>
            </a:extLst>
          </p:cNvPr>
          <p:cNvCxnSpPr>
            <a:stCxn id="14" idx="2"/>
          </p:cNvCxnSpPr>
          <p:nvPr/>
        </p:nvCxnSpPr>
        <p:spPr>
          <a:xfrm flipH="1">
            <a:off x="4551407" y="4730229"/>
            <a:ext cx="496" cy="559596"/>
          </a:xfrm>
          <a:prstGeom prst="line">
            <a:avLst/>
          </a:prstGeom>
        </p:spPr>
        <p:style>
          <a:lnRef idx="1">
            <a:schemeClr val="accent1"/>
          </a:lnRef>
          <a:fillRef idx="0">
            <a:schemeClr val="accent1"/>
          </a:fillRef>
          <a:effectRef idx="0">
            <a:schemeClr val="accent1"/>
          </a:effectRef>
          <a:fontRef idx="minor">
            <a:schemeClr val="tx1"/>
          </a:fontRef>
        </p:style>
      </p:cxnSp>
      <p:cxnSp>
        <p:nvCxnSpPr>
          <p:cNvPr id="56" name="直接箭头连接符 55">
            <a:extLst>
              <a:ext uri="{FF2B5EF4-FFF2-40B4-BE49-F238E27FC236}">
                <a16:creationId xmlns:a16="http://schemas.microsoft.com/office/drawing/2014/main" id="{3846B0C5-1427-4545-8C7E-F7AEEDB5E204}"/>
              </a:ext>
            </a:extLst>
          </p:cNvPr>
          <p:cNvCxnSpPr>
            <a:endCxn id="46" idx="3"/>
          </p:cNvCxnSpPr>
          <p:nvPr/>
        </p:nvCxnSpPr>
        <p:spPr>
          <a:xfrm flipH="1">
            <a:off x="1865020" y="5289825"/>
            <a:ext cx="268638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8" name="直接箭头连接符 57">
            <a:extLst>
              <a:ext uri="{FF2B5EF4-FFF2-40B4-BE49-F238E27FC236}">
                <a16:creationId xmlns:a16="http://schemas.microsoft.com/office/drawing/2014/main" id="{D87A8F89-246C-4F6F-AF26-FAB5B1ECE04F}"/>
              </a:ext>
            </a:extLst>
          </p:cNvPr>
          <p:cNvCxnSpPr>
            <a:stCxn id="46" idx="2"/>
            <a:endCxn id="47" idx="0"/>
          </p:cNvCxnSpPr>
          <p:nvPr/>
        </p:nvCxnSpPr>
        <p:spPr>
          <a:xfrm>
            <a:off x="1593715" y="5455623"/>
            <a:ext cx="8996" cy="3943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60" name="直接箭头连接符 59">
            <a:extLst>
              <a:ext uri="{FF2B5EF4-FFF2-40B4-BE49-F238E27FC236}">
                <a16:creationId xmlns:a16="http://schemas.microsoft.com/office/drawing/2014/main" id="{BF1A6DDF-5755-4D91-9D8D-69A5486BF6FA}"/>
              </a:ext>
            </a:extLst>
          </p:cNvPr>
          <p:cNvCxnSpPr>
            <a:stCxn id="47" idx="3"/>
          </p:cNvCxnSpPr>
          <p:nvPr/>
        </p:nvCxnSpPr>
        <p:spPr>
          <a:xfrm>
            <a:off x="1874016" y="6015730"/>
            <a:ext cx="173247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2" name="文本框 61">
            <a:extLst>
              <a:ext uri="{FF2B5EF4-FFF2-40B4-BE49-F238E27FC236}">
                <a16:creationId xmlns:a16="http://schemas.microsoft.com/office/drawing/2014/main" id="{D2757AE5-470E-48E8-A578-88D038E328F6}"/>
              </a:ext>
            </a:extLst>
          </p:cNvPr>
          <p:cNvSpPr txBox="1"/>
          <p:nvPr/>
        </p:nvSpPr>
        <p:spPr>
          <a:xfrm>
            <a:off x="2967915" y="2100105"/>
            <a:ext cx="1341473" cy="369332"/>
          </a:xfrm>
          <a:prstGeom prst="rect">
            <a:avLst/>
          </a:prstGeom>
          <a:noFill/>
        </p:spPr>
        <p:txBody>
          <a:bodyPr wrap="square" rtlCol="0">
            <a:spAutoFit/>
          </a:bodyPr>
          <a:lstStyle/>
          <a:p>
            <a:pPr algn="ctr"/>
            <a:r>
              <a:rPr lang="en-US" altLang="zh-CN" dirty="0">
                <a:solidFill>
                  <a:schemeClr val="bg1"/>
                </a:solidFill>
              </a:rPr>
              <a:t>instruction</a:t>
            </a:r>
            <a:endParaRPr lang="zh-CN" altLang="en-US" dirty="0">
              <a:solidFill>
                <a:schemeClr val="bg1"/>
              </a:solidFill>
            </a:endParaRPr>
          </a:p>
        </p:txBody>
      </p:sp>
      <p:sp>
        <p:nvSpPr>
          <p:cNvPr id="64" name="箭头: 右 63">
            <a:extLst>
              <a:ext uri="{FF2B5EF4-FFF2-40B4-BE49-F238E27FC236}">
                <a16:creationId xmlns:a16="http://schemas.microsoft.com/office/drawing/2014/main" id="{2864B340-94A7-4FD7-98B9-15DFCAF97EB4}"/>
              </a:ext>
            </a:extLst>
          </p:cNvPr>
          <p:cNvSpPr/>
          <p:nvPr/>
        </p:nvSpPr>
        <p:spPr>
          <a:xfrm>
            <a:off x="6787113" y="3245614"/>
            <a:ext cx="1526660" cy="352086"/>
          </a:xfrm>
          <a:prstGeom prst="rightArrow">
            <a:avLst/>
          </a:prstGeom>
          <a:solidFill>
            <a:srgbClr val="5B9BD5"/>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7" name="稻壳儿搜索【幻雨工作室】__1">
            <a:extLst>
              <a:ext uri="{FF2B5EF4-FFF2-40B4-BE49-F238E27FC236}">
                <a16:creationId xmlns:a16="http://schemas.microsoft.com/office/drawing/2014/main" id="{D9FE0944-3B00-40DF-AA91-60AEB7C9E722}"/>
              </a:ext>
            </a:extLst>
          </p:cNvPr>
          <p:cNvSpPr>
            <a:spLocks noChangeArrowheads="1"/>
          </p:cNvSpPr>
          <p:nvPr/>
        </p:nvSpPr>
        <p:spPr bwMode="auto">
          <a:xfrm>
            <a:off x="382815" y="334907"/>
            <a:ext cx="841148" cy="838935"/>
          </a:xfrm>
          <a:prstGeom prst="ellipse">
            <a:avLst/>
          </a:prstGeom>
          <a:solidFill>
            <a:schemeClr val="accent1"/>
          </a:solidFill>
          <a:ln w="76200">
            <a:noFill/>
          </a:ln>
        </p:spPr>
        <p:txBody>
          <a:bodyPr/>
          <a:lstStyle>
            <a:defPPr>
              <a:defRPr lang="zh-CN"/>
            </a:defPPr>
            <a:lvl1pPr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ctr">
              <a:lnSpc>
                <a:spcPct val="120000"/>
              </a:lnSpc>
            </a:pPr>
            <a:r>
              <a:rPr lang="en-US" altLang="zh-CN" sz="2800" b="1">
                <a:solidFill>
                  <a:schemeClr val="bg1"/>
                </a:solidFill>
                <a:ea typeface="微软雅黑" panose="020B0503020204020204" pitchFamily="34" charset="-122"/>
                <a:cs typeface="Arial" panose="020B0604020202020204" pitchFamily="34" charset="0"/>
              </a:rPr>
              <a:t>01</a:t>
            </a:r>
            <a:endParaRPr lang="zh-CN" altLang="en-US" sz="2800" b="1" dirty="0">
              <a:solidFill>
                <a:schemeClr val="bg1"/>
              </a:solidFill>
              <a:ea typeface="微软雅黑" panose="020B0503020204020204" pitchFamily="34" charset="-122"/>
              <a:cs typeface="Arial" panose="020B0604020202020204" pitchFamily="34" charset="0"/>
            </a:endParaRPr>
          </a:p>
        </p:txBody>
      </p:sp>
      <p:sp>
        <p:nvSpPr>
          <p:cNvPr id="69" name="稻壳儿搜索【幻雨工作室】__2">
            <a:extLst>
              <a:ext uri="{FF2B5EF4-FFF2-40B4-BE49-F238E27FC236}">
                <a16:creationId xmlns:a16="http://schemas.microsoft.com/office/drawing/2014/main" id="{086D702B-2401-44B9-B91D-B73182798FF2}"/>
              </a:ext>
            </a:extLst>
          </p:cNvPr>
          <p:cNvSpPr/>
          <p:nvPr/>
        </p:nvSpPr>
        <p:spPr>
          <a:xfrm>
            <a:off x="209550" y="171450"/>
            <a:ext cx="11772900" cy="6515100"/>
          </a:xfrm>
          <a:prstGeom prst="roundRect">
            <a:avLst>
              <a:gd name="adj" fmla="val 2827"/>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稻壳儿搜索【幻雨工作室】__2">
            <a:extLst>
              <a:ext uri="{FF2B5EF4-FFF2-40B4-BE49-F238E27FC236}">
                <a16:creationId xmlns:a16="http://schemas.microsoft.com/office/drawing/2014/main" id="{579731AE-6C87-46B5-BAC3-570262B42B03}"/>
              </a:ext>
            </a:extLst>
          </p:cNvPr>
          <p:cNvSpPr txBox="1">
            <a:spLocks noChangeArrowheads="1"/>
          </p:cNvSpPr>
          <p:nvPr/>
        </p:nvSpPr>
        <p:spPr bwMode="auto">
          <a:xfrm>
            <a:off x="1250428" y="408204"/>
            <a:ext cx="2909448" cy="646331"/>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lvl1pPr>
              <a:defRPr sz="1300">
                <a:solidFill>
                  <a:schemeClr val="tx1"/>
                </a:solidFill>
                <a:latin typeface="华文细黑" panose="02010600040101010101" pitchFamily="2" charset="-122"/>
                <a:ea typeface="华文细黑" panose="02010600040101010101" pitchFamily="2" charset="-122"/>
              </a:defRPr>
            </a:lvl1pPr>
            <a:lvl2pPr marL="742950" indent="-285750">
              <a:defRPr sz="1300">
                <a:solidFill>
                  <a:schemeClr val="tx1"/>
                </a:solidFill>
                <a:latin typeface="华文细黑" panose="02010600040101010101" pitchFamily="2" charset="-122"/>
                <a:ea typeface="华文细黑" panose="02010600040101010101" pitchFamily="2" charset="-122"/>
              </a:defRPr>
            </a:lvl2pPr>
            <a:lvl3pPr marL="1143000" indent="-228600">
              <a:defRPr sz="1300">
                <a:solidFill>
                  <a:schemeClr val="tx1"/>
                </a:solidFill>
                <a:latin typeface="华文细黑" panose="02010600040101010101" pitchFamily="2" charset="-122"/>
                <a:ea typeface="华文细黑" panose="02010600040101010101" pitchFamily="2" charset="-122"/>
              </a:defRPr>
            </a:lvl3pPr>
            <a:lvl4pPr marL="1600200" indent="-228600">
              <a:defRPr sz="1300">
                <a:solidFill>
                  <a:schemeClr val="tx1"/>
                </a:solidFill>
                <a:latin typeface="华文细黑" panose="02010600040101010101" pitchFamily="2" charset="-122"/>
                <a:ea typeface="华文细黑" panose="02010600040101010101" pitchFamily="2" charset="-122"/>
              </a:defRPr>
            </a:lvl4pPr>
            <a:lvl5pPr marL="2057400" indent="-228600">
              <a:defRPr sz="1300">
                <a:solidFill>
                  <a:schemeClr val="tx1"/>
                </a:solidFill>
                <a:latin typeface="华文细黑" panose="02010600040101010101" pitchFamily="2" charset="-122"/>
                <a:ea typeface="华文细黑" panose="02010600040101010101" pitchFamily="2" charset="-122"/>
              </a:defRPr>
            </a:lvl5pPr>
            <a:lvl6pPr marL="25146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6pPr>
            <a:lvl7pPr marL="29718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7pPr>
            <a:lvl8pPr marL="34290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8pPr>
            <a:lvl9pPr marL="38862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9pPr>
          </a:lstStyle>
          <a:p>
            <a:pPr algn="r"/>
            <a:r>
              <a:rPr lang="en-US" altLang="zh-CN" sz="3600" b="1" dirty="0" smtClean="0">
                <a:solidFill>
                  <a:schemeClr val="tx1">
                    <a:lumMod val="75000"/>
                    <a:lumOff val="25000"/>
                  </a:schemeClr>
                </a:solidFill>
                <a:latin typeface="+mn-ea"/>
              </a:rPr>
              <a:t>Background</a:t>
            </a:r>
            <a:endParaRPr lang="en-US" altLang="zh-CN" sz="3600" b="1" dirty="0">
              <a:solidFill>
                <a:schemeClr val="tx1">
                  <a:lumMod val="75000"/>
                  <a:lumOff val="25000"/>
                </a:schemeClr>
              </a:solidFill>
              <a:latin typeface="+mn-ea"/>
            </a:endParaRPr>
          </a:p>
        </p:txBody>
      </p:sp>
    </p:spTree>
    <p:extLst>
      <p:ext uri="{BB962C8B-B14F-4D97-AF65-F5344CB8AC3E}">
        <p14:creationId xmlns:p14="http://schemas.microsoft.com/office/powerpoint/2010/main" val="33905021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稻壳儿搜索【幻雨工作室】__1">
            <a:extLst>
              <a:ext uri="{FF2B5EF4-FFF2-40B4-BE49-F238E27FC236}">
                <a16:creationId xmlns:a16="http://schemas.microsoft.com/office/drawing/2014/main" id="{8CE98E44-6239-4130-BF5E-E392F22F7BE1}"/>
              </a:ext>
            </a:extLst>
          </p:cNvPr>
          <p:cNvSpPr>
            <a:spLocks noChangeArrowheads="1"/>
          </p:cNvSpPr>
          <p:nvPr/>
        </p:nvSpPr>
        <p:spPr bwMode="auto">
          <a:xfrm>
            <a:off x="382815" y="334907"/>
            <a:ext cx="841148" cy="838935"/>
          </a:xfrm>
          <a:prstGeom prst="ellipse">
            <a:avLst/>
          </a:prstGeom>
          <a:solidFill>
            <a:schemeClr val="accent1"/>
          </a:solidFill>
          <a:ln w="76200">
            <a:noFill/>
          </a:ln>
        </p:spPr>
        <p:txBody>
          <a:bodyPr/>
          <a:lstStyle>
            <a:defPPr>
              <a:defRPr lang="zh-CN"/>
            </a:defPPr>
            <a:lvl1pPr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ctr">
              <a:lnSpc>
                <a:spcPct val="120000"/>
              </a:lnSpc>
            </a:pPr>
            <a:r>
              <a:rPr lang="en-US" altLang="zh-CN" sz="2800" b="1" dirty="0">
                <a:solidFill>
                  <a:schemeClr val="bg1"/>
                </a:solidFill>
                <a:ea typeface="微软雅黑" panose="020B0503020204020204" pitchFamily="34" charset="-122"/>
                <a:cs typeface="Arial" panose="020B0604020202020204" pitchFamily="34" charset="0"/>
              </a:rPr>
              <a:t>01</a:t>
            </a:r>
            <a:endParaRPr lang="zh-CN" altLang="en-US" sz="2800" b="1" dirty="0">
              <a:solidFill>
                <a:schemeClr val="bg1"/>
              </a:solidFill>
              <a:ea typeface="微软雅黑" panose="020B0503020204020204" pitchFamily="34" charset="-122"/>
              <a:cs typeface="Arial" panose="020B0604020202020204" pitchFamily="34" charset="0"/>
            </a:endParaRPr>
          </a:p>
        </p:txBody>
      </p:sp>
      <p:sp>
        <p:nvSpPr>
          <p:cNvPr id="7" name="稻壳儿搜索【幻雨工作室】__9">
            <a:extLst>
              <a:ext uri="{FF2B5EF4-FFF2-40B4-BE49-F238E27FC236}">
                <a16:creationId xmlns:a16="http://schemas.microsoft.com/office/drawing/2014/main" id="{0AC3ABD3-164E-4C80-87BC-212918E633A1}"/>
              </a:ext>
            </a:extLst>
          </p:cNvPr>
          <p:cNvSpPr/>
          <p:nvPr/>
        </p:nvSpPr>
        <p:spPr>
          <a:xfrm>
            <a:off x="382815" y="2341558"/>
            <a:ext cx="4416012" cy="615040"/>
          </a:xfrm>
          <a:prstGeom prst="rect">
            <a:avLst/>
          </a:prstGeom>
        </p:spPr>
        <p:txBody>
          <a:bodyPr wrap="square">
            <a:spAutoFit/>
          </a:bodyPr>
          <a:lstStyle/>
          <a:p>
            <a:pPr>
              <a:lnSpc>
                <a:spcPct val="200000"/>
              </a:lnSpc>
            </a:pPr>
            <a:r>
              <a:rPr lang="en-US" altLang="zh-CN" sz="2000" dirty="0" smtClean="0">
                <a:solidFill>
                  <a:schemeClr val="tx1">
                    <a:lumMod val="85000"/>
                    <a:lumOff val="15000"/>
                  </a:schemeClr>
                </a:solidFill>
                <a:latin typeface="微软雅黑" panose="020B0503020204020204" pitchFamily="34" charset="-122"/>
                <a:ea typeface="微软雅黑" panose="020B0503020204020204" pitchFamily="34" charset="-122"/>
                <a:cs typeface="+mn-ea"/>
                <a:sym typeface="+mn-lt"/>
              </a:rPr>
              <a:t>3 point</a:t>
            </a:r>
            <a:r>
              <a:rPr lang="zh-CN" altLang="en-US" sz="2000" dirty="0" smtClean="0">
                <a:solidFill>
                  <a:schemeClr val="tx1">
                    <a:lumMod val="85000"/>
                    <a:lumOff val="15000"/>
                  </a:schemeClr>
                </a:solidFill>
                <a:latin typeface="微软雅黑" panose="020B0503020204020204" pitchFamily="34" charset="-122"/>
                <a:ea typeface="微软雅黑" panose="020B0503020204020204" pitchFamily="34" charset="-122"/>
                <a:cs typeface="+mn-ea"/>
                <a:sym typeface="+mn-lt"/>
              </a:rPr>
              <a:t>： </a:t>
            </a:r>
            <a:endParaRPr lang="en-US" altLang="zh-CN" dirty="0">
              <a:latin typeface="微软雅黑" panose="020B0503020204020204" pitchFamily="34" charset="-122"/>
              <a:ea typeface="微软雅黑" panose="020B0503020204020204" pitchFamily="34" charset="-122"/>
            </a:endParaRPr>
          </a:p>
        </p:txBody>
      </p:sp>
      <p:grpSp>
        <p:nvGrpSpPr>
          <p:cNvPr id="5" name="组合 4">
            <a:extLst>
              <a:ext uri="{FF2B5EF4-FFF2-40B4-BE49-F238E27FC236}">
                <a16:creationId xmlns:a16="http://schemas.microsoft.com/office/drawing/2014/main" id="{5EC51B16-5864-4120-A949-B4ED1DACE5BF}"/>
              </a:ext>
            </a:extLst>
          </p:cNvPr>
          <p:cNvGrpSpPr/>
          <p:nvPr/>
        </p:nvGrpSpPr>
        <p:grpSpPr>
          <a:xfrm>
            <a:off x="4254705" y="3208720"/>
            <a:ext cx="3960000" cy="2447280"/>
            <a:chOff x="210002" y="3056797"/>
            <a:chExt cx="3960000" cy="2447280"/>
          </a:xfrm>
        </p:grpSpPr>
        <p:sp>
          <p:nvSpPr>
            <p:cNvPr id="8" name="矩形: 圆角 2">
              <a:extLst>
                <a:ext uri="{FF2B5EF4-FFF2-40B4-BE49-F238E27FC236}">
                  <a16:creationId xmlns:a16="http://schemas.microsoft.com/office/drawing/2014/main" id="{D2BA7ACC-C3DD-4A53-87AB-ABF28FD620BA}"/>
                </a:ext>
              </a:extLst>
            </p:cNvPr>
            <p:cNvSpPr>
              <a:spLocks noChangeAspect="1"/>
            </p:cNvSpPr>
            <p:nvPr/>
          </p:nvSpPr>
          <p:spPr>
            <a:xfrm>
              <a:off x="210002" y="3056797"/>
              <a:ext cx="3960000" cy="2447280"/>
            </a:xfrm>
            <a:prstGeom prst="roundRect">
              <a:avLst/>
            </a:prstGeom>
            <a:gradFill>
              <a:gsLst>
                <a:gs pos="100000">
                  <a:schemeClr val="accent1">
                    <a:lumMod val="5000"/>
                    <a:lumOff val="95000"/>
                  </a:schemeClr>
                </a:gs>
                <a:gs pos="100000">
                  <a:schemeClr val="accent1">
                    <a:lumMod val="45000"/>
                    <a:lumOff val="55000"/>
                  </a:schemeClr>
                </a:gs>
                <a:gs pos="100000">
                  <a:schemeClr val="accent1">
                    <a:lumMod val="45000"/>
                    <a:lumOff val="55000"/>
                  </a:schemeClr>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noFill/>
              </a:endParaRPr>
            </a:p>
          </p:txBody>
        </p:sp>
        <p:sp>
          <p:nvSpPr>
            <p:cNvPr id="9" name="文本框 8">
              <a:extLst>
                <a:ext uri="{FF2B5EF4-FFF2-40B4-BE49-F238E27FC236}">
                  <a16:creationId xmlns:a16="http://schemas.microsoft.com/office/drawing/2014/main" id="{F38B2A53-336D-4C71-9A62-4A5D9DAEA49F}"/>
                </a:ext>
              </a:extLst>
            </p:cNvPr>
            <p:cNvSpPr txBox="1"/>
            <p:nvPr/>
          </p:nvSpPr>
          <p:spPr>
            <a:xfrm>
              <a:off x="390002" y="3124287"/>
              <a:ext cx="3600000" cy="418191"/>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sz="1600" dirty="0" smtClean="0">
                  <a:latin typeface="微软雅黑" panose="020B0503020204020204" pitchFamily="34" charset="-122"/>
                  <a:ea typeface="微软雅黑" panose="020B0503020204020204" pitchFamily="34" charset="-122"/>
                </a:rPr>
                <a:t>reward</a:t>
              </a:r>
              <a:endParaRPr lang="zh-CN" altLang="en-US" sz="1600" dirty="0">
                <a:latin typeface="微软雅黑" panose="020B0503020204020204" pitchFamily="34" charset="-122"/>
                <a:ea typeface="微软雅黑" panose="020B0503020204020204" pitchFamily="34" charset="-122"/>
              </a:endParaRPr>
            </a:p>
          </p:txBody>
        </p:sp>
      </p:grpSp>
      <p:grpSp>
        <p:nvGrpSpPr>
          <p:cNvPr id="10" name="组合 9">
            <a:extLst>
              <a:ext uri="{FF2B5EF4-FFF2-40B4-BE49-F238E27FC236}">
                <a16:creationId xmlns:a16="http://schemas.microsoft.com/office/drawing/2014/main" id="{90435403-87EC-49EC-A704-E08C04FE6848}"/>
              </a:ext>
            </a:extLst>
          </p:cNvPr>
          <p:cNvGrpSpPr/>
          <p:nvPr/>
        </p:nvGrpSpPr>
        <p:grpSpPr>
          <a:xfrm>
            <a:off x="277410" y="3209197"/>
            <a:ext cx="3960000" cy="2447280"/>
            <a:chOff x="210002" y="3056797"/>
            <a:chExt cx="3960000" cy="2447280"/>
          </a:xfrm>
        </p:grpSpPr>
        <p:sp>
          <p:nvSpPr>
            <p:cNvPr id="11" name="矩形: 圆角 26">
              <a:extLst>
                <a:ext uri="{FF2B5EF4-FFF2-40B4-BE49-F238E27FC236}">
                  <a16:creationId xmlns:a16="http://schemas.microsoft.com/office/drawing/2014/main" id="{2CD9C4C2-077D-425D-9FF9-E01706D42DD8}"/>
                </a:ext>
              </a:extLst>
            </p:cNvPr>
            <p:cNvSpPr>
              <a:spLocks noChangeAspect="1"/>
            </p:cNvSpPr>
            <p:nvPr/>
          </p:nvSpPr>
          <p:spPr>
            <a:xfrm>
              <a:off x="210002" y="3056797"/>
              <a:ext cx="3960000" cy="2447280"/>
            </a:xfrm>
            <a:prstGeom prst="roundRect">
              <a:avLst/>
            </a:prstGeom>
            <a:gradFill>
              <a:gsLst>
                <a:gs pos="100000">
                  <a:schemeClr val="accent1">
                    <a:lumMod val="5000"/>
                    <a:lumOff val="95000"/>
                  </a:schemeClr>
                </a:gs>
                <a:gs pos="100000">
                  <a:schemeClr val="accent1">
                    <a:lumMod val="45000"/>
                    <a:lumOff val="55000"/>
                  </a:schemeClr>
                </a:gs>
                <a:gs pos="100000">
                  <a:schemeClr val="accent1">
                    <a:lumMod val="45000"/>
                    <a:lumOff val="55000"/>
                  </a:schemeClr>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noFill/>
              </a:endParaRPr>
            </a:p>
          </p:txBody>
        </p:sp>
        <p:sp>
          <p:nvSpPr>
            <p:cNvPr id="12" name="文本框 11">
              <a:extLst>
                <a:ext uri="{FF2B5EF4-FFF2-40B4-BE49-F238E27FC236}">
                  <a16:creationId xmlns:a16="http://schemas.microsoft.com/office/drawing/2014/main" id="{F4B7DCAC-3F8A-48C0-8797-90E9FE9241FE}"/>
                </a:ext>
              </a:extLst>
            </p:cNvPr>
            <p:cNvSpPr txBox="1"/>
            <p:nvPr/>
          </p:nvSpPr>
          <p:spPr>
            <a:xfrm>
              <a:off x="390002" y="3124287"/>
              <a:ext cx="3600000" cy="418191"/>
            </a:xfrm>
            <a:prstGeom prst="rect">
              <a:avLst/>
            </a:prstGeom>
            <a:noFill/>
          </p:spPr>
          <p:txBody>
            <a:bodyPr wrap="square" rtlCol="0">
              <a:spAutoFit/>
            </a:bodyPr>
            <a:lstStyle/>
            <a:p>
              <a:pPr>
                <a:lnSpc>
                  <a:spcPct val="150000"/>
                </a:lnSpc>
              </a:pPr>
              <a:r>
                <a:rPr lang="en-US" altLang="zh-CN" sz="1600" dirty="0">
                  <a:latin typeface="微软雅黑" panose="020B0503020204020204" pitchFamily="34" charset="-122"/>
                  <a:ea typeface="微软雅黑" panose="020B0503020204020204" pitchFamily="34" charset="-122"/>
                </a:rPr>
                <a:t>state</a:t>
              </a:r>
              <a:endParaRPr lang="zh-CN" altLang="en-US" sz="1600" dirty="0">
                <a:latin typeface="微软雅黑" panose="020B0503020204020204" pitchFamily="34" charset="-122"/>
                <a:ea typeface="微软雅黑" panose="020B0503020204020204" pitchFamily="34" charset="-122"/>
              </a:endParaRPr>
            </a:p>
          </p:txBody>
        </p:sp>
      </p:grpSp>
      <p:grpSp>
        <p:nvGrpSpPr>
          <p:cNvPr id="13" name="组合 12">
            <a:extLst>
              <a:ext uri="{FF2B5EF4-FFF2-40B4-BE49-F238E27FC236}">
                <a16:creationId xmlns:a16="http://schemas.microsoft.com/office/drawing/2014/main" id="{4FD54EEB-F83F-454C-9B7D-F76965807D74}"/>
              </a:ext>
            </a:extLst>
          </p:cNvPr>
          <p:cNvGrpSpPr/>
          <p:nvPr/>
        </p:nvGrpSpPr>
        <p:grpSpPr>
          <a:xfrm>
            <a:off x="8232000" y="3208243"/>
            <a:ext cx="3960000" cy="2447280"/>
            <a:chOff x="210002" y="3056797"/>
            <a:chExt cx="3960000" cy="2447280"/>
          </a:xfrm>
        </p:grpSpPr>
        <p:sp>
          <p:nvSpPr>
            <p:cNvPr id="14" name="矩形: 圆角 29">
              <a:extLst>
                <a:ext uri="{FF2B5EF4-FFF2-40B4-BE49-F238E27FC236}">
                  <a16:creationId xmlns:a16="http://schemas.microsoft.com/office/drawing/2014/main" id="{F8DF56FF-FC17-406B-814E-8FA5D75CD397}"/>
                </a:ext>
              </a:extLst>
            </p:cNvPr>
            <p:cNvSpPr>
              <a:spLocks noChangeAspect="1"/>
            </p:cNvSpPr>
            <p:nvPr/>
          </p:nvSpPr>
          <p:spPr>
            <a:xfrm>
              <a:off x="210002" y="3056797"/>
              <a:ext cx="3960000" cy="2447280"/>
            </a:xfrm>
            <a:prstGeom prst="roundRect">
              <a:avLst/>
            </a:prstGeom>
            <a:gradFill>
              <a:gsLst>
                <a:gs pos="100000">
                  <a:schemeClr val="accent1">
                    <a:lumMod val="5000"/>
                    <a:lumOff val="95000"/>
                  </a:schemeClr>
                </a:gs>
                <a:gs pos="100000">
                  <a:schemeClr val="accent1">
                    <a:lumMod val="45000"/>
                    <a:lumOff val="55000"/>
                  </a:schemeClr>
                </a:gs>
                <a:gs pos="100000">
                  <a:schemeClr val="accent1">
                    <a:lumMod val="45000"/>
                    <a:lumOff val="55000"/>
                  </a:schemeClr>
                </a:gs>
                <a:gs pos="100000">
                  <a:schemeClr val="accent1">
                    <a:lumMod val="30000"/>
                    <a:lumOff val="70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noFill/>
              </a:endParaRPr>
            </a:p>
          </p:txBody>
        </p:sp>
        <p:sp>
          <p:nvSpPr>
            <p:cNvPr id="15" name="文本框 14">
              <a:extLst>
                <a:ext uri="{FF2B5EF4-FFF2-40B4-BE49-F238E27FC236}">
                  <a16:creationId xmlns:a16="http://schemas.microsoft.com/office/drawing/2014/main" id="{85FE7533-5AF6-4CC4-81A6-F569482E6C98}"/>
                </a:ext>
              </a:extLst>
            </p:cNvPr>
            <p:cNvSpPr txBox="1"/>
            <p:nvPr/>
          </p:nvSpPr>
          <p:spPr>
            <a:xfrm>
              <a:off x="390002" y="3124287"/>
              <a:ext cx="3600000" cy="43851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US" altLang="zh-CN" sz="1700" dirty="0" smtClean="0">
                  <a:latin typeface="微软雅黑" panose="020B0503020204020204" pitchFamily="34" charset="-122"/>
                  <a:ea typeface="微软雅黑" panose="020B0503020204020204" pitchFamily="34" charset="-122"/>
                </a:rPr>
                <a:t>Action space</a:t>
              </a:r>
              <a:endParaRPr lang="zh-CN" altLang="en-US" sz="1700" dirty="0">
                <a:latin typeface="微软雅黑" panose="020B0503020204020204" pitchFamily="34" charset="-122"/>
                <a:ea typeface="微软雅黑" panose="020B0503020204020204" pitchFamily="34" charset="-122"/>
                <a:cs typeface="Times New Roman" panose="02020603050405020304" pitchFamily="18" charset="0"/>
              </a:endParaRPr>
            </a:p>
          </p:txBody>
        </p:sp>
      </p:grpSp>
      <p:sp>
        <p:nvSpPr>
          <p:cNvPr id="16" name="稻壳儿搜索【幻雨工作室】__2">
            <a:extLst>
              <a:ext uri="{FF2B5EF4-FFF2-40B4-BE49-F238E27FC236}">
                <a16:creationId xmlns:a16="http://schemas.microsoft.com/office/drawing/2014/main" id="{579731AE-6C87-46B5-BAC3-570262B42B03}"/>
              </a:ext>
            </a:extLst>
          </p:cNvPr>
          <p:cNvSpPr txBox="1">
            <a:spLocks noChangeArrowheads="1"/>
          </p:cNvSpPr>
          <p:nvPr/>
        </p:nvSpPr>
        <p:spPr bwMode="auto">
          <a:xfrm>
            <a:off x="1250428" y="408204"/>
            <a:ext cx="2909448" cy="646331"/>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lvl1pPr>
              <a:defRPr sz="1300">
                <a:solidFill>
                  <a:schemeClr val="tx1"/>
                </a:solidFill>
                <a:latin typeface="华文细黑" panose="02010600040101010101" pitchFamily="2" charset="-122"/>
                <a:ea typeface="华文细黑" panose="02010600040101010101" pitchFamily="2" charset="-122"/>
              </a:defRPr>
            </a:lvl1pPr>
            <a:lvl2pPr marL="742950" indent="-285750">
              <a:defRPr sz="1300">
                <a:solidFill>
                  <a:schemeClr val="tx1"/>
                </a:solidFill>
                <a:latin typeface="华文细黑" panose="02010600040101010101" pitchFamily="2" charset="-122"/>
                <a:ea typeface="华文细黑" panose="02010600040101010101" pitchFamily="2" charset="-122"/>
              </a:defRPr>
            </a:lvl2pPr>
            <a:lvl3pPr marL="1143000" indent="-228600">
              <a:defRPr sz="1300">
                <a:solidFill>
                  <a:schemeClr val="tx1"/>
                </a:solidFill>
                <a:latin typeface="华文细黑" panose="02010600040101010101" pitchFamily="2" charset="-122"/>
                <a:ea typeface="华文细黑" panose="02010600040101010101" pitchFamily="2" charset="-122"/>
              </a:defRPr>
            </a:lvl3pPr>
            <a:lvl4pPr marL="1600200" indent="-228600">
              <a:defRPr sz="1300">
                <a:solidFill>
                  <a:schemeClr val="tx1"/>
                </a:solidFill>
                <a:latin typeface="华文细黑" panose="02010600040101010101" pitchFamily="2" charset="-122"/>
                <a:ea typeface="华文细黑" panose="02010600040101010101" pitchFamily="2" charset="-122"/>
              </a:defRPr>
            </a:lvl4pPr>
            <a:lvl5pPr marL="2057400" indent="-228600">
              <a:defRPr sz="1300">
                <a:solidFill>
                  <a:schemeClr val="tx1"/>
                </a:solidFill>
                <a:latin typeface="华文细黑" panose="02010600040101010101" pitchFamily="2" charset="-122"/>
                <a:ea typeface="华文细黑" panose="02010600040101010101" pitchFamily="2" charset="-122"/>
              </a:defRPr>
            </a:lvl5pPr>
            <a:lvl6pPr marL="25146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6pPr>
            <a:lvl7pPr marL="29718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7pPr>
            <a:lvl8pPr marL="34290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8pPr>
            <a:lvl9pPr marL="38862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9pPr>
          </a:lstStyle>
          <a:p>
            <a:pPr algn="r"/>
            <a:r>
              <a:rPr lang="en-US" altLang="zh-CN" sz="3600" b="1" dirty="0" smtClean="0">
                <a:solidFill>
                  <a:schemeClr val="tx1">
                    <a:lumMod val="75000"/>
                    <a:lumOff val="25000"/>
                  </a:schemeClr>
                </a:solidFill>
                <a:latin typeface="+mn-ea"/>
              </a:rPr>
              <a:t>Background</a:t>
            </a:r>
            <a:endParaRPr lang="en-US" altLang="zh-CN" sz="3600" b="1" dirty="0">
              <a:solidFill>
                <a:schemeClr val="tx1">
                  <a:lumMod val="75000"/>
                  <a:lumOff val="25000"/>
                </a:schemeClr>
              </a:solidFill>
              <a:latin typeface="+mn-ea"/>
            </a:endParaRPr>
          </a:p>
        </p:txBody>
      </p:sp>
    </p:spTree>
    <p:custDataLst>
      <p:tags r:id="rId1"/>
    </p:custDataLst>
    <p:extLst>
      <p:ext uri="{BB962C8B-B14F-4D97-AF65-F5344CB8AC3E}">
        <p14:creationId xmlns:p14="http://schemas.microsoft.com/office/powerpoint/2010/main" val="82069122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稻壳儿搜索【幻雨工作室】__1">
            <a:extLst>
              <a:ext uri="{FF2B5EF4-FFF2-40B4-BE49-F238E27FC236}">
                <a16:creationId xmlns:a16="http://schemas.microsoft.com/office/drawing/2014/main" id="{7D6BE628-9F1F-4A9E-9C43-710286B5DD1F}"/>
              </a:ext>
            </a:extLst>
          </p:cNvPr>
          <p:cNvSpPr>
            <a:spLocks noChangeArrowheads="1"/>
          </p:cNvSpPr>
          <p:nvPr/>
        </p:nvSpPr>
        <p:spPr bwMode="auto">
          <a:xfrm>
            <a:off x="382815" y="334907"/>
            <a:ext cx="841148" cy="838935"/>
          </a:xfrm>
          <a:prstGeom prst="ellipse">
            <a:avLst/>
          </a:prstGeom>
          <a:solidFill>
            <a:schemeClr val="accent1"/>
          </a:solidFill>
          <a:ln w="76200">
            <a:noFill/>
          </a:ln>
        </p:spPr>
        <p:txBody>
          <a:bodyPr/>
          <a:lstStyle>
            <a:defPPr>
              <a:defRPr lang="zh-CN"/>
            </a:defPPr>
            <a:lvl1pPr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ctr">
              <a:lnSpc>
                <a:spcPct val="120000"/>
              </a:lnSpc>
            </a:pPr>
            <a:r>
              <a:rPr lang="en-US" altLang="zh-CN" sz="2800" b="1" dirty="0">
                <a:solidFill>
                  <a:schemeClr val="bg1"/>
                </a:solidFill>
                <a:ea typeface="微软雅黑" panose="020B0503020204020204" pitchFamily="34" charset="-122"/>
                <a:cs typeface="Arial" panose="020B0604020202020204" pitchFamily="34" charset="0"/>
              </a:rPr>
              <a:t>02</a:t>
            </a:r>
            <a:endParaRPr lang="zh-CN" altLang="en-US" sz="2800" b="1" dirty="0">
              <a:solidFill>
                <a:schemeClr val="bg1"/>
              </a:solidFill>
              <a:ea typeface="微软雅黑" panose="020B0503020204020204" pitchFamily="34" charset="-122"/>
              <a:cs typeface="Arial" panose="020B0604020202020204" pitchFamily="34" charset="0"/>
            </a:endParaRPr>
          </a:p>
        </p:txBody>
      </p:sp>
      <p:sp>
        <p:nvSpPr>
          <p:cNvPr id="5" name="稻壳儿搜索【幻雨工作室】__2">
            <a:extLst>
              <a:ext uri="{FF2B5EF4-FFF2-40B4-BE49-F238E27FC236}">
                <a16:creationId xmlns:a16="http://schemas.microsoft.com/office/drawing/2014/main" id="{615DBE0D-2B10-4B13-81ED-94CE3AE1E6FB}"/>
              </a:ext>
            </a:extLst>
          </p:cNvPr>
          <p:cNvSpPr txBox="1">
            <a:spLocks noChangeArrowheads="1"/>
          </p:cNvSpPr>
          <p:nvPr/>
        </p:nvSpPr>
        <p:spPr bwMode="auto">
          <a:xfrm>
            <a:off x="1419721" y="431209"/>
            <a:ext cx="3845923" cy="1200329"/>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lvl1pPr>
              <a:defRPr sz="1300">
                <a:solidFill>
                  <a:schemeClr val="tx1"/>
                </a:solidFill>
                <a:latin typeface="华文细黑" panose="02010600040101010101" pitchFamily="2" charset="-122"/>
                <a:ea typeface="华文细黑" panose="02010600040101010101" pitchFamily="2" charset="-122"/>
              </a:defRPr>
            </a:lvl1pPr>
            <a:lvl2pPr marL="742950" indent="-285750">
              <a:defRPr sz="1300">
                <a:solidFill>
                  <a:schemeClr val="tx1"/>
                </a:solidFill>
                <a:latin typeface="华文细黑" panose="02010600040101010101" pitchFamily="2" charset="-122"/>
                <a:ea typeface="华文细黑" panose="02010600040101010101" pitchFamily="2" charset="-122"/>
              </a:defRPr>
            </a:lvl2pPr>
            <a:lvl3pPr marL="1143000" indent="-228600">
              <a:defRPr sz="1300">
                <a:solidFill>
                  <a:schemeClr val="tx1"/>
                </a:solidFill>
                <a:latin typeface="华文细黑" panose="02010600040101010101" pitchFamily="2" charset="-122"/>
                <a:ea typeface="华文细黑" panose="02010600040101010101" pitchFamily="2" charset="-122"/>
              </a:defRPr>
            </a:lvl3pPr>
            <a:lvl4pPr marL="1600200" indent="-228600">
              <a:defRPr sz="1300">
                <a:solidFill>
                  <a:schemeClr val="tx1"/>
                </a:solidFill>
                <a:latin typeface="华文细黑" panose="02010600040101010101" pitchFamily="2" charset="-122"/>
                <a:ea typeface="华文细黑" panose="02010600040101010101" pitchFamily="2" charset="-122"/>
              </a:defRPr>
            </a:lvl4pPr>
            <a:lvl5pPr marL="2057400" indent="-228600">
              <a:defRPr sz="1300">
                <a:solidFill>
                  <a:schemeClr val="tx1"/>
                </a:solidFill>
                <a:latin typeface="华文细黑" panose="02010600040101010101" pitchFamily="2" charset="-122"/>
                <a:ea typeface="华文细黑" panose="02010600040101010101" pitchFamily="2" charset="-122"/>
              </a:defRPr>
            </a:lvl5pPr>
            <a:lvl6pPr marL="25146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6pPr>
            <a:lvl7pPr marL="29718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7pPr>
            <a:lvl8pPr marL="34290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8pPr>
            <a:lvl9pPr marL="38862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9pPr>
          </a:lstStyle>
          <a:p>
            <a:pPr defTabSz="685800">
              <a:defRPr/>
            </a:pPr>
            <a:r>
              <a:rPr lang="en-US" altLang="zh-CN" sz="3600" dirty="0" smtClean="0">
                <a:solidFill>
                  <a:schemeClr val="accent1"/>
                </a:solidFill>
                <a:latin typeface="微软雅黑" panose="020B0503020204020204" pitchFamily="34" charset="-122"/>
                <a:ea typeface="微软雅黑" panose="020B0503020204020204" pitchFamily="34" charset="-122"/>
              </a:rPr>
              <a:t>Progress</a:t>
            </a:r>
            <a:endParaRPr lang="en-US" altLang="zh-CN" sz="3600" dirty="0">
              <a:solidFill>
                <a:schemeClr val="accent1"/>
              </a:solidFill>
              <a:latin typeface="微软雅黑" panose="020B0503020204020204" pitchFamily="34" charset="-122"/>
              <a:ea typeface="微软雅黑" panose="020B0503020204020204" pitchFamily="34" charset="-122"/>
            </a:endParaRPr>
          </a:p>
          <a:p>
            <a:pPr defTabSz="685800">
              <a:defRPr/>
            </a:pPr>
            <a:endParaRPr lang="en-US" altLang="zh-CN" sz="3600" dirty="0">
              <a:solidFill>
                <a:schemeClr val="accent1"/>
              </a:solidFill>
              <a:latin typeface="微软雅黑" panose="020B0503020204020204" pitchFamily="34" charset="-122"/>
              <a:ea typeface="微软雅黑" panose="020B0503020204020204" pitchFamily="34" charset="-122"/>
            </a:endParaRPr>
          </a:p>
        </p:txBody>
      </p:sp>
      <p:sp>
        <p:nvSpPr>
          <p:cNvPr id="12" name="文本框 11">
            <a:extLst>
              <a:ext uri="{FF2B5EF4-FFF2-40B4-BE49-F238E27FC236}">
                <a16:creationId xmlns:a16="http://schemas.microsoft.com/office/drawing/2014/main" id="{F87974EB-6AD8-48E0-BE7A-EEC0AECA39AA}"/>
              </a:ext>
            </a:extLst>
          </p:cNvPr>
          <p:cNvSpPr txBox="1"/>
          <p:nvPr/>
        </p:nvSpPr>
        <p:spPr>
          <a:xfrm>
            <a:off x="1520205" y="1200777"/>
            <a:ext cx="4469934" cy="371789"/>
          </a:xfrm>
          <a:prstGeom prst="rect">
            <a:avLst/>
          </a:prstGeom>
          <a:noFill/>
        </p:spPr>
        <p:txBody>
          <a:bodyPr wrap="square" rtlCol="0">
            <a:spAutoFit/>
          </a:bodyPr>
          <a:lstStyle/>
          <a:p>
            <a:r>
              <a:rPr lang="zh-CN" altLang="en-US" dirty="0"/>
              <a:t>深低温环境下的器件建模</a:t>
            </a:r>
            <a:r>
              <a:rPr lang="en-US" altLang="zh-CN" dirty="0"/>
              <a:t>——</a:t>
            </a:r>
            <a:r>
              <a:rPr lang="zh-CN" altLang="en-US" dirty="0"/>
              <a:t>电阻与电容</a:t>
            </a:r>
          </a:p>
        </p:txBody>
      </p:sp>
      <p:sp>
        <p:nvSpPr>
          <p:cNvPr id="13" name="文本框 12">
            <a:extLst>
              <a:ext uri="{FF2B5EF4-FFF2-40B4-BE49-F238E27FC236}">
                <a16:creationId xmlns:a16="http://schemas.microsoft.com/office/drawing/2014/main" id="{B1ACBC15-C489-4CC6-BFD3-904A4FA15C8F}"/>
              </a:ext>
            </a:extLst>
          </p:cNvPr>
          <p:cNvSpPr txBox="1"/>
          <p:nvPr/>
        </p:nvSpPr>
        <p:spPr>
          <a:xfrm>
            <a:off x="1223963" y="1766172"/>
            <a:ext cx="4230356" cy="369332"/>
          </a:xfrm>
          <a:prstGeom prst="rect">
            <a:avLst/>
          </a:prstGeom>
          <a:noFill/>
        </p:spPr>
        <p:txBody>
          <a:bodyPr wrap="square" rtlCol="0">
            <a:spAutoFit/>
          </a:bodyPr>
          <a:lstStyle/>
          <a:p>
            <a:pPr algn="ctr"/>
            <a:r>
              <a:rPr lang="zh-CN" altLang="en-US" dirty="0"/>
              <a:t>不同贴片电阻在低温下的测试结果</a:t>
            </a:r>
          </a:p>
        </p:txBody>
      </p:sp>
      <p:graphicFrame>
        <p:nvGraphicFramePr>
          <p:cNvPr id="2" name="表格 1"/>
          <p:cNvGraphicFramePr>
            <a:graphicFrameLocks noGrp="1"/>
          </p:cNvGraphicFramePr>
          <p:nvPr>
            <p:extLst>
              <p:ext uri="{D42A27DB-BD31-4B8C-83A1-F6EECF244321}">
                <p14:modId xmlns:p14="http://schemas.microsoft.com/office/powerpoint/2010/main" val="1340535604"/>
              </p:ext>
            </p:extLst>
          </p:nvPr>
        </p:nvGraphicFramePr>
        <p:xfrm>
          <a:off x="1495211" y="3914498"/>
          <a:ext cx="10039650" cy="2779916"/>
        </p:xfrm>
        <a:graphic>
          <a:graphicData uri="http://schemas.openxmlformats.org/drawingml/2006/table">
            <a:tbl>
              <a:tblPr firstRow="1" bandRow="1">
                <a:tableStyleId>{5C22544A-7EE6-4342-B048-85BDC9FD1C3A}</a:tableStyleId>
              </a:tblPr>
              <a:tblGrid>
                <a:gridCol w="2007930">
                  <a:extLst>
                    <a:ext uri="{9D8B030D-6E8A-4147-A177-3AD203B41FA5}">
                      <a16:colId xmlns:a16="http://schemas.microsoft.com/office/drawing/2014/main" val="1681100552"/>
                    </a:ext>
                  </a:extLst>
                </a:gridCol>
                <a:gridCol w="2007930">
                  <a:extLst>
                    <a:ext uri="{9D8B030D-6E8A-4147-A177-3AD203B41FA5}">
                      <a16:colId xmlns:a16="http://schemas.microsoft.com/office/drawing/2014/main" val="3642366207"/>
                    </a:ext>
                  </a:extLst>
                </a:gridCol>
                <a:gridCol w="2007930">
                  <a:extLst>
                    <a:ext uri="{9D8B030D-6E8A-4147-A177-3AD203B41FA5}">
                      <a16:colId xmlns:a16="http://schemas.microsoft.com/office/drawing/2014/main" val="3537762234"/>
                    </a:ext>
                  </a:extLst>
                </a:gridCol>
                <a:gridCol w="2007930">
                  <a:extLst>
                    <a:ext uri="{9D8B030D-6E8A-4147-A177-3AD203B41FA5}">
                      <a16:colId xmlns:a16="http://schemas.microsoft.com/office/drawing/2014/main" val="3550138294"/>
                    </a:ext>
                  </a:extLst>
                </a:gridCol>
                <a:gridCol w="2007930">
                  <a:extLst>
                    <a:ext uri="{9D8B030D-6E8A-4147-A177-3AD203B41FA5}">
                      <a16:colId xmlns:a16="http://schemas.microsoft.com/office/drawing/2014/main" val="1398931710"/>
                    </a:ext>
                  </a:extLst>
                </a:gridCol>
              </a:tblGrid>
              <a:tr h="694979">
                <a:tc>
                  <a:txBody>
                    <a:bodyPr/>
                    <a:lstStyle/>
                    <a:p>
                      <a:r>
                        <a:rPr lang="zh-CN" altLang="en-US" dirty="0" smtClean="0"/>
                        <a:t>电阻</a:t>
                      </a:r>
                      <a:endParaRPr lang="zh-CN" altLang="en-US" dirty="0"/>
                    </a:p>
                  </a:txBody>
                  <a:tcPr/>
                </a:tc>
                <a:tc>
                  <a:txBody>
                    <a:bodyPr/>
                    <a:lstStyle/>
                    <a:p>
                      <a:r>
                        <a:rPr lang="en-US" altLang="zh-CN" dirty="0" smtClean="0"/>
                        <a:t>4.2K</a:t>
                      </a:r>
                      <a:endParaRPr lang="zh-CN" altLang="en-US" dirty="0"/>
                    </a:p>
                  </a:txBody>
                  <a:tcPr/>
                </a:tc>
                <a:tc>
                  <a:txBody>
                    <a:bodyPr/>
                    <a:lstStyle/>
                    <a:p>
                      <a:r>
                        <a:rPr lang="en-US" altLang="zh-CN" dirty="0" smtClean="0"/>
                        <a:t>10K</a:t>
                      </a:r>
                      <a:endParaRPr lang="zh-CN" altLang="en-US" dirty="0"/>
                    </a:p>
                  </a:txBody>
                  <a:tcPr/>
                </a:tc>
                <a:tc>
                  <a:txBody>
                    <a:bodyPr/>
                    <a:lstStyle/>
                    <a:p>
                      <a:r>
                        <a:rPr lang="en-US" altLang="zh-CN" dirty="0" smtClean="0"/>
                        <a:t>100K</a:t>
                      </a:r>
                      <a:endParaRPr lang="zh-CN" altLang="en-US" dirty="0"/>
                    </a:p>
                  </a:txBody>
                  <a:tcPr/>
                </a:tc>
                <a:tc>
                  <a:txBody>
                    <a:bodyPr/>
                    <a:lstStyle/>
                    <a:p>
                      <a:r>
                        <a:rPr lang="en-US" altLang="zh-CN" dirty="0" smtClean="0"/>
                        <a:t>300K</a:t>
                      </a:r>
                      <a:endParaRPr lang="zh-CN" altLang="en-US" dirty="0"/>
                    </a:p>
                  </a:txBody>
                  <a:tcPr/>
                </a:tc>
                <a:extLst>
                  <a:ext uri="{0D108BD9-81ED-4DB2-BD59-A6C34878D82A}">
                    <a16:rowId xmlns:a16="http://schemas.microsoft.com/office/drawing/2014/main" val="291505970"/>
                  </a:ext>
                </a:extLst>
              </a:tr>
              <a:tr h="694979">
                <a:tc>
                  <a:txBody>
                    <a:bodyPr/>
                    <a:lstStyle/>
                    <a:p>
                      <a:r>
                        <a:rPr lang="en-US" altLang="zh-CN" dirty="0" smtClean="0"/>
                        <a:t>10MΩ</a:t>
                      </a:r>
                      <a:endParaRPr lang="zh-CN" altLang="en-US" dirty="0"/>
                    </a:p>
                  </a:txBody>
                  <a:tcPr/>
                </a:tc>
                <a:tc>
                  <a:txBody>
                    <a:bodyPr/>
                    <a:lstStyle/>
                    <a:p>
                      <a:r>
                        <a:rPr lang="en-US" altLang="zh-CN" dirty="0" smtClean="0"/>
                        <a:t>2.2x</a:t>
                      </a:r>
                      <a:endParaRPr lang="zh-CN" altLang="en-US" dirty="0"/>
                    </a:p>
                  </a:txBody>
                  <a:tcPr/>
                </a:tc>
                <a:tc>
                  <a:txBody>
                    <a:bodyPr/>
                    <a:lstStyle/>
                    <a:p>
                      <a:r>
                        <a:rPr lang="en-US" altLang="zh-CN" dirty="0" smtClean="0"/>
                        <a:t>1.5x</a:t>
                      </a:r>
                      <a:endParaRPr lang="zh-CN" altLang="en-US" dirty="0"/>
                    </a:p>
                  </a:txBody>
                  <a:tcPr/>
                </a:tc>
                <a:tc>
                  <a:txBody>
                    <a:bodyPr/>
                    <a:lstStyle/>
                    <a:p>
                      <a:r>
                        <a:rPr lang="en-US" altLang="zh-CN" dirty="0" smtClean="0"/>
                        <a:t>1.1x</a:t>
                      </a:r>
                      <a:endParaRPr lang="zh-CN" altLang="en-US" dirty="0"/>
                    </a:p>
                  </a:txBody>
                  <a:tcPr/>
                </a:tc>
                <a:tc>
                  <a:txBody>
                    <a:bodyPr/>
                    <a:lstStyle/>
                    <a:p>
                      <a:r>
                        <a:rPr lang="en-US" altLang="zh-CN" dirty="0" smtClean="0"/>
                        <a:t>1x</a:t>
                      </a:r>
                      <a:endParaRPr lang="zh-CN" altLang="en-US" dirty="0"/>
                    </a:p>
                  </a:txBody>
                  <a:tcPr/>
                </a:tc>
                <a:extLst>
                  <a:ext uri="{0D108BD9-81ED-4DB2-BD59-A6C34878D82A}">
                    <a16:rowId xmlns:a16="http://schemas.microsoft.com/office/drawing/2014/main" val="1013892375"/>
                  </a:ext>
                </a:extLst>
              </a:tr>
              <a:tr h="694979">
                <a:tc>
                  <a:txBody>
                    <a:bodyPr/>
                    <a:lstStyle/>
                    <a:p>
                      <a:r>
                        <a:rPr lang="en-US" altLang="zh-CN" dirty="0" smtClean="0"/>
                        <a:t>100kΩ</a:t>
                      </a:r>
                    </a:p>
                  </a:txBody>
                  <a:tcPr/>
                </a:tc>
                <a:tc>
                  <a:txBody>
                    <a:bodyPr/>
                    <a:lstStyle/>
                    <a:p>
                      <a:r>
                        <a:rPr lang="en-US" altLang="zh-CN" dirty="0" smtClean="0"/>
                        <a:t>2x</a:t>
                      </a:r>
                      <a:endParaRPr lang="zh-CN" altLang="en-US" dirty="0"/>
                    </a:p>
                  </a:txBody>
                  <a:tcPr/>
                </a:tc>
                <a:tc>
                  <a:txBody>
                    <a:bodyPr/>
                    <a:lstStyle/>
                    <a:p>
                      <a:r>
                        <a:rPr lang="en-US" altLang="zh-CN" dirty="0" smtClean="0"/>
                        <a:t>1.4x</a:t>
                      </a:r>
                    </a:p>
                  </a:txBody>
                  <a:tcPr/>
                </a:tc>
                <a:tc>
                  <a:txBody>
                    <a:bodyPr/>
                    <a:lstStyle/>
                    <a:p>
                      <a:r>
                        <a:rPr lang="en-US" altLang="zh-CN" dirty="0" smtClean="0"/>
                        <a:t>1.1x</a:t>
                      </a:r>
                    </a:p>
                  </a:txBody>
                  <a:tcPr/>
                </a:tc>
                <a:tc>
                  <a:txBody>
                    <a:bodyPr/>
                    <a:lstStyle/>
                    <a:p>
                      <a:r>
                        <a:rPr lang="en-US" altLang="zh-CN" dirty="0" smtClean="0"/>
                        <a:t>1x</a:t>
                      </a:r>
                      <a:endParaRPr lang="zh-CN" altLang="en-US" dirty="0"/>
                    </a:p>
                  </a:txBody>
                  <a:tcPr/>
                </a:tc>
                <a:extLst>
                  <a:ext uri="{0D108BD9-81ED-4DB2-BD59-A6C34878D82A}">
                    <a16:rowId xmlns:a16="http://schemas.microsoft.com/office/drawing/2014/main" val="227089218"/>
                  </a:ext>
                </a:extLst>
              </a:tr>
              <a:tr h="694979">
                <a:tc>
                  <a:txBody>
                    <a:bodyPr/>
                    <a:lstStyle/>
                    <a:p>
                      <a:r>
                        <a:rPr lang="en-US" altLang="zh-CN" dirty="0" smtClean="0"/>
                        <a:t>1k</a:t>
                      </a:r>
                      <a:endParaRPr lang="zh-CN" altLang="en-US" dirty="0"/>
                    </a:p>
                  </a:txBody>
                  <a:tcPr/>
                </a:tc>
                <a:tc>
                  <a:txBody>
                    <a:bodyPr/>
                    <a:lstStyle/>
                    <a:p>
                      <a:r>
                        <a:rPr lang="en-US" altLang="zh-CN" dirty="0" smtClean="0"/>
                        <a:t>1.2x</a:t>
                      </a:r>
                      <a:endParaRPr lang="zh-CN" altLang="en-US" dirty="0"/>
                    </a:p>
                  </a:txBody>
                  <a:tcPr/>
                </a:tc>
                <a:tc>
                  <a:txBody>
                    <a:bodyPr/>
                    <a:lstStyle/>
                    <a:p>
                      <a:r>
                        <a:rPr lang="en-US" altLang="zh-CN" dirty="0" smtClean="0"/>
                        <a:t>1.1x</a:t>
                      </a:r>
                    </a:p>
                  </a:txBody>
                  <a:tcPr/>
                </a:tc>
                <a:tc>
                  <a:txBody>
                    <a:bodyPr/>
                    <a:lstStyle/>
                    <a:p>
                      <a:r>
                        <a:rPr lang="en-US" altLang="zh-CN" dirty="0" smtClean="0"/>
                        <a:t>1.05x</a:t>
                      </a:r>
                      <a:endParaRPr lang="zh-CN" altLang="en-US" dirty="0"/>
                    </a:p>
                  </a:txBody>
                  <a:tcPr/>
                </a:tc>
                <a:tc>
                  <a:txBody>
                    <a:bodyPr/>
                    <a:lstStyle/>
                    <a:p>
                      <a:r>
                        <a:rPr lang="en-US" altLang="zh-CN" dirty="0" smtClean="0"/>
                        <a:t>1x</a:t>
                      </a:r>
                      <a:endParaRPr lang="zh-CN" altLang="en-US" dirty="0"/>
                    </a:p>
                  </a:txBody>
                  <a:tcPr/>
                </a:tc>
                <a:extLst>
                  <a:ext uri="{0D108BD9-81ED-4DB2-BD59-A6C34878D82A}">
                    <a16:rowId xmlns:a16="http://schemas.microsoft.com/office/drawing/2014/main" val="3105732728"/>
                  </a:ext>
                </a:extLst>
              </a:tr>
            </a:tbl>
          </a:graphicData>
        </a:graphic>
      </p:graphicFrame>
    </p:spTree>
    <p:extLst>
      <p:ext uri="{BB962C8B-B14F-4D97-AF65-F5344CB8AC3E}">
        <p14:creationId xmlns:p14="http://schemas.microsoft.com/office/powerpoint/2010/main" val="75579545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稻壳儿搜索【幻雨工作室】__1">
            <a:extLst>
              <a:ext uri="{FF2B5EF4-FFF2-40B4-BE49-F238E27FC236}">
                <a16:creationId xmlns:a16="http://schemas.microsoft.com/office/drawing/2014/main" id="{8CE98E44-6239-4130-BF5E-E392F22F7BE1}"/>
              </a:ext>
            </a:extLst>
          </p:cNvPr>
          <p:cNvSpPr>
            <a:spLocks noChangeArrowheads="1"/>
          </p:cNvSpPr>
          <p:nvPr/>
        </p:nvSpPr>
        <p:spPr bwMode="auto">
          <a:xfrm>
            <a:off x="382815" y="334907"/>
            <a:ext cx="841148" cy="838935"/>
          </a:xfrm>
          <a:prstGeom prst="ellipse">
            <a:avLst/>
          </a:prstGeom>
          <a:solidFill>
            <a:schemeClr val="accent1"/>
          </a:solidFill>
          <a:ln w="76200">
            <a:noFill/>
          </a:ln>
        </p:spPr>
        <p:txBody>
          <a:bodyPr/>
          <a:lstStyle>
            <a:defPPr>
              <a:defRPr lang="zh-CN"/>
            </a:defPPr>
            <a:lvl1pPr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1pPr>
            <a:lvl2pPr marL="4572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2pPr>
            <a:lvl3pPr marL="9144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3pPr>
            <a:lvl4pPr marL="13716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4pPr>
            <a:lvl5pPr marL="1828800" algn="l" rtl="0" fontAlgn="base">
              <a:spcBef>
                <a:spcPct val="0"/>
              </a:spcBef>
              <a:spcAft>
                <a:spcPct val="0"/>
              </a:spcAft>
              <a:buFont typeface="Arial" panose="020B0604020202020204" pitchFamily="34" charset="0"/>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ctr">
              <a:lnSpc>
                <a:spcPct val="120000"/>
              </a:lnSpc>
            </a:pPr>
            <a:r>
              <a:rPr lang="en-US" altLang="zh-CN" sz="2800" b="1">
                <a:solidFill>
                  <a:schemeClr val="bg1"/>
                </a:solidFill>
                <a:ea typeface="微软雅黑" panose="020B0503020204020204" pitchFamily="34" charset="-122"/>
                <a:cs typeface="Arial" panose="020B0604020202020204" pitchFamily="34" charset="0"/>
              </a:rPr>
              <a:t>03</a:t>
            </a:r>
            <a:endParaRPr lang="zh-CN" altLang="en-US" sz="2800" b="1" dirty="0">
              <a:solidFill>
                <a:schemeClr val="bg1"/>
              </a:solidFill>
              <a:ea typeface="微软雅黑" panose="020B0503020204020204" pitchFamily="34" charset="-122"/>
              <a:cs typeface="Arial" panose="020B0604020202020204" pitchFamily="34" charset="0"/>
            </a:endParaRPr>
          </a:p>
        </p:txBody>
      </p:sp>
      <p:sp>
        <p:nvSpPr>
          <p:cNvPr id="6" name="稻壳儿搜索【幻雨工作室】__2">
            <a:extLst>
              <a:ext uri="{FF2B5EF4-FFF2-40B4-BE49-F238E27FC236}">
                <a16:creationId xmlns:a16="http://schemas.microsoft.com/office/drawing/2014/main" id="{136A2E7B-4FD3-41DD-9FB8-3C8506EE5231}"/>
              </a:ext>
            </a:extLst>
          </p:cNvPr>
          <p:cNvSpPr txBox="1">
            <a:spLocks noChangeArrowheads="1"/>
          </p:cNvSpPr>
          <p:nvPr/>
        </p:nvSpPr>
        <p:spPr bwMode="auto">
          <a:xfrm>
            <a:off x="1419721" y="431209"/>
            <a:ext cx="3845923" cy="646331"/>
          </a:xfrm>
          <a:prstGeom prst="rect">
            <a:avLst/>
          </a:prstGeom>
          <a:noFill/>
          <a:ln w="9525">
            <a:noFill/>
            <a:miter lim="800000"/>
          </a:ln>
          <a:extLst>
            <a:ext uri="{909E8E84-426E-40DD-AFC4-6F175D3DCCD1}">
              <a14:hiddenFill xmlns:a14="http://schemas.microsoft.com/office/drawing/2010/main">
                <a:solidFill>
                  <a:srgbClr val="FFFFFF"/>
                </a:solidFill>
              </a14:hiddenFill>
            </a:ext>
          </a:extLst>
        </p:spPr>
        <p:txBody>
          <a:bodyPr wrap="square">
            <a:spAutoFit/>
          </a:bodyPr>
          <a:lstStyle>
            <a:lvl1pPr>
              <a:defRPr sz="1300">
                <a:solidFill>
                  <a:schemeClr val="tx1"/>
                </a:solidFill>
                <a:latin typeface="华文细黑" panose="02010600040101010101" pitchFamily="2" charset="-122"/>
                <a:ea typeface="华文细黑" panose="02010600040101010101" pitchFamily="2" charset="-122"/>
              </a:defRPr>
            </a:lvl1pPr>
            <a:lvl2pPr marL="742950" indent="-285750">
              <a:defRPr sz="1300">
                <a:solidFill>
                  <a:schemeClr val="tx1"/>
                </a:solidFill>
                <a:latin typeface="华文细黑" panose="02010600040101010101" pitchFamily="2" charset="-122"/>
                <a:ea typeface="华文细黑" panose="02010600040101010101" pitchFamily="2" charset="-122"/>
              </a:defRPr>
            </a:lvl2pPr>
            <a:lvl3pPr marL="1143000" indent="-228600">
              <a:defRPr sz="1300">
                <a:solidFill>
                  <a:schemeClr val="tx1"/>
                </a:solidFill>
                <a:latin typeface="华文细黑" panose="02010600040101010101" pitchFamily="2" charset="-122"/>
                <a:ea typeface="华文细黑" panose="02010600040101010101" pitchFamily="2" charset="-122"/>
              </a:defRPr>
            </a:lvl3pPr>
            <a:lvl4pPr marL="1600200" indent="-228600">
              <a:defRPr sz="1300">
                <a:solidFill>
                  <a:schemeClr val="tx1"/>
                </a:solidFill>
                <a:latin typeface="华文细黑" panose="02010600040101010101" pitchFamily="2" charset="-122"/>
                <a:ea typeface="华文细黑" panose="02010600040101010101" pitchFamily="2" charset="-122"/>
              </a:defRPr>
            </a:lvl4pPr>
            <a:lvl5pPr marL="2057400" indent="-228600">
              <a:defRPr sz="1300">
                <a:solidFill>
                  <a:schemeClr val="tx1"/>
                </a:solidFill>
                <a:latin typeface="华文细黑" panose="02010600040101010101" pitchFamily="2" charset="-122"/>
                <a:ea typeface="华文细黑" panose="02010600040101010101" pitchFamily="2" charset="-122"/>
              </a:defRPr>
            </a:lvl5pPr>
            <a:lvl6pPr marL="25146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6pPr>
            <a:lvl7pPr marL="29718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7pPr>
            <a:lvl8pPr marL="34290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8pPr>
            <a:lvl9pPr marL="3886200" indent="-228600" defTabSz="683895" fontAlgn="base">
              <a:spcBef>
                <a:spcPct val="0"/>
              </a:spcBef>
              <a:spcAft>
                <a:spcPct val="0"/>
              </a:spcAft>
              <a:defRPr sz="1300">
                <a:solidFill>
                  <a:schemeClr val="tx1"/>
                </a:solidFill>
                <a:latin typeface="华文细黑" panose="02010600040101010101" pitchFamily="2" charset="-122"/>
                <a:ea typeface="华文细黑" panose="02010600040101010101" pitchFamily="2" charset="-122"/>
              </a:defRPr>
            </a:lvl9pPr>
          </a:lstStyle>
          <a:p>
            <a:pPr defTabSz="685800">
              <a:defRPr/>
            </a:pPr>
            <a:r>
              <a:rPr lang="zh-CN" altLang="en-US" sz="3600" dirty="0">
                <a:solidFill>
                  <a:schemeClr val="accent1"/>
                </a:solidFill>
                <a:latin typeface="微软雅黑" panose="020B0503020204020204" pitchFamily="34" charset="-122"/>
                <a:ea typeface="微软雅黑" panose="020B0503020204020204" pitchFamily="34" charset="-122"/>
              </a:rPr>
              <a:t>不足和欠缺</a:t>
            </a:r>
            <a:endParaRPr lang="en-US" altLang="zh-CN" sz="3600" dirty="0">
              <a:solidFill>
                <a:schemeClr val="accent1"/>
              </a:solidFill>
              <a:latin typeface="微软雅黑" panose="020B0503020204020204" pitchFamily="34" charset="-122"/>
              <a:ea typeface="微软雅黑" panose="020B0503020204020204" pitchFamily="34" charset="-122"/>
            </a:endParaRPr>
          </a:p>
        </p:txBody>
      </p:sp>
      <p:sp>
        <p:nvSpPr>
          <p:cNvPr id="23" name="文本框 22">
            <a:extLst>
              <a:ext uri="{FF2B5EF4-FFF2-40B4-BE49-F238E27FC236}">
                <a16:creationId xmlns:a16="http://schemas.microsoft.com/office/drawing/2014/main" id="{C4509486-A019-4207-9CB7-1EDAD60F7EBC}"/>
              </a:ext>
            </a:extLst>
          </p:cNvPr>
          <p:cNvSpPr txBox="1"/>
          <p:nvPr/>
        </p:nvSpPr>
        <p:spPr>
          <a:xfrm>
            <a:off x="1419721" y="1856768"/>
            <a:ext cx="6228272" cy="1938992"/>
          </a:xfrm>
          <a:prstGeom prst="rect">
            <a:avLst/>
          </a:prstGeom>
          <a:noFill/>
        </p:spPr>
        <p:txBody>
          <a:bodyPr wrap="square" rtlCol="0">
            <a:spAutoFit/>
          </a:bodyPr>
          <a:lstStyle/>
          <a:p>
            <a:r>
              <a:rPr lang="zh-CN" altLang="zh-CN" sz="2400" b="1" dirty="0" smtClean="0"/>
              <a:t>之前</a:t>
            </a:r>
            <a:endParaRPr lang="en-US" altLang="zh-CN" sz="2400" dirty="0">
              <a:latin typeface="微软雅黑" panose="020B0503020204020204" pitchFamily="34" charset="-122"/>
              <a:ea typeface="微软雅黑" panose="020B0503020204020204" pitchFamily="34" charset="-122"/>
            </a:endParaRPr>
          </a:p>
          <a:p>
            <a:endParaRPr lang="en-US" altLang="zh-CN" sz="2400" dirty="0">
              <a:latin typeface="微软雅黑" panose="020B0503020204020204" pitchFamily="34" charset="-122"/>
              <a:ea typeface="微软雅黑" panose="020B0503020204020204" pitchFamily="34" charset="-122"/>
            </a:endParaRPr>
          </a:p>
          <a:p>
            <a:endParaRPr lang="en-US" altLang="zh-CN" sz="2400" dirty="0">
              <a:latin typeface="微软雅黑" panose="020B0503020204020204" pitchFamily="34" charset="-122"/>
              <a:ea typeface="微软雅黑" panose="020B0503020204020204" pitchFamily="34" charset="-122"/>
            </a:endParaRPr>
          </a:p>
          <a:p>
            <a:endParaRPr lang="en-US" altLang="zh-CN" sz="2400" dirty="0">
              <a:latin typeface="微软雅黑" panose="020B0503020204020204" pitchFamily="34" charset="-122"/>
              <a:ea typeface="微软雅黑" panose="020B0503020204020204" pitchFamily="34" charset="-122"/>
            </a:endParaRPr>
          </a:p>
          <a:p>
            <a:endParaRPr lang="en-US" altLang="zh-CN" sz="2400" dirty="0">
              <a:latin typeface="微软雅黑" panose="020B0503020204020204" pitchFamily="34" charset="-122"/>
              <a:ea typeface="微软雅黑" panose="020B0503020204020204" pitchFamily="34" charset="-122"/>
            </a:endParaRPr>
          </a:p>
        </p:txBody>
      </p:sp>
    </p:spTree>
    <p:custDataLst>
      <p:tags r:id="rId1"/>
    </p:custDataLst>
    <p:extLst>
      <p:ext uri="{BB962C8B-B14F-4D97-AF65-F5344CB8AC3E}">
        <p14:creationId xmlns:p14="http://schemas.microsoft.com/office/powerpoint/2010/main" val="22667819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3" name="稻壳儿搜索【幻雨工作室】__1">
            <a:extLst>
              <a:ext uri="{FF2B5EF4-FFF2-40B4-BE49-F238E27FC236}">
                <a16:creationId xmlns:a16="http://schemas.microsoft.com/office/drawing/2014/main" id="{898EF5DD-752A-496C-861C-B924BC62481A}"/>
              </a:ext>
            </a:extLst>
          </p:cNvPr>
          <p:cNvSpPr/>
          <p:nvPr/>
        </p:nvSpPr>
        <p:spPr>
          <a:xfrm rot="5400000">
            <a:off x="10679989" y="3199681"/>
            <a:ext cx="2158998" cy="458639"/>
          </a:xfrm>
          <a:custGeom>
            <a:avLst/>
            <a:gdLst>
              <a:gd name="connsiteX0" fmla="*/ 0 w 2158998"/>
              <a:gd name="connsiteY0" fmla="*/ 6358 h 458639"/>
              <a:gd name="connsiteX1" fmla="*/ 641 w 2158998"/>
              <a:gd name="connsiteY1" fmla="*/ 0 h 458639"/>
              <a:gd name="connsiteX2" fmla="*/ 2158357 w 2158998"/>
              <a:gd name="connsiteY2" fmla="*/ 0 h 458639"/>
              <a:gd name="connsiteX3" fmla="*/ 2158998 w 2158998"/>
              <a:gd name="connsiteY3" fmla="*/ 6358 h 458639"/>
              <a:gd name="connsiteX4" fmla="*/ 1706717 w 2158998"/>
              <a:gd name="connsiteY4" fmla="*/ 458639 h 458639"/>
              <a:gd name="connsiteX5" fmla="*/ 452281 w 2158998"/>
              <a:gd name="connsiteY5" fmla="*/ 458639 h 458639"/>
              <a:gd name="connsiteX6" fmla="*/ 0 w 2158998"/>
              <a:gd name="connsiteY6" fmla="*/ 6358 h 4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58998" h="458639">
                <a:moveTo>
                  <a:pt x="0" y="6358"/>
                </a:moveTo>
                <a:lnTo>
                  <a:pt x="641" y="0"/>
                </a:lnTo>
                <a:lnTo>
                  <a:pt x="2158357" y="0"/>
                </a:lnTo>
                <a:lnTo>
                  <a:pt x="2158998" y="6358"/>
                </a:lnTo>
                <a:cubicBezTo>
                  <a:pt x="2158998" y="256146"/>
                  <a:pt x="1956505" y="458639"/>
                  <a:pt x="1706717" y="458639"/>
                </a:cubicBezTo>
                <a:lnTo>
                  <a:pt x="452281" y="458639"/>
                </a:lnTo>
                <a:cubicBezTo>
                  <a:pt x="202493" y="458639"/>
                  <a:pt x="0" y="256146"/>
                  <a:pt x="0" y="6358"/>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panose="020F0502020204030204"/>
              <a:ea typeface="等线" panose="02010600030101010101" pitchFamily="2" charset="-122"/>
              <a:cs typeface="+mn-cs"/>
            </a:endParaRPr>
          </a:p>
        </p:txBody>
      </p:sp>
      <p:sp>
        <p:nvSpPr>
          <p:cNvPr id="82" name="稻壳儿搜索【幻雨工作室】__2">
            <a:extLst>
              <a:ext uri="{FF2B5EF4-FFF2-40B4-BE49-F238E27FC236}">
                <a16:creationId xmlns:a16="http://schemas.microsoft.com/office/drawing/2014/main" id="{E70A919D-CA68-47FD-9834-FE9D8D357FE4}"/>
              </a:ext>
            </a:extLst>
          </p:cNvPr>
          <p:cNvSpPr txBox="1"/>
          <p:nvPr/>
        </p:nvSpPr>
        <p:spPr>
          <a:xfrm>
            <a:off x="2810628" y="4583458"/>
            <a:ext cx="6247303" cy="461665"/>
          </a:xfrm>
          <a:prstGeom prst="rect">
            <a:avLst/>
          </a:prstGeom>
          <a:noFill/>
        </p:spPr>
        <p:txBody>
          <a:bodyPr wrap="square" rtlCol="0">
            <a:spAutoFit/>
          </a:bodyPr>
          <a:lstStyle/>
          <a:p>
            <a:pPr algn="ctr"/>
            <a:r>
              <a:rPr lang="en-US" altLang="zh-CN" sz="2400" dirty="0" err="1" smtClean="0">
                <a:solidFill>
                  <a:schemeClr val="accent1"/>
                </a:solidFill>
                <a:latin typeface="微软雅黑" panose="020B0503020204020204" pitchFamily="34" charset="-122"/>
                <a:ea typeface="微软雅黑" panose="020B0503020204020204" pitchFamily="34" charset="-122"/>
                <a:sym typeface="+mn-ea"/>
              </a:rPr>
              <a:t>Juyi</a:t>
            </a:r>
            <a:r>
              <a:rPr lang="en-US" altLang="zh-CN" sz="2400" dirty="0" smtClean="0">
                <a:solidFill>
                  <a:schemeClr val="accent1"/>
                </a:solidFill>
                <a:latin typeface="微软雅黑" panose="020B0503020204020204" pitchFamily="34" charset="-122"/>
                <a:ea typeface="微软雅黑" panose="020B0503020204020204" pitchFamily="34" charset="-122"/>
                <a:sym typeface="+mn-ea"/>
              </a:rPr>
              <a:t> Lin</a:t>
            </a:r>
            <a:endParaRPr lang="zh-CN" altLang="en-US" sz="2400" dirty="0">
              <a:solidFill>
                <a:schemeClr val="accent1"/>
              </a:solidFill>
              <a:latin typeface="微软雅黑" panose="020B0503020204020204" pitchFamily="34" charset="-122"/>
              <a:ea typeface="微软雅黑" panose="020B0503020204020204" pitchFamily="34" charset="-122"/>
            </a:endParaRPr>
          </a:p>
        </p:txBody>
      </p:sp>
      <p:sp>
        <p:nvSpPr>
          <p:cNvPr id="7" name="稻壳儿搜索【幻雨工作室】__3">
            <a:extLst>
              <a:ext uri="{FF2B5EF4-FFF2-40B4-BE49-F238E27FC236}">
                <a16:creationId xmlns:a16="http://schemas.microsoft.com/office/drawing/2014/main" id="{0EBFEAA2-261B-46AA-9F3F-9AD6C2E14DD7}"/>
              </a:ext>
            </a:extLst>
          </p:cNvPr>
          <p:cNvSpPr/>
          <p:nvPr/>
        </p:nvSpPr>
        <p:spPr>
          <a:xfrm>
            <a:off x="209550" y="171450"/>
            <a:ext cx="11772900" cy="6515100"/>
          </a:xfrm>
          <a:prstGeom prst="roundRect">
            <a:avLst>
              <a:gd name="adj" fmla="val 2827"/>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94" name="稻壳儿搜索【幻雨工作室】__4">
            <a:extLst>
              <a:ext uri="{FF2B5EF4-FFF2-40B4-BE49-F238E27FC236}">
                <a16:creationId xmlns:a16="http://schemas.microsoft.com/office/drawing/2014/main" id="{2B9890A0-DC39-46BA-B6A8-8C7041112493}"/>
              </a:ext>
            </a:extLst>
          </p:cNvPr>
          <p:cNvSpPr/>
          <p:nvPr/>
        </p:nvSpPr>
        <p:spPr>
          <a:xfrm rot="16200000" flipH="1">
            <a:off x="-632609" y="3199683"/>
            <a:ext cx="2158998" cy="458639"/>
          </a:xfrm>
          <a:custGeom>
            <a:avLst/>
            <a:gdLst>
              <a:gd name="connsiteX0" fmla="*/ 0 w 2158998"/>
              <a:gd name="connsiteY0" fmla="*/ 6358 h 458639"/>
              <a:gd name="connsiteX1" fmla="*/ 641 w 2158998"/>
              <a:gd name="connsiteY1" fmla="*/ 0 h 458639"/>
              <a:gd name="connsiteX2" fmla="*/ 2158357 w 2158998"/>
              <a:gd name="connsiteY2" fmla="*/ 0 h 458639"/>
              <a:gd name="connsiteX3" fmla="*/ 2158998 w 2158998"/>
              <a:gd name="connsiteY3" fmla="*/ 6358 h 458639"/>
              <a:gd name="connsiteX4" fmla="*/ 1706717 w 2158998"/>
              <a:gd name="connsiteY4" fmla="*/ 458639 h 458639"/>
              <a:gd name="connsiteX5" fmla="*/ 452281 w 2158998"/>
              <a:gd name="connsiteY5" fmla="*/ 458639 h 458639"/>
              <a:gd name="connsiteX6" fmla="*/ 0 w 2158998"/>
              <a:gd name="connsiteY6" fmla="*/ 6358 h 4586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158998" h="458639">
                <a:moveTo>
                  <a:pt x="0" y="6358"/>
                </a:moveTo>
                <a:lnTo>
                  <a:pt x="641" y="0"/>
                </a:lnTo>
                <a:lnTo>
                  <a:pt x="2158357" y="0"/>
                </a:lnTo>
                <a:lnTo>
                  <a:pt x="2158998" y="6358"/>
                </a:lnTo>
                <a:cubicBezTo>
                  <a:pt x="2158998" y="256146"/>
                  <a:pt x="1956505" y="458639"/>
                  <a:pt x="1706717" y="458639"/>
                </a:cubicBezTo>
                <a:lnTo>
                  <a:pt x="452281" y="458639"/>
                </a:lnTo>
                <a:cubicBezTo>
                  <a:pt x="202493" y="458639"/>
                  <a:pt x="0" y="256146"/>
                  <a:pt x="0" y="6358"/>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panose="020F0502020204030204"/>
              <a:ea typeface="等线" panose="02010600030101010101" pitchFamily="2" charset="-122"/>
              <a:cs typeface="+mn-cs"/>
            </a:endParaRPr>
          </a:p>
        </p:txBody>
      </p:sp>
      <p:sp>
        <p:nvSpPr>
          <p:cNvPr id="81" name="稻壳儿搜索【幻雨工作室】__5">
            <a:extLst>
              <a:ext uri="{FF2B5EF4-FFF2-40B4-BE49-F238E27FC236}">
                <a16:creationId xmlns:a16="http://schemas.microsoft.com/office/drawing/2014/main" id="{FC51F915-5A16-42F3-9122-590D528F4EB6}"/>
              </a:ext>
            </a:extLst>
          </p:cNvPr>
          <p:cNvSpPr txBox="1">
            <a:spLocks noChangeArrowheads="1"/>
          </p:cNvSpPr>
          <p:nvPr/>
        </p:nvSpPr>
        <p:spPr bwMode="auto">
          <a:xfrm>
            <a:off x="2420306" y="2678543"/>
            <a:ext cx="7351388" cy="646331"/>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rtlCol="0">
            <a:spAutoFit/>
          </a:bodyPr>
          <a:lstStyle>
            <a:defPPr>
              <a:defRPr lang="zh-CN"/>
            </a:defPPr>
            <a:lvl1pPr algn="ctr">
              <a:defRPr sz="7200" b="1">
                <a:ln w="12700">
                  <a:noFill/>
                </a:ln>
                <a:gradFill flip="none" rotWithShape="1">
                  <a:gsLst>
                    <a:gs pos="0">
                      <a:srgbClr val="ECECEC">
                        <a:alpha val="0"/>
                      </a:srgbClr>
                    </a:gs>
                    <a:gs pos="21000">
                      <a:schemeClr val="bg1"/>
                    </a:gs>
                    <a:gs pos="100000">
                      <a:schemeClr val="bg1">
                        <a:alpha val="0"/>
                      </a:schemeClr>
                    </a:gs>
                    <a:gs pos="83000">
                      <a:schemeClr val="bg1">
                        <a:lumMod val="85000"/>
                      </a:schemeClr>
                    </a:gs>
                  </a:gsLst>
                  <a:lin ang="7800000" scaled="0"/>
                  <a:tileRect/>
                </a:gradFill>
                <a:latin typeface="微软雅黑" panose="020B0503020204020204" charset="-122"/>
                <a:ea typeface="微软雅黑" panose="020B0503020204020204" charset="-122"/>
              </a:defRPr>
            </a:lvl1pPr>
            <a:lvl2pPr>
              <a:defRPr/>
            </a:lvl2pPr>
            <a:lvl3pPr>
              <a:defRPr/>
            </a:lvl3pPr>
            <a:lvl4pPr>
              <a:defRPr/>
            </a:lvl4pPr>
            <a:lvl5pPr>
              <a:defRPr/>
            </a:lvl5pPr>
            <a:lvl6pPr>
              <a:defRPr/>
            </a:lvl6pPr>
            <a:lvl7pPr>
              <a:defRPr/>
            </a:lvl7pPr>
            <a:lvl8pPr>
              <a:defRPr/>
            </a:lvl8pPr>
            <a:lvl9pPr>
              <a:defRPr/>
            </a:lvl9pPr>
          </a:lstStyle>
          <a:p>
            <a:r>
              <a:rPr lang="en-US" altLang="zh-CN" sz="3600" spc="300" dirty="0" smtClean="0">
                <a:solidFill>
                  <a:schemeClr val="accent1"/>
                </a:solidFill>
              </a:rPr>
              <a:t>Thank you for listening!</a:t>
            </a:r>
            <a:endParaRPr lang="en-US" altLang="zh-CN" sz="3600" spc="300" dirty="0">
              <a:solidFill>
                <a:schemeClr val="accent1"/>
              </a:solidFill>
            </a:endParaRPr>
          </a:p>
        </p:txBody>
      </p:sp>
      <p:sp>
        <p:nvSpPr>
          <p:cNvPr id="4" name="稻壳儿搜索【幻雨工作室】__6">
            <a:extLst>
              <a:ext uri="{FF2B5EF4-FFF2-40B4-BE49-F238E27FC236}">
                <a16:creationId xmlns:a16="http://schemas.microsoft.com/office/drawing/2014/main" id="{8BEF275B-FDA0-4E34-8F0C-041596DF1EC7}"/>
              </a:ext>
            </a:extLst>
          </p:cNvPr>
          <p:cNvSpPr/>
          <p:nvPr/>
        </p:nvSpPr>
        <p:spPr>
          <a:xfrm>
            <a:off x="4505019" y="3888553"/>
            <a:ext cx="3949369" cy="338554"/>
          </a:xfrm>
          <a:prstGeom prst="rect">
            <a:avLst/>
          </a:prstGeom>
        </p:spPr>
        <p:txBody>
          <a:bodyPr wrap="square">
            <a:spAutoFit/>
          </a:bodyPr>
          <a:lstStyle/>
          <a:p>
            <a:r>
              <a:rPr lang="en-US" altLang="zh-CN" sz="1600" dirty="0" smtClean="0">
                <a:solidFill>
                  <a:schemeClr val="accent1"/>
                </a:solidFill>
                <a:latin typeface="Arial" panose="020B0604020202020204" pitchFamily="34" charset="0"/>
                <a:cs typeface="Arial" panose="020B0604020202020204" pitchFamily="34" charset="0"/>
              </a:rPr>
              <a:t>HKU Summer Research Presentation</a:t>
            </a:r>
            <a:endParaRPr lang="zh-CN" altLang="en-US" sz="1600" dirty="0">
              <a:solidFill>
                <a:schemeClr val="accent1"/>
              </a:solidFill>
              <a:latin typeface="Arial" panose="020B0604020202020204" pitchFamily="34" charset="0"/>
              <a:cs typeface="Arial" panose="020B0604020202020204" pitchFamily="34" charset="0"/>
            </a:endParaRPr>
          </a:p>
        </p:txBody>
      </p:sp>
      <p:cxnSp>
        <p:nvCxnSpPr>
          <p:cNvPr id="10" name="稻壳儿搜索【幻雨工作室】__7">
            <a:extLst>
              <a:ext uri="{FF2B5EF4-FFF2-40B4-BE49-F238E27FC236}">
                <a16:creationId xmlns:a16="http://schemas.microsoft.com/office/drawing/2014/main" id="{0E67287C-8A14-4847-AE6C-C390979DBCD6}"/>
              </a:ext>
            </a:extLst>
          </p:cNvPr>
          <p:cNvCxnSpPr>
            <a:cxnSpLocks/>
          </p:cNvCxnSpPr>
          <p:nvPr/>
        </p:nvCxnSpPr>
        <p:spPr>
          <a:xfrm>
            <a:off x="2619219" y="4283642"/>
            <a:ext cx="6944329" cy="0"/>
          </a:xfrm>
          <a:prstGeom prst="line">
            <a:avLst/>
          </a:prstGeom>
          <a:ln w="15240"/>
        </p:spPr>
        <p:style>
          <a:lnRef idx="1">
            <a:schemeClr val="accent1"/>
          </a:lnRef>
          <a:fillRef idx="0">
            <a:schemeClr val="accent1"/>
          </a:fillRef>
          <a:effectRef idx="0">
            <a:schemeClr val="accent1"/>
          </a:effectRef>
          <a:fontRef idx="minor">
            <a:schemeClr val="tx1"/>
          </a:fontRef>
        </p:style>
      </p:cxnSp>
      <p:cxnSp>
        <p:nvCxnSpPr>
          <p:cNvPr id="95" name="稻壳儿搜索【幻雨工作室】__8">
            <a:extLst>
              <a:ext uri="{FF2B5EF4-FFF2-40B4-BE49-F238E27FC236}">
                <a16:creationId xmlns:a16="http://schemas.microsoft.com/office/drawing/2014/main" id="{FCF1EA28-69AC-4A45-9986-43A5CD6E97C7}"/>
              </a:ext>
            </a:extLst>
          </p:cNvPr>
          <p:cNvCxnSpPr>
            <a:cxnSpLocks/>
          </p:cNvCxnSpPr>
          <p:nvPr/>
        </p:nvCxnSpPr>
        <p:spPr>
          <a:xfrm>
            <a:off x="2619219" y="2573176"/>
            <a:ext cx="6944329" cy="0"/>
          </a:xfrm>
          <a:prstGeom prst="line">
            <a:avLst/>
          </a:prstGeom>
          <a:ln w="15240"/>
        </p:spPr>
        <p:style>
          <a:lnRef idx="1">
            <a:schemeClr val="accent1"/>
          </a:lnRef>
          <a:fillRef idx="0">
            <a:schemeClr val="accent1"/>
          </a:fillRef>
          <a:effectRef idx="0">
            <a:schemeClr val="accent1"/>
          </a:effectRef>
          <a:fontRef idx="minor">
            <a:schemeClr val="tx1"/>
          </a:fontRef>
        </p:style>
      </p:cxnSp>
      <p:sp>
        <p:nvSpPr>
          <p:cNvPr id="2" name="矩形 1"/>
          <p:cNvSpPr/>
          <p:nvPr/>
        </p:nvSpPr>
        <p:spPr>
          <a:xfrm>
            <a:off x="676210" y="6082425"/>
            <a:ext cx="1332416" cy="369332"/>
          </a:xfrm>
          <a:prstGeom prst="rect">
            <a:avLst/>
          </a:prstGeom>
        </p:spPr>
        <p:txBody>
          <a:bodyPr wrap="none">
            <a:spAutoFit/>
          </a:bodyPr>
          <a:lstStyle/>
          <a:p>
            <a:r>
              <a:rPr lang="en-US" altLang="zh-CN" dirty="0" smtClean="0">
                <a:latin typeface="等线" panose="02010600030101010101" charset="-122"/>
                <a:ea typeface="等线" panose="02010600030101010101" charset="-122"/>
                <a:cs typeface="等线" panose="02010600030101010101" charset="-122"/>
                <a:sym typeface="+mn-ea"/>
              </a:rPr>
              <a:t>2021/08/30</a:t>
            </a:r>
            <a:endParaRPr lang="zh-CN" altLang="en-US" dirty="0">
              <a:latin typeface="等线" panose="02010600030101010101" charset="-122"/>
              <a:ea typeface="等线" panose="02010600030101010101" charset="-122"/>
              <a:cs typeface="等线" panose="02010600030101010101" charset="-122"/>
            </a:endParaRPr>
          </a:p>
        </p:txBody>
      </p:sp>
    </p:spTree>
    <p:custDataLst>
      <p:tags r:id="rId1"/>
    </p:custDataLst>
    <p:extLst>
      <p:ext uri="{BB962C8B-B14F-4D97-AF65-F5344CB8AC3E}">
        <p14:creationId xmlns:p14="http://schemas.microsoft.com/office/powerpoint/2010/main" val="367388806"/>
      </p:ext>
    </p:extLst>
  </p:cSld>
  <p:clrMapOvr>
    <a:masterClrMapping/>
  </p:clrMapOvr>
  <mc:AlternateContent xmlns:mc="http://schemas.openxmlformats.org/markup-compatibility/2006" xmlns:p14="http://schemas.microsoft.com/office/powerpoint/2010/main">
    <mc:Choice Requires="p14">
      <p:transition spd="slow" p14:dur="2000" advTm="12635"/>
    </mc:Choice>
    <mc:Fallback xmlns="">
      <p:transition spd="slow" advTm="12635"/>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__MICROSOFT_TRANSLATOR_CLM_PRESENTATIONINFO" val="{&quot;DocumentId&quot;:&quot;c1b08e468d422b427fb088d212321722&quot;,&quot;LanguageCode&quot;:&quot;zh-CN&quot;,&quot;SlideGuids&quot;:[&quot;9c3b7d8f-67d5-4996-b9cb-0c637bf93da7&quot;,&quot;b4a1607e-2f12-4603-b558-c6c056e53c9f&quot;,&quot;76df5fb5-a40e-48d4-b30a-36a6a3d62090&quot;,&quot;6d37170c-4f9c-4628-979b-aba1c0f85ea7&quot;,&quot;32179e31-e3ed-4d4b-89d5-ee8e215bb525&quot;,&quot;6b53a810-ceca-42d3-860b-fe36f939c2cd&quot;,&quot;fdedf59c-d0ec-42cc-b4bd-b1997501c777&quot;,&quot;3db3f99f-cd64-4ace-810c-e0709444e593&quot;,&quot;3108d546-faa8-4438-bad5-60d21fb4b0a8&quot;,&quot;32c0e8b7-34ee-40b5-92f5-23ff47772c52&quot;,&quot;83ecbbaf-2e58-4387-baa5-607a52756528&quot;,&quot;b65a5b5f-2dca-4a73-9bcc-c4fa55f9b4d0&quot;],&quot;TimeStamp&quot;:&quot;2020-12-09T15:44:53.5848555+08:00&quot;}"/>
</p:tagLst>
</file>

<file path=ppt/tags/tag2.xml><?xml version="1.0" encoding="utf-8"?>
<p:tagLst xmlns:a="http://schemas.openxmlformats.org/drawingml/2006/main" xmlns:r="http://schemas.openxmlformats.org/officeDocument/2006/relationships" xmlns:p="http://schemas.openxmlformats.org/presentationml/2006/main">
  <p:tag name="__MICROSOFT_TRANSLATOR_CLM_SLIDEINFO" val="{&quot;Guid&quot;:&quot;9c3b7d8f-67d5-4996-b9cb-0c637bf93da7&quot;,&quot;TimeStamp&quot;:&quot;2020-12-09T15:44:53.534971+08:00&quot;}"/>
</p:tagLst>
</file>

<file path=ppt/tags/tag3.xml><?xml version="1.0" encoding="utf-8"?>
<p:tagLst xmlns:a="http://schemas.openxmlformats.org/drawingml/2006/main" xmlns:r="http://schemas.openxmlformats.org/officeDocument/2006/relationships" xmlns:p="http://schemas.openxmlformats.org/presentationml/2006/main">
  <p:tag name="__MICROSOFT_TRANSLATOR_CLM_SLIDEINFO" val="{&quot;Guid&quot;:&quot;b4a1607e-2f12-4603-b558-c6c056e53c9f&quot;,&quot;TimeStamp&quot;:&quot;2020-12-09T15:44:53.5838328+08:00&quot;}"/>
</p:tagLst>
</file>

<file path=ppt/tags/tag4.xml><?xml version="1.0" encoding="utf-8"?>
<p:tagLst xmlns:a="http://schemas.openxmlformats.org/drawingml/2006/main" xmlns:r="http://schemas.openxmlformats.org/officeDocument/2006/relationships" xmlns:p="http://schemas.openxmlformats.org/presentationml/2006/main">
  <p:tag name="__MICROSOFT_TRANSLATOR_CLM_SLIDEINFO" val="{&quot;Guid&quot;:&quot;32179e31-e3ed-4d4b-89d5-ee8e215bb525&quot;,&quot;TimeStamp&quot;:&quot;2020-12-09T15:44:53.5838328+08:00&quot;}"/>
</p:tagLst>
</file>

<file path=ppt/tags/tag5.xml><?xml version="1.0" encoding="utf-8"?>
<p:tagLst xmlns:a="http://schemas.openxmlformats.org/drawingml/2006/main" xmlns:r="http://schemas.openxmlformats.org/officeDocument/2006/relationships" xmlns:p="http://schemas.openxmlformats.org/presentationml/2006/main">
  <p:tag name="__MICROSOFT_TRANSLATOR_CLM_SLIDEINFO" val="{&quot;Guid&quot;:&quot;83ecbbaf-2e58-4387-baa5-607a52756528&quot;,&quot;TimeStamp&quot;:&quot;2020-12-09T15:44:53.5848555+08:00&quot;}"/>
</p:tagLst>
</file>

<file path=ppt/tags/tag6.xml><?xml version="1.0" encoding="utf-8"?>
<p:tagLst xmlns:a="http://schemas.openxmlformats.org/drawingml/2006/main" xmlns:r="http://schemas.openxmlformats.org/officeDocument/2006/relationships" xmlns:p="http://schemas.openxmlformats.org/presentationml/2006/main">
  <p:tag name="__MICROSOFT_TRANSLATOR_CLM_SLIDEINFO" val="{&quot;Guid&quot;:&quot;9c3b7d8f-67d5-4996-b9cb-0c637bf93da7&quot;,&quot;TimeStamp&quot;:&quot;2020-12-09T15:44:53.534971+08:00&quot;}"/>
</p:tagLst>
</file>

<file path=ppt/theme/theme1.xml><?xml version="1.0" encoding="utf-8"?>
<a:theme xmlns:a="http://schemas.openxmlformats.org/drawingml/2006/main" name="Office 主题​​">
  <a:themeElements>
    <a:clrScheme name="蓝色毕业答辩">
      <a:dk1>
        <a:sysClr val="windowText" lastClr="000000"/>
      </a:dk1>
      <a:lt1>
        <a:sysClr val="window" lastClr="FFFFFF"/>
      </a:lt1>
      <a:dk2>
        <a:srgbClr val="44546A"/>
      </a:dk2>
      <a:lt2>
        <a:srgbClr val="E7E6E6"/>
      </a:lt2>
      <a:accent1>
        <a:srgbClr val="304270"/>
      </a:accent1>
      <a:accent2>
        <a:srgbClr val="304270"/>
      </a:accent2>
      <a:accent3>
        <a:srgbClr val="304270"/>
      </a:accent3>
      <a:accent4>
        <a:srgbClr val="304270"/>
      </a:accent4>
      <a:accent5>
        <a:srgbClr val="304270"/>
      </a:accent5>
      <a:accent6>
        <a:srgbClr val="304270"/>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3514</TotalTime>
  <Words>544</Words>
  <Application>Microsoft Office PowerPoint</Application>
  <PresentationFormat>宽屏</PresentationFormat>
  <Paragraphs>139</Paragraphs>
  <Slides>14</Slides>
  <Notes>10</Notes>
  <HiddenSlides>0</HiddenSlides>
  <MMClips>0</MMClips>
  <ScaleCrop>false</ScaleCrop>
  <HeadingPairs>
    <vt:vector size="6" baseType="variant">
      <vt:variant>
        <vt:lpstr>已用的字体</vt:lpstr>
      </vt:variant>
      <vt:variant>
        <vt:i4>6</vt:i4>
      </vt:variant>
      <vt:variant>
        <vt:lpstr>主题</vt:lpstr>
      </vt:variant>
      <vt:variant>
        <vt:i4>1</vt:i4>
      </vt:variant>
      <vt:variant>
        <vt:lpstr>幻灯片标题</vt:lpstr>
      </vt:variant>
      <vt:variant>
        <vt:i4>14</vt:i4>
      </vt:variant>
    </vt:vector>
  </HeadingPairs>
  <TitlesOfParts>
    <vt:vector size="21" baseType="lpstr">
      <vt:lpstr>等线</vt:lpstr>
      <vt:lpstr>等线 Light</vt:lpstr>
      <vt:lpstr>华文细黑</vt:lpstr>
      <vt:lpstr>微软雅黑</vt:lpstr>
      <vt:lpstr>Arial</vt:lpstr>
      <vt:lpstr>Times New Roman</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林炬乙</dc:creator>
  <cp:lastModifiedBy>luke</cp:lastModifiedBy>
  <cp:revision>360</cp:revision>
  <dcterms:created xsi:type="dcterms:W3CDTF">2019-05-16T14:39:19Z</dcterms:created>
  <dcterms:modified xsi:type="dcterms:W3CDTF">2021-08-25T06:29:40Z</dcterms:modified>
</cp:coreProperties>
</file>