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3" r:id="rId2"/>
    <p:sldId id="269" r:id="rId3"/>
    <p:sldId id="268" r:id="rId4"/>
    <p:sldId id="276" r:id="rId5"/>
    <p:sldId id="277" r:id="rId6"/>
    <p:sldId id="279" r:id="rId7"/>
    <p:sldId id="283" r:id="rId8"/>
    <p:sldId id="282" r:id="rId9"/>
    <p:sldId id="281" r:id="rId10"/>
    <p:sldId id="264" r:id="rId11"/>
    <p:sldId id="273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74" d="100"/>
          <a:sy n="74" d="100"/>
        </p:scale>
        <p:origin x="8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767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538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001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2021/8/22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3245996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r>
              <a:rPr lang="zh-CN" altLang="en-US" dirty="0" smtClean="0"/>
              <a:t>对</a:t>
            </a:r>
            <a:r>
              <a:rPr lang="en-US" altLang="zh-CN" dirty="0" smtClean="0"/>
              <a:t>placement</a:t>
            </a:r>
            <a:r>
              <a:rPr lang="zh-CN" altLang="en-US" dirty="0" smtClean="0"/>
              <a:t>的 通讯时间估计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60318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batch 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学习率</a:t>
                      </a:r>
                      <a:r>
                        <a:rPr lang="en-US" altLang="zh-CN" dirty="0" smtClean="0"/>
                        <a:t>(</a:t>
                      </a:r>
                      <a:r>
                        <a:rPr lang="zh-CN" altLang="en-US" dirty="0" smtClean="0"/>
                        <a:t>根据建模的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zh-CN" altLang="en-US" dirty="0" smtClean="0"/>
                        <a:t>函数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拟合的参数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各个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的资源分配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  <p:sp>
        <p:nvSpPr>
          <p:cNvPr id="2" name="圆角矩形 1"/>
          <p:cNvSpPr/>
          <p:nvPr/>
        </p:nvSpPr>
        <p:spPr>
          <a:xfrm>
            <a:off x="7061737" y="2609360"/>
            <a:ext cx="3400024" cy="146819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812022" y="3075767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PolluxAgent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1340476" y="1622739"/>
            <a:ext cx="3400024" cy="734096"/>
          </a:xfrm>
          <a:prstGeom prst="roundRect">
            <a:avLst/>
          </a:prstGeom>
          <a:solidFill>
            <a:srgbClr val="FFE699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225899" y="1805121"/>
            <a:ext cx="1375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 smtClean="0"/>
              <a:t>PolluxSched</a:t>
            </a:r>
            <a:endParaRPr lang="zh-CN" altLang="en-US" dirty="0"/>
          </a:p>
        </p:txBody>
      </p:sp>
      <p:cxnSp>
        <p:nvCxnSpPr>
          <p:cNvPr id="9" name="直接箭头连接符 8"/>
          <p:cNvCxnSpPr>
            <a:stCxn id="2" idx="2"/>
            <a:endCxn id="10" idx="0"/>
          </p:cNvCxnSpPr>
          <p:nvPr/>
        </p:nvCxnSpPr>
        <p:spPr>
          <a:xfrm flipH="1">
            <a:off x="7646564" y="4077551"/>
            <a:ext cx="1115185" cy="1550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7134897" y="5628067"/>
            <a:ext cx="1023334" cy="86288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8158230" y="4997003"/>
            <a:ext cx="1491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Batch size &amp;</a:t>
            </a:r>
          </a:p>
          <a:p>
            <a:r>
              <a:rPr lang="en-US" altLang="zh-CN" dirty="0" smtClean="0"/>
              <a:t>Learning rate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163489" y="5743976"/>
            <a:ext cx="52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Job</a:t>
            </a:r>
          </a:p>
        </p:txBody>
      </p:sp>
      <p:sp>
        <p:nvSpPr>
          <p:cNvPr id="21" name="圆角右箭头 20"/>
          <p:cNvSpPr/>
          <p:nvPr/>
        </p:nvSpPr>
        <p:spPr>
          <a:xfrm flipH="1">
            <a:off x="4801557" y="1805121"/>
            <a:ext cx="2629552" cy="1160789"/>
          </a:xfrm>
          <a:prstGeom prst="bent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419260" y="1366046"/>
            <a:ext cx="2017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Model of job Goodputs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5628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</a:t>
            </a:r>
            <a:r>
              <a:rPr lang="zh-CN" altLang="en-US" dirty="0" smtClean="0"/>
              <a:t>通讯速度估计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8504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我根据各个模型的参数个数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计算梯度的大小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然后根据各个总线速度</a:t>
            </a:r>
            <a:r>
              <a:rPr lang="en-US" altLang="zh-CN" dirty="0" smtClean="0"/>
              <a:t>, 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PS </a:t>
            </a:r>
            <a:r>
              <a:rPr lang="zh-CN" altLang="en-US" dirty="0" smtClean="0"/>
              <a:t>和 </a:t>
            </a:r>
            <a:r>
              <a:rPr lang="en-US" altLang="zh-CN" dirty="0" smtClean="0"/>
              <a:t>all reduce </a:t>
            </a:r>
            <a:r>
              <a:rPr lang="zh-CN" altLang="en-US" dirty="0" smtClean="0"/>
              <a:t>两种</a:t>
            </a:r>
            <a:r>
              <a:rPr lang="en-US" altLang="zh-CN" dirty="0" smtClean="0"/>
              <a:t>architecture  </a:t>
            </a:r>
            <a:r>
              <a:rPr lang="zh-CN" altLang="en-US" dirty="0" smtClean="0"/>
              <a:t>的通讯时间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下面是一些总线的传输速度</a:t>
            </a:r>
            <a:r>
              <a:rPr lang="en-US" altLang="zh-CN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9079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21879" y="805794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CPU0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328949" y="851575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051957" y="528893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599777" y="275644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CPU1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597872" y="2817272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223881" y="2460104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883351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002206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805908" y="398338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</a:t>
            </a:r>
            <a:r>
              <a:rPr lang="en-US" altLang="zh-CN" dirty="0" smtClean="0"/>
              <a:t>PU Mem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83351" y="2747141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GPU1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8" idx="3"/>
            <a:endCxn id="14" idx="1"/>
          </p:cNvCxnSpPr>
          <p:nvPr/>
        </p:nvCxnSpPr>
        <p:spPr>
          <a:xfrm flipV="1">
            <a:off x="3403340" y="3051725"/>
            <a:ext cx="480011" cy="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>
            <a:off x="1915080" y="1257383"/>
            <a:ext cx="2180167" cy="55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3576807" y="123688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或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1394497" y="3564583"/>
            <a:ext cx="26442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GPU with CPU mem </a:t>
            </a:r>
            <a:endParaRPr lang="en-US" altLang="zh-CN" dirty="0"/>
          </a:p>
          <a:p>
            <a:pPr marL="342900" indent="-342900">
              <a:buAutoNum type="arabicPlain"/>
            </a:pPr>
            <a:r>
              <a:rPr lang="en-US" altLang="zh-CN" dirty="0" smtClean="0"/>
              <a:t> PCI-e 3.0</a:t>
            </a:r>
          </a:p>
          <a:p>
            <a:pPr marL="342900" indent="-342900">
              <a:buAutoNum type="arabicPlain"/>
            </a:pPr>
            <a:r>
              <a:rPr lang="en-US" altLang="zh-CN" dirty="0" smtClean="0"/>
              <a:t> </a:t>
            </a:r>
            <a:r>
              <a:rPr lang="en-US" altLang="zh-CN" dirty="0" err="1" smtClean="0"/>
              <a:t>NVLink</a:t>
            </a:r>
            <a:r>
              <a:rPr lang="en-US" altLang="zh-CN" dirty="0" smtClean="0"/>
              <a:t> 2.0</a:t>
            </a:r>
          </a:p>
          <a:p>
            <a:r>
              <a:rPr lang="en-US" altLang="zh-CN" dirty="0"/>
              <a:t>CPU interconnects </a:t>
            </a:r>
          </a:p>
          <a:p>
            <a:r>
              <a:rPr lang="en-US" altLang="zh-CN" dirty="0" smtClean="0"/>
              <a:t>3    Intel </a:t>
            </a:r>
            <a:r>
              <a:rPr lang="en-US" altLang="zh-CN" dirty="0"/>
              <a:t>Xeon Ultra Path Interconnect (UPI</a:t>
            </a:r>
            <a:r>
              <a:rPr lang="en-US" altLang="zh-CN" dirty="0" smtClean="0"/>
              <a:t>)</a:t>
            </a:r>
          </a:p>
          <a:p>
            <a:r>
              <a:rPr lang="en-US" altLang="zh-CN" dirty="0" smtClean="0"/>
              <a:t>4    IBM </a:t>
            </a:r>
            <a:r>
              <a:rPr lang="en-US" altLang="zh-CN" dirty="0"/>
              <a:t>POWER9 </a:t>
            </a:r>
            <a:r>
              <a:rPr lang="en-US" altLang="zh-CN" dirty="0" smtClean="0"/>
              <a:t>X-Bus</a:t>
            </a:r>
          </a:p>
          <a:p>
            <a:r>
              <a:rPr lang="en-US" altLang="zh-CN" dirty="0"/>
              <a:t>CPU memory </a:t>
            </a:r>
            <a:endParaRPr lang="en-US" altLang="zh-CN" dirty="0" smtClean="0"/>
          </a:p>
          <a:p>
            <a:r>
              <a:rPr lang="en-US" altLang="zh-CN" dirty="0" smtClean="0"/>
              <a:t>5    </a:t>
            </a:r>
            <a:r>
              <a:rPr lang="en-US" altLang="zh-CN" dirty="0" smtClean="0">
                <a:solidFill>
                  <a:schemeClr val="dk1"/>
                </a:solidFill>
              </a:rPr>
              <a:t>Intel Xeon</a:t>
            </a:r>
            <a:endParaRPr lang="en-US" altLang="zh-CN" dirty="0" smtClean="0"/>
          </a:p>
          <a:p>
            <a:r>
              <a:rPr lang="en-US" altLang="zh-CN" dirty="0" smtClean="0"/>
              <a:t>6    </a:t>
            </a:r>
            <a:r>
              <a:rPr lang="en-US" altLang="zh-CN" dirty="0" smtClean="0">
                <a:solidFill>
                  <a:schemeClr val="dk1"/>
                </a:solidFill>
              </a:rPr>
              <a:t>IBM </a:t>
            </a:r>
            <a:r>
              <a:rPr lang="en-US" altLang="zh-CN" dirty="0">
                <a:solidFill>
                  <a:schemeClr val="dk1"/>
                </a:solidFill>
              </a:rPr>
              <a:t>POWER9</a:t>
            </a:r>
            <a:endParaRPr lang="en-US" altLang="zh-CN" dirty="0"/>
          </a:p>
          <a:p>
            <a:r>
              <a:rPr lang="en-US" altLang="zh-CN" dirty="0" smtClean="0"/>
              <a:t>7    </a:t>
            </a:r>
            <a:r>
              <a:rPr lang="en-US" altLang="zh-CN" dirty="0" err="1" smtClean="0">
                <a:solidFill>
                  <a:schemeClr val="dk1"/>
                </a:solidFill>
              </a:rPr>
              <a:t>Nvidia</a:t>
            </a:r>
            <a:r>
              <a:rPr lang="en-US" altLang="zh-CN" dirty="0" smtClean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V100</a:t>
            </a:r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 smtClean="0"/>
          </a:p>
          <a:p>
            <a:pPr marL="342900" indent="-342900">
              <a:buAutoNum type="arabicPlain"/>
            </a:pPr>
            <a:endParaRPr lang="zh-CN" altLang="en-US" dirty="0"/>
          </a:p>
        </p:txBody>
      </p:sp>
      <p:cxnSp>
        <p:nvCxnSpPr>
          <p:cNvPr id="40" name="曲线连接符 39"/>
          <p:cNvCxnSpPr/>
          <p:nvPr/>
        </p:nvCxnSpPr>
        <p:spPr>
          <a:xfrm flipV="1">
            <a:off x="2388017" y="1346075"/>
            <a:ext cx="498157" cy="184013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218822" y="199807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r>
              <a:rPr lang="zh-CN" altLang="en-US" dirty="0" smtClean="0"/>
              <a:t>或</a:t>
            </a:r>
            <a:r>
              <a:rPr lang="en-US" altLang="zh-CN" dirty="0"/>
              <a:t>4</a:t>
            </a:r>
            <a:endParaRPr lang="zh-CN" altLang="en-US" dirty="0"/>
          </a:p>
        </p:txBody>
      </p:sp>
      <p:graphicFrame>
        <p:nvGraphicFramePr>
          <p:cNvPr id="47" name="表格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8327"/>
              </p:ext>
            </p:extLst>
          </p:nvPr>
        </p:nvGraphicFramePr>
        <p:xfrm>
          <a:off x="6962090" y="765372"/>
          <a:ext cx="4083062" cy="58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531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041531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4062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总线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带宽</a:t>
                      </a:r>
                      <a:r>
                        <a:rPr lang="en-US" altLang="zh-CN" dirty="0" err="1" smtClean="0"/>
                        <a:t>GiB</a:t>
                      </a:r>
                      <a:r>
                        <a:rPr lang="en-US" altLang="zh-CN" dirty="0" smtClean="0"/>
                        <a:t>/s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031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1  PCI-e 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2   </a:t>
                      </a:r>
                      <a:r>
                        <a:rPr lang="en-US" altLang="zh-CN" dirty="0" err="1" smtClean="0"/>
                        <a:t>NVLink</a:t>
                      </a:r>
                      <a:r>
                        <a:rPr lang="en-US" altLang="zh-CN" dirty="0" smtClean="0"/>
                        <a:t>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3  UPI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593517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4 X-Bus</a:t>
                      </a:r>
                    </a:p>
                    <a:p>
                      <a:pPr marL="0" indent="0">
                        <a:buNone/>
                      </a:pP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539514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5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 Xeon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56001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6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IBM POWER9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117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77642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7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 V100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729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256530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2057482" y="70117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r>
              <a:rPr lang="zh-CN" altLang="en-US" dirty="0" smtClean="0"/>
              <a:t>或</a:t>
            </a:r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50" name="直接箭头连接符 49"/>
          <p:cNvCxnSpPr>
            <a:endCxn id="4" idx="1"/>
          </p:cNvCxnSpPr>
          <p:nvPr/>
        </p:nvCxnSpPr>
        <p:spPr>
          <a:xfrm>
            <a:off x="1815766" y="1106937"/>
            <a:ext cx="806113" cy="34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endCxn id="11" idx="3"/>
          </p:cNvCxnSpPr>
          <p:nvPr/>
        </p:nvCxnSpPr>
        <p:spPr>
          <a:xfrm flipH="1">
            <a:off x="4686914" y="1070509"/>
            <a:ext cx="754703" cy="1745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4678669" y="74180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516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34068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Pollux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需要研究怎么结合</a:t>
                      </a:r>
                      <a:r>
                        <a:rPr lang="en-US" altLang="zh-CN" dirty="0" err="1" smtClean="0"/>
                        <a:t>pollux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smtClean="0"/>
                        <a:t>DRL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r>
                        <a:rPr lang="zh-CN" altLang="en-US" dirty="0" smtClean="0"/>
                        <a:t>会议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完成了</a:t>
                      </a:r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提取</a:t>
                      </a:r>
                      <a:r>
                        <a:rPr lang="en-US" altLang="zh-CN" dirty="0" smtClean="0"/>
                        <a:t>,cluster,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三</a:t>
            </a:r>
            <a:r>
              <a:rPr lang="zh-CN" altLang="en-US" dirty="0" smtClean="0"/>
              <a:t>种方案的对比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5442</TotalTime>
  <Words>753</Words>
  <Application>Microsoft Office PowerPoint</Application>
  <PresentationFormat>宽屏</PresentationFormat>
  <Paragraphs>145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Pollux的joint 设计</vt:lpstr>
      <vt:lpstr>Pollux的joint 设计</vt:lpstr>
      <vt:lpstr>Device 通讯速度估计</vt:lpstr>
      <vt:lpstr>PowerPoint 演示文稿</vt:lpstr>
      <vt:lpstr>问老师的问题</vt:lpstr>
      <vt:lpstr>执行计划</vt:lpstr>
      <vt:lpstr>三种方案的对比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354</cp:revision>
  <dcterms:created xsi:type="dcterms:W3CDTF">2020-05-30T16:14:11Z</dcterms:created>
  <dcterms:modified xsi:type="dcterms:W3CDTF">2021-08-22T14:55:15Z</dcterms:modified>
</cp:coreProperties>
</file>