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3" r:id="rId2"/>
    <p:sldId id="269" r:id="rId3"/>
    <p:sldId id="268" r:id="rId4"/>
    <p:sldId id="276" r:id="rId5"/>
    <p:sldId id="277" r:id="rId6"/>
    <p:sldId id="279" r:id="rId7"/>
    <p:sldId id="283" r:id="rId8"/>
    <p:sldId id="282" r:id="rId9"/>
    <p:sldId id="281" r:id="rId10"/>
    <p:sldId id="264" r:id="rId11"/>
    <p:sldId id="273" r:id="rId12"/>
    <p:sldId id="27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64" autoAdjust="0"/>
  </p:normalViewPr>
  <p:slideViewPr>
    <p:cSldViewPr snapToGrid="0">
      <p:cViewPr varScale="1">
        <p:scale>
          <a:sx n="68" d="100"/>
          <a:sy n="68" d="100"/>
        </p:scale>
        <p:origin x="59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55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Narayanan et al., 2020 proposed Gavel, a heterogeneity-aware cluster scheduler that can optimize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makespan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325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7056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3767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95382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90014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949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2021/8/18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2021/8/18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完成了什么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3245996"/>
          </a:xfrm>
        </p:spPr>
        <p:txBody>
          <a:bodyPr/>
          <a:lstStyle/>
          <a:p>
            <a:r>
              <a:rPr lang="zh-CN" altLang="en-US" dirty="0" smtClean="0"/>
              <a:t>调研最近几年深度强化学习中网络和更新算法的选用</a:t>
            </a:r>
            <a:r>
              <a:rPr lang="en-US" altLang="zh-CN" dirty="0" smtClean="0"/>
              <a:t>. </a:t>
            </a:r>
            <a:r>
              <a:rPr lang="zh-CN" altLang="en-US" dirty="0"/>
              <a:t> </a:t>
            </a:r>
            <a:r>
              <a:rPr lang="zh-CN" altLang="en-US" dirty="0" smtClean="0"/>
              <a:t>目前最优的是</a:t>
            </a:r>
            <a:r>
              <a:rPr lang="en-US" altLang="zh-CN" dirty="0" smtClean="0"/>
              <a:t>SAC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PPO, </a:t>
            </a:r>
            <a:r>
              <a:rPr lang="zh-CN" altLang="en-US" dirty="0" smtClean="0"/>
              <a:t>事实上随机策略</a:t>
            </a:r>
            <a:r>
              <a:rPr lang="en-US" altLang="zh-CN" dirty="0" smtClean="0"/>
              <a:t>, </a:t>
            </a:r>
            <a:r>
              <a:rPr lang="zh-CN" altLang="en-US" dirty="0" smtClean="0"/>
              <a:t>熵正则化</a:t>
            </a:r>
            <a:r>
              <a:rPr lang="en-US" altLang="zh-CN" dirty="0" smtClean="0"/>
              <a:t>, </a:t>
            </a:r>
            <a:r>
              <a:rPr lang="zh-CN" altLang="en-US" dirty="0" smtClean="0"/>
              <a:t>经验回放这些技巧也都用在了</a:t>
            </a:r>
            <a:r>
              <a:rPr lang="en-US" altLang="zh-CN" dirty="0" smtClean="0"/>
              <a:t>DL2</a:t>
            </a:r>
            <a:r>
              <a:rPr lang="zh-CN" altLang="en-US" dirty="0" smtClean="0"/>
              <a:t>中</a:t>
            </a:r>
            <a:r>
              <a:rPr lang="en-US" altLang="zh-CN" dirty="0" smtClean="0"/>
              <a:t>. </a:t>
            </a:r>
            <a:endParaRPr lang="en-US" altLang="zh-CN" dirty="0"/>
          </a:p>
          <a:p>
            <a:r>
              <a:rPr lang="zh-CN" altLang="en-US" dirty="0"/>
              <a:t>强化学习</a:t>
            </a:r>
            <a:r>
              <a:rPr lang="en-US" altLang="zh-CN" dirty="0" err="1" smtClean="0"/>
              <a:t>env</a:t>
            </a:r>
            <a:r>
              <a:rPr lang="zh-CN" altLang="en-US" dirty="0" smtClean="0"/>
              <a:t>的设计</a:t>
            </a:r>
            <a:r>
              <a:rPr lang="en-US" altLang="zh-CN" dirty="0" smtClean="0"/>
              <a:t>,</a:t>
            </a:r>
            <a:r>
              <a:rPr lang="zh-CN" altLang="en-US" dirty="0" smtClean="0"/>
              <a:t>给调度器</a:t>
            </a:r>
            <a:r>
              <a:rPr lang="en-US" altLang="zh-CN" dirty="0" smtClean="0"/>
              <a:t>reward. </a:t>
            </a:r>
          </a:p>
          <a:p>
            <a:r>
              <a:rPr lang="zh-CN" altLang="en-US" dirty="0" smtClean="0"/>
              <a:t>对</a:t>
            </a:r>
            <a:r>
              <a:rPr lang="en-US" altLang="zh-CN" dirty="0" smtClean="0"/>
              <a:t>placement</a:t>
            </a:r>
            <a:r>
              <a:rPr lang="zh-CN" altLang="en-US" dirty="0" smtClean="0"/>
              <a:t>的 通讯时间估计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Resource allocation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751654"/>
              </p:ext>
            </p:extLst>
          </p:nvPr>
        </p:nvGraphicFramePr>
        <p:xfrm>
          <a:off x="419100" y="1752598"/>
          <a:ext cx="11556999" cy="416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2333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51948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93029">
                <a:tc>
                  <a:txBody>
                    <a:bodyPr/>
                    <a:lstStyle/>
                    <a:p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Gandiva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Introspective Cluster Scheduling for Deep Learning 2018osdi18-xiao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的特性来分配</a:t>
                      </a:r>
                      <a:r>
                        <a:rPr lang="en-US" altLang="zh-CN" dirty="0" smtClean="0"/>
                        <a:t>GPU</a:t>
                      </a:r>
                      <a:r>
                        <a:rPr lang="zh-CN" altLang="en-US" dirty="0" smtClean="0"/>
                        <a:t>时间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让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时间分配和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之类的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primitives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更加高效和实用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可以参考动态迁移</a:t>
                      </a:r>
                      <a:r>
                        <a:rPr lang="en-US" altLang="zh-CN" dirty="0" smtClean="0"/>
                        <a:t>,GPU</a:t>
                      </a:r>
                      <a:r>
                        <a:rPr lang="zh-CN" altLang="en-US" dirty="0" smtClean="0"/>
                        <a:t>分配和</a:t>
                      </a:r>
                      <a:r>
                        <a:rPr lang="en-US" altLang="zh-CN" dirty="0" smtClean="0"/>
                        <a:t>device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Pollux: Co-adaptive Cluster Scheduling for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Goodput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-Optimized Deep Learning osdi2021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引入新指标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训练的效率以及资源决策和训练参数的相互依赖性是不可知的。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同时调整资源和两个超参数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他没有考虑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目前我们对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allocation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依赖也是不可知的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所以我们需要共同调整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 Efficient and Non-Intrusive GPU Scheduling Framework for Deep Learning Training Systems 2020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调度框架可以不终止工作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包括一个弹性的 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分配机制，以进一步减少</a:t>
                      </a:r>
                      <a:r>
                        <a:rPr lang="en-US" altLang="zh-CN" dirty="0" smtClean="0"/>
                        <a:t>reshape</a:t>
                      </a:r>
                      <a:r>
                        <a:rPr lang="zh-CN" altLang="en-US" dirty="0" smtClean="0"/>
                        <a:t>的开销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输入进度信息为传入和运行作业的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最有效分配和重新分配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输入输出和我们设计是一样的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我们也可以做</a:t>
                      </a:r>
                      <a:r>
                        <a:rPr lang="en-US" altLang="zh-CN" dirty="0" smtClean="0"/>
                        <a:t>non-intrusive</a:t>
                      </a:r>
                      <a:r>
                        <a:rPr lang="zh-CN" altLang="en-US" dirty="0" smtClean="0"/>
                        <a:t>的调度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62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placement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675981"/>
              </p:ext>
            </p:extLst>
          </p:nvPr>
        </p:nvGraphicFramePr>
        <p:xfrm>
          <a:off x="114299" y="1473198"/>
          <a:ext cx="11925300" cy="4380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9388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和我们的关系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Spotlight: Optimizing Device Placement for Training Deep Neural Networks 2018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一种基于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算法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建模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MDP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不能优化</a:t>
                      </a:r>
                      <a:r>
                        <a:rPr lang="en-US" altLang="zh-CN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colocated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job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30925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Heterogeneity-Aware Cluster Scheduling Policies for Deep Learning Workloads osdiNov2020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将现有集群调度策略转换为考虑异质性和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的等效策略的系统方法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worker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dirty="0" smtClean="0"/>
                        <a:t>active job.</a:t>
                      </a:r>
                      <a:r>
                        <a:rPr lang="zh-CN" altLang="en-US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这可以作为一个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baseline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或者是让设备放置网络先收敛到这个指定的策略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Or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可以把这个作为第二层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可以参考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feedback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Tiresias: A GPU Cluster Manager for Distributed Deep Learning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nsdi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提出了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资源配置和</a:t>
                      </a:r>
                      <a:r>
                        <a:rPr lang="en-US" altLang="zh-CN" dirty="0" err="1" smtClean="0"/>
                        <a:t>placment</a:t>
                      </a:r>
                      <a:r>
                        <a:rPr lang="zh-CN" altLang="en-US" dirty="0" smtClean="0"/>
                        <a:t>的方法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optimus</a:t>
                      </a:r>
                      <a:r>
                        <a:rPr lang="zh-CN" altLang="en-US" dirty="0" smtClean="0"/>
                        <a:t>的改良版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zh-CN" altLang="en-US" dirty="0" smtClean="0"/>
                        <a:t> 它没有考虑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适合哪种</a:t>
                      </a:r>
                      <a:r>
                        <a:rPr lang="en-US" altLang="zh-CN" dirty="0" smtClean="0"/>
                        <a:t>device,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调度机制和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target policy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强耦合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很难支持其他更复杂的策略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而且要求用户提交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属于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non-scale-adaptive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42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1891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利用</a:t>
            </a:r>
            <a:r>
              <a:rPr lang="en-US" altLang="zh-CN" dirty="0" smtClean="0"/>
              <a:t>DRL</a:t>
            </a:r>
            <a:r>
              <a:rPr lang="zh-CN" altLang="en-US" dirty="0" smtClean="0"/>
              <a:t>作为</a:t>
            </a:r>
            <a:r>
              <a:rPr lang="en-US" altLang="zh-CN" dirty="0" smtClean="0"/>
              <a:t>policy allocation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0262"/>
            <a:ext cx="11018838" cy="2330673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38200" y="4840509"/>
            <a:ext cx="10515600" cy="51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altLang="zh-CN" dirty="0" smtClean="0"/>
              <a:t>DRL</a:t>
            </a:r>
            <a:r>
              <a:rPr lang="zh-CN" altLang="en-US" dirty="0" smtClean="0"/>
              <a:t>训练</a:t>
            </a:r>
            <a:r>
              <a:rPr lang="en-US" altLang="zh-CN" dirty="0" smtClean="0"/>
              <a:t>policy, </a:t>
            </a:r>
            <a:r>
              <a:rPr lang="zh-CN" altLang="en-US" dirty="0" smtClean="0"/>
              <a:t>利用</a:t>
            </a:r>
            <a:r>
              <a:rPr lang="en-US" altLang="zh-CN" dirty="0" smtClean="0"/>
              <a:t>gavel</a:t>
            </a:r>
            <a:r>
              <a:rPr lang="zh-CN" altLang="en-US" dirty="0" smtClean="0"/>
              <a:t>来</a:t>
            </a:r>
            <a:r>
              <a:rPr lang="en-US" altLang="zh-CN" dirty="0" smtClean="0"/>
              <a:t>placement.</a:t>
            </a:r>
          </a:p>
          <a:p>
            <a:pPr marL="0" lvl="0" indent="0">
              <a:buNone/>
            </a:pP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380757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660318"/>
              </p:ext>
            </p:extLst>
          </p:nvPr>
        </p:nvGraphicFramePr>
        <p:xfrm>
          <a:off x="543474" y="2922855"/>
          <a:ext cx="11416295" cy="3654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325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684538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测量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报告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目标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212829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agent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每次迭代的时间</a:t>
                      </a:r>
                      <a:r>
                        <a:rPr lang="en-US" altLang="zh-CN" dirty="0" smtClean="0"/>
                        <a:t>Titer, </a:t>
                      </a:r>
                      <a:r>
                        <a:rPr lang="zh-CN" altLang="en-US" dirty="0" smtClean="0"/>
                        <a:t>资源分配</a:t>
                      </a:r>
                      <a:r>
                        <a:rPr lang="en-US" altLang="zh-CN" dirty="0" smtClean="0"/>
                        <a:t>a, batch size m , </a:t>
                      </a:r>
                      <a:r>
                        <a:rPr lang="zh-CN" altLang="en-US" dirty="0" smtClean="0"/>
                        <a:t>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学习率</a:t>
                      </a:r>
                      <a:r>
                        <a:rPr lang="en-US" altLang="zh-CN" dirty="0" smtClean="0"/>
                        <a:t>(</a:t>
                      </a:r>
                      <a:r>
                        <a:rPr lang="zh-CN" altLang="en-US" dirty="0" smtClean="0"/>
                        <a:t>根据建模的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zh-CN" altLang="en-US" dirty="0" smtClean="0"/>
                        <a:t>函数</a:t>
                      </a:r>
                      <a:r>
                        <a:rPr lang="en-US" altLang="zh-CN" dirty="0" smtClean="0"/>
                        <a:t>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梯度噪声规模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拟合的参数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找到最好的 </a:t>
                      </a:r>
                      <a:r>
                        <a:rPr lang="en-US" altLang="zh-CN" dirty="0" smtClean="0"/>
                        <a:t>batch size</a:t>
                      </a:r>
                      <a:r>
                        <a:rPr lang="zh-CN" altLang="en-US" dirty="0" smtClean="0"/>
                        <a:t>和梯度累计步骤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 smtClean="0"/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232234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scheduler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各个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的资源分配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最大化适应度函数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 smtClean="0"/>
              <a:t>Pollux</a:t>
            </a:r>
            <a:r>
              <a:rPr lang="zh-CN" altLang="en-US" dirty="0" smtClean="0"/>
              <a:t>的</a:t>
            </a:r>
            <a:r>
              <a:rPr lang="en-US" altLang="zh-CN" dirty="0" smtClean="0"/>
              <a:t>joint </a:t>
            </a:r>
            <a:r>
              <a:rPr lang="zh-CN" altLang="en-US" dirty="0"/>
              <a:t>设计</a:t>
            </a:r>
          </a:p>
        </p:txBody>
      </p:sp>
    </p:spTree>
    <p:extLst>
      <p:ext uri="{BB962C8B-B14F-4D97-AF65-F5344CB8AC3E}">
        <p14:creationId xmlns:p14="http://schemas.microsoft.com/office/powerpoint/2010/main" val="4071331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 smtClean="0"/>
              <a:t>Pollux</a:t>
            </a:r>
            <a:r>
              <a:rPr lang="zh-CN" altLang="en-US" dirty="0" smtClean="0"/>
              <a:t>的</a:t>
            </a:r>
            <a:r>
              <a:rPr lang="en-US" altLang="zh-CN" dirty="0" smtClean="0"/>
              <a:t>joint </a:t>
            </a:r>
            <a:r>
              <a:rPr lang="zh-CN" altLang="en-US" dirty="0"/>
              <a:t>设计</a:t>
            </a:r>
          </a:p>
        </p:txBody>
      </p:sp>
      <p:sp>
        <p:nvSpPr>
          <p:cNvPr id="2" name="圆角矩形 1"/>
          <p:cNvSpPr/>
          <p:nvPr/>
        </p:nvSpPr>
        <p:spPr>
          <a:xfrm>
            <a:off x="7061737" y="2609360"/>
            <a:ext cx="3400024" cy="1468191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8812022" y="3075767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PolluxAgent</a:t>
            </a:r>
            <a:endParaRPr lang="zh-CN" altLang="en-US" dirty="0"/>
          </a:p>
        </p:txBody>
      </p:sp>
      <p:sp>
        <p:nvSpPr>
          <p:cNvPr id="6" name="圆角矩形 5"/>
          <p:cNvSpPr/>
          <p:nvPr/>
        </p:nvSpPr>
        <p:spPr>
          <a:xfrm>
            <a:off x="1340476" y="1622739"/>
            <a:ext cx="3400024" cy="734096"/>
          </a:xfrm>
          <a:prstGeom prst="roundRect">
            <a:avLst/>
          </a:prstGeom>
          <a:solidFill>
            <a:srgbClr val="FFE699"/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225899" y="1805121"/>
            <a:ext cx="1375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 smtClean="0"/>
              <a:t>PolluxSched</a:t>
            </a:r>
            <a:endParaRPr lang="zh-CN" altLang="en-US" dirty="0"/>
          </a:p>
        </p:txBody>
      </p:sp>
      <p:cxnSp>
        <p:nvCxnSpPr>
          <p:cNvPr id="9" name="直接箭头连接符 8"/>
          <p:cNvCxnSpPr>
            <a:stCxn id="2" idx="2"/>
            <a:endCxn id="10" idx="0"/>
          </p:cNvCxnSpPr>
          <p:nvPr/>
        </p:nvCxnSpPr>
        <p:spPr>
          <a:xfrm flipH="1">
            <a:off x="7646564" y="4077551"/>
            <a:ext cx="1115185" cy="1550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7134897" y="5628067"/>
            <a:ext cx="1023334" cy="86288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8158230" y="4997003"/>
            <a:ext cx="1491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Batch size &amp;</a:t>
            </a:r>
          </a:p>
          <a:p>
            <a:r>
              <a:rPr lang="en-US" altLang="zh-CN" dirty="0" smtClean="0"/>
              <a:t>Learning rate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7163489" y="5743976"/>
            <a:ext cx="529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Job</a:t>
            </a:r>
          </a:p>
        </p:txBody>
      </p:sp>
      <p:sp>
        <p:nvSpPr>
          <p:cNvPr id="21" name="圆角右箭头 20"/>
          <p:cNvSpPr/>
          <p:nvPr/>
        </p:nvSpPr>
        <p:spPr>
          <a:xfrm flipH="1">
            <a:off x="4801557" y="1805121"/>
            <a:ext cx="2629552" cy="1160789"/>
          </a:xfrm>
          <a:prstGeom prst="bent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6419260" y="1366046"/>
            <a:ext cx="2017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Model of job Goodputs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5628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</a:t>
            </a:r>
            <a:r>
              <a:rPr lang="zh-CN" altLang="en-US" dirty="0" smtClean="0"/>
              <a:t>通讯速度估计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38504"/>
            <a:ext cx="10515600" cy="43513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我根据各个模型的参数个数</a:t>
            </a:r>
            <a:r>
              <a:rPr lang="en-US" altLang="zh-CN" dirty="0" smtClean="0"/>
              <a:t>, </a:t>
            </a:r>
            <a:r>
              <a:rPr lang="zh-CN" altLang="en-US" dirty="0" smtClean="0"/>
              <a:t>计算梯度的大小</a:t>
            </a:r>
            <a:r>
              <a:rPr lang="en-US" altLang="zh-CN" dirty="0" smtClean="0"/>
              <a:t>.</a:t>
            </a:r>
          </a:p>
          <a:p>
            <a:pPr marL="0" lvl="0" indent="0">
              <a:buNone/>
            </a:pPr>
            <a:r>
              <a:rPr lang="zh-CN" altLang="en-US" dirty="0" smtClean="0"/>
              <a:t>然后根据各个总线速度</a:t>
            </a:r>
            <a:r>
              <a:rPr lang="en-US" altLang="zh-CN" dirty="0" smtClean="0"/>
              <a:t>,  </a:t>
            </a:r>
            <a:r>
              <a:rPr lang="zh-CN" altLang="en-US" dirty="0" smtClean="0"/>
              <a:t>计算</a:t>
            </a:r>
            <a:r>
              <a:rPr lang="en-US" altLang="zh-CN" dirty="0" smtClean="0"/>
              <a:t>PS </a:t>
            </a:r>
            <a:r>
              <a:rPr lang="zh-CN" altLang="en-US" dirty="0" smtClean="0"/>
              <a:t>和 </a:t>
            </a:r>
            <a:r>
              <a:rPr lang="en-US" altLang="zh-CN" dirty="0" smtClean="0"/>
              <a:t>all reduce </a:t>
            </a:r>
            <a:r>
              <a:rPr lang="zh-CN" altLang="en-US" dirty="0" smtClean="0"/>
              <a:t>两种</a:t>
            </a:r>
            <a:r>
              <a:rPr lang="en-US" altLang="zh-CN" dirty="0" smtClean="0"/>
              <a:t>architecture  </a:t>
            </a:r>
            <a:r>
              <a:rPr lang="zh-CN" altLang="en-US" dirty="0" smtClean="0"/>
              <a:t>的通讯时间</a:t>
            </a:r>
            <a:r>
              <a:rPr lang="en-US" altLang="zh-CN" dirty="0" smtClean="0"/>
              <a:t>.</a:t>
            </a:r>
          </a:p>
          <a:p>
            <a:pPr marL="0" lvl="0" indent="0">
              <a:buNone/>
            </a:pPr>
            <a:r>
              <a:rPr lang="zh-CN" altLang="en-US" dirty="0" smtClean="0"/>
              <a:t>下面是一些总线的传输速度</a:t>
            </a:r>
            <a:r>
              <a:rPr lang="en-US" altLang="zh-CN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9079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21879" y="805794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CPU0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328949" y="851575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1051957" y="528893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2599777" y="275644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CPU1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597872" y="2817272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223881" y="2460104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883351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GPU0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5002206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4805908" y="398338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</a:t>
            </a:r>
            <a:r>
              <a:rPr lang="en-US" altLang="zh-CN" dirty="0" smtClean="0"/>
              <a:t>PU Mem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883351" y="2747141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GPU1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8" idx="3"/>
            <a:endCxn id="14" idx="1"/>
          </p:cNvCxnSpPr>
          <p:nvPr/>
        </p:nvCxnSpPr>
        <p:spPr>
          <a:xfrm flipV="1">
            <a:off x="3403340" y="3051725"/>
            <a:ext cx="480011" cy="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/>
          <p:cNvCxnSpPr/>
          <p:nvPr/>
        </p:nvCxnSpPr>
        <p:spPr>
          <a:xfrm>
            <a:off x="1915080" y="1257383"/>
            <a:ext cx="2180167" cy="55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3576807" y="123688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</a:t>
            </a:r>
            <a:r>
              <a:rPr lang="zh-CN" altLang="en-US" dirty="0" smtClean="0"/>
              <a:t>或</a:t>
            </a:r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2" name="文本框 31"/>
          <p:cNvSpPr txBox="1"/>
          <p:nvPr/>
        </p:nvSpPr>
        <p:spPr>
          <a:xfrm>
            <a:off x="745915" y="3807935"/>
            <a:ext cx="4501553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GPU with CPU mem </a:t>
            </a:r>
            <a:endParaRPr lang="en-US" altLang="zh-CN" dirty="0"/>
          </a:p>
          <a:p>
            <a:pPr marL="342900" indent="-342900">
              <a:buAutoNum type="arabicPlain"/>
            </a:pPr>
            <a:r>
              <a:rPr lang="en-US" altLang="zh-CN" dirty="0" smtClean="0"/>
              <a:t> PCI-e 3.0</a:t>
            </a:r>
          </a:p>
          <a:p>
            <a:pPr marL="342900" indent="-342900">
              <a:buAutoNum type="arabicPlain"/>
            </a:pPr>
            <a:r>
              <a:rPr lang="en-US" altLang="zh-CN" dirty="0" smtClean="0"/>
              <a:t> </a:t>
            </a:r>
            <a:r>
              <a:rPr lang="en-US" altLang="zh-CN" dirty="0" err="1" smtClean="0"/>
              <a:t>NVLink</a:t>
            </a:r>
            <a:r>
              <a:rPr lang="en-US" altLang="zh-CN" dirty="0" smtClean="0"/>
              <a:t> 2.0</a:t>
            </a:r>
          </a:p>
          <a:p>
            <a:r>
              <a:rPr lang="en-US" altLang="zh-CN" dirty="0"/>
              <a:t>CPU interconnects </a:t>
            </a:r>
          </a:p>
          <a:p>
            <a:r>
              <a:rPr lang="en-US" altLang="zh-CN" dirty="0" smtClean="0"/>
              <a:t>3    Intel </a:t>
            </a:r>
            <a:r>
              <a:rPr lang="en-US" altLang="zh-CN" dirty="0"/>
              <a:t>Xeon Ultra Path Interconnect (UPI</a:t>
            </a:r>
            <a:r>
              <a:rPr lang="en-US" altLang="zh-CN" dirty="0" smtClean="0"/>
              <a:t>)</a:t>
            </a:r>
          </a:p>
          <a:p>
            <a:r>
              <a:rPr lang="en-US" altLang="zh-CN" dirty="0" smtClean="0"/>
              <a:t>4    IBM </a:t>
            </a:r>
            <a:r>
              <a:rPr lang="en-US" altLang="zh-CN" dirty="0"/>
              <a:t>POWER9 </a:t>
            </a:r>
            <a:r>
              <a:rPr lang="en-US" altLang="zh-CN" dirty="0" smtClean="0"/>
              <a:t>X-Bus</a:t>
            </a:r>
          </a:p>
          <a:p>
            <a:r>
              <a:rPr lang="en-US" altLang="zh-CN" dirty="0"/>
              <a:t>CPU memory </a:t>
            </a:r>
            <a:endParaRPr lang="en-US" altLang="zh-CN" dirty="0" smtClean="0"/>
          </a:p>
          <a:p>
            <a:r>
              <a:rPr lang="en-US" altLang="zh-CN" dirty="0" smtClean="0"/>
              <a:t>5    </a:t>
            </a:r>
            <a:r>
              <a:rPr lang="en-US" altLang="zh-CN" dirty="0" smtClean="0">
                <a:solidFill>
                  <a:schemeClr val="dk1"/>
                </a:solidFill>
              </a:rPr>
              <a:t>Intel Xeon</a:t>
            </a:r>
            <a:endParaRPr lang="en-US" altLang="zh-CN" dirty="0" smtClean="0"/>
          </a:p>
          <a:p>
            <a:r>
              <a:rPr lang="en-US" altLang="zh-CN" dirty="0" smtClean="0"/>
              <a:t>6    </a:t>
            </a:r>
            <a:r>
              <a:rPr lang="en-US" altLang="zh-CN" dirty="0" smtClean="0">
                <a:solidFill>
                  <a:schemeClr val="dk1"/>
                </a:solidFill>
              </a:rPr>
              <a:t>IBM </a:t>
            </a:r>
            <a:r>
              <a:rPr lang="en-US" altLang="zh-CN" dirty="0">
                <a:solidFill>
                  <a:schemeClr val="dk1"/>
                </a:solidFill>
              </a:rPr>
              <a:t>POWER9</a:t>
            </a:r>
            <a:endParaRPr lang="en-US" altLang="zh-CN" dirty="0"/>
          </a:p>
          <a:p>
            <a:r>
              <a:rPr lang="en-US" altLang="zh-CN" dirty="0" smtClean="0"/>
              <a:t>7    </a:t>
            </a:r>
            <a:r>
              <a:rPr lang="en-US" altLang="zh-CN" dirty="0" err="1" smtClean="0">
                <a:solidFill>
                  <a:schemeClr val="dk1"/>
                </a:solidFill>
              </a:rPr>
              <a:t>Nvidia</a:t>
            </a:r>
            <a:r>
              <a:rPr lang="en-US" altLang="zh-CN" dirty="0" smtClean="0">
                <a:solidFill>
                  <a:schemeClr val="dk1"/>
                </a:solidFill>
              </a:rPr>
              <a:t> </a:t>
            </a:r>
            <a:r>
              <a:rPr lang="en-US" altLang="zh-CN" dirty="0">
                <a:solidFill>
                  <a:schemeClr val="dk1"/>
                </a:solidFill>
              </a:rPr>
              <a:t>V100</a:t>
            </a:r>
            <a:endParaRPr lang="en-US" altLang="zh-CN" dirty="0"/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en-US" altLang="zh-CN" dirty="0" smtClean="0"/>
          </a:p>
          <a:p>
            <a:endParaRPr lang="en-US" altLang="zh-CN" dirty="0" smtClean="0"/>
          </a:p>
          <a:p>
            <a:pPr marL="342900" indent="-342900">
              <a:buAutoNum type="arabicPlain"/>
            </a:pPr>
            <a:endParaRPr lang="zh-CN" altLang="en-US" dirty="0"/>
          </a:p>
        </p:txBody>
      </p:sp>
      <p:cxnSp>
        <p:nvCxnSpPr>
          <p:cNvPr id="40" name="曲线连接符 39"/>
          <p:cNvCxnSpPr/>
          <p:nvPr/>
        </p:nvCxnSpPr>
        <p:spPr>
          <a:xfrm flipV="1">
            <a:off x="2388017" y="1346075"/>
            <a:ext cx="498157" cy="184013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2218822" y="1998071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r>
              <a:rPr lang="zh-CN" altLang="en-US" dirty="0" smtClean="0"/>
              <a:t>或</a:t>
            </a:r>
            <a:r>
              <a:rPr lang="en-US" altLang="zh-CN" dirty="0"/>
              <a:t>4</a:t>
            </a:r>
            <a:endParaRPr lang="zh-CN" altLang="en-US" dirty="0"/>
          </a:p>
        </p:txBody>
      </p:sp>
      <p:graphicFrame>
        <p:nvGraphicFramePr>
          <p:cNvPr id="47" name="表格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918327"/>
              </p:ext>
            </p:extLst>
          </p:nvPr>
        </p:nvGraphicFramePr>
        <p:xfrm>
          <a:off x="6962090" y="765372"/>
          <a:ext cx="4083062" cy="5824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531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041531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406243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总线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带宽</a:t>
                      </a:r>
                      <a:r>
                        <a:rPr lang="en-US" altLang="zh-CN" dirty="0" err="1" smtClean="0"/>
                        <a:t>GiB</a:t>
                      </a:r>
                      <a:r>
                        <a:rPr lang="en-US" altLang="zh-CN" dirty="0" smtClean="0"/>
                        <a:t>/s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031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1  PCI-e 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2   </a:t>
                      </a:r>
                      <a:r>
                        <a:rPr lang="en-US" altLang="zh-CN" dirty="0" err="1" smtClean="0"/>
                        <a:t>NVLink</a:t>
                      </a:r>
                      <a:r>
                        <a:rPr lang="en-US" altLang="zh-CN" dirty="0" smtClean="0"/>
                        <a:t>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3  UPI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593517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 smtClean="0"/>
                        <a:t>4 X-Bus</a:t>
                      </a:r>
                    </a:p>
                    <a:p>
                      <a:pPr marL="0" indent="0">
                        <a:buNone/>
                      </a:pP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539514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5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Intel Xeon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856001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6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IBM POWER9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117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877642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7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 V100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729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256530"/>
                  </a:ext>
                </a:extLst>
              </a:tr>
            </a:tbl>
          </a:graphicData>
        </a:graphic>
      </p:graphicFrame>
      <p:sp>
        <p:nvSpPr>
          <p:cNvPr id="49" name="文本框 48"/>
          <p:cNvSpPr txBox="1"/>
          <p:nvPr/>
        </p:nvSpPr>
        <p:spPr>
          <a:xfrm>
            <a:off x="2057482" y="70117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r>
              <a:rPr lang="zh-CN" altLang="en-US" dirty="0" smtClean="0"/>
              <a:t>或</a:t>
            </a:r>
            <a:r>
              <a:rPr lang="en-US" altLang="zh-CN" dirty="0"/>
              <a:t>6</a:t>
            </a:r>
            <a:endParaRPr lang="zh-CN" altLang="en-US" dirty="0"/>
          </a:p>
        </p:txBody>
      </p:sp>
      <p:cxnSp>
        <p:nvCxnSpPr>
          <p:cNvPr id="50" name="直接箭头连接符 49"/>
          <p:cNvCxnSpPr>
            <a:endCxn id="4" idx="1"/>
          </p:cNvCxnSpPr>
          <p:nvPr/>
        </p:nvCxnSpPr>
        <p:spPr>
          <a:xfrm>
            <a:off x="1815766" y="1106937"/>
            <a:ext cx="806113" cy="34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>
            <a:endCxn id="11" idx="3"/>
          </p:cNvCxnSpPr>
          <p:nvPr/>
        </p:nvCxnSpPr>
        <p:spPr>
          <a:xfrm flipH="1">
            <a:off x="4686914" y="1070509"/>
            <a:ext cx="754703" cy="1745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4678669" y="74180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7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5161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许多问题已经问了</a:t>
            </a:r>
            <a:r>
              <a:rPr lang="en-US" altLang="zh-CN" dirty="0" smtClean="0"/>
              <a:t> </a:t>
            </a:r>
            <a:r>
              <a:rPr lang="en-US" altLang="zh-CN" dirty="0" err="1"/>
              <a:t>Z</a:t>
            </a:r>
            <a:r>
              <a:rPr lang="en-US" altLang="zh-CN" dirty="0" err="1" smtClean="0"/>
              <a:t>iyue</a:t>
            </a:r>
            <a:r>
              <a:rPr lang="en-US" altLang="zh-CN" dirty="0" smtClean="0"/>
              <a:t> Luo</a:t>
            </a:r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134068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Pollux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需要研究怎么结合</a:t>
                      </a:r>
                      <a:r>
                        <a:rPr lang="en-US" altLang="zh-CN" dirty="0" err="1" smtClean="0"/>
                        <a:t>pollux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smtClean="0"/>
                        <a:t>DRL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</a:t>
                      </a:r>
                      <a:r>
                        <a:rPr lang="zh-CN" altLang="en-US" dirty="0" smtClean="0"/>
                        <a:t>怎么设计一个</a:t>
                      </a:r>
                      <a:r>
                        <a:rPr lang="en-US" altLang="zh-CN" dirty="0" smtClean="0"/>
                        <a:t>function</a:t>
                      </a:r>
                      <a:r>
                        <a:rPr lang="zh-CN" altLang="en-US" dirty="0" smtClean="0"/>
                        <a:t>作为</a:t>
                      </a:r>
                      <a:r>
                        <a:rPr lang="en-US" altLang="zh-CN" dirty="0" err="1" smtClean="0"/>
                        <a:t>drl</a:t>
                      </a:r>
                      <a:r>
                        <a:rPr lang="zh-CN" altLang="en-US" dirty="0" smtClean="0"/>
                        <a:t>目标可以平衡单个表现和总体表现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EuroSys</a:t>
                      </a:r>
                      <a:r>
                        <a:rPr lang="zh-CN" altLang="en-US" dirty="0" smtClean="0"/>
                        <a:t>会议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DL2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完成了</a:t>
                      </a:r>
                      <a:r>
                        <a:rPr lang="en-US" altLang="zh-CN" dirty="0" smtClean="0"/>
                        <a:t>trace</a:t>
                      </a:r>
                      <a:r>
                        <a:rPr lang="zh-CN" altLang="en-US" dirty="0" smtClean="0"/>
                        <a:t>提取</a:t>
                      </a:r>
                      <a:r>
                        <a:rPr lang="en-US" altLang="zh-CN" dirty="0" smtClean="0"/>
                        <a:t>,cluster,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851792"/>
              </p:ext>
            </p:extLst>
          </p:nvPr>
        </p:nvGraphicFramePr>
        <p:xfrm>
          <a:off x="707571" y="1821307"/>
          <a:ext cx="11042695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53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model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优化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fairness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异构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Optimus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平均完成时间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Tiresias.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平均完成时间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Gandiva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通用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三</a:t>
            </a:r>
            <a:r>
              <a:rPr lang="zh-CN" altLang="en-US" dirty="0" smtClean="0"/>
              <a:t>种方案的对比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32040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5018</TotalTime>
  <Words>753</Words>
  <Application>Microsoft Office PowerPoint</Application>
  <PresentationFormat>宽屏</PresentationFormat>
  <Paragraphs>145</Paragraphs>
  <Slides>12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完成了什么</vt:lpstr>
      <vt:lpstr>Resource allocation</vt:lpstr>
      <vt:lpstr>Device placement</vt:lpstr>
      <vt:lpstr>利用DRL作为policy allocation</vt:lpstr>
      <vt:lpstr>Pollux的joint 设计</vt:lpstr>
      <vt:lpstr>Pollux的joint 设计</vt:lpstr>
      <vt:lpstr>Device 通讯速度估计</vt:lpstr>
      <vt:lpstr>PowerPoint 演示文稿</vt:lpstr>
      <vt:lpstr>问老师的问题</vt:lpstr>
      <vt:lpstr>执行计划</vt:lpstr>
      <vt:lpstr>三种方案的对比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352</cp:revision>
  <dcterms:created xsi:type="dcterms:W3CDTF">2020-05-30T16:14:11Z</dcterms:created>
  <dcterms:modified xsi:type="dcterms:W3CDTF">2021-08-18T13:25:45Z</dcterms:modified>
</cp:coreProperties>
</file>