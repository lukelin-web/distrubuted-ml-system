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69" r:id="rId3"/>
    <p:sldId id="265" r:id="rId4"/>
    <p:sldId id="266" r:id="rId5"/>
    <p:sldId id="268" r:id="rId6"/>
    <p:sldId id="273" r:id="rId7"/>
    <p:sldId id="274" r:id="rId8"/>
    <p:sldId id="26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464" autoAdjust="0"/>
  </p:normalViewPr>
  <p:slideViewPr>
    <p:cSldViewPr snapToGrid="0">
      <p:cViewPr varScale="1">
        <p:scale>
          <a:sx n="74" d="100"/>
          <a:sy n="74" d="100"/>
        </p:scale>
        <p:origin x="8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A HIERARCHICAL MODEL FOR DEVICE PLACEMENT2018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每个输出</a:t>
            </a:r>
            <a:r>
              <a:rPr lang="en-US" altLang="zh-CN" dirty="0" smtClean="0"/>
              <a:t> </a:t>
            </a:r>
            <a:r>
              <a:rPr lang="zh-CN" altLang="en-US" dirty="0" smtClean="0"/>
              <a:t>运行</a:t>
            </a:r>
            <a:r>
              <a:rPr lang="en-US" altLang="zh-CN" dirty="0" smtClean="0"/>
              <a:t>10</a:t>
            </a:r>
            <a:r>
              <a:rPr lang="zh-CN" altLang="en-US" dirty="0" smtClean="0"/>
              <a:t>次</a:t>
            </a:r>
            <a:r>
              <a:rPr lang="en-US" altLang="zh-CN" dirty="0" smtClean="0"/>
              <a:t>,</a:t>
            </a:r>
            <a:r>
              <a:rPr lang="zh-CN" altLang="en-US" dirty="0" smtClean="0"/>
              <a:t>取平均</a:t>
            </a:r>
            <a:r>
              <a:rPr lang="en-US" altLang="zh-CN" dirty="0" smtClean="0"/>
              <a:t>.  		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853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2021/8/22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根据</a:t>
            </a:r>
            <a:r>
              <a:rPr lang="en-US" altLang="zh-CN" dirty="0" smtClean="0"/>
              <a:t>hierarchy</a:t>
            </a:r>
            <a:r>
              <a:rPr lang="zh-CN" altLang="en-US" dirty="0" smtClean="0"/>
              <a:t>做游戏的</a:t>
            </a:r>
            <a:r>
              <a:rPr lang="zh-CN" altLang="en-US" dirty="0"/>
              <a:t>思想</a:t>
            </a:r>
            <a:r>
              <a:rPr lang="en-US" altLang="zh-CN" dirty="0"/>
              <a:t>, </a:t>
            </a:r>
            <a:r>
              <a:rPr lang="zh-CN" altLang="en-US" dirty="0" smtClean="0"/>
              <a:t>确定</a:t>
            </a:r>
            <a:r>
              <a:rPr lang="zh-CN" altLang="en-US" dirty="0"/>
              <a:t>一种</a:t>
            </a:r>
            <a:r>
              <a:rPr lang="en-US" altLang="zh-CN" dirty="0"/>
              <a:t>placement, </a:t>
            </a:r>
            <a:r>
              <a:rPr lang="zh-CN" altLang="en-US" dirty="0"/>
              <a:t>调整</a:t>
            </a:r>
            <a:r>
              <a:rPr lang="en-US" altLang="zh-CN" dirty="0"/>
              <a:t>resource allocation </a:t>
            </a:r>
            <a:r>
              <a:rPr lang="en-US" altLang="zh-CN" dirty="0" smtClean="0"/>
              <a:t>, </a:t>
            </a:r>
            <a:r>
              <a:rPr lang="en-US" altLang="zh-CN" dirty="0" err="1" smtClean="0"/>
              <a:t>resourcement</a:t>
            </a:r>
            <a:r>
              <a:rPr lang="zh-CN" altLang="en-US" dirty="0" smtClean="0"/>
              <a:t>作为子</a:t>
            </a:r>
            <a:r>
              <a:rPr lang="en-US" altLang="zh-CN" dirty="0" smtClean="0"/>
              <a:t>goal </a:t>
            </a:r>
            <a:r>
              <a:rPr lang="zh-CN" altLang="en-US" dirty="0"/>
              <a:t>收敛了之后</a:t>
            </a:r>
            <a:r>
              <a:rPr lang="en-US" altLang="zh-CN" dirty="0"/>
              <a:t>, </a:t>
            </a:r>
            <a:r>
              <a:rPr lang="zh-CN" altLang="en-US" dirty="0" smtClean="0"/>
              <a:t>更换子</a:t>
            </a:r>
            <a:r>
              <a:rPr lang="en-US" altLang="zh-CN" dirty="0" smtClean="0"/>
              <a:t>goal,</a:t>
            </a:r>
            <a:r>
              <a:rPr lang="zh-CN" altLang="en-US" dirty="0" smtClean="0"/>
              <a:t>改变</a:t>
            </a:r>
            <a:r>
              <a:rPr lang="en-US" altLang="zh-CN" dirty="0"/>
              <a:t>placement. </a:t>
            </a:r>
            <a:r>
              <a:rPr lang="zh-CN" altLang="en-US" dirty="0" smtClean="0"/>
              <a:t>这个的问题在于每个</a:t>
            </a:r>
            <a:r>
              <a:rPr lang="en-US" altLang="zh-CN" dirty="0" smtClean="0"/>
              <a:t>interval </a:t>
            </a:r>
            <a:r>
              <a:rPr lang="zh-CN" altLang="en-US" dirty="0" smtClean="0"/>
              <a:t>都有</a:t>
            </a:r>
            <a:r>
              <a:rPr lang="en-US" altLang="zh-CN" dirty="0" smtClean="0"/>
              <a:t>job</a:t>
            </a:r>
            <a:r>
              <a:rPr lang="zh-CN" altLang="en-US" dirty="0" smtClean="0"/>
              <a:t>进来</a:t>
            </a:r>
            <a:endParaRPr lang="en-US" altLang="zh-CN" dirty="0" smtClean="0"/>
          </a:p>
          <a:p>
            <a:r>
              <a:rPr lang="zh-CN" altLang="en-US" dirty="0"/>
              <a:t>第二个</a:t>
            </a:r>
            <a:r>
              <a:rPr lang="zh-CN" altLang="en-US" dirty="0" smtClean="0"/>
              <a:t>是根据</a:t>
            </a:r>
            <a:r>
              <a:rPr lang="en-US" altLang="zh-CN" dirty="0" smtClean="0"/>
              <a:t>hierarchy planner(</a:t>
            </a:r>
            <a:r>
              <a:rPr lang="zh-CN" altLang="en-US" dirty="0" smtClean="0"/>
              <a:t>论文见备注</a:t>
            </a:r>
            <a:r>
              <a:rPr lang="en-US" altLang="zh-CN" dirty="0" smtClean="0"/>
              <a:t>)</a:t>
            </a:r>
            <a:r>
              <a:rPr lang="zh-CN" altLang="en-US" dirty="0" smtClean="0"/>
              <a:t>的思想</a:t>
            </a:r>
            <a:r>
              <a:rPr lang="en-US" altLang="zh-CN" dirty="0" smtClean="0"/>
              <a:t>, </a:t>
            </a:r>
            <a:r>
              <a:rPr lang="zh-CN" altLang="en-US" dirty="0" smtClean="0"/>
              <a:t>对两个求偏导</a:t>
            </a:r>
            <a:r>
              <a:rPr lang="en-US" altLang="zh-CN" dirty="0" smtClean="0"/>
              <a:t>,</a:t>
            </a:r>
            <a:r>
              <a:rPr lang="zh-CN" altLang="en-US" dirty="0" smtClean="0"/>
              <a:t>同时改变两个网络</a:t>
            </a:r>
            <a:r>
              <a:rPr lang="en-US" altLang="zh-CN" dirty="0" smtClean="0"/>
              <a:t>.  </a:t>
            </a:r>
          </a:p>
          <a:p>
            <a:r>
              <a:rPr lang="zh-CN" altLang="en-US" dirty="0" smtClean="0"/>
              <a:t>老师觉得哪个比较可行</a:t>
            </a:r>
            <a:r>
              <a:rPr lang="en-US" altLang="zh-CN" dirty="0" smtClean="0"/>
              <a:t>?</a:t>
            </a:r>
            <a:r>
              <a:rPr lang="zh-CN" altLang="en-US" dirty="0" smtClean="0"/>
              <a:t>老师还有没有推荐的论文可以参考的</a:t>
            </a:r>
            <a:r>
              <a:rPr lang="en-US" altLang="zh-CN" dirty="0" smtClean="0"/>
              <a:t>?</a:t>
            </a:r>
          </a:p>
          <a:p>
            <a:r>
              <a:rPr lang="zh-CN" altLang="en-US" dirty="0" smtClean="0"/>
              <a:t>我下面的</a:t>
            </a:r>
            <a:r>
              <a:rPr lang="en-US" altLang="zh-CN" dirty="0" smtClean="0"/>
              <a:t>idea</a:t>
            </a:r>
            <a:r>
              <a:rPr lang="zh-CN" altLang="en-US" dirty="0" smtClean="0"/>
              <a:t>是根据求偏导设计的</a:t>
            </a:r>
            <a:r>
              <a:rPr lang="en-US" altLang="zh-CN" dirty="0" smtClean="0"/>
              <a:t>.</a:t>
            </a:r>
            <a:r>
              <a:rPr lang="zh-CN" altLang="en-US" dirty="0" smtClean="0"/>
              <a:t>老师觉得会有什么问题</a:t>
            </a:r>
            <a:r>
              <a:rPr lang="en-US" altLang="zh-CN" dirty="0" smtClean="0"/>
              <a:t>? </a:t>
            </a:r>
            <a:endParaRPr lang="en-US" altLang="zh-CN" dirty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Idea</a:t>
            </a:r>
            <a:r>
              <a:rPr lang="zh-CN" altLang="en-US" dirty="0" smtClean="0"/>
              <a:t>的简短陈述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838200" y="1872760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输入 </a:t>
            </a:r>
            <a:r>
              <a:rPr lang="en-US" altLang="zh-CN" dirty="0" smtClean="0"/>
              <a:t>job type, </a:t>
            </a:r>
            <a:r>
              <a:rPr lang="zh-CN" altLang="en-US" dirty="0" smtClean="0"/>
              <a:t>已经运行的时间</a:t>
            </a:r>
            <a:r>
              <a:rPr lang="en-US" altLang="zh-CN" dirty="0" smtClean="0"/>
              <a:t>, </a:t>
            </a:r>
            <a:r>
              <a:rPr lang="zh-CN" altLang="en-US" dirty="0" smtClean="0"/>
              <a:t>剩余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主导资源</a:t>
            </a:r>
            <a:r>
              <a:rPr lang="en-US" altLang="zh-CN" dirty="0" smtClean="0"/>
              <a:t>,job</a:t>
            </a:r>
            <a:r>
              <a:rPr lang="zh-CN" altLang="en-US" dirty="0" smtClean="0"/>
              <a:t>目前的</a:t>
            </a:r>
            <a:r>
              <a:rPr lang="en-US" altLang="zh-CN" dirty="0" smtClean="0"/>
              <a:t>worker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PS</a:t>
            </a:r>
          </a:p>
          <a:p>
            <a:r>
              <a:rPr lang="zh-CN" altLang="en-US" dirty="0"/>
              <a:t>第</a:t>
            </a:r>
            <a:r>
              <a:rPr lang="zh-CN" altLang="en-US" dirty="0" smtClean="0"/>
              <a:t>一级分配资源</a:t>
            </a:r>
            <a:r>
              <a:rPr lang="en-US" altLang="zh-CN" dirty="0" smtClean="0"/>
              <a:t>, </a:t>
            </a:r>
          </a:p>
          <a:p>
            <a:r>
              <a:rPr lang="zh-CN" altLang="en-US" dirty="0"/>
              <a:t>第二</a:t>
            </a:r>
            <a:r>
              <a:rPr lang="zh-CN" altLang="en-US" dirty="0" smtClean="0"/>
              <a:t>级 额外</a:t>
            </a:r>
            <a:r>
              <a:rPr lang="en-US" altLang="zh-CN" dirty="0" smtClean="0"/>
              <a:t>input</a:t>
            </a:r>
            <a:r>
              <a:rPr lang="zh-CN" altLang="en-US" dirty="0" smtClean="0"/>
              <a:t>服务器可用资源</a:t>
            </a:r>
            <a:r>
              <a:rPr lang="en-US" altLang="zh-CN" dirty="0" smtClean="0"/>
              <a:t>,</a:t>
            </a:r>
            <a:r>
              <a:rPr lang="zh-CN" altLang="en-US" dirty="0" smtClean="0"/>
              <a:t>当前的</a:t>
            </a:r>
            <a:r>
              <a:rPr lang="en-US" altLang="zh-CN" dirty="0" smtClean="0"/>
              <a:t>placement.</a:t>
            </a:r>
          </a:p>
          <a:p>
            <a:r>
              <a:rPr lang="zh-CN" altLang="en-US" dirty="0" smtClean="0"/>
              <a:t>最终输出分配的资源和</a:t>
            </a:r>
            <a:r>
              <a:rPr lang="en-US" altLang="zh-CN" dirty="0" smtClean="0"/>
              <a:t>placement.</a:t>
            </a:r>
          </a:p>
          <a:p>
            <a:r>
              <a:rPr lang="en-US" altLang="zh-CN" dirty="0" smtClean="0"/>
              <a:t>Reward: </a:t>
            </a:r>
            <a:r>
              <a:rPr lang="zh-CN" altLang="en-US" dirty="0"/>
              <a:t>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reward</a:t>
            </a:r>
            <a:r>
              <a:rPr lang="zh-CN" altLang="en-US" dirty="0" smtClean="0"/>
              <a:t>给第一级和第二级用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图见下页</a:t>
            </a:r>
            <a:r>
              <a:rPr lang="en-US" altLang="zh-CN" dirty="0" smtClean="0"/>
              <a:t>. </a:t>
            </a:r>
            <a:r>
              <a:rPr lang="zh-CN" altLang="en-US" dirty="0" smtClean="0"/>
              <a:t>输入有的来自集群</a:t>
            </a:r>
            <a:r>
              <a:rPr lang="en-US" altLang="zh-CN" dirty="0" smtClean="0"/>
              <a:t>API</a:t>
            </a:r>
            <a:r>
              <a:rPr lang="zh-CN" altLang="en-US" dirty="0" smtClean="0"/>
              <a:t>有的来自</a:t>
            </a:r>
            <a:r>
              <a:rPr lang="en-US" altLang="zh-CN" dirty="0" smtClean="0"/>
              <a:t>job owner. </a:t>
            </a:r>
            <a:r>
              <a:rPr lang="zh-CN" altLang="en-US" dirty="0" smtClean="0"/>
              <a:t>来自</a:t>
            </a:r>
            <a:r>
              <a:rPr lang="en-US" altLang="zh-CN" dirty="0" smtClean="0"/>
              <a:t>job owner</a:t>
            </a:r>
            <a:r>
              <a:rPr lang="zh-CN" altLang="en-US" dirty="0" smtClean="0"/>
              <a:t>的在实验中可以固定</a:t>
            </a:r>
            <a:r>
              <a:rPr lang="en-US" altLang="zh-CN" dirty="0" smtClean="0"/>
              <a:t>.</a:t>
            </a:r>
          </a:p>
          <a:p>
            <a:r>
              <a:rPr lang="zh-CN" altLang="en-US" dirty="0"/>
              <a:t>第一层 </a:t>
            </a:r>
            <a:r>
              <a:rPr lang="en-US" altLang="zh-CN" dirty="0"/>
              <a:t>value NN </a:t>
            </a:r>
            <a:r>
              <a:rPr lang="zh-CN" altLang="en-US" dirty="0"/>
              <a:t>预测</a:t>
            </a:r>
            <a:r>
              <a:rPr lang="en-US" altLang="zh-CN" dirty="0"/>
              <a:t>,  </a:t>
            </a:r>
            <a:r>
              <a:rPr lang="zh-CN" altLang="en-US" dirty="0"/>
              <a:t>先分别训练两个网络</a:t>
            </a:r>
            <a:r>
              <a:rPr lang="en-US" altLang="zh-CN" dirty="0"/>
              <a:t>. </a:t>
            </a:r>
            <a:r>
              <a:rPr lang="zh-CN" altLang="en-US" dirty="0"/>
              <a:t>有助于收敛</a:t>
            </a:r>
            <a:r>
              <a:rPr lang="en-US" altLang="zh-CN" dirty="0" smtClean="0"/>
              <a:t>.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09092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圆角矩形 68"/>
          <p:cNvSpPr/>
          <p:nvPr/>
        </p:nvSpPr>
        <p:spPr>
          <a:xfrm>
            <a:off x="638931" y="1439333"/>
            <a:ext cx="4754537" cy="346883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3298048" y="2640434"/>
            <a:ext cx="1280667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05651" y="1644285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638931" y="2967857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Remaing</a:t>
            </a:r>
            <a:r>
              <a:rPr lang="en-US" altLang="zh-CN" dirty="0" smtClean="0"/>
              <a:t> epoch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05651" y="227953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Run time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2215" y="3560695"/>
            <a:ext cx="190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Domain resource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705650" y="4147430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Job’s worker/PS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6" idx="3"/>
            <a:endCxn id="28" idx="1"/>
          </p:cNvCxnSpPr>
          <p:nvPr/>
        </p:nvCxnSpPr>
        <p:spPr>
          <a:xfrm>
            <a:off x="1925138" y="1828951"/>
            <a:ext cx="1372910" cy="118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3" idx="3"/>
            <a:endCxn id="28" idx="1"/>
          </p:cNvCxnSpPr>
          <p:nvPr/>
        </p:nvCxnSpPr>
        <p:spPr>
          <a:xfrm>
            <a:off x="1925138" y="2464196"/>
            <a:ext cx="1372910" cy="550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7" idx="3"/>
            <a:endCxn id="28" idx="1"/>
          </p:cNvCxnSpPr>
          <p:nvPr/>
        </p:nvCxnSpPr>
        <p:spPr>
          <a:xfrm flipV="1">
            <a:off x="2412552" y="3015077"/>
            <a:ext cx="885496" cy="137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4" idx="3"/>
            <a:endCxn id="28" idx="1"/>
          </p:cNvCxnSpPr>
          <p:nvPr/>
        </p:nvCxnSpPr>
        <p:spPr>
          <a:xfrm flipV="1">
            <a:off x="2479270" y="3015077"/>
            <a:ext cx="818778" cy="730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15" idx="3"/>
            <a:endCxn id="28" idx="1"/>
          </p:cNvCxnSpPr>
          <p:nvPr/>
        </p:nvCxnSpPr>
        <p:spPr>
          <a:xfrm flipV="1">
            <a:off x="2479271" y="3015077"/>
            <a:ext cx="818777" cy="1317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3421026" y="2808230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sp>
        <p:nvSpPr>
          <p:cNvPr id="70" name="圆角矩形 69"/>
          <p:cNvSpPr/>
          <p:nvPr/>
        </p:nvSpPr>
        <p:spPr>
          <a:xfrm>
            <a:off x="6034494" y="1384889"/>
            <a:ext cx="5537671" cy="3511296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>
            <a:stCxn id="28" idx="3"/>
            <a:endCxn id="73" idx="1"/>
          </p:cNvCxnSpPr>
          <p:nvPr/>
        </p:nvCxnSpPr>
        <p:spPr>
          <a:xfrm>
            <a:off x="4578715" y="3015077"/>
            <a:ext cx="14502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6" idx="3"/>
            <a:endCxn id="72" idx="1"/>
          </p:cNvCxnSpPr>
          <p:nvPr/>
        </p:nvCxnSpPr>
        <p:spPr>
          <a:xfrm>
            <a:off x="1925138" y="1828951"/>
            <a:ext cx="42188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4754108" y="2234764"/>
            <a:ext cx="1236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Allocate worker/PS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8070948" y="2559370"/>
            <a:ext cx="1416991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" name="文本框 71"/>
          <p:cNvSpPr txBox="1"/>
          <p:nvPr/>
        </p:nvSpPr>
        <p:spPr>
          <a:xfrm>
            <a:off x="6143983" y="1644285"/>
            <a:ext cx="1071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6028953" y="2830411"/>
            <a:ext cx="1286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Worker/PS</a:t>
            </a:r>
            <a:endParaRPr lang="zh-CN" altLang="en-US" dirty="0"/>
          </a:p>
        </p:txBody>
      </p:sp>
      <p:sp>
        <p:nvSpPr>
          <p:cNvPr id="74" name="文本框 73"/>
          <p:cNvSpPr txBox="1"/>
          <p:nvPr/>
        </p:nvSpPr>
        <p:spPr>
          <a:xfrm>
            <a:off x="6095673" y="2142084"/>
            <a:ext cx="121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Resource demand</a:t>
            </a:r>
            <a:endParaRPr lang="zh-CN" altLang="en-US" dirty="0"/>
          </a:p>
        </p:txBody>
      </p:sp>
      <p:sp>
        <p:nvSpPr>
          <p:cNvPr id="75" name="文本框 74"/>
          <p:cNvSpPr txBox="1"/>
          <p:nvPr/>
        </p:nvSpPr>
        <p:spPr>
          <a:xfrm>
            <a:off x="6129347" y="3308655"/>
            <a:ext cx="118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available resource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6095673" y="4009984"/>
            <a:ext cx="1219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Current placement</a:t>
            </a:r>
            <a:endParaRPr lang="zh-CN" altLang="en-US" dirty="0"/>
          </a:p>
        </p:txBody>
      </p:sp>
      <p:cxnSp>
        <p:nvCxnSpPr>
          <p:cNvPr id="77" name="直接箭头连接符 76"/>
          <p:cNvCxnSpPr>
            <a:stCxn id="72" idx="3"/>
            <a:endCxn id="71" idx="1"/>
          </p:cNvCxnSpPr>
          <p:nvPr/>
        </p:nvCxnSpPr>
        <p:spPr>
          <a:xfrm>
            <a:off x="7215366" y="1828951"/>
            <a:ext cx="855582" cy="1105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4" idx="3"/>
            <a:endCxn id="71" idx="1"/>
          </p:cNvCxnSpPr>
          <p:nvPr/>
        </p:nvCxnSpPr>
        <p:spPr>
          <a:xfrm>
            <a:off x="7315160" y="2465250"/>
            <a:ext cx="755788" cy="468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71" idx="1"/>
          </p:cNvCxnSpPr>
          <p:nvPr/>
        </p:nvCxnSpPr>
        <p:spPr>
          <a:xfrm flipV="1">
            <a:off x="7315160" y="2934013"/>
            <a:ext cx="755788" cy="81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5" idx="3"/>
            <a:endCxn id="71" idx="1"/>
          </p:cNvCxnSpPr>
          <p:nvPr/>
        </p:nvCxnSpPr>
        <p:spPr>
          <a:xfrm flipV="1">
            <a:off x="7315160" y="2934013"/>
            <a:ext cx="755788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76" idx="3"/>
            <a:endCxn id="71" idx="1"/>
          </p:cNvCxnSpPr>
          <p:nvPr/>
        </p:nvCxnSpPr>
        <p:spPr>
          <a:xfrm flipV="1">
            <a:off x="7315161" y="2934013"/>
            <a:ext cx="755787" cy="139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8200599" y="274934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cxnSp>
        <p:nvCxnSpPr>
          <p:cNvPr id="83" name="直接箭头连接符 82"/>
          <p:cNvCxnSpPr>
            <a:stCxn id="71" idx="3"/>
          </p:cNvCxnSpPr>
          <p:nvPr/>
        </p:nvCxnSpPr>
        <p:spPr>
          <a:xfrm flipV="1">
            <a:off x="9487939" y="2922795"/>
            <a:ext cx="814987" cy="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9518862" y="2548153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placement</a:t>
            </a:r>
            <a:endParaRPr lang="zh-CN" altLang="en-US" dirty="0"/>
          </a:p>
        </p:txBody>
      </p:sp>
      <p:sp>
        <p:nvSpPr>
          <p:cNvPr id="126" name="矩形 125"/>
          <p:cNvSpPr/>
          <p:nvPr/>
        </p:nvSpPr>
        <p:spPr>
          <a:xfrm>
            <a:off x="863629" y="1321120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6263346" y="1339787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6226" y="1384889"/>
            <a:ext cx="609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33" name="曲线连接符 132"/>
          <p:cNvCxnSpPr>
            <a:stCxn id="128" idx="2"/>
            <a:endCxn id="13" idx="1"/>
          </p:cNvCxnSpPr>
          <p:nvPr/>
        </p:nvCxnSpPr>
        <p:spPr>
          <a:xfrm rot="16200000" flipH="1">
            <a:off x="168387" y="1926931"/>
            <a:ext cx="709975" cy="3645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/>
          <p:cNvSpPr txBox="1"/>
          <p:nvPr/>
        </p:nvSpPr>
        <p:spPr>
          <a:xfrm>
            <a:off x="5071884" y="84797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owner</a:t>
            </a:r>
            <a:endParaRPr lang="zh-CN" altLang="en-US" dirty="0"/>
          </a:p>
        </p:txBody>
      </p:sp>
      <p:cxnSp>
        <p:nvCxnSpPr>
          <p:cNvPr id="148" name="曲线连接符 147"/>
          <p:cNvCxnSpPr>
            <a:stCxn id="147" idx="2"/>
            <a:endCxn id="74" idx="1"/>
          </p:cNvCxnSpPr>
          <p:nvPr/>
        </p:nvCxnSpPr>
        <p:spPr>
          <a:xfrm rot="16200000" flipH="1">
            <a:off x="5264676" y="1634253"/>
            <a:ext cx="1247948" cy="4140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文本框 148"/>
          <p:cNvSpPr txBox="1"/>
          <p:nvPr/>
        </p:nvSpPr>
        <p:spPr>
          <a:xfrm>
            <a:off x="5372455" y="5593994"/>
            <a:ext cx="6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51" name="曲线连接符 150"/>
          <p:cNvCxnSpPr>
            <a:stCxn id="149" idx="0"/>
            <a:endCxn id="75" idx="1"/>
          </p:cNvCxnSpPr>
          <p:nvPr/>
        </p:nvCxnSpPr>
        <p:spPr>
          <a:xfrm rot="5400000" flipH="1" flipV="1">
            <a:off x="4924402" y="4389049"/>
            <a:ext cx="1962173" cy="44771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曲线连接符 161"/>
          <p:cNvCxnSpPr>
            <a:stCxn id="149" idx="0"/>
            <a:endCxn id="76" idx="1"/>
          </p:cNvCxnSpPr>
          <p:nvPr/>
        </p:nvCxnSpPr>
        <p:spPr>
          <a:xfrm rot="5400000" flipH="1" flipV="1">
            <a:off x="5258229" y="4756550"/>
            <a:ext cx="1260844" cy="4140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曲线连接符 178"/>
          <p:cNvCxnSpPr>
            <a:stCxn id="128" idx="2"/>
            <a:endCxn id="15" idx="1"/>
          </p:cNvCxnSpPr>
          <p:nvPr/>
        </p:nvCxnSpPr>
        <p:spPr>
          <a:xfrm rot="16200000" flipH="1">
            <a:off x="-765563" y="2860882"/>
            <a:ext cx="2577875" cy="364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92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reward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488281"/>
              </p:ext>
            </p:extLst>
          </p:nvPr>
        </p:nvGraphicFramePr>
        <p:xfrm>
          <a:off x="838200" y="1752598"/>
          <a:ext cx="9398001" cy="400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667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怎么获得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时隙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中获取多个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对累计奖励执行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SGD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来更新策略网络的参数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Harmony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Value NN ,</a:t>
                      </a:r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信息和</a:t>
                      </a:r>
                      <a:r>
                        <a:rPr lang="en-US" altLang="zh-CN" dirty="0" smtClean="0"/>
                        <a:t>placement,</a:t>
                      </a:r>
                      <a:r>
                        <a:rPr lang="zh-CN" altLang="en-US" dirty="0" smtClean="0"/>
                        <a:t>输出预测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作为</a:t>
                      </a:r>
                      <a:r>
                        <a:rPr lang="en-US" altLang="zh-CN" baseline="0" dirty="0" smtClean="0"/>
                        <a:t>label</a:t>
                      </a:r>
                      <a:r>
                        <a:rPr lang="zh-CN" altLang="en-US" baseline="0" dirty="0" smtClean="0"/>
                        <a:t>数据进入</a:t>
                      </a:r>
                      <a:r>
                        <a:rPr lang="en-US" altLang="zh-CN" baseline="0" dirty="0" smtClean="0"/>
                        <a:t>synthetic trace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Hierarchy planner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reward</a:t>
                      </a:r>
                      <a:r>
                        <a:rPr lang="zh-CN" altLang="en-US" dirty="0" smtClean="0"/>
                        <a:t>就是运行速度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对两层分别求偏导</a:t>
                      </a:r>
                      <a:r>
                        <a:rPr lang="en-US" altLang="zh-CN" dirty="0" smtClean="0"/>
                        <a:t>,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可以用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它是自动分组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我们是在自动分配资源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H-DQN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内部奖励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外部奖励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我们不是内外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是前后两层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en-US" altLang="zh-CN" baseline="0" dirty="0" smtClean="0"/>
                        <a:t> 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92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204338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 reward</a:t>
                      </a:r>
                      <a:r>
                        <a:rPr lang="zh-CN" altLang="en-US" dirty="0" smtClean="0"/>
                        <a:t>求偏导的具体实现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层次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zh-CN" altLang="en-US" dirty="0" smtClean="0"/>
                        <a:t>的文献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未开始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能写出基本的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可能出现的大问题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02366"/>
              </p:ext>
            </p:extLst>
          </p:nvPr>
        </p:nvGraphicFramePr>
        <p:xfrm>
          <a:off x="838200" y="1752595"/>
          <a:ext cx="7240052" cy="236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026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20026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备选实验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无法收敛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实现</a:t>
                      </a:r>
                      <a:r>
                        <a:rPr lang="en-US" altLang="zh-CN" dirty="0" smtClean="0"/>
                        <a:t>a3c, </a:t>
                      </a:r>
                      <a:r>
                        <a:rPr lang="zh-CN" altLang="en-US" dirty="0" smtClean="0"/>
                        <a:t>经验回放</a:t>
                      </a:r>
                      <a:r>
                        <a:rPr lang="en-US" altLang="zh-CN" dirty="0" smtClean="0"/>
                        <a:t>, job-aware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不足以覆盖巨大的</a:t>
                      </a:r>
                      <a:r>
                        <a:rPr lang="en-US" altLang="zh-CN" dirty="0" smtClean="0"/>
                        <a:t>action space.(harmony</a:t>
                      </a:r>
                      <a:r>
                        <a:rPr lang="zh-CN" altLang="en-US" dirty="0" smtClean="0"/>
                        <a:t>提到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需要做生成奖励的实验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51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endParaRPr lang="en-US" altLang="zh-CN" dirty="0" smtClean="0"/>
          </a:p>
          <a:p>
            <a:pPr lvl="0"/>
            <a:r>
              <a:rPr lang="en-US" altLang="zh-CN" dirty="0"/>
              <a:t>DL2</a:t>
            </a:r>
            <a:r>
              <a:rPr lang="zh-CN" altLang="en-US" dirty="0"/>
              <a:t>只有</a:t>
            </a:r>
            <a:r>
              <a:rPr lang="en-US" altLang="zh-CN" dirty="0"/>
              <a:t>worker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没有</a:t>
            </a:r>
            <a:r>
              <a:rPr lang="en-US" altLang="zh-CN" dirty="0"/>
              <a:t>resource demand</a:t>
            </a:r>
            <a:r>
              <a:rPr lang="zh-CN" altLang="en-US" dirty="0"/>
              <a:t>比如</a:t>
            </a:r>
            <a:r>
              <a:rPr lang="en-US" altLang="zh-CN" dirty="0"/>
              <a:t>CPU,GPU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在哪里有相关</a:t>
            </a:r>
            <a:r>
              <a:rPr lang="zh-CN" altLang="en-US" dirty="0" smtClean="0"/>
              <a:t>文献分配</a:t>
            </a:r>
            <a:r>
              <a:rPr lang="en-US" altLang="zh-CN" dirty="0" smtClean="0"/>
              <a:t>CPU</a:t>
            </a:r>
            <a:r>
              <a:rPr lang="zh-CN" altLang="en-US" dirty="0" smtClean="0"/>
              <a:t>的</a:t>
            </a:r>
            <a:r>
              <a:rPr lang="en-US" altLang="zh-CN" dirty="0" smtClean="0"/>
              <a:t>?(job owner</a:t>
            </a:r>
            <a:r>
              <a:rPr lang="zh-CN" altLang="en-US" dirty="0" smtClean="0"/>
              <a:t>提交</a:t>
            </a:r>
            <a:r>
              <a:rPr lang="en-US" altLang="zh-CN" dirty="0" smtClean="0"/>
              <a:t>demand)</a:t>
            </a:r>
          </a:p>
          <a:p>
            <a:pPr lvl="0"/>
            <a:r>
              <a:rPr lang="en-US" altLang="zh-CN" dirty="0" smtClean="0"/>
              <a:t>Harmony</a:t>
            </a:r>
            <a:r>
              <a:rPr lang="zh-CN" altLang="en-US" dirty="0" smtClean="0"/>
              <a:t>的论文</a:t>
            </a:r>
            <a:r>
              <a:rPr lang="en-US" altLang="zh-CN" dirty="0" smtClean="0"/>
              <a:t>,</a:t>
            </a:r>
            <a:r>
              <a:rPr lang="en-US" altLang="zh-CN" dirty="0"/>
              <a:t>w </a:t>
            </a:r>
            <a:r>
              <a:rPr lang="en-US" altLang="zh-CN" dirty="0" smtClean="0"/>
              <a:t>(p</a:t>
            </a:r>
            <a:r>
              <a:rPr lang="en-US" altLang="zh-CN" dirty="0"/>
              <a:t>), </a:t>
            </a:r>
            <a:r>
              <a:rPr lang="zh-CN" altLang="en-US" dirty="0"/>
              <a:t>记录</a:t>
            </a:r>
            <a:r>
              <a:rPr lang="en-US" altLang="zh-CN" dirty="0" smtClean="0"/>
              <a:t>PS</a:t>
            </a:r>
            <a:r>
              <a:rPr lang="zh-CN" altLang="en-US" dirty="0" smtClean="0"/>
              <a:t>数量</a:t>
            </a:r>
            <a:r>
              <a:rPr lang="en-US" altLang="zh-CN" dirty="0" smtClean="0"/>
              <a:t>. </a:t>
            </a:r>
            <a:r>
              <a:rPr lang="zh-CN" altLang="en-US" dirty="0" smtClean="0"/>
              <a:t>这个不是和上面的</a:t>
            </a:r>
            <a:r>
              <a:rPr lang="en-US" altLang="zh-CN" dirty="0" err="1" smtClean="0"/>
              <a:t>rn</a:t>
            </a:r>
            <a:r>
              <a:rPr lang="zh-CN" altLang="en-US" dirty="0" smtClean="0"/>
              <a:t>重复了吗</a:t>
            </a:r>
            <a:r>
              <a:rPr lang="en-US" altLang="zh-CN" dirty="0"/>
              <a:t>? For r and w(p), I tried several combinations and chose the one with the best performance</a:t>
            </a:r>
            <a:r>
              <a:rPr lang="en-US" altLang="zh-CN" dirty="0" smtClean="0"/>
              <a:t>. </a:t>
            </a:r>
            <a:r>
              <a:rPr lang="zh-CN" altLang="en-US" dirty="0" smtClean="0"/>
              <a:t>尝试几种组合</a:t>
            </a:r>
            <a:r>
              <a:rPr lang="en-US" altLang="zh-CN" dirty="0" smtClean="0"/>
              <a:t>, </a:t>
            </a:r>
            <a:r>
              <a:rPr lang="zh-CN" altLang="en-US" dirty="0" smtClean="0"/>
              <a:t>选出最优秀的</a:t>
            </a:r>
            <a:r>
              <a:rPr lang="en-US" altLang="zh-CN" dirty="0" smtClean="0"/>
              <a:t>. </a:t>
            </a:r>
          </a:p>
          <a:p>
            <a:r>
              <a:rPr lang="en-US" altLang="zh-CN" dirty="0"/>
              <a:t>Harmony</a:t>
            </a:r>
            <a:r>
              <a:rPr lang="zh-CN" altLang="en-US" dirty="0"/>
              <a:t>的论文</a:t>
            </a:r>
            <a:r>
              <a:rPr lang="en-US" altLang="zh-CN" dirty="0" smtClean="0"/>
              <a:t>,d </a:t>
            </a:r>
            <a:r>
              <a:rPr lang="zh-CN" altLang="en-US" dirty="0" smtClean="0"/>
              <a:t>矩阵是不是就是目前存在的</a:t>
            </a:r>
            <a:r>
              <a:rPr lang="en-US" altLang="zh-CN" dirty="0" smtClean="0"/>
              <a:t>job</a:t>
            </a:r>
            <a:r>
              <a:rPr lang="zh-CN" altLang="en-US" dirty="0" smtClean="0"/>
              <a:t>的运行情况</a:t>
            </a:r>
            <a:r>
              <a:rPr lang="en-US" altLang="zh-CN" dirty="0" smtClean="0"/>
              <a:t>, </a:t>
            </a:r>
            <a:r>
              <a:rPr lang="zh-CN" altLang="en-US" dirty="0" smtClean="0"/>
              <a:t>不包括新提交的</a:t>
            </a:r>
            <a:r>
              <a:rPr lang="en-US" altLang="zh-CN" dirty="0" smtClean="0"/>
              <a:t>job</a:t>
            </a:r>
            <a:r>
              <a:rPr lang="en-US" altLang="zh-CN" dirty="0"/>
              <a:t>? d includes all concurrent jobs</a:t>
            </a:r>
            <a:r>
              <a:rPr lang="en-US" altLang="zh-CN" dirty="0" smtClean="0"/>
              <a:t>. </a:t>
            </a:r>
            <a:r>
              <a:rPr lang="zh-CN" altLang="en-US" smtClean="0"/>
              <a:t>包括所有</a:t>
            </a:r>
            <a:endParaRPr lang="en-US" altLang="zh-CN" dirty="0" smtClean="0"/>
          </a:p>
          <a:p>
            <a:r>
              <a:rPr lang="en-US" altLang="zh-CN" dirty="0" smtClean="0"/>
              <a:t>Harmony</a:t>
            </a:r>
            <a:r>
              <a:rPr lang="zh-CN" altLang="en-US" dirty="0"/>
              <a:t>为什么要预测</a:t>
            </a:r>
            <a:r>
              <a:rPr lang="en-US" altLang="zh-CN" dirty="0"/>
              <a:t>reward? </a:t>
            </a:r>
            <a:r>
              <a:rPr lang="zh-CN" altLang="en-US" dirty="0"/>
              <a:t>为什么他不用实际速度作为</a:t>
            </a:r>
            <a:r>
              <a:rPr lang="en-US" altLang="zh-CN" dirty="0"/>
              <a:t>reward.fig6 </a:t>
            </a:r>
            <a:r>
              <a:rPr lang="zh-CN" altLang="en-US" dirty="0"/>
              <a:t>因为</a:t>
            </a:r>
            <a:r>
              <a:rPr lang="en-US" altLang="zh-CN" dirty="0"/>
              <a:t>online</a:t>
            </a:r>
            <a:r>
              <a:rPr lang="zh-CN" altLang="en-US" dirty="0"/>
              <a:t>不够</a:t>
            </a:r>
            <a:r>
              <a:rPr lang="en-US" altLang="zh-CN" dirty="0"/>
              <a:t>, </a:t>
            </a:r>
            <a:r>
              <a:rPr lang="zh-CN" altLang="en-US" dirty="0"/>
              <a:t>需要线下自学习</a:t>
            </a:r>
            <a:r>
              <a:rPr lang="en-US" altLang="zh-CN" dirty="0"/>
              <a:t>.</a:t>
            </a:r>
            <a:endParaRPr lang="zh-CN" altLang="en-US" dirty="0"/>
          </a:p>
          <a:p>
            <a:pPr lvl="0"/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3823</TotalTime>
  <Words>601</Words>
  <Application>Microsoft Office PowerPoint</Application>
  <PresentationFormat>宽屏</PresentationFormat>
  <Paragraphs>83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问老师的问题</vt:lpstr>
      <vt:lpstr>Idea的简短陈述</vt:lpstr>
      <vt:lpstr>PowerPoint 演示文稿</vt:lpstr>
      <vt:lpstr>reward</vt:lpstr>
      <vt:lpstr>执行计划</vt:lpstr>
      <vt:lpstr>可能出现的大问题</vt:lpstr>
      <vt:lpstr>问老师的问题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148</cp:revision>
  <dcterms:created xsi:type="dcterms:W3CDTF">2020-05-30T16:14:11Z</dcterms:created>
  <dcterms:modified xsi:type="dcterms:W3CDTF">2021-08-22T15:10:49Z</dcterms:modified>
</cp:coreProperties>
</file>